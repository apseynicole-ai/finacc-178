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754" r:id="rId5"/>
  </p:sldMasterIdLst>
  <p:notesMasterIdLst>
    <p:notesMasterId r:id="rId42"/>
  </p:notesMasterIdLst>
  <p:sldIdLst>
    <p:sldId id="432" r:id="rId6"/>
    <p:sldId id="401" r:id="rId7"/>
    <p:sldId id="379" r:id="rId8"/>
    <p:sldId id="411" r:id="rId9"/>
    <p:sldId id="331" r:id="rId10"/>
    <p:sldId id="332" r:id="rId11"/>
    <p:sldId id="338" r:id="rId12"/>
    <p:sldId id="431" r:id="rId13"/>
    <p:sldId id="339" r:id="rId14"/>
    <p:sldId id="340" r:id="rId15"/>
    <p:sldId id="341" r:id="rId16"/>
    <p:sldId id="342" r:id="rId17"/>
    <p:sldId id="343" r:id="rId18"/>
    <p:sldId id="351" r:id="rId19"/>
    <p:sldId id="368" r:id="rId20"/>
    <p:sldId id="327" r:id="rId21"/>
    <p:sldId id="328" r:id="rId22"/>
    <p:sldId id="353" r:id="rId23"/>
    <p:sldId id="354" r:id="rId24"/>
    <p:sldId id="355" r:id="rId25"/>
    <p:sldId id="356" r:id="rId26"/>
    <p:sldId id="357" r:id="rId27"/>
    <p:sldId id="370" r:id="rId28"/>
    <p:sldId id="358" r:id="rId29"/>
    <p:sldId id="371" r:id="rId30"/>
    <p:sldId id="403" r:id="rId31"/>
    <p:sldId id="404" r:id="rId32"/>
    <p:sldId id="405" r:id="rId33"/>
    <p:sldId id="406" r:id="rId34"/>
    <p:sldId id="360" r:id="rId35"/>
    <p:sldId id="362" r:id="rId36"/>
    <p:sldId id="361" r:id="rId37"/>
    <p:sldId id="407" r:id="rId38"/>
    <p:sldId id="408" r:id="rId39"/>
    <p:sldId id="409" r:id="rId40"/>
    <p:sldId id="29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1" userDrawn="1">
          <p15:clr>
            <a:srgbClr val="A4A3A4"/>
          </p15:clr>
        </p15:guide>
        <p15:guide id="2" pos="3840" userDrawn="1">
          <p15:clr>
            <a:srgbClr val="A4A3A4"/>
          </p15:clr>
        </p15:guide>
        <p15:guide id="3" orient="horz" pos="845" userDrawn="1">
          <p15:clr>
            <a:srgbClr val="A4A3A4"/>
          </p15:clr>
        </p15:guide>
        <p15:guide id="4" orient="horz" pos="22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5356"/>
    <a:srgbClr val="000000"/>
    <a:srgbClr val="461B2B"/>
    <a:srgbClr val="FFFFFF"/>
    <a:srgbClr val="E2D6C0"/>
    <a:srgbClr val="8B2346"/>
    <a:srgbClr val="B79962"/>
    <a:srgbClr val="461A2B"/>
    <a:srgbClr val="F1EBDF"/>
    <a:srgbClr val="ECE7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532"/>
    <p:restoredTop sz="88511"/>
  </p:normalViewPr>
  <p:slideViewPr>
    <p:cSldViewPr snapToGrid="0" snapToObjects="1" showGuides="1">
      <p:cViewPr varScale="1">
        <p:scale>
          <a:sx n="98" d="100"/>
          <a:sy n="98" d="100"/>
        </p:scale>
        <p:origin x="468" y="72"/>
      </p:cViewPr>
      <p:guideLst>
        <p:guide orient="horz" pos="2001"/>
        <p:guide pos="3840"/>
        <p:guide orient="horz" pos="845"/>
        <p:guide orient="horz" pos="2260"/>
      </p:guideLst>
    </p:cSldViewPr>
  </p:slideViewPr>
  <p:notesTextViewPr>
    <p:cViewPr>
      <p:scale>
        <a:sx n="140" d="100"/>
        <a:sy n="140" d="100"/>
      </p:scale>
      <p:origin x="0" y="0"/>
    </p:cViewPr>
  </p:notesTextViewPr>
  <p:sorterViewPr>
    <p:cViewPr>
      <p:scale>
        <a:sx n="40" d="100"/>
        <a:sy n="4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69B49-EEFB-4B49-ACAD-82B53A8DDF70}"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F6EFC-B03E-874C-9CD9-41B66C8AE1E7}" type="slidenum">
              <a:rPr lang="en-US" smtClean="0"/>
              <a:t>‹#›</a:t>
            </a:fld>
            <a:endParaRPr lang="en-US"/>
          </a:p>
        </p:txBody>
      </p:sp>
    </p:spTree>
    <p:extLst>
      <p:ext uri="{BB962C8B-B14F-4D97-AF65-F5344CB8AC3E}">
        <p14:creationId xmlns:p14="http://schemas.microsoft.com/office/powerpoint/2010/main" val="7249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9070861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25.svg"/><Relationship Id="rId5" Type="http://schemas.openxmlformats.org/officeDocument/2006/relationships/image" Target="../media/image10.png"/><Relationship Id="rId4" Type="http://schemas.openxmlformats.org/officeDocument/2006/relationships/image" Target="../media/image24.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29.sv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25.svg"/><Relationship Id="rId5" Type="http://schemas.openxmlformats.org/officeDocument/2006/relationships/image" Target="../media/image10.png"/><Relationship Id="rId4" Type="http://schemas.openxmlformats.org/officeDocument/2006/relationships/image" Target="../media/image2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25.svg"/><Relationship Id="rId5" Type="http://schemas.openxmlformats.org/officeDocument/2006/relationships/image" Target="../media/image10.png"/><Relationship Id="rId4" Type="http://schemas.openxmlformats.org/officeDocument/2006/relationships/image" Target="../media/image2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1.png"/><Relationship Id="rId1" Type="http://schemas.openxmlformats.org/officeDocument/2006/relationships/slideMaster" Target="../slideMasters/slideMaster2.xml"/><Relationship Id="rId5" Type="http://schemas.openxmlformats.org/officeDocument/2006/relationships/image" Target="../media/image26.svg"/><Relationship Id="rId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mp; End Slide Option">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14959" y="1341439"/>
            <a:ext cx="1196970"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546026624"/>
      </p:ext>
    </p:extLst>
  </p:cSld>
  <p:clrMapOvr>
    <a:masterClrMapping/>
  </p:clrMapOvr>
  <p:extLst>
    <p:ext uri="{DCECCB84-F9BA-43D5-87BE-67443E8EF086}">
      <p15:sldGuideLst xmlns:p15="http://schemas.microsoft.com/office/powerpoint/2012/main">
        <p15:guide id="1" pos="694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7"/>
            <a:ext cx="11122470"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8408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77310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White 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0"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userDrawn="1"/>
        </p:nvGrpSpPr>
        <p:grpSpPr>
          <a:xfrm>
            <a:off x="0" y="5911729"/>
            <a:ext cx="12192027"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73491340"/>
      </p:ext>
    </p:extLst>
  </p:cSld>
  <p:clrMapOvr>
    <a:masterClrMapping/>
  </p:clrMapOvr>
  <p:extLst>
    <p:ext uri="{DCECCB84-F9BA-43D5-87BE-67443E8EF086}">
      <p15:sldGuideLst xmlns:p15="http://schemas.microsoft.com/office/powerpoint/2012/main">
        <p15:guide id="1" orient="horz" pos="845" userDrawn="1">
          <p15:clr>
            <a:srgbClr val="FBAE40"/>
          </p15:clr>
        </p15:guide>
        <p15:guide id="2" orient="horz" pos="8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79" y="1342422"/>
            <a:ext cx="4041984"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userDrawn="1"/>
        </p:nvGrpSpPr>
        <p:grpSpPr>
          <a:xfrm>
            <a:off x="0" y="5911729"/>
            <a:ext cx="12192027"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4298506" y="1439056"/>
            <a:ext cx="7342632"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518668" y="1439055"/>
            <a:ext cx="3524695" cy="5059179"/>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953628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Gold H Line">
            <a:extLst>
              <a:ext uri="{FF2B5EF4-FFF2-40B4-BE49-F238E27FC236}">
                <a16:creationId xmlns:a16="http://schemas.microsoft.com/office/drawing/2014/main" id="{BCBE8D15-217A-AD4B-B1B6-A4A4464A9778}"/>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6305552" y="2093513"/>
            <a:ext cx="5335586"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6305552" y="1374650"/>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6305550" y="234094"/>
            <a:ext cx="5335587" cy="1019176"/>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518668" y="2098627"/>
            <a:ext cx="5367782"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518669" y="234094"/>
            <a:ext cx="5367782"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36612878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Gold H Line">
            <a:extLst>
              <a:ext uri="{FF2B5EF4-FFF2-40B4-BE49-F238E27FC236}">
                <a16:creationId xmlns:a16="http://schemas.microsoft.com/office/drawing/2014/main" id="{FF14821C-DD56-5047-8DDF-2CED2D6B409A}"/>
              </a:ext>
            </a:extLst>
          </p:cNvPr>
          <p:cNvCxnSpPr/>
          <p:nvPr userDrawn="1"/>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8041138"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8041138" y="230572"/>
            <a:ext cx="3600000" cy="1067301"/>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4279902" y="2093513"/>
            <a:ext cx="3599998"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05564858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Slide on White Bg ">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8953"/>
            <a:ext cx="4785278"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87320" y="-43952"/>
            <a:ext cx="4785278"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8" cy="441607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9" y="1382713"/>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5"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57101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heading + Content on Sand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94054"/>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965758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userDrawn="1"/>
        </p:nvGrpSpPr>
        <p:grpSpPr>
          <a:xfrm>
            <a:off x="0" y="5911729"/>
            <a:ext cx="12192027"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862868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userDrawn="1"/>
        </p:nvGrpSpPr>
        <p:grpSpPr>
          <a:xfrm>
            <a:off x="0" y="5911729"/>
            <a:ext cx="12192027"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6" y="1446551"/>
            <a:ext cx="7342632"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446551"/>
            <a:ext cx="3524695" cy="5066674"/>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20539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ual Layout Slide on Sand 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6305552" y="2093512"/>
            <a:ext cx="5335586" cy="442720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rgbClr val="4D5356"/>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6305550" y="234093"/>
            <a:ext cx="5335587" cy="1019176"/>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518668" y="2098626"/>
            <a:ext cx="5367782" cy="4422095"/>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rgbClr val="4D5356"/>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185585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xColumns Layout Slide on Sand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8041138"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8041133"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4279902" y="2093513"/>
            <a:ext cx="3599998"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263489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Slide on Sand 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8953"/>
            <a:ext cx="4785278"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87320" y="-43952"/>
            <a:ext cx="4785278"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8" cy="441607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84865"/>
            <a:ext cx="6256339" cy="631312"/>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5"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1326860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heading + Content on Maroon 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6"/>
            <a:ext cx="11122470"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79764"/>
            <a:ext cx="11122470" cy="644993"/>
          </a:xfrm>
          <a:noFill/>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87225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Maroon 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userDrawn="1"/>
        </p:nvGrpSpPr>
        <p:grpSpPr>
          <a:xfrm>
            <a:off x="0" y="5911729"/>
            <a:ext cx="12192027"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00790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Maroon 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userDrawn="1"/>
        </p:nvGrpSpPr>
        <p:grpSpPr>
          <a:xfrm>
            <a:off x="0" y="5911729"/>
            <a:ext cx="12192027"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6" y="1439056"/>
            <a:ext cx="7342632"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438309"/>
            <a:ext cx="3524695" cy="5074939"/>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27615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ual Layout Slide on Maroon 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6305552" y="2093512"/>
            <a:ext cx="5335586" cy="439722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6305550" y="234093"/>
            <a:ext cx="5335587" cy="1071642"/>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518668" y="2098626"/>
            <a:ext cx="5367782" cy="439722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582438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xColumns Layout Slide on Maroon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8041138" y="2093513"/>
            <a:ext cx="3600000"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8041138" y="23057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4279902" y="2093513"/>
            <a:ext cx="3599998"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518667" y="2093513"/>
            <a:ext cx="3600000" cy="441971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280602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Slide on Maroon 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1002"/>
            <a:ext cx="4785278"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225944" y="1341306"/>
            <a:ext cx="4785278"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227250" y="-42185"/>
            <a:ext cx="4785278"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101463"/>
            <a:ext cx="6256338" cy="4419258"/>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76838"/>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8"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1240825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heading + Content on Steel Grey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6"/>
            <a:ext cx="11122470" cy="4422095"/>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3213"/>
            <a:ext cx="8328565"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5591744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teel Grey 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68"/>
          <a:stretch/>
        </p:blipFill>
        <p:spPr>
          <a:xfrm>
            <a:off x="1379" y="1342422"/>
            <a:ext cx="12190621"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userDrawn="1"/>
        </p:nvGrpSpPr>
        <p:grpSpPr>
          <a:xfrm>
            <a:off x="0" y="5911729"/>
            <a:ext cx="12192027"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8" y="2098627"/>
            <a:ext cx="11122470"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8" y="1379764"/>
            <a:ext cx="11122470" cy="644993"/>
          </a:xfrm>
        </p:spPr>
        <p:txBody>
          <a:bodyPr anchor="ctr">
            <a:normAutofit/>
          </a:bodyPr>
          <a:lstStyle>
            <a:lvl1pPr marL="0" indent="0" algn="l" defTabSz="914400" rtl="0" eaLnBrk="1" latinLnBrk="0" hangingPunct="1">
              <a:lnSpc>
                <a:spcPct val="100000"/>
              </a:lnSpc>
              <a:spcBef>
                <a:spcPts val="1000"/>
              </a:spcBef>
              <a:buClr>
                <a:schemeClr val="accent2"/>
              </a:buClr>
              <a:buFontTx/>
              <a:buNone/>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51753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teel Grey 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9167"/>
          <a:stretch/>
        </p:blipFill>
        <p:spPr>
          <a:xfrm>
            <a:off x="1380" y="1342422"/>
            <a:ext cx="3784040"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userDrawn="1"/>
        </p:nvGrpSpPr>
        <p:grpSpPr>
          <a:xfrm>
            <a:off x="0" y="5911729"/>
            <a:ext cx="12192027"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4043364" y="1439056"/>
            <a:ext cx="7814339"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518668" y="1437745"/>
            <a:ext cx="3266751" cy="5075482"/>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lang="en-GB" sz="2800" b="0" i="0" kern="120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8348529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ual Layout Slide on Steel Grey 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6305552" y="2093512"/>
            <a:ext cx="5335586"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305552" y="1382145"/>
            <a:ext cx="5335586"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1"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6305550" y="234093"/>
            <a:ext cx="5335587" cy="1071641"/>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8" y="2098626"/>
            <a:ext cx="5367782" cy="4414600"/>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2"/>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8" y="1379764"/>
            <a:ext cx="5367782"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9" y="286559"/>
            <a:ext cx="5367782"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16789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xColumns Layout Slide on Steel Grey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8041138" y="2093512"/>
            <a:ext cx="3600000"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8041138"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8041138" y="229951"/>
            <a:ext cx="3600000" cy="1053551"/>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4279902" y="2093512"/>
            <a:ext cx="3599998"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4279902" y="1382145"/>
            <a:ext cx="3599998"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518667" y="2093512"/>
            <a:ext cx="3600000" cy="4412219"/>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518667" y="1382145"/>
            <a:ext cx="3600000"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3022843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Slide on Steel Grey 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8" y="4471002"/>
            <a:ext cx="4785278"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225944" y="1334680"/>
            <a:ext cx="4785278"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227250" y="-42183"/>
            <a:ext cx="4785278"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6645"/>
            <a:ext cx="6256338" cy="4416581"/>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8" y="1381173"/>
            <a:ext cx="6256339" cy="644993"/>
          </a:xfrm>
        </p:spPr>
        <p:txBody>
          <a:bodyPr anchor="ctr">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0" i="0" kern="1200" dirty="0">
                <a:solidFill>
                  <a:schemeClr val="accent2"/>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8"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2719127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B147B153-F676-46CF-9EFF-44D2446CD99E}" type="slidenum">
              <a:rPr lang="en-GB" smtClean="0"/>
              <a:pPr>
                <a:defRPr/>
              </a:pPr>
              <a:t>‹#›</a:t>
            </a:fld>
            <a:endParaRPr lang="en-GB"/>
          </a:p>
        </p:txBody>
      </p:sp>
    </p:spTree>
    <p:extLst>
      <p:ext uri="{BB962C8B-B14F-4D97-AF65-F5344CB8AC3E}">
        <p14:creationId xmlns:p14="http://schemas.microsoft.com/office/powerpoint/2010/main" val="5435125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ver &amp; End Slide Option">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14959" y="1341441"/>
            <a:ext cx="1196971"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243164430"/>
      </p:ext>
    </p:extLst>
  </p:cSld>
  <p:clrMapOvr>
    <a:masterClrMapping/>
  </p:clrMapOvr>
  <p:extLst>
    <p:ext uri="{DCECCB84-F9BA-43D5-87BE-67443E8EF086}">
      <p15:sldGuideLst xmlns:p15="http://schemas.microsoft.com/office/powerpoint/2012/main">
        <p15:guide id="1" pos="694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9" y="2098627"/>
            <a:ext cx="11122471"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9" y="1384086"/>
            <a:ext cx="11122471"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2314142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heading + Content on Pattern White 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79" y="1342422"/>
            <a:ext cx="12190620"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p:nvGrpSpPr>
        <p:grpSpPr>
          <a:xfrm>
            <a:off x="1" y="5911729"/>
            <a:ext cx="12192027"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9" y="2098627"/>
            <a:ext cx="11122471"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9" y="1379766"/>
            <a:ext cx="11122471"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92968369"/>
      </p:ext>
    </p:extLst>
  </p:cSld>
  <p:clrMapOvr>
    <a:masterClrMapping/>
  </p:clrMapOvr>
  <p:extLst>
    <p:ext uri="{DCECCB84-F9BA-43D5-87BE-67443E8EF086}">
      <p15:sldGuideLst xmlns:p15="http://schemas.microsoft.com/office/powerpoint/2012/main">
        <p15:guide id="1" orient="horz" pos="845">
          <p15:clr>
            <a:srgbClr val="FBAE40"/>
          </p15:clr>
        </p15:guide>
        <p15:guide id="2" orient="horz" pos="86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79" y="1342422"/>
            <a:ext cx="4041984"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p:nvGrpSpPr>
        <p:grpSpPr>
          <a:xfrm>
            <a:off x="1" y="5911729"/>
            <a:ext cx="12192027"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4298507" y="1439056"/>
            <a:ext cx="7342632"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518670" y="1439057"/>
            <a:ext cx="3524695" cy="5059179"/>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12514873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0" name="Gold H Line">
            <a:extLst>
              <a:ext uri="{FF2B5EF4-FFF2-40B4-BE49-F238E27FC236}">
                <a16:creationId xmlns:a16="http://schemas.microsoft.com/office/drawing/2014/main" id="{BCBE8D15-217A-AD4B-B1B6-A4A4464A9778}"/>
              </a:ext>
            </a:extLst>
          </p:cNvPr>
          <p:cNvCxnSpPr/>
          <p:nvPr/>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6305552" y="2093513"/>
            <a:ext cx="5335587"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tx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6305552" y="1374652"/>
            <a:ext cx="533558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6305551" y="234094"/>
            <a:ext cx="5335587" cy="1019176"/>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518669" y="2098627"/>
            <a:ext cx="5367783"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518669" y="1379766"/>
            <a:ext cx="536778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518670" y="234094"/>
            <a:ext cx="5367783"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2816921249"/>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8" name="Gold H Line">
            <a:extLst>
              <a:ext uri="{FF2B5EF4-FFF2-40B4-BE49-F238E27FC236}">
                <a16:creationId xmlns:a16="http://schemas.microsoft.com/office/drawing/2014/main" id="{FF14821C-DD56-5047-8DDF-2CED2D6B409A}"/>
              </a:ext>
            </a:extLst>
          </p:cNvPr>
          <p:cNvCxnSpPr/>
          <p:nvPr/>
        </p:nvCxnSpPr>
        <p:spPr>
          <a:xfrm>
            <a:off x="0" y="1341438"/>
            <a:ext cx="12192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8041139" y="2093513"/>
            <a:ext cx="36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8041139"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8041139" y="230574"/>
            <a:ext cx="3600000" cy="1067301"/>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4279902" y="2093513"/>
            <a:ext cx="3599999"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4279902" y="1382147"/>
            <a:ext cx="35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7"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630322538"/>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Divider Slide on White Bg ">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9" y="4478955"/>
            <a:ext cx="4785279"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87321" y="-43952"/>
            <a:ext cx="4785279"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9" cy="441607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800" y="1382715"/>
            <a:ext cx="625633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6"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7546704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heading + Content on Sand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9" y="2098628"/>
            <a:ext cx="11122471"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9" y="1379766"/>
            <a:ext cx="11122471"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94054"/>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092639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heading + Content on Pattern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80" y="1342422"/>
            <a:ext cx="12190621"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p:nvGrpSpPr>
        <p:grpSpPr>
          <a:xfrm>
            <a:off x="1" y="5911729"/>
            <a:ext cx="12192027"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9" y="2098626"/>
            <a:ext cx="11122471"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9" y="1379766"/>
            <a:ext cx="11122471"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7922269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p:nvGrpSpPr>
        <p:grpSpPr>
          <a:xfrm>
            <a:off x="1" y="5911729"/>
            <a:ext cx="12192027"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7" y="1446553"/>
            <a:ext cx="7342632"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70" y="1446551"/>
            <a:ext cx="3524695" cy="5066674"/>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706273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ual Layout Slide on Sand 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6305552" y="2093514"/>
            <a:ext cx="5335587" cy="442720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rgbClr val="4D5356"/>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6305552" y="1382147"/>
            <a:ext cx="533558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6305551" y="234093"/>
            <a:ext cx="5335587" cy="1019176"/>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518669" y="2098628"/>
            <a:ext cx="5367783" cy="4422095"/>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rgbClr val="4D5356"/>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518669" y="1379766"/>
            <a:ext cx="536778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518670" y="286559"/>
            <a:ext cx="5367783"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6816936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xColumns Layout Slide on Sand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8041139" y="2093513"/>
            <a:ext cx="36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8041139"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8041133"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4279902" y="2093513"/>
            <a:ext cx="3599999"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4279902" y="1382147"/>
            <a:ext cx="35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518667" y="2093513"/>
            <a:ext cx="36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518667"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3031372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Divider Slide on Sand 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9" y="4478955"/>
            <a:ext cx="4785279"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87321" y="-43952"/>
            <a:ext cx="4785279"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7153"/>
            <a:ext cx="6256339" cy="441607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9" y="1384865"/>
            <a:ext cx="6256339" cy="631312"/>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24406" y="2943724"/>
            <a:ext cx="4448193"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28503379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ub-heading + Content on Maroon 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18669" y="2098628"/>
            <a:ext cx="11122471"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9" y="1379766"/>
            <a:ext cx="11122471" cy="644993"/>
          </a:xfrm>
          <a:noFill/>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9826483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heading + Content on Pattern Maroon 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380" y="1342422"/>
            <a:ext cx="12190621"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p:nvGrpSpPr>
        <p:grpSpPr>
          <a:xfrm>
            <a:off x="1" y="5911729"/>
            <a:ext cx="12192027"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9" y="2098627"/>
            <a:ext cx="11122471"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9" y="1379766"/>
            <a:ext cx="11122471"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480251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heading + Content on Pattern Panel Maroon 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7065"/>
          <a:stretch/>
        </p:blipFill>
        <p:spPr>
          <a:xfrm>
            <a:off x="1380" y="1342422"/>
            <a:ext cx="4041984"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p:nvGrpSpPr>
        <p:grpSpPr>
          <a:xfrm>
            <a:off x="1" y="5911729"/>
            <a:ext cx="12192027"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98507" y="1439056"/>
            <a:ext cx="7342632"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70" y="1438310"/>
            <a:ext cx="3524695" cy="5074939"/>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2073764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ual Layout Slide on Maroon 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6305552" y="2093514"/>
            <a:ext cx="5335587" cy="439722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6305552" y="1382147"/>
            <a:ext cx="533558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6305551" y="234093"/>
            <a:ext cx="5335587" cy="1071642"/>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518669" y="2098628"/>
            <a:ext cx="5367783" cy="439722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518669" y="1379766"/>
            <a:ext cx="536778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518670" y="286559"/>
            <a:ext cx="5367783"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5031700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xColumns Layout Slide on Maroon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8041139" y="2093513"/>
            <a:ext cx="360000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8041139"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8041139" y="23057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4279902" y="2093513"/>
            <a:ext cx="3599999"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4279902" y="1382147"/>
            <a:ext cx="35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518667" y="2093513"/>
            <a:ext cx="360000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518667"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0553300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tion Divider Slide on Maroon 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9" y="4471004"/>
            <a:ext cx="4785279"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225945" y="1341306"/>
            <a:ext cx="4785279"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227250" y="-42185"/>
            <a:ext cx="4785279"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101463"/>
            <a:ext cx="6256339" cy="4419258"/>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9" y="1376840"/>
            <a:ext cx="625633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9"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24634730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heading + Content on Steel Grey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9" y="2098628"/>
            <a:ext cx="11122471" cy="4422095"/>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9" y="1379766"/>
            <a:ext cx="11122471"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3213"/>
            <a:ext cx="8328565"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8666142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heading + Content on Pattern Steel Grey 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68"/>
          <a:stretch/>
        </p:blipFill>
        <p:spPr>
          <a:xfrm>
            <a:off x="1380" y="1342422"/>
            <a:ext cx="12190621"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p:nvGrpSpPr>
        <p:grpSpPr>
          <a:xfrm>
            <a:off x="1" y="5911729"/>
            <a:ext cx="12192027"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518669" y="2098627"/>
            <a:ext cx="11122471"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518669" y="1379766"/>
            <a:ext cx="11122471"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7595348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teel Grey 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9167"/>
          <a:stretch/>
        </p:blipFill>
        <p:spPr>
          <a:xfrm>
            <a:off x="1380" y="1342422"/>
            <a:ext cx="3784040"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p:nvGrpSpPr>
        <p:grpSpPr>
          <a:xfrm>
            <a:off x="1" y="5911729"/>
            <a:ext cx="12192027"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4043365" y="1439056"/>
            <a:ext cx="7814339"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518670" y="1437745"/>
            <a:ext cx="3266751" cy="5075482"/>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lang="en-GB" sz="2100" b="0" i="0" kern="120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8668" y="286559"/>
            <a:ext cx="832856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958652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ual Layout Slide on Steel Grey 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6305552" y="2093512"/>
            <a:ext cx="5335587"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305552" y="1382147"/>
            <a:ext cx="533558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6305551" y="234095"/>
            <a:ext cx="5335587" cy="1071641"/>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518669" y="2098626"/>
            <a:ext cx="5367783"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18669" y="1379766"/>
            <a:ext cx="536778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518670" y="286559"/>
            <a:ext cx="5367783"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6531076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xColumns Layout Slide on Steel Grey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p:nvSpPr>
        <p:spPr>
          <a:xfrm>
            <a:off x="0" y="2"/>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8041139" y="2093514"/>
            <a:ext cx="3600000"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8041139"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8041139" y="229953"/>
            <a:ext cx="3600000" cy="1053551"/>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4279902" y="2093514"/>
            <a:ext cx="3599999"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4279902" y="1382147"/>
            <a:ext cx="35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4279900"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518667" y="2093514"/>
            <a:ext cx="3600000"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518667" y="1382147"/>
            <a:ext cx="36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518667" y="229952"/>
            <a:ext cx="36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34477395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Divider Slide on Steel Grey 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97369" y="4471004"/>
            <a:ext cx="4785279"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225945" y="1334682"/>
            <a:ext cx="4785279"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227250" y="-42183"/>
            <a:ext cx="4785279"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2096647"/>
            <a:ext cx="6256339" cy="4416581"/>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5384799" y="1381175"/>
            <a:ext cx="625633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515939" y="2943724"/>
            <a:ext cx="44532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34117888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039ECEA-6210-4280-9886-751C60AE4083}" type="datetime1">
              <a:rPr lang="en-ZA" smtClean="0"/>
              <a:t>2026/03/04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72B1A4AB-DD35-49DF-A5A9-C69B9DFF9FD2}" type="slidenum">
              <a:rPr lang="en-GB" smtClean="0"/>
              <a:pPr>
                <a:defRPr/>
              </a:pPr>
              <a:t>‹#›</a:t>
            </a:fld>
            <a:endParaRPr lang="en-GB"/>
          </a:p>
        </p:txBody>
      </p:sp>
    </p:spTree>
    <p:extLst>
      <p:ext uri="{BB962C8B-B14F-4D97-AF65-F5344CB8AC3E}">
        <p14:creationId xmlns:p14="http://schemas.microsoft.com/office/powerpoint/2010/main" val="7487329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5ED729-1D55-4BD4-907E-6886CE654DA8}" type="datetime1">
              <a:rPr lang="en-ZA" smtClean="0"/>
              <a:t>2026/03/04</a:t>
            </a:fld>
            <a:endParaRPr lang="en-ZA" dirty="0"/>
          </a:p>
        </p:txBody>
      </p:sp>
      <p:sp>
        <p:nvSpPr>
          <p:cNvPr id="4" name="Footer Placeholder 3"/>
          <p:cNvSpPr>
            <a:spLocks noGrp="1"/>
          </p:cNvSpPr>
          <p:nvPr>
            <p:ph type="ftr" sz="quarter" idx="11"/>
          </p:nvPr>
        </p:nvSpPr>
        <p:spPr/>
        <p:txBody>
          <a:bodyPr/>
          <a:lstStyle/>
          <a:p>
            <a:endParaRPr lang="en-ZA" dirty="0"/>
          </a:p>
        </p:txBody>
      </p:sp>
      <p:sp>
        <p:nvSpPr>
          <p:cNvPr id="5" name="Slide Number Placeholder 4"/>
          <p:cNvSpPr>
            <a:spLocks noGrp="1"/>
          </p:cNvSpPr>
          <p:nvPr>
            <p:ph type="sldNum" sz="quarter" idx="12"/>
          </p:nvPr>
        </p:nvSpPr>
        <p:spPr/>
        <p:txBody>
          <a:bodyPr/>
          <a:lstStyle/>
          <a:p>
            <a:fld id="{B35B71FE-F000-4058-95A8-4E062A013812}" type="slidenum">
              <a:rPr lang="en-ZA" smtClean="0"/>
              <a:pPr/>
              <a:t>‹#›</a:t>
            </a:fld>
            <a:endParaRPr lang="en-ZA" dirty="0"/>
          </a:p>
        </p:txBody>
      </p:sp>
    </p:spTree>
    <p:extLst>
      <p:ext uri="{BB962C8B-B14F-4D97-AF65-F5344CB8AC3E}">
        <p14:creationId xmlns:p14="http://schemas.microsoft.com/office/powerpoint/2010/main" val="619159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1.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image" Target="../media/image4.svg"/><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theme" Target="../theme/theme2.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image" Target="../media/image3.png"/><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userDrawn="1"/>
        </p:nvSpPr>
        <p:spPr>
          <a:xfrm>
            <a:off x="0" y="0"/>
            <a:ext cx="12192000"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userDrawn="1"/>
        </p:nvPicPr>
        <p:blipFill rotWithShape="1">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rcRect b="18185"/>
          <a:stretch/>
        </p:blipFill>
        <p:spPr>
          <a:xfrm>
            <a:off x="0" y="5909001"/>
            <a:ext cx="12192000"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userDrawn="1"/>
        </p:nvSpPr>
        <p:spPr>
          <a:xfrm>
            <a:off x="515938" y="6597651"/>
            <a:ext cx="111252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000" b="0" i="0" dirty="0">
                <a:solidFill>
                  <a:schemeClr val="accent3"/>
                </a:solidFill>
                <a:latin typeface="Trebuchet MS" panose="020B0703020202090204" pitchFamily="34" charset="0"/>
              </a:rPr>
              <a:t>Economic and Management Sciences | </a:t>
            </a:r>
            <a:r>
              <a:rPr lang="en-GB" sz="1000" b="0" i="0" dirty="0" err="1">
                <a:solidFill>
                  <a:schemeClr val="accent3"/>
                </a:solidFill>
                <a:latin typeface="Trebuchet MS" panose="020B0703020202090204" pitchFamily="34" charset="0"/>
              </a:rPr>
              <a:t>EyeNzululwazi</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ngoQoqosho</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noLawulo</a:t>
            </a:r>
            <a:r>
              <a:rPr lang="en-GB" sz="1000" b="0" i="0" dirty="0">
                <a:solidFill>
                  <a:schemeClr val="accent3"/>
                </a:solidFill>
                <a:latin typeface="Trebuchet MS" panose="020B0703020202090204" pitchFamily="34" charset="0"/>
              </a:rPr>
              <a:t> | </a:t>
            </a:r>
            <a:r>
              <a:rPr lang="en-GB" sz="1000" b="0" i="0" dirty="0" err="1">
                <a:solidFill>
                  <a:schemeClr val="accent3"/>
                </a:solidFill>
                <a:latin typeface="Trebuchet MS" panose="020B0703020202090204" pitchFamily="34" charset="0"/>
              </a:rPr>
              <a:t>Ekonomiese</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en</a:t>
            </a:r>
            <a:r>
              <a:rPr lang="en-GB" sz="1000" b="0" i="0" dirty="0">
                <a:solidFill>
                  <a:schemeClr val="accent3"/>
                </a:solidFill>
                <a:latin typeface="Trebuchet MS" panose="020B0703020202090204" pitchFamily="34" charset="0"/>
              </a:rPr>
              <a:t> </a:t>
            </a:r>
            <a:r>
              <a:rPr lang="en-GB" sz="1000" b="0" i="0" dirty="0" err="1">
                <a:solidFill>
                  <a:schemeClr val="accent3"/>
                </a:solidFill>
                <a:latin typeface="Trebuchet MS" panose="020B0703020202090204" pitchFamily="34" charset="0"/>
              </a:rPr>
              <a:t>Bestuurswetenskappe</a:t>
            </a:r>
            <a:endParaRPr lang="en-GB" sz="1000"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userDrawn="1"/>
        </p:nvSpPr>
        <p:spPr>
          <a:xfrm>
            <a:off x="0" y="1339540"/>
            <a:ext cx="12192000"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515938" y="1426437"/>
            <a:ext cx="11125197"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515938" y="285324"/>
            <a:ext cx="8515636"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userDrawn="1"/>
        </p:nvPicPr>
        <p:blipFill>
          <a:blip r:embed="rId30">
            <a:extLst>
              <a:ext uri="{96DAC541-7B7A-43D3-8B79-37D633B846F1}">
                <asvg:svgBlip xmlns:asvg="http://schemas.microsoft.com/office/drawing/2016/SVG/main" r:embed="rId31"/>
              </a:ext>
            </a:extLst>
          </a:blip>
          <a:srcRect/>
          <a:stretch/>
        </p:blipFill>
        <p:spPr>
          <a:xfrm>
            <a:off x="9138962" y="130470"/>
            <a:ext cx="3053038" cy="1037250"/>
          </a:xfrm>
          <a:prstGeom prst="rect">
            <a:avLst/>
          </a:prstGeom>
        </p:spPr>
      </p:pic>
    </p:spTree>
    <p:extLst>
      <p:ext uri="{BB962C8B-B14F-4D97-AF65-F5344CB8AC3E}">
        <p14:creationId xmlns:p14="http://schemas.microsoft.com/office/powerpoint/2010/main" val="185710988"/>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725" r:id="rId3"/>
    <p:sldLayoutId id="2147483712" r:id="rId4"/>
    <p:sldLayoutId id="2147483716" r:id="rId5"/>
    <p:sldLayoutId id="2147483741" r:id="rId6"/>
    <p:sldLayoutId id="2147483729" r:id="rId7"/>
    <p:sldLayoutId id="2147483749" r:id="rId8"/>
    <p:sldLayoutId id="2147483701" r:id="rId9"/>
    <p:sldLayoutId id="2147483713" r:id="rId10"/>
    <p:sldLayoutId id="2147483724" r:id="rId11"/>
    <p:sldLayoutId id="2147483743" r:id="rId12"/>
    <p:sldLayoutId id="2147483710" r:id="rId13"/>
    <p:sldLayoutId id="2147483750" r:id="rId14"/>
    <p:sldLayoutId id="2147483702" r:id="rId15"/>
    <p:sldLayoutId id="2147483714" r:id="rId16"/>
    <p:sldLayoutId id="2147483722" r:id="rId17"/>
    <p:sldLayoutId id="2147483744" r:id="rId18"/>
    <p:sldLayoutId id="2147483719" r:id="rId19"/>
    <p:sldLayoutId id="2147483751" r:id="rId20"/>
    <p:sldLayoutId id="2147483721" r:id="rId21"/>
    <p:sldLayoutId id="2147483709" r:id="rId22"/>
    <p:sldLayoutId id="2147483718" r:id="rId23"/>
    <p:sldLayoutId id="2147483745" r:id="rId24"/>
    <p:sldLayoutId id="2147483717" r:id="rId25"/>
    <p:sldLayoutId id="2147483753" r:id="rId26"/>
  </p:sldLayoutIdLst>
  <p:hf sldNum="0" hdr="0" ftr="0" dt="0"/>
  <p:txStyles>
    <p:titleStyle>
      <a:lvl1pPr algn="l" defTabSz="914400" rtl="0" eaLnBrk="1" latinLnBrk="0" hangingPunct="1">
        <a:lnSpc>
          <a:spcPct val="90000"/>
        </a:lnSpc>
        <a:spcBef>
          <a:spcPct val="0"/>
        </a:spcBef>
        <a:buNone/>
        <a:defRPr sz="3200" b="1" i="0" kern="1200">
          <a:solidFill>
            <a:schemeClr val="accent1"/>
          </a:solidFill>
          <a:latin typeface="Trebuchet MS" panose="020B070302020209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tx1"/>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userDrawn="1">
          <p15:clr>
            <a:srgbClr val="F26B43"/>
          </p15:clr>
        </p15:guide>
        <p15:guide id="2" pos="325" userDrawn="1">
          <p15:clr>
            <a:srgbClr val="F26B43"/>
          </p15:clr>
        </p15:guide>
        <p15:guide id="3" pos="166" userDrawn="1">
          <p15:clr>
            <a:srgbClr val="F26B43"/>
          </p15:clr>
        </p15:guide>
        <p15:guide id="4" pos="7514" userDrawn="1">
          <p15:clr>
            <a:srgbClr val="F26B43"/>
          </p15:clr>
        </p15:guide>
        <p15:guide id="5" pos="7333" userDrawn="1">
          <p15:clr>
            <a:srgbClr val="F26B43"/>
          </p15:clr>
        </p15:guide>
        <p15:guide id="6" orient="horz" pos="4156" userDrawn="1">
          <p15:clr>
            <a:srgbClr val="F26B43"/>
          </p15:clr>
        </p15:guide>
        <p15:guide id="7" orient="horz" pos="232" userDrawn="1">
          <p15:clr>
            <a:srgbClr val="F26B43"/>
          </p15:clr>
        </p15:guide>
        <p15:guide id="8" pos="3840" userDrawn="1">
          <p15:clr>
            <a:srgbClr val="F26B43"/>
          </p15:clr>
        </p15:guide>
        <p15:guide id="9" orient="horz" pos="86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p:nvSpPr>
        <p:spPr>
          <a:xfrm>
            <a:off x="0" y="0"/>
            <a:ext cx="12192000"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p:nvPicPr>
        <p:blipFill rotWithShape="1">
          <a:blip r:embed="rId29" cstate="screen">
            <a:extLst>
              <a:ext uri="{28A0092B-C50C-407E-A947-70E740481C1C}">
                <a14:useLocalDpi xmlns:a14="http://schemas.microsoft.com/office/drawing/2010/main"/>
              </a:ext>
              <a:ext uri="{96DAC541-7B7A-43D3-8B79-37D633B846F1}">
                <asvg:svgBlip xmlns:asvg="http://schemas.microsoft.com/office/drawing/2016/SVG/main" r:embed="rId30"/>
              </a:ext>
            </a:extLst>
          </a:blip>
          <a:srcRect b="18185"/>
          <a:stretch/>
        </p:blipFill>
        <p:spPr>
          <a:xfrm>
            <a:off x="0" y="5909003"/>
            <a:ext cx="12192000"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p:nvSpPr>
        <p:spPr>
          <a:xfrm>
            <a:off x="515939" y="6597651"/>
            <a:ext cx="111252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750" b="0" i="0" dirty="0">
                <a:solidFill>
                  <a:schemeClr val="accent3"/>
                </a:solidFill>
                <a:latin typeface="Trebuchet MS" panose="020B0703020202090204" pitchFamily="34" charset="0"/>
              </a:rPr>
              <a:t>Economic and Management Sciences | </a:t>
            </a:r>
            <a:r>
              <a:rPr lang="en-GB" sz="750" b="0" i="0" dirty="0" err="1">
                <a:solidFill>
                  <a:schemeClr val="accent3"/>
                </a:solidFill>
                <a:latin typeface="Trebuchet MS" panose="020B0703020202090204" pitchFamily="34" charset="0"/>
              </a:rPr>
              <a:t>EyeNzululwazi</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ngoQoqosho</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noLawulo</a:t>
            </a:r>
            <a:r>
              <a:rPr lang="en-GB" sz="750" b="0" i="0" dirty="0">
                <a:solidFill>
                  <a:schemeClr val="accent3"/>
                </a:solidFill>
                <a:latin typeface="Trebuchet MS" panose="020B0703020202090204" pitchFamily="34" charset="0"/>
              </a:rPr>
              <a:t> | </a:t>
            </a:r>
            <a:r>
              <a:rPr lang="en-GB" sz="750" b="0" i="0" dirty="0" err="1">
                <a:solidFill>
                  <a:schemeClr val="accent3"/>
                </a:solidFill>
                <a:latin typeface="Trebuchet MS" panose="020B0703020202090204" pitchFamily="34" charset="0"/>
              </a:rPr>
              <a:t>Ekonomiese</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en</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Bestuurswetenskappe</a:t>
            </a:r>
            <a:endParaRPr lang="en-GB" sz="750"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p:nvSpPr>
        <p:spPr>
          <a:xfrm>
            <a:off x="0" y="1339540"/>
            <a:ext cx="12192000"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sz="1800"/>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515939" y="1426437"/>
            <a:ext cx="11125197"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515939" y="285324"/>
            <a:ext cx="8515636"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p:nvPicPr>
        <p:blipFill>
          <a:blip r:embed="rId31">
            <a:extLst>
              <a:ext uri="{96DAC541-7B7A-43D3-8B79-37D633B846F1}">
                <asvg:svgBlip xmlns:asvg="http://schemas.microsoft.com/office/drawing/2016/SVG/main" r:embed="rId32"/>
              </a:ext>
            </a:extLst>
          </a:blip>
          <a:srcRect/>
          <a:stretch/>
        </p:blipFill>
        <p:spPr>
          <a:xfrm>
            <a:off x="9138962" y="130470"/>
            <a:ext cx="3053039" cy="1037250"/>
          </a:xfrm>
          <a:prstGeom prst="rect">
            <a:avLst/>
          </a:prstGeom>
        </p:spPr>
      </p:pic>
    </p:spTree>
    <p:extLst>
      <p:ext uri="{BB962C8B-B14F-4D97-AF65-F5344CB8AC3E}">
        <p14:creationId xmlns:p14="http://schemas.microsoft.com/office/powerpoint/2010/main" val="180567660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Lst>
  <p:hf sldNum="0" hdr="0" ftr="0" dt="0"/>
  <p:txStyles>
    <p:titleStyle>
      <a:lvl1pPr algn="l" defTabSz="685800" rtl="0" eaLnBrk="1" latinLnBrk="0" hangingPunct="1">
        <a:lnSpc>
          <a:spcPct val="90000"/>
        </a:lnSpc>
        <a:spcBef>
          <a:spcPct val="0"/>
        </a:spcBef>
        <a:buNone/>
        <a:defRPr sz="2400" b="1" i="0" kern="1200">
          <a:solidFill>
            <a:schemeClr val="accent1"/>
          </a:solidFill>
          <a:latin typeface="Trebuchet MS" panose="020B0703020202090204" pitchFamily="34" charset="0"/>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100000"/>
        </a:lnSpc>
        <a:spcBef>
          <a:spcPts val="375"/>
        </a:spcBef>
        <a:buClr>
          <a:schemeClr val="accent2"/>
        </a:buClr>
        <a:buFont typeface="Arial" panose="020B0604020202020204" pitchFamily="34" charset="0"/>
        <a:buChar char="•"/>
        <a:defRPr sz="1650" b="0" i="0" kern="1200">
          <a:solidFill>
            <a:schemeClr val="tx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100000"/>
        </a:lnSpc>
        <a:spcBef>
          <a:spcPts val="375"/>
        </a:spcBef>
        <a:buClr>
          <a:schemeClr val="accent2"/>
        </a:buClr>
        <a:buFont typeface="Arial" panose="020B0604020202020204" pitchFamily="34" charset="0"/>
        <a:buChar char="•"/>
        <a:defRPr sz="1500" b="0" i="0" kern="1200">
          <a:solidFill>
            <a:schemeClr val="tx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100000"/>
        </a:lnSpc>
        <a:spcBef>
          <a:spcPts val="375"/>
        </a:spcBef>
        <a:buClr>
          <a:schemeClr val="accent2"/>
        </a:buClr>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100000"/>
        </a:lnSpc>
        <a:spcBef>
          <a:spcPts val="375"/>
        </a:spcBef>
        <a:buClr>
          <a:schemeClr val="accent2"/>
        </a:buClr>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p15:clr>
            <a:srgbClr val="F26B43"/>
          </p15:clr>
        </p15:guide>
        <p15:guide id="2" pos="325">
          <p15:clr>
            <a:srgbClr val="F26B43"/>
          </p15:clr>
        </p15:guide>
        <p15:guide id="3" pos="166">
          <p15:clr>
            <a:srgbClr val="F26B43"/>
          </p15:clr>
        </p15:guide>
        <p15:guide id="4" pos="7514">
          <p15:clr>
            <a:srgbClr val="F26B43"/>
          </p15:clr>
        </p15:guide>
        <p15:guide id="5" pos="7333">
          <p15:clr>
            <a:srgbClr val="F26B43"/>
          </p15:clr>
        </p15:guide>
        <p15:guide id="6" orient="horz" pos="4156">
          <p15:clr>
            <a:srgbClr val="F26B43"/>
          </p15:clr>
        </p15:guide>
        <p15:guide id="7" orient="horz" pos="232">
          <p15:clr>
            <a:srgbClr val="F26B43"/>
          </p15:clr>
        </p15:guide>
        <p15:guide id="8" pos="3840">
          <p15:clr>
            <a:srgbClr val="F26B43"/>
          </p15:clr>
        </p15:guide>
        <p15:guide id="9" orient="horz" pos="86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6.xml"/><Relationship Id="rId4" Type="http://schemas.openxmlformats.org/officeDocument/2006/relationships/image" Target="../media/image33.png"/></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F0011B-A60B-C961-C4F8-0A2BEB19567E}"/>
              </a:ext>
            </a:extLst>
          </p:cNvPr>
          <p:cNvSpPr>
            <a:spLocks noGrp="1"/>
          </p:cNvSpPr>
          <p:nvPr>
            <p:ph type="title"/>
          </p:nvPr>
        </p:nvSpPr>
        <p:spPr/>
        <p:txBody>
          <a:bodyPr>
            <a:normAutofit/>
          </a:bodyPr>
          <a:lstStyle/>
          <a:p>
            <a:r>
              <a:rPr lang="en-US" altLang="en-US" dirty="0"/>
              <a:t>IAS 16: PROPERTY, PLANT AND EQUIPMENT </a:t>
            </a:r>
            <a:endParaRPr lang="en-ZA" dirty="0"/>
          </a:p>
        </p:txBody>
      </p:sp>
      <p:pic>
        <p:nvPicPr>
          <p:cNvPr id="9" name="Picture 2" descr="Related image">
            <a:extLst>
              <a:ext uri="{FF2B5EF4-FFF2-40B4-BE49-F238E27FC236}">
                <a16:creationId xmlns:a16="http://schemas.microsoft.com/office/drawing/2014/main" id="{413261D6-8192-860D-B62B-36DBEFC22D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19536" y="4352323"/>
            <a:ext cx="2016224" cy="20162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Related image">
            <a:extLst>
              <a:ext uri="{FF2B5EF4-FFF2-40B4-BE49-F238E27FC236}">
                <a16:creationId xmlns:a16="http://schemas.microsoft.com/office/drawing/2014/main" id="{C4B0E547-8B56-D30B-E8E5-A6FF513B39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8740" y="4567766"/>
            <a:ext cx="2760241" cy="15853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Related image">
            <a:extLst>
              <a:ext uri="{FF2B5EF4-FFF2-40B4-BE49-F238E27FC236}">
                <a16:creationId xmlns:a16="http://schemas.microsoft.com/office/drawing/2014/main" id="{4B0C6232-1A31-9CC6-BEFE-74774F0371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224" y="4503183"/>
            <a:ext cx="2286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869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74168" y="4841775"/>
            <a:ext cx="2016224" cy="2016225"/>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515938" y="1426437"/>
            <a:ext cx="11125197" cy="2414043"/>
          </a:xfrm>
        </p:spPr>
        <p:txBody>
          <a:bodyPr>
            <a:normAutofit/>
          </a:bodyPr>
          <a:lstStyle/>
          <a:p>
            <a:pPr marL="447675" indent="-447675" defTabSz="223838">
              <a:buFont typeface="Wingdings" pitchFamily="2" charset="2"/>
              <a:buChar char="q"/>
              <a:tabLst>
                <a:tab pos="630238" algn="l"/>
              </a:tabLst>
              <a:defRPr/>
            </a:pPr>
            <a:r>
              <a:rPr lang="en-US" b="1" dirty="0">
                <a:latin typeface="+mn-lt"/>
                <a:cs typeface="Arial" charset="0"/>
              </a:rPr>
              <a:t>OBJECTIVE: Accounting treatment of PPE (.2)</a:t>
            </a:r>
          </a:p>
          <a:p>
            <a:pPr marL="1158875" lvl="1" indent="-531813" defTabSz="223838">
              <a:tabLst>
                <a:tab pos="630238" algn="l"/>
              </a:tabLst>
              <a:defRPr/>
            </a:pPr>
            <a:r>
              <a:rPr lang="en-US" sz="2400" dirty="0">
                <a:latin typeface="+mn-lt"/>
                <a:cs typeface="Arial" charset="0"/>
              </a:rPr>
              <a:t>Recognition of asset</a:t>
            </a:r>
          </a:p>
          <a:p>
            <a:pPr marL="1158875" lvl="1" indent="-531813" defTabSz="223838">
              <a:tabLst>
                <a:tab pos="630238" algn="l"/>
              </a:tabLst>
              <a:defRPr/>
            </a:pPr>
            <a:r>
              <a:rPr lang="en-US" sz="2400" dirty="0">
                <a:latin typeface="+mn-lt"/>
                <a:cs typeface="Arial" charset="0"/>
              </a:rPr>
              <a:t>Determination of carrying amount</a:t>
            </a:r>
          </a:p>
          <a:p>
            <a:pPr marL="1158875" lvl="1" indent="-531813" defTabSz="223838">
              <a:tabLst>
                <a:tab pos="630238" algn="l"/>
              </a:tabLst>
              <a:defRPr/>
            </a:pPr>
            <a:r>
              <a:rPr lang="en-US" sz="2400" dirty="0">
                <a:latin typeface="+mn-lt"/>
                <a:cs typeface="Arial" charset="0"/>
              </a:rPr>
              <a:t>Depreciation and impairment losses </a:t>
            </a:r>
            <a:br>
              <a:rPr lang="en-US" sz="2400" dirty="0">
                <a:latin typeface="+mn-lt"/>
                <a:cs typeface="Arial" charset="0"/>
              </a:rPr>
            </a:br>
            <a:r>
              <a:rPr lang="en-US" sz="2400" dirty="0">
                <a:latin typeface="+mn-lt"/>
                <a:cs typeface="Arial" charset="0"/>
              </a:rPr>
              <a:t>(Impairment losses =  IAS 36)</a:t>
            </a:r>
          </a:p>
          <a:p>
            <a:endParaRPr lang="en-ZA" dirty="0">
              <a:latin typeface="+mn-lt"/>
            </a:endParaRPr>
          </a:p>
        </p:txBody>
      </p:sp>
      <p:sp>
        <p:nvSpPr>
          <p:cNvPr id="5" name="Title 4">
            <a:extLst>
              <a:ext uri="{FF2B5EF4-FFF2-40B4-BE49-F238E27FC236}">
                <a16:creationId xmlns:a16="http://schemas.microsoft.com/office/drawing/2014/main" id="{26EB5668-242E-EF48-5396-66CBBFA996C1}"/>
              </a:ext>
            </a:extLst>
          </p:cNvPr>
          <p:cNvSpPr>
            <a:spLocks noGrp="1"/>
          </p:cNvSpPr>
          <p:nvPr>
            <p:ph type="title"/>
          </p:nvPr>
        </p:nvSpPr>
        <p:spPr/>
        <p:txBody>
          <a:bodyPr/>
          <a:lstStyle/>
          <a:p>
            <a:r>
              <a:rPr lang="en-GB" altLang="en-US" dirty="0"/>
              <a:t>OBJECTIVE &amp; SCOPE</a:t>
            </a:r>
            <a:endParaRPr lang="en-ZA" dirty="0"/>
          </a:p>
        </p:txBody>
      </p:sp>
    </p:spTree>
    <p:extLst>
      <p:ext uri="{BB962C8B-B14F-4D97-AF65-F5344CB8AC3E}">
        <p14:creationId xmlns:p14="http://schemas.microsoft.com/office/powerpoint/2010/main" val="79135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01608" y="1402374"/>
            <a:ext cx="11527522" cy="5155610"/>
          </a:xfrm>
        </p:spPr>
        <p:txBody>
          <a:bodyPr>
            <a:normAutofit/>
          </a:bodyPr>
          <a:lstStyle/>
          <a:p>
            <a:pPr marL="0" indent="0" defTabSz="223838">
              <a:buNone/>
              <a:tabLst>
                <a:tab pos="630238" algn="l"/>
              </a:tabLst>
            </a:pPr>
            <a:r>
              <a:rPr lang="en-US" altLang="en-US" b="1" dirty="0">
                <a:latin typeface="+mn-lt"/>
                <a:cs typeface="Arial" charset="0"/>
              </a:rPr>
              <a:t>SCOPE  (.3)</a:t>
            </a:r>
            <a:br>
              <a:rPr lang="en-US" altLang="en-US" b="1" dirty="0">
                <a:latin typeface="+mn-lt"/>
                <a:cs typeface="Arial" charset="0"/>
              </a:rPr>
            </a:br>
            <a:br>
              <a:rPr lang="en-US" altLang="en-US" b="1" dirty="0">
                <a:latin typeface="+mn-lt"/>
                <a:cs typeface="Arial" charset="0"/>
              </a:rPr>
            </a:br>
            <a:r>
              <a:rPr lang="en-US" altLang="en-US" b="1" dirty="0">
                <a:latin typeface="+mn-lt"/>
                <a:cs typeface="Arial" charset="0"/>
              </a:rPr>
              <a:t> Excludes:</a:t>
            </a:r>
          </a:p>
          <a:p>
            <a:pPr marL="1158875" lvl="1" indent="-531813" defTabSz="223838">
              <a:tabLst>
                <a:tab pos="630238" algn="l"/>
              </a:tabLst>
            </a:pPr>
            <a:r>
              <a:rPr lang="en-US" altLang="en-US" sz="2400" dirty="0">
                <a:latin typeface="+mn-lt"/>
                <a:cs typeface="Arial" charset="0"/>
              </a:rPr>
              <a:t>PPE classified as held for sale – IFRS 5 (FA379)</a:t>
            </a:r>
          </a:p>
          <a:p>
            <a:pPr marL="1158875" lvl="1" indent="-531813" defTabSz="223838">
              <a:tabLst>
                <a:tab pos="630238" algn="l"/>
              </a:tabLst>
            </a:pPr>
            <a:r>
              <a:rPr lang="en-US" altLang="en-US" sz="2400" dirty="0">
                <a:latin typeface="+mn-lt"/>
                <a:cs typeface="Arial" charset="0"/>
              </a:rPr>
              <a:t>Biological assets -  IAS 41</a:t>
            </a:r>
          </a:p>
          <a:p>
            <a:pPr marL="1158875" lvl="1" indent="-531813" defTabSz="223838">
              <a:tabLst>
                <a:tab pos="630238" algn="l"/>
              </a:tabLst>
            </a:pPr>
            <a:r>
              <a:rPr lang="en-US" altLang="en-US" sz="2400" dirty="0">
                <a:latin typeface="+mn-lt"/>
                <a:cs typeface="Arial" charset="0"/>
              </a:rPr>
              <a:t>Mineral rights and exploration – IFRS 6</a:t>
            </a:r>
          </a:p>
          <a:p>
            <a:pPr marL="1158875" lvl="1" indent="-531813" defTabSz="223838">
              <a:tabLst>
                <a:tab pos="630238" algn="l"/>
              </a:tabLst>
            </a:pPr>
            <a:r>
              <a:rPr lang="en-US" altLang="en-US" sz="2400" dirty="0">
                <a:latin typeface="+mn-lt"/>
                <a:cs typeface="Arial" charset="0"/>
              </a:rPr>
              <a:t>Investment property - IAS 40 (FA278)</a:t>
            </a:r>
          </a:p>
          <a:p>
            <a:pPr marL="0" indent="0" defTabSz="223838">
              <a:buNone/>
              <a:tabLst>
                <a:tab pos="630238" algn="l"/>
              </a:tabLst>
            </a:pPr>
            <a:r>
              <a:rPr lang="en-US" altLang="en-US" b="1" dirty="0">
                <a:latin typeface="+mn-lt"/>
                <a:cs typeface="Arial" charset="0"/>
              </a:rPr>
              <a:t>Includes:</a:t>
            </a:r>
          </a:p>
          <a:p>
            <a:pPr marL="1158875" lvl="1" indent="-531813" defTabSz="223838">
              <a:tabLst>
                <a:tab pos="630238" algn="l"/>
              </a:tabLst>
            </a:pPr>
            <a:r>
              <a:rPr lang="en-US" altLang="en-US" sz="2400" dirty="0">
                <a:latin typeface="+mn-lt"/>
                <a:cs typeface="Arial" charset="0"/>
              </a:rPr>
              <a:t>PPE used to develop or maintain biological assets and development of mineral rights and exploration</a:t>
            </a:r>
          </a:p>
          <a:p>
            <a:pPr marL="1158875" lvl="1" indent="-531813" defTabSz="223838">
              <a:tabLst>
                <a:tab pos="630238" algn="l"/>
              </a:tabLst>
            </a:pPr>
            <a:r>
              <a:rPr lang="en-US" altLang="en-US" sz="2400" dirty="0">
                <a:latin typeface="+mn-lt"/>
                <a:cs typeface="Arial" charset="0"/>
              </a:rPr>
              <a:t>Assets used in finance lease (FA379)</a:t>
            </a:r>
          </a:p>
          <a:p>
            <a:endParaRPr lang="en-ZA" dirty="0">
              <a:latin typeface="+mn-lt"/>
            </a:endParaRPr>
          </a:p>
        </p:txBody>
      </p:sp>
      <p:pic>
        <p:nvPicPr>
          <p:cNvPr id="4" name="Picture 2" descr="Related image">
            <a:extLst>
              <a:ext uri="{FF2B5EF4-FFF2-40B4-BE49-F238E27FC236}">
                <a16:creationId xmlns:a16="http://schemas.microsoft.com/office/drawing/2014/main" id="{72E68988-A152-24C4-EB29-592BBCE45C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74168" y="4841775"/>
            <a:ext cx="2016224" cy="2016225"/>
          </a:xfrm>
          <a:prstGeom prst="rect">
            <a:avLst/>
          </a:prstGeom>
          <a:noFill/>
          <a:extLst>
            <a:ext uri="{909E8E84-426E-40DD-AFC4-6F175D3DCCD1}">
              <a14:hiddenFill xmlns:a14="http://schemas.microsoft.com/office/drawing/2010/main">
                <a:solidFill>
                  <a:srgbClr val="FFFFFF"/>
                </a:solidFill>
              </a14:hiddenFill>
            </a:ext>
          </a:extLst>
        </p:spPr>
      </p:pic>
      <p:sp>
        <p:nvSpPr>
          <p:cNvPr id="9" name="Title 8">
            <a:extLst>
              <a:ext uri="{FF2B5EF4-FFF2-40B4-BE49-F238E27FC236}">
                <a16:creationId xmlns:a16="http://schemas.microsoft.com/office/drawing/2014/main" id="{AB8441FD-60AC-8062-63E2-3EB296703DE6}"/>
              </a:ext>
            </a:extLst>
          </p:cNvPr>
          <p:cNvSpPr>
            <a:spLocks noGrp="1"/>
          </p:cNvSpPr>
          <p:nvPr>
            <p:ph type="title"/>
          </p:nvPr>
        </p:nvSpPr>
        <p:spPr/>
        <p:txBody>
          <a:bodyPr/>
          <a:lstStyle/>
          <a:p>
            <a:r>
              <a:rPr lang="en-GB" altLang="en-US" dirty="0"/>
              <a:t>OBJECTIVE &amp; SCOPE</a:t>
            </a:r>
            <a:endParaRPr lang="en-Z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PART I</a:t>
            </a:r>
          </a:p>
        </p:txBody>
      </p:sp>
      <p:sp>
        <p:nvSpPr>
          <p:cNvPr id="4" name="Content Placeholder 3"/>
          <p:cNvSpPr>
            <a:spLocks noGrp="1"/>
          </p:cNvSpPr>
          <p:nvPr>
            <p:ph idx="1"/>
          </p:nvPr>
        </p:nvSpPr>
        <p:spPr/>
        <p:txBody>
          <a:bodyPr>
            <a:normAutofit/>
          </a:bodyPr>
          <a:lstStyle/>
          <a:p>
            <a:pPr>
              <a:buFont typeface="Wingdings" panose="05000000000000000000" pitchFamily="2" charset="2"/>
              <a:buChar char="Ø"/>
            </a:pPr>
            <a:r>
              <a:rPr lang="en-ZA" dirty="0">
                <a:latin typeface="+mn-lt"/>
              </a:rPr>
              <a:t> Classification (in accordance with definitions) and recognition </a:t>
            </a:r>
          </a:p>
          <a:p>
            <a:pPr>
              <a:buFont typeface="Wingdings" panose="05000000000000000000" pitchFamily="2" charset="2"/>
              <a:buChar char="Ø"/>
            </a:pPr>
            <a:endParaRPr lang="en-ZA" dirty="0">
              <a:latin typeface="+mn-lt"/>
            </a:endParaRPr>
          </a:p>
          <a:p>
            <a:pPr>
              <a:buFont typeface="Wingdings" panose="05000000000000000000" pitchFamily="2" charset="2"/>
              <a:buChar char="Ø"/>
            </a:pPr>
            <a:r>
              <a:rPr lang="en-ZA" dirty="0">
                <a:latin typeface="+mn-lt"/>
              </a:rPr>
              <a:t> Initial measurement: Determining cost price</a:t>
            </a:r>
          </a:p>
          <a:p>
            <a:pPr>
              <a:buFont typeface="Wingdings" panose="05000000000000000000" pitchFamily="2" charset="2"/>
              <a:buChar char="Ø"/>
            </a:pPr>
            <a:endParaRPr lang="en-ZA" dirty="0">
              <a:latin typeface="+mn-lt"/>
            </a:endParaRPr>
          </a:p>
          <a:p>
            <a:pPr>
              <a:buFont typeface="Wingdings" panose="05000000000000000000" pitchFamily="2" charset="2"/>
              <a:buChar char="Ø"/>
            </a:pPr>
            <a:r>
              <a:rPr lang="en-ZA" dirty="0">
                <a:latin typeface="+mn-lt"/>
              </a:rPr>
              <a:t> Measurement after initial recognition: cost model and depreciation</a:t>
            </a:r>
          </a:p>
          <a:p>
            <a:pPr marL="0" indent="0">
              <a:buNone/>
            </a:pPr>
            <a:endParaRPr lang="en-ZA" dirty="0">
              <a:latin typeface="+mn-lt"/>
            </a:endParaRPr>
          </a:p>
          <a:p>
            <a:pPr>
              <a:buFont typeface="Wingdings" panose="05000000000000000000" pitchFamily="2" charset="2"/>
              <a:buChar char="Ø"/>
            </a:pPr>
            <a:r>
              <a:rPr lang="en-ZA" dirty="0">
                <a:latin typeface="+mn-lt"/>
              </a:rPr>
              <a:t>Measurement after initial recognition: revaluation model</a:t>
            </a:r>
          </a:p>
        </p:txBody>
      </p:sp>
      <p:pic>
        <p:nvPicPr>
          <p:cNvPr id="5" name="Picture 2" descr="Related image">
            <a:extLst>
              <a:ext uri="{FF2B5EF4-FFF2-40B4-BE49-F238E27FC236}">
                <a16:creationId xmlns:a16="http://schemas.microsoft.com/office/drawing/2014/main" id="{536EA8FB-1AA5-1EE3-9BB2-4A4F9E49BF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74168" y="4841775"/>
            <a:ext cx="2016224" cy="201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758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9250" y="2571750"/>
            <a:ext cx="2286000" cy="171450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258758" y="1461484"/>
            <a:ext cx="11628442" cy="5111192"/>
          </a:xfrm>
        </p:spPr>
        <p:txBody>
          <a:bodyPr>
            <a:noAutofit/>
          </a:bodyPr>
          <a:lstStyle/>
          <a:p>
            <a:pPr marL="447675" indent="-447675" defTabSz="223838">
              <a:buFont typeface="Wingdings" pitchFamily="2" charset="2"/>
              <a:buChar char="q"/>
              <a:tabLst>
                <a:tab pos="630238" algn="l"/>
              </a:tabLst>
              <a:defRPr/>
            </a:pPr>
            <a:r>
              <a:rPr lang="en-US" b="1" dirty="0">
                <a:latin typeface="+mn-lt"/>
                <a:cs typeface="Arial" panose="020B0604020202020204" pitchFamily="34" charset="0"/>
              </a:rPr>
              <a:t>(.6) PPE </a:t>
            </a:r>
            <a:r>
              <a:rPr lang="en-US" dirty="0">
                <a:latin typeface="+mn-lt"/>
                <a:cs typeface="Arial" panose="020B0604020202020204" pitchFamily="34" charset="0"/>
              </a:rPr>
              <a:t>are </a:t>
            </a:r>
            <a:r>
              <a:rPr lang="en-US" b="1" dirty="0">
                <a:latin typeface="+mn-lt"/>
                <a:cs typeface="Arial" panose="020B0604020202020204" pitchFamily="34" charset="0"/>
              </a:rPr>
              <a:t>tangible </a:t>
            </a:r>
            <a:r>
              <a:rPr lang="en-US" dirty="0">
                <a:latin typeface="+mn-lt"/>
                <a:cs typeface="Arial" panose="020B0604020202020204" pitchFamily="34" charset="0"/>
              </a:rPr>
              <a:t>items that</a:t>
            </a:r>
          </a:p>
          <a:p>
            <a:pPr marL="1158875" lvl="1" indent="-531813" defTabSz="223838">
              <a:tabLst>
                <a:tab pos="630238" algn="l"/>
              </a:tabLst>
              <a:defRPr/>
            </a:pPr>
            <a:r>
              <a:rPr lang="en-US" sz="2400" dirty="0">
                <a:latin typeface="+mn-lt"/>
                <a:cs typeface="Arial" panose="020B0604020202020204" pitchFamily="34" charset="0"/>
              </a:rPr>
              <a:t>Are held for use in </a:t>
            </a:r>
          </a:p>
          <a:p>
            <a:pPr marL="1787525" lvl="2" indent="-347663" defTabSz="223838">
              <a:tabLst>
                <a:tab pos="630238" algn="l"/>
              </a:tabLst>
              <a:defRPr/>
            </a:pPr>
            <a:r>
              <a:rPr lang="en-US" sz="2400" dirty="0">
                <a:latin typeface="+mn-lt"/>
                <a:cs typeface="Arial" panose="020B0604020202020204" pitchFamily="34" charset="0"/>
              </a:rPr>
              <a:t>The </a:t>
            </a:r>
            <a:r>
              <a:rPr lang="en-US" sz="2400" b="1" dirty="0">
                <a:latin typeface="+mn-lt"/>
                <a:cs typeface="Arial" panose="020B0604020202020204" pitchFamily="34" charset="0"/>
              </a:rPr>
              <a:t>production</a:t>
            </a:r>
            <a:r>
              <a:rPr lang="en-US" sz="2400" dirty="0">
                <a:latin typeface="+mn-lt"/>
                <a:cs typeface="Arial" panose="020B0604020202020204" pitchFamily="34" charset="0"/>
              </a:rPr>
              <a:t> or </a:t>
            </a:r>
            <a:r>
              <a:rPr lang="en-US" sz="2400" b="1" dirty="0">
                <a:latin typeface="+mn-lt"/>
                <a:cs typeface="Arial" panose="020B0604020202020204" pitchFamily="34" charset="0"/>
              </a:rPr>
              <a:t>supply</a:t>
            </a:r>
            <a:r>
              <a:rPr lang="en-US" sz="2400" dirty="0">
                <a:latin typeface="+mn-lt"/>
                <a:cs typeface="Arial" panose="020B0604020202020204" pitchFamily="34" charset="0"/>
              </a:rPr>
              <a:t> of </a:t>
            </a:r>
            <a:r>
              <a:rPr lang="en-US" sz="2400" b="1" dirty="0">
                <a:latin typeface="+mn-lt"/>
                <a:cs typeface="Arial" panose="020B0604020202020204" pitchFamily="34" charset="0"/>
              </a:rPr>
              <a:t>goods or services;</a:t>
            </a:r>
          </a:p>
          <a:p>
            <a:pPr marL="1787525" lvl="2" indent="-347663" defTabSz="223838">
              <a:tabLst>
                <a:tab pos="630238" algn="l"/>
              </a:tabLst>
              <a:defRPr/>
            </a:pPr>
            <a:r>
              <a:rPr lang="en-US" sz="2400" b="1" dirty="0">
                <a:latin typeface="+mn-lt"/>
                <a:cs typeface="Arial" panose="020B0604020202020204" pitchFamily="34" charset="0"/>
              </a:rPr>
              <a:t>rental </a:t>
            </a:r>
            <a:r>
              <a:rPr lang="en-US" sz="2400" dirty="0">
                <a:latin typeface="+mn-lt"/>
                <a:cs typeface="Arial" panose="020B0604020202020204" pitchFamily="34" charset="0"/>
              </a:rPr>
              <a:t>to others; or</a:t>
            </a:r>
          </a:p>
          <a:p>
            <a:pPr marL="1787525" lvl="2" indent="-347663" defTabSz="223838">
              <a:tabLst>
                <a:tab pos="630238" algn="l"/>
              </a:tabLst>
              <a:defRPr/>
            </a:pPr>
            <a:r>
              <a:rPr lang="en-US" sz="2400" b="1" dirty="0">
                <a:latin typeface="+mn-lt"/>
                <a:cs typeface="Arial" panose="020B0604020202020204" pitchFamily="34" charset="0"/>
              </a:rPr>
              <a:t>admin purposes</a:t>
            </a:r>
            <a:r>
              <a:rPr lang="en-US" sz="2400" dirty="0">
                <a:latin typeface="+mn-lt"/>
                <a:cs typeface="Arial" panose="020B0604020202020204" pitchFamily="34" charset="0"/>
              </a:rPr>
              <a:t>; </a:t>
            </a:r>
          </a:p>
          <a:p>
            <a:pPr marL="1439862" lvl="2" indent="0" defTabSz="223838">
              <a:buNone/>
              <a:tabLst>
                <a:tab pos="630238" algn="l"/>
              </a:tabLst>
              <a:defRPr/>
            </a:pPr>
            <a:r>
              <a:rPr lang="en-US" sz="2400" b="1" dirty="0">
                <a:solidFill>
                  <a:srgbClr val="FF0000"/>
                </a:solidFill>
                <a:latin typeface="+mn-lt"/>
                <a:cs typeface="Arial" panose="020B0604020202020204" pitchFamily="34" charset="0"/>
              </a:rPr>
              <a:t>		AND</a:t>
            </a:r>
          </a:p>
          <a:p>
            <a:pPr marL="1158875" lvl="1" indent="-531813" defTabSz="223838">
              <a:tabLst>
                <a:tab pos="630238" algn="l"/>
              </a:tabLst>
              <a:defRPr/>
            </a:pPr>
            <a:r>
              <a:rPr lang="en-US" sz="2400" dirty="0">
                <a:latin typeface="+mn-lt"/>
                <a:cs typeface="Arial" panose="020B0604020202020204" pitchFamily="34" charset="0"/>
              </a:rPr>
              <a:t>Expected to use for </a:t>
            </a:r>
            <a:r>
              <a:rPr lang="en-US" sz="2400" b="1" dirty="0">
                <a:latin typeface="+mn-lt"/>
                <a:cs typeface="Arial" panose="020B0604020202020204" pitchFamily="34" charset="0"/>
              </a:rPr>
              <a:t>more than one </a:t>
            </a:r>
            <a:r>
              <a:rPr lang="en-US" sz="2400" dirty="0">
                <a:latin typeface="+mn-lt"/>
                <a:cs typeface="Arial" panose="020B0604020202020204" pitchFamily="34" charset="0"/>
              </a:rPr>
              <a:t>period</a:t>
            </a:r>
          </a:p>
          <a:p>
            <a:pPr marL="1158875" lvl="1" indent="-531813" defTabSz="223838">
              <a:tabLst>
                <a:tab pos="630238" algn="l"/>
              </a:tabLst>
              <a:defRPr/>
            </a:pPr>
            <a:endParaRPr lang="en-US" altLang="en-US" sz="2400" b="1" dirty="0">
              <a:latin typeface="+mn-lt"/>
              <a:cs typeface="Arial" panose="020B0604020202020204" pitchFamily="34" charset="0"/>
            </a:endParaRPr>
          </a:p>
          <a:p>
            <a:pPr marL="447675" indent="-447675" defTabSz="223838">
              <a:buFont typeface="Wingdings" pitchFamily="2" charset="2"/>
              <a:buChar char="q"/>
              <a:tabLst>
                <a:tab pos="630238" algn="l"/>
              </a:tabLst>
            </a:pPr>
            <a:r>
              <a:rPr lang="en-US" altLang="en-US" b="1" dirty="0">
                <a:latin typeface="+mn-lt"/>
                <a:cs typeface="Arial" panose="020B0604020202020204" pitchFamily="34" charset="0"/>
              </a:rPr>
              <a:t>(.7) The cost shall be recognized as an asset if, and only if:</a:t>
            </a:r>
            <a:endParaRPr lang="en-US" altLang="en-US" dirty="0">
              <a:latin typeface="+mn-lt"/>
              <a:cs typeface="Arial" panose="020B0604020202020204" pitchFamily="34" charset="0"/>
            </a:endParaRPr>
          </a:p>
          <a:p>
            <a:pPr marL="1158875" lvl="1" indent="-531813" defTabSz="223838">
              <a:tabLst>
                <a:tab pos="630238" algn="l"/>
              </a:tabLst>
            </a:pPr>
            <a:r>
              <a:rPr lang="en-US" altLang="en-US" sz="2400" dirty="0">
                <a:latin typeface="+mn-lt"/>
                <a:cs typeface="Arial" panose="020B0604020202020204" pitchFamily="34" charset="0"/>
              </a:rPr>
              <a:t>Probable that future econ benefits associated with item will flow to entity</a:t>
            </a:r>
          </a:p>
          <a:p>
            <a:pPr marL="1158875" lvl="1" indent="-531813" defTabSz="223838">
              <a:tabLst>
                <a:tab pos="630238" algn="l"/>
              </a:tabLst>
            </a:pPr>
            <a:r>
              <a:rPr lang="en-US" altLang="en-US" sz="2400" dirty="0">
                <a:latin typeface="+mn-lt"/>
                <a:cs typeface="Arial" panose="020B0604020202020204" pitchFamily="34" charset="0"/>
              </a:rPr>
              <a:t>Cost of item can be measured reliably</a:t>
            </a:r>
            <a:endParaRPr lang="en-ZA" sz="2400" dirty="0">
              <a:latin typeface="+mn-lt"/>
              <a:cs typeface="Arial" panose="020B0604020202020204" pitchFamily="34" charset="0"/>
            </a:endParaRPr>
          </a:p>
        </p:txBody>
      </p:sp>
      <p:sp>
        <p:nvSpPr>
          <p:cNvPr id="5" name="Title 4">
            <a:extLst>
              <a:ext uri="{FF2B5EF4-FFF2-40B4-BE49-F238E27FC236}">
                <a16:creationId xmlns:a16="http://schemas.microsoft.com/office/drawing/2014/main" id="{DAE0329D-BF61-5A4B-2A4C-F15F942C4F6C}"/>
              </a:ext>
            </a:extLst>
          </p:cNvPr>
          <p:cNvSpPr>
            <a:spLocks noGrp="1"/>
          </p:cNvSpPr>
          <p:nvPr>
            <p:ph type="title"/>
          </p:nvPr>
        </p:nvSpPr>
        <p:spPr/>
        <p:txBody>
          <a:bodyPr/>
          <a:lstStyle/>
          <a:p>
            <a:r>
              <a:rPr lang="en-GB" altLang="en-US" dirty="0"/>
              <a:t>RECOGNITION </a:t>
            </a:r>
            <a:endParaRPr lang="en-ZA"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normAutofit/>
          </a:bodyPr>
          <a:lstStyle/>
          <a:p>
            <a:r>
              <a:rPr lang="en-GB" altLang="en-US" dirty="0"/>
              <a:t>RECOGNITION </a:t>
            </a:r>
          </a:p>
        </p:txBody>
      </p:sp>
      <p:pic>
        <p:nvPicPr>
          <p:cNvPr id="8" name="Picture 6"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5040" y="5092030"/>
            <a:ext cx="2286000" cy="171450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60960" y="1543050"/>
            <a:ext cx="11003280" cy="4023360"/>
          </a:xfrm>
        </p:spPr>
        <p:txBody>
          <a:bodyPr>
            <a:normAutofit/>
          </a:bodyPr>
          <a:lstStyle/>
          <a:p>
            <a:pPr marL="866267" indent="-531813" defTabSz="223838">
              <a:buFont typeface="Wingdings" panose="05000000000000000000" pitchFamily="2" charset="2"/>
              <a:buChar char="q"/>
              <a:tabLst>
                <a:tab pos="630238" algn="l"/>
              </a:tabLst>
            </a:pPr>
            <a:r>
              <a:rPr lang="en-US" b="1" dirty="0">
                <a:latin typeface="+mn-lt"/>
                <a:cs typeface="Arial" charset="0"/>
              </a:rPr>
              <a:t>(.8) </a:t>
            </a:r>
            <a:r>
              <a:rPr lang="en-US" altLang="en-US" dirty="0">
                <a:latin typeface="+mn-lt"/>
                <a:cs typeface="Arial" charset="0"/>
              </a:rPr>
              <a:t>Items such as spare parts are recognised in terms of IAS 16 if it meets the definition of Property, plant and equipment.  Otherwise classified as inventory.</a:t>
            </a:r>
            <a:br>
              <a:rPr lang="en-US" altLang="en-US" dirty="0">
                <a:latin typeface="+mn-lt"/>
                <a:cs typeface="Arial" charset="0"/>
              </a:rPr>
            </a:br>
            <a:endParaRPr lang="en-US" altLang="en-US" b="1" dirty="0">
              <a:latin typeface="+mn-lt"/>
              <a:cs typeface="Arial" charset="0"/>
            </a:endParaRPr>
          </a:p>
          <a:p>
            <a:pPr marL="866267" indent="-531813" defTabSz="223838">
              <a:buFont typeface="Wingdings" panose="05000000000000000000" pitchFamily="2" charset="2"/>
              <a:buChar char="q"/>
              <a:tabLst>
                <a:tab pos="630238" algn="l"/>
              </a:tabLst>
            </a:pPr>
            <a:r>
              <a:rPr lang="en-US" altLang="en-US" b="1" dirty="0">
                <a:latin typeface="+mn-lt"/>
                <a:cs typeface="Arial" charset="0"/>
              </a:rPr>
              <a:t>Question 1</a:t>
            </a:r>
          </a:p>
          <a:p>
            <a:endParaRPr lang="en-ZA"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result for equipment carto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16371" y="5423336"/>
            <a:ext cx="2832249" cy="1295871"/>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143380" y="1426437"/>
            <a:ext cx="11567974" cy="5155610"/>
          </a:xfrm>
        </p:spPr>
        <p:txBody>
          <a:bodyPr>
            <a:normAutofit/>
          </a:bodyPr>
          <a:lstStyle/>
          <a:p>
            <a:pPr marL="447675" indent="-447675" defTabSz="223838">
              <a:buFont typeface="Wingdings" pitchFamily="2" charset="2"/>
              <a:buChar char="q"/>
              <a:tabLst>
                <a:tab pos="630238" algn="l"/>
              </a:tabLst>
            </a:pPr>
            <a:r>
              <a:rPr lang="en-US" altLang="en-US" b="1" dirty="0">
                <a:latin typeface="+mn-lt"/>
                <a:cs typeface="Arial" charset="0"/>
              </a:rPr>
              <a:t>(.15) If item qualifies for recognition, then the asset shall be measured at COST</a:t>
            </a:r>
          </a:p>
          <a:p>
            <a:pPr marL="0" indent="0" defTabSz="223838">
              <a:buNone/>
              <a:tabLst>
                <a:tab pos="630238" algn="l"/>
              </a:tabLst>
            </a:pPr>
            <a:endParaRPr lang="en-US" altLang="en-US" b="1" dirty="0">
              <a:latin typeface="+mn-lt"/>
              <a:cs typeface="Arial" charset="0"/>
            </a:endParaRPr>
          </a:p>
          <a:p>
            <a:pPr marL="447675" indent="-447675" defTabSz="223838">
              <a:buFont typeface="Wingdings" pitchFamily="2" charset="2"/>
              <a:buChar char="q"/>
              <a:tabLst>
                <a:tab pos="630238" algn="l"/>
              </a:tabLst>
              <a:defRPr/>
            </a:pPr>
            <a:r>
              <a:rPr lang="en-US" b="1" dirty="0">
                <a:latin typeface="+mn-lt"/>
              </a:rPr>
              <a:t>(.6) Definition of Cost</a:t>
            </a:r>
            <a:endParaRPr lang="en-US" dirty="0">
              <a:latin typeface="+mn-lt"/>
              <a:cs typeface="Arial" charset="0"/>
            </a:endParaRPr>
          </a:p>
          <a:p>
            <a:pPr marL="1158875" lvl="1" indent="-531813" defTabSz="223838">
              <a:tabLst>
                <a:tab pos="630238" algn="l"/>
              </a:tabLst>
              <a:defRPr/>
            </a:pPr>
            <a:r>
              <a:rPr lang="en-US" sz="2400" dirty="0">
                <a:latin typeface="+mn-lt"/>
              </a:rPr>
              <a:t>Cash or cash equivalents paid, or</a:t>
            </a:r>
          </a:p>
          <a:p>
            <a:pPr marL="1158875" lvl="1" indent="-531813" defTabSz="223838">
              <a:tabLst>
                <a:tab pos="630238" algn="l"/>
              </a:tabLst>
              <a:defRPr/>
            </a:pPr>
            <a:r>
              <a:rPr lang="en-US" sz="2400" dirty="0">
                <a:latin typeface="+mn-lt"/>
              </a:rPr>
              <a:t>fair value of other consideration given to acquire the asset at time of acquisition or construction, or</a:t>
            </a:r>
          </a:p>
          <a:p>
            <a:pPr marL="1158875" lvl="1" indent="-531813" defTabSz="223838">
              <a:tabLst>
                <a:tab pos="630238" algn="l"/>
              </a:tabLst>
              <a:defRPr/>
            </a:pPr>
            <a:r>
              <a:rPr lang="en-US" sz="2400" dirty="0">
                <a:latin typeface="+mn-lt"/>
              </a:rPr>
              <a:t>Where applicable, the amount attributed to that asset in accordance with the requirements of other IFRSs (i.e. IFRS 2)</a:t>
            </a:r>
          </a:p>
          <a:p>
            <a:pPr marL="447675" indent="-447675" defTabSz="223838">
              <a:buFont typeface="Wingdings" pitchFamily="2" charset="2"/>
              <a:buChar char="q"/>
              <a:tabLst>
                <a:tab pos="630238" algn="l"/>
              </a:tabLst>
            </a:pPr>
            <a:endParaRPr lang="en-US" altLang="en-US" b="1" dirty="0">
              <a:latin typeface="+mn-lt"/>
              <a:cs typeface="Arial" charset="0"/>
            </a:endParaRPr>
          </a:p>
          <a:p>
            <a:pPr marL="447675" indent="-447675" defTabSz="223838">
              <a:buFont typeface="Wingdings" pitchFamily="2" charset="2"/>
              <a:buChar char="q"/>
              <a:tabLst>
                <a:tab pos="630238" algn="l"/>
              </a:tabLst>
            </a:pPr>
            <a:endParaRPr lang="en-US" altLang="en-US" b="1" dirty="0">
              <a:solidFill>
                <a:srgbClr val="9933FF"/>
              </a:solidFill>
              <a:latin typeface="+mn-lt"/>
              <a:cs typeface="Arial" charset="0"/>
            </a:endParaRPr>
          </a:p>
          <a:p>
            <a:endParaRPr lang="en-ZA" dirty="0">
              <a:latin typeface="+mn-lt"/>
            </a:endParaRPr>
          </a:p>
        </p:txBody>
      </p:sp>
      <p:sp>
        <p:nvSpPr>
          <p:cNvPr id="5" name="Title 4">
            <a:extLst>
              <a:ext uri="{FF2B5EF4-FFF2-40B4-BE49-F238E27FC236}">
                <a16:creationId xmlns:a16="http://schemas.microsoft.com/office/drawing/2014/main" id="{538E10DC-82E2-C63D-30D8-FE55DC0D9C40}"/>
              </a:ext>
            </a:extLst>
          </p:cNvPr>
          <p:cNvSpPr>
            <a:spLocks noGrp="1"/>
          </p:cNvSpPr>
          <p:nvPr>
            <p:ph type="title"/>
          </p:nvPr>
        </p:nvSpPr>
        <p:spPr/>
        <p:txBody>
          <a:bodyPr/>
          <a:lstStyle/>
          <a:p>
            <a:r>
              <a:rPr lang="en-GB" altLang="en-US" dirty="0"/>
              <a:t>INITIAL MEASUREMENT:</a:t>
            </a:r>
            <a:br>
              <a:rPr lang="en-GB" altLang="en-US" dirty="0"/>
            </a:br>
            <a:r>
              <a:rPr lang="en-GB" altLang="en-US" dirty="0"/>
              <a:t>DETERMINING COST PRICE (.15-.28) </a:t>
            </a:r>
            <a:endParaRPr lang="en-ZA"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F2B8F1-0EA6-41CE-B5A8-258A952E3E99}"/>
              </a:ext>
            </a:extLst>
          </p:cNvPr>
          <p:cNvSpPr>
            <a:spLocks noGrp="1"/>
          </p:cNvSpPr>
          <p:nvPr>
            <p:ph idx="1"/>
          </p:nvPr>
        </p:nvSpPr>
        <p:spPr>
          <a:xfrm>
            <a:off x="143380" y="1518791"/>
            <a:ext cx="11532682" cy="3567559"/>
          </a:xfrm>
        </p:spPr>
        <p:txBody>
          <a:bodyPr>
            <a:normAutofit/>
          </a:bodyPr>
          <a:lstStyle/>
          <a:p>
            <a:pPr marL="447675" indent="-447675" defTabSz="223838">
              <a:buFont typeface="Wingdings" pitchFamily="2" charset="2"/>
              <a:buChar char="q"/>
              <a:tabLst>
                <a:tab pos="630238" algn="l"/>
              </a:tabLst>
            </a:pPr>
            <a:r>
              <a:rPr lang="en-US" altLang="en-US" b="1" dirty="0">
                <a:latin typeface="+mn-lt"/>
                <a:cs typeface="Arial" charset="0"/>
              </a:rPr>
              <a:t>(.16) Elements of cost include:</a:t>
            </a:r>
            <a:endParaRPr lang="en-US" altLang="en-US" dirty="0">
              <a:latin typeface="+mn-lt"/>
              <a:cs typeface="Arial" charset="0"/>
            </a:endParaRPr>
          </a:p>
          <a:p>
            <a:pPr marL="1158875" lvl="1" indent="-531813" defTabSz="223838">
              <a:tabLst>
                <a:tab pos="630238" algn="l"/>
              </a:tabLst>
            </a:pPr>
            <a:r>
              <a:rPr lang="en-US" altLang="en-US" sz="2400" dirty="0">
                <a:latin typeface="+mn-lt"/>
                <a:cs typeface="Arial" charset="0"/>
              </a:rPr>
              <a:t>Purchase price, import duties, non-refundable purchases taxes, deducting discounts / rebates</a:t>
            </a:r>
          </a:p>
          <a:p>
            <a:pPr marL="1158875" lvl="1" indent="-531813" defTabSz="223838">
              <a:tabLst>
                <a:tab pos="630238" algn="l"/>
              </a:tabLst>
            </a:pPr>
            <a:r>
              <a:rPr lang="en-US" altLang="en-US" sz="2400" dirty="0">
                <a:latin typeface="+mn-lt"/>
                <a:cs typeface="Arial" charset="0"/>
              </a:rPr>
              <a:t>Directly attributable costs bringing the asset to the location &amp; condition to be capable of operating</a:t>
            </a:r>
          </a:p>
          <a:p>
            <a:pPr marL="1158875" lvl="1" indent="-531813" defTabSz="223838">
              <a:tabLst>
                <a:tab pos="630238" algn="l"/>
              </a:tabLst>
            </a:pPr>
            <a:r>
              <a:rPr lang="en-US" altLang="en-US" sz="2400" dirty="0">
                <a:latin typeface="+mn-lt"/>
                <a:cs typeface="Arial" charset="0"/>
              </a:rPr>
              <a:t>Initial estimate of costs of dismantling / removing the item and restoring the site on which it is located (Hons)</a:t>
            </a:r>
            <a:endParaRPr lang="en-GB" altLang="en-US" sz="2400" dirty="0">
              <a:latin typeface="+mn-lt"/>
              <a:cs typeface="Arial" charset="0"/>
            </a:endParaRPr>
          </a:p>
          <a:p>
            <a:endParaRPr lang="en-ZA" dirty="0">
              <a:latin typeface="+mn-lt"/>
            </a:endParaRPr>
          </a:p>
        </p:txBody>
      </p:sp>
      <p:pic>
        <p:nvPicPr>
          <p:cNvPr id="6" name="Picture 2" descr="Image result for equipment cartoon">
            <a:extLst>
              <a:ext uri="{FF2B5EF4-FFF2-40B4-BE49-F238E27FC236}">
                <a16:creationId xmlns:a16="http://schemas.microsoft.com/office/drawing/2014/main" id="{EEA6EAFD-4A0B-78A6-557A-DDB279949C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16371" y="5423336"/>
            <a:ext cx="2832249" cy="1295871"/>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C5B068DE-CD79-5981-6259-F0452C52A829}"/>
              </a:ext>
            </a:extLst>
          </p:cNvPr>
          <p:cNvSpPr>
            <a:spLocks noGrp="1"/>
          </p:cNvSpPr>
          <p:nvPr>
            <p:ph type="title"/>
          </p:nvPr>
        </p:nvSpPr>
        <p:spPr/>
        <p:txBody>
          <a:bodyPr/>
          <a:lstStyle/>
          <a:p>
            <a:r>
              <a:rPr lang="en-GB" altLang="en-US" dirty="0"/>
              <a:t>INITIAL MEASUREMENT:</a:t>
            </a:r>
            <a:br>
              <a:rPr lang="en-GB" altLang="en-US" dirty="0"/>
            </a:br>
            <a:r>
              <a:rPr lang="en-GB" altLang="en-US" dirty="0"/>
              <a:t>DETERMINING COST PRICE (.15-.28) </a:t>
            </a:r>
            <a:endParaRPr lang="en-ZA" dirty="0"/>
          </a:p>
        </p:txBody>
      </p:sp>
    </p:spTree>
    <p:extLst>
      <p:ext uri="{BB962C8B-B14F-4D97-AF65-F5344CB8AC3E}">
        <p14:creationId xmlns:p14="http://schemas.microsoft.com/office/powerpoint/2010/main" val="1545260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3380" y="1414753"/>
            <a:ext cx="11905240" cy="4231667"/>
          </a:xfrm>
        </p:spPr>
        <p:txBody>
          <a:bodyPr>
            <a:normAutofit/>
          </a:bodyPr>
          <a:lstStyle/>
          <a:p>
            <a:pPr marL="447675" indent="-447675" defTabSz="223838">
              <a:buFont typeface="Wingdings" pitchFamily="2" charset="2"/>
              <a:buChar char="q"/>
              <a:tabLst>
                <a:tab pos="630238" algn="l"/>
              </a:tabLst>
              <a:defRPr/>
            </a:pPr>
            <a:r>
              <a:rPr lang="en-US" b="1" dirty="0">
                <a:latin typeface="+mn-lt"/>
              </a:rPr>
              <a:t>(.17) Examples of directly attributable costs:</a:t>
            </a:r>
            <a:br>
              <a:rPr lang="en-US" b="1" dirty="0">
                <a:latin typeface="+mn-lt"/>
              </a:rPr>
            </a:br>
            <a:endParaRPr lang="en-US" dirty="0">
              <a:latin typeface="+mn-lt"/>
              <a:cs typeface="Arial" charset="0"/>
            </a:endParaRPr>
          </a:p>
          <a:p>
            <a:pPr marL="1158875" lvl="1" indent="-531813" defTabSz="223838">
              <a:tabLst>
                <a:tab pos="630238" algn="l"/>
              </a:tabLst>
              <a:defRPr/>
            </a:pPr>
            <a:r>
              <a:rPr lang="en-US" sz="2400" dirty="0">
                <a:latin typeface="+mn-lt"/>
              </a:rPr>
              <a:t>cost of employee benefits arising directly from construction/acquisition of the item of PPE</a:t>
            </a:r>
          </a:p>
          <a:p>
            <a:pPr marL="1158875" lvl="1" indent="-531813" defTabSz="223838">
              <a:tabLst>
                <a:tab pos="630238" algn="l"/>
              </a:tabLst>
              <a:defRPr/>
            </a:pPr>
            <a:r>
              <a:rPr lang="en-US" sz="2400" dirty="0">
                <a:latin typeface="+mn-lt"/>
              </a:rPr>
              <a:t>cost of site preparation</a:t>
            </a:r>
          </a:p>
          <a:p>
            <a:pPr marL="1158875" lvl="1" indent="-531813" defTabSz="223838">
              <a:tabLst>
                <a:tab pos="630238" algn="l"/>
              </a:tabLst>
              <a:defRPr/>
            </a:pPr>
            <a:r>
              <a:rPr lang="en-US" sz="2400" dirty="0">
                <a:latin typeface="+mn-lt"/>
              </a:rPr>
              <a:t>initial delivery and handling costs</a:t>
            </a:r>
          </a:p>
          <a:p>
            <a:pPr marL="1158875" lvl="1" indent="-531813" defTabSz="223838">
              <a:tabLst>
                <a:tab pos="630238" algn="l"/>
              </a:tabLst>
              <a:defRPr/>
            </a:pPr>
            <a:r>
              <a:rPr lang="en-US" sz="2400" dirty="0">
                <a:latin typeface="+mn-lt"/>
              </a:rPr>
              <a:t>installation and assembly costs</a:t>
            </a:r>
          </a:p>
          <a:p>
            <a:pPr marL="1158875" lvl="1" indent="-531813" defTabSz="223838">
              <a:tabLst>
                <a:tab pos="630238" algn="l"/>
              </a:tabLst>
              <a:defRPr/>
            </a:pPr>
            <a:r>
              <a:rPr lang="en-ZA" sz="2400" dirty="0">
                <a:latin typeface="+mn-lt"/>
              </a:rPr>
              <a:t>costs of testing whether the asset is functioning properly; and</a:t>
            </a:r>
          </a:p>
          <a:p>
            <a:pPr marL="1158875" lvl="1" indent="-531813" defTabSz="223838">
              <a:tabLst>
                <a:tab pos="630238" algn="l"/>
              </a:tabLst>
              <a:defRPr/>
            </a:pPr>
            <a:r>
              <a:rPr lang="en-US" sz="2400" dirty="0">
                <a:latin typeface="+mn-lt"/>
              </a:rPr>
              <a:t>professional fees</a:t>
            </a:r>
            <a:endParaRPr lang="en-GB" sz="2400" dirty="0">
              <a:latin typeface="+mn-lt"/>
            </a:endParaRPr>
          </a:p>
          <a:p>
            <a:endParaRPr lang="en-ZA" dirty="0">
              <a:latin typeface="+mn-lt"/>
            </a:endParaRPr>
          </a:p>
        </p:txBody>
      </p:sp>
      <p:pic>
        <p:nvPicPr>
          <p:cNvPr id="4" name="Picture 2" descr="Image result for equipment cartoon">
            <a:extLst>
              <a:ext uri="{FF2B5EF4-FFF2-40B4-BE49-F238E27FC236}">
                <a16:creationId xmlns:a16="http://schemas.microsoft.com/office/drawing/2014/main" id="{28CCADFF-0E92-3C0F-D24A-3A319267A3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16371" y="5423336"/>
            <a:ext cx="2832249" cy="129587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A880DABC-8BB3-5A3C-581A-C973EEA04473}"/>
              </a:ext>
            </a:extLst>
          </p:cNvPr>
          <p:cNvSpPr>
            <a:spLocks noGrp="1"/>
          </p:cNvSpPr>
          <p:nvPr>
            <p:ph type="title"/>
          </p:nvPr>
        </p:nvSpPr>
        <p:spPr/>
        <p:txBody>
          <a:bodyPr/>
          <a:lstStyle/>
          <a:p>
            <a:r>
              <a:rPr lang="en-GB" altLang="en-US" dirty="0"/>
              <a:t>INITIAL MEASUREMENT:</a:t>
            </a:r>
            <a:br>
              <a:rPr lang="en-GB" altLang="en-US" dirty="0"/>
            </a:br>
            <a:r>
              <a:rPr lang="en-GB" altLang="en-US" dirty="0"/>
              <a:t>DETERMINING COST PRICE (.15-.28) </a:t>
            </a:r>
            <a:endParaRPr lang="en-ZA"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3380" y="1563597"/>
            <a:ext cx="11905240" cy="3248433"/>
          </a:xfrm>
        </p:spPr>
        <p:txBody>
          <a:bodyPr>
            <a:normAutofit/>
          </a:bodyPr>
          <a:lstStyle/>
          <a:p>
            <a:pPr marL="447675" indent="-447675" defTabSz="223838">
              <a:buFont typeface="Wingdings" pitchFamily="2" charset="2"/>
              <a:buChar char="q"/>
              <a:tabLst>
                <a:tab pos="630238" algn="l"/>
              </a:tabLst>
              <a:defRPr/>
            </a:pPr>
            <a:r>
              <a:rPr lang="en-US" b="1" dirty="0">
                <a:latin typeface="+mn-lt"/>
              </a:rPr>
              <a:t>(.19) Costs which are excluded:</a:t>
            </a:r>
            <a:br>
              <a:rPr lang="en-US" b="1" dirty="0">
                <a:latin typeface="+mn-lt"/>
              </a:rPr>
            </a:br>
            <a:endParaRPr lang="en-US" dirty="0">
              <a:latin typeface="+mn-lt"/>
              <a:cs typeface="Arial" charset="0"/>
            </a:endParaRPr>
          </a:p>
          <a:p>
            <a:pPr marL="1158875" lvl="1" indent="-531813" defTabSz="223838">
              <a:tabLst>
                <a:tab pos="630238" algn="l"/>
              </a:tabLst>
              <a:defRPr/>
            </a:pPr>
            <a:r>
              <a:rPr lang="en-US" sz="2400" dirty="0">
                <a:latin typeface="+mn-lt"/>
              </a:rPr>
              <a:t>opening a new facility;</a:t>
            </a:r>
          </a:p>
          <a:p>
            <a:pPr marL="1158875" lvl="1" indent="-531813" defTabSz="223838">
              <a:tabLst>
                <a:tab pos="630238" algn="l"/>
              </a:tabLst>
              <a:defRPr/>
            </a:pPr>
            <a:r>
              <a:rPr lang="en-US" sz="2400" dirty="0">
                <a:latin typeface="+mn-lt"/>
              </a:rPr>
              <a:t>introducing new products / services (advertising / promotional costs)</a:t>
            </a:r>
          </a:p>
          <a:p>
            <a:pPr marL="1158875" lvl="1" indent="-531813" defTabSz="223838">
              <a:tabLst>
                <a:tab pos="630238" algn="l"/>
              </a:tabLst>
              <a:defRPr/>
            </a:pPr>
            <a:r>
              <a:rPr lang="en-US" sz="2400" dirty="0">
                <a:latin typeface="+mn-lt"/>
              </a:rPr>
              <a:t>conducting business in a new location / new class of customer (</a:t>
            </a:r>
            <a:r>
              <a:rPr lang="en-US" sz="2400" dirty="0" err="1">
                <a:latin typeface="+mn-lt"/>
              </a:rPr>
              <a:t>incl</a:t>
            </a:r>
            <a:r>
              <a:rPr lang="en-US" sz="2400" dirty="0">
                <a:latin typeface="+mn-lt"/>
              </a:rPr>
              <a:t> cost of staff training)</a:t>
            </a:r>
          </a:p>
          <a:p>
            <a:pPr marL="1158875" lvl="1" indent="-531813" defTabSz="223838">
              <a:tabLst>
                <a:tab pos="630238" algn="l"/>
              </a:tabLst>
              <a:defRPr/>
            </a:pPr>
            <a:r>
              <a:rPr lang="en-US" sz="2400" dirty="0">
                <a:latin typeface="+mn-lt"/>
              </a:rPr>
              <a:t>admin and general overheads</a:t>
            </a:r>
          </a:p>
          <a:p>
            <a:pPr marL="334454" indent="0" defTabSz="223838">
              <a:buNone/>
              <a:tabLst>
                <a:tab pos="630238" algn="l"/>
              </a:tabLst>
              <a:defRPr/>
            </a:pPr>
            <a:endParaRPr lang="en-US" b="1" dirty="0">
              <a:latin typeface="+mn-lt"/>
            </a:endParaRPr>
          </a:p>
        </p:txBody>
      </p:sp>
      <p:pic>
        <p:nvPicPr>
          <p:cNvPr id="4" name="Picture 2" descr="Image result for equipment cartoon">
            <a:extLst>
              <a:ext uri="{FF2B5EF4-FFF2-40B4-BE49-F238E27FC236}">
                <a16:creationId xmlns:a16="http://schemas.microsoft.com/office/drawing/2014/main" id="{DC5CA5AF-9EBF-E747-D9AA-1016494532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16371" y="5423336"/>
            <a:ext cx="2832249" cy="129587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0575C265-3CA6-0235-9DAA-3069F64EC622}"/>
              </a:ext>
            </a:extLst>
          </p:cNvPr>
          <p:cNvSpPr>
            <a:spLocks noGrp="1"/>
          </p:cNvSpPr>
          <p:nvPr>
            <p:ph type="title"/>
          </p:nvPr>
        </p:nvSpPr>
        <p:spPr/>
        <p:txBody>
          <a:bodyPr/>
          <a:lstStyle/>
          <a:p>
            <a:r>
              <a:rPr lang="en-GB" altLang="en-US" dirty="0"/>
              <a:t>INITIAL MEASUREMENT:</a:t>
            </a:r>
            <a:br>
              <a:rPr lang="en-GB" altLang="en-US" dirty="0"/>
            </a:br>
            <a:r>
              <a:rPr lang="en-GB" altLang="en-US" dirty="0"/>
              <a:t>DETERMINING COST PRICE (.15-.28) </a:t>
            </a:r>
            <a:endParaRPr lang="en-ZA"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3380" y="1593656"/>
            <a:ext cx="11475720" cy="4477615"/>
          </a:xfrm>
        </p:spPr>
        <p:txBody>
          <a:bodyPr>
            <a:noAutofit/>
          </a:bodyPr>
          <a:lstStyle/>
          <a:p>
            <a:pPr marL="447675" indent="-447675" defTabSz="223838">
              <a:buFont typeface="Wingdings" pitchFamily="2" charset="2"/>
              <a:buChar char="q"/>
              <a:tabLst>
                <a:tab pos="630238" algn="l"/>
              </a:tabLst>
            </a:pPr>
            <a:r>
              <a:rPr lang="en-ZA" b="1" noProof="0" dirty="0">
                <a:latin typeface="+mn-lt"/>
              </a:rPr>
              <a:t>(.20)</a:t>
            </a:r>
            <a:r>
              <a:rPr lang="en-ZA" noProof="0" dirty="0">
                <a:latin typeface="+mn-lt"/>
              </a:rPr>
              <a:t> </a:t>
            </a:r>
            <a:r>
              <a:rPr lang="en-ZA" noProof="0" dirty="0">
                <a:latin typeface="+mn-lt"/>
                <a:cs typeface="Arial" charset="0"/>
              </a:rPr>
              <a:t>Capitalisation of costs ceases when the item is in </a:t>
            </a:r>
            <a:r>
              <a:rPr lang="en-ZA" b="1" noProof="0" dirty="0">
                <a:latin typeface="+mn-lt"/>
                <a:cs typeface="Arial" charset="0"/>
              </a:rPr>
              <a:t>location / condition </a:t>
            </a:r>
            <a:r>
              <a:rPr lang="en-ZA" noProof="0" dirty="0">
                <a:latin typeface="+mn-lt"/>
                <a:cs typeface="Arial" charset="0"/>
              </a:rPr>
              <a:t>necessary for it to be capable of operating in manner as intended by management</a:t>
            </a:r>
            <a:br>
              <a:rPr lang="en-ZA" noProof="0" dirty="0">
                <a:latin typeface="+mn-lt"/>
                <a:cs typeface="Arial" charset="0"/>
              </a:rPr>
            </a:br>
            <a:endParaRPr lang="en-ZA" noProof="0" dirty="0">
              <a:latin typeface="+mn-lt"/>
              <a:cs typeface="Arial" charset="0"/>
            </a:endParaRPr>
          </a:p>
          <a:p>
            <a:pPr marL="447675" indent="-447675" defTabSz="223838">
              <a:spcBef>
                <a:spcPct val="0"/>
              </a:spcBef>
              <a:buFont typeface="Wingdings" pitchFamily="2" charset="2"/>
              <a:buChar char="q"/>
              <a:tabLst>
                <a:tab pos="630238" algn="l"/>
              </a:tabLst>
            </a:pPr>
            <a:r>
              <a:rPr lang="en-ZA" b="1" noProof="0" dirty="0">
                <a:latin typeface="+mn-lt"/>
              </a:rPr>
              <a:t>(.20)</a:t>
            </a:r>
            <a:r>
              <a:rPr lang="en-ZA" noProof="0" dirty="0">
                <a:latin typeface="+mn-lt"/>
              </a:rPr>
              <a:t> </a:t>
            </a:r>
            <a:r>
              <a:rPr lang="en-ZA" noProof="0" dirty="0">
                <a:latin typeface="+mn-lt"/>
                <a:cs typeface="Arial" charset="0"/>
              </a:rPr>
              <a:t>Thus, costs incurred to use or in </a:t>
            </a:r>
            <a:r>
              <a:rPr lang="en-ZA" b="1" noProof="0" dirty="0">
                <a:latin typeface="+mn-lt"/>
                <a:cs typeface="Arial" charset="0"/>
              </a:rPr>
              <a:t>redeploying</a:t>
            </a:r>
            <a:r>
              <a:rPr lang="en-ZA" noProof="0" dirty="0">
                <a:latin typeface="+mn-lt"/>
                <a:cs typeface="Arial" charset="0"/>
              </a:rPr>
              <a:t> asset not included in cost price, e.g.:</a:t>
            </a:r>
          </a:p>
          <a:p>
            <a:pPr marL="1158875" lvl="1" indent="-531813" defTabSz="223838">
              <a:spcBef>
                <a:spcPct val="0"/>
              </a:spcBef>
              <a:tabLst>
                <a:tab pos="630238" algn="l"/>
              </a:tabLst>
            </a:pPr>
            <a:r>
              <a:rPr lang="en-ZA" sz="2400" noProof="0" dirty="0">
                <a:latin typeface="+mn-lt"/>
                <a:cs typeface="Arial" charset="0"/>
              </a:rPr>
              <a:t>costs incurred with regards to item already capable of operating in manner intended, but has not been used or is used at less than full capacity</a:t>
            </a:r>
          </a:p>
          <a:p>
            <a:pPr marL="1158875" lvl="1" indent="-531813" defTabSz="223838">
              <a:spcBef>
                <a:spcPct val="0"/>
              </a:spcBef>
              <a:tabLst>
                <a:tab pos="630238" algn="l"/>
              </a:tabLst>
            </a:pPr>
            <a:r>
              <a:rPr lang="en-ZA" sz="2400" noProof="0" dirty="0">
                <a:latin typeface="+mn-lt"/>
                <a:cs typeface="Arial" charset="0"/>
              </a:rPr>
              <a:t>initial operating losses</a:t>
            </a:r>
          </a:p>
          <a:p>
            <a:pPr marL="1158875" lvl="1" indent="-531813" defTabSz="223838">
              <a:spcBef>
                <a:spcPct val="0"/>
              </a:spcBef>
              <a:tabLst>
                <a:tab pos="630238" algn="l"/>
              </a:tabLst>
            </a:pPr>
            <a:r>
              <a:rPr lang="en-ZA" sz="2400" noProof="0" dirty="0">
                <a:latin typeface="+mn-lt"/>
                <a:cs typeface="Arial" charset="0"/>
              </a:rPr>
              <a:t>costs of relocating or reorganizing the entity’s operations</a:t>
            </a:r>
          </a:p>
        </p:txBody>
      </p:sp>
      <p:pic>
        <p:nvPicPr>
          <p:cNvPr id="4" name="Picture 2" descr="Image result for equipment cartoon">
            <a:extLst>
              <a:ext uri="{FF2B5EF4-FFF2-40B4-BE49-F238E27FC236}">
                <a16:creationId xmlns:a16="http://schemas.microsoft.com/office/drawing/2014/main" id="{7D6AD481-3F59-CA13-B129-09638ADEEE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8874" y="3460955"/>
            <a:ext cx="2832249" cy="129587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DDBB49DD-EB69-FC99-E097-9477850E84DF}"/>
              </a:ext>
            </a:extLst>
          </p:cNvPr>
          <p:cNvSpPr>
            <a:spLocks noGrp="1"/>
          </p:cNvSpPr>
          <p:nvPr>
            <p:ph type="title"/>
          </p:nvPr>
        </p:nvSpPr>
        <p:spPr/>
        <p:txBody>
          <a:bodyPr/>
          <a:lstStyle/>
          <a:p>
            <a:r>
              <a:rPr lang="en-GB" altLang="en-US" dirty="0"/>
              <a:t>INITIAL MEASUREMENT:</a:t>
            </a:r>
            <a:br>
              <a:rPr lang="en-GB" altLang="en-US" dirty="0"/>
            </a:br>
            <a:r>
              <a:rPr lang="en-GB" altLang="en-US" dirty="0"/>
              <a:t>DETERMINING COST PRICE (.15-.28) </a:t>
            </a:r>
            <a:endParaRPr lang="en-ZA" dirty="0"/>
          </a:p>
        </p:txBody>
      </p:sp>
      <p:sp>
        <p:nvSpPr>
          <p:cNvPr id="3" name="Rectangle: Rounded Corners 2">
            <a:extLst>
              <a:ext uri="{FF2B5EF4-FFF2-40B4-BE49-F238E27FC236}">
                <a16:creationId xmlns:a16="http://schemas.microsoft.com/office/drawing/2014/main" id="{0F04DE4D-AE3B-4A55-71C5-25B4B887F10F}"/>
              </a:ext>
            </a:extLst>
          </p:cNvPr>
          <p:cNvSpPr/>
          <p:nvPr/>
        </p:nvSpPr>
        <p:spPr>
          <a:xfrm>
            <a:off x="143380" y="4756826"/>
            <a:ext cx="10391674" cy="18158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dirty="0"/>
              <a:t>Note: par 20A:</a:t>
            </a:r>
          </a:p>
          <a:p>
            <a:pPr algn="just"/>
            <a:r>
              <a:rPr lang="en-ZA" sz="1800" b="0" i="0" u="none" strike="noStrike" baseline="0" dirty="0"/>
              <a:t>Items produced while bringing an item of PPE to the location and condition necessary for it to be capable of operating in the manner intended by management (such as samples produced when testing whether the asset is functioning properly). An entity recognises the proceeds from selling any such items, and the cost of those items, in profit or loss in accordance with applicable Standards. The entity measures the cost of those items applying the measurement requirements of IAS 2.</a:t>
            </a:r>
            <a:endParaRPr lang="en-ZA"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3380" y="1619578"/>
            <a:ext cx="11125197" cy="4085112"/>
          </a:xfrm>
        </p:spPr>
        <p:txBody>
          <a:bodyPr>
            <a:normAutofit/>
          </a:bodyPr>
          <a:lstStyle/>
          <a:p>
            <a:pPr marL="447675" indent="-447675" defTabSz="223838">
              <a:buFont typeface="Wingdings" pitchFamily="2" charset="2"/>
              <a:buChar char="q"/>
              <a:tabLst>
                <a:tab pos="630238" algn="l"/>
              </a:tabLst>
              <a:defRPr/>
            </a:pPr>
            <a:r>
              <a:rPr lang="en-US" b="1" dirty="0">
                <a:latin typeface="+mn-lt"/>
              </a:rPr>
              <a:t>(.21) Incidental income/ expenses</a:t>
            </a:r>
          </a:p>
          <a:p>
            <a:pPr marL="447675" indent="-447675" defTabSz="223838">
              <a:buFont typeface="Wingdings" pitchFamily="2" charset="2"/>
              <a:buChar char="q"/>
              <a:tabLst>
                <a:tab pos="630238" algn="l"/>
              </a:tabLst>
              <a:defRPr/>
            </a:pPr>
            <a:endParaRPr lang="en-US" b="1" dirty="0">
              <a:latin typeface="+mn-lt"/>
            </a:endParaRPr>
          </a:p>
          <a:p>
            <a:pPr marL="1158875" lvl="1" indent="-531813" defTabSz="223838">
              <a:tabLst>
                <a:tab pos="630238" algn="l"/>
              </a:tabLst>
              <a:defRPr/>
            </a:pPr>
            <a:r>
              <a:rPr lang="en-US" sz="2400" dirty="0">
                <a:latin typeface="+mn-lt"/>
              </a:rPr>
              <a:t>Related to development of asset, but not necessary to get asset in condition &amp; location to be capable  of operating in manner intended</a:t>
            </a:r>
            <a:br>
              <a:rPr lang="en-US" sz="2400" dirty="0">
                <a:latin typeface="+mn-lt"/>
              </a:rPr>
            </a:br>
            <a:endParaRPr lang="en-US" sz="2400" dirty="0">
              <a:latin typeface="+mn-lt"/>
            </a:endParaRPr>
          </a:p>
          <a:p>
            <a:pPr marL="1158875" lvl="1" indent="-531813" defTabSz="223838">
              <a:tabLst>
                <a:tab pos="630238" algn="l"/>
              </a:tabLst>
              <a:defRPr/>
            </a:pPr>
            <a:r>
              <a:rPr lang="en-US" sz="2400" b="1" dirty="0">
                <a:latin typeface="+mn-lt"/>
              </a:rPr>
              <a:t>Example:</a:t>
            </a:r>
            <a:r>
              <a:rPr lang="en-US" sz="2400" dirty="0">
                <a:latin typeface="+mn-lt"/>
              </a:rPr>
              <a:t> Earn income by using premises as parking lot, before building is constructed</a:t>
            </a:r>
            <a:br>
              <a:rPr lang="en-US" sz="2400" dirty="0">
                <a:latin typeface="+mn-lt"/>
              </a:rPr>
            </a:br>
            <a:endParaRPr lang="en-US" sz="2400" dirty="0">
              <a:latin typeface="+mn-lt"/>
            </a:endParaRPr>
          </a:p>
          <a:p>
            <a:pPr marL="1158875" lvl="1" indent="-531813" defTabSz="223838">
              <a:tabLst>
                <a:tab pos="630238" algn="l"/>
              </a:tabLst>
              <a:defRPr/>
            </a:pPr>
            <a:r>
              <a:rPr lang="en-US" sz="2400" dirty="0">
                <a:latin typeface="+mn-lt"/>
              </a:rPr>
              <a:t>incidental income / expenses not included  in cost of asset = Profit/loss</a:t>
            </a:r>
          </a:p>
          <a:p>
            <a:endParaRPr lang="en-ZA" dirty="0">
              <a:latin typeface="+mn-lt"/>
            </a:endParaRPr>
          </a:p>
        </p:txBody>
      </p:sp>
      <p:pic>
        <p:nvPicPr>
          <p:cNvPr id="4" name="Picture 2" descr="Image result for equipment cartoon">
            <a:extLst>
              <a:ext uri="{FF2B5EF4-FFF2-40B4-BE49-F238E27FC236}">
                <a16:creationId xmlns:a16="http://schemas.microsoft.com/office/drawing/2014/main" id="{129D3FBE-A2E9-670F-1E06-1DBBE4DE7C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16371" y="5423336"/>
            <a:ext cx="2832249" cy="129587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AEA1B93E-58D4-BB50-F626-35C8A55845F5}"/>
              </a:ext>
            </a:extLst>
          </p:cNvPr>
          <p:cNvSpPr>
            <a:spLocks noGrp="1"/>
          </p:cNvSpPr>
          <p:nvPr>
            <p:ph type="title"/>
          </p:nvPr>
        </p:nvSpPr>
        <p:spPr/>
        <p:txBody>
          <a:bodyPr/>
          <a:lstStyle/>
          <a:p>
            <a:r>
              <a:rPr lang="en-GB" altLang="en-US" dirty="0"/>
              <a:t>INITIAL MEASUREMENT:</a:t>
            </a:r>
            <a:br>
              <a:rPr lang="en-GB" altLang="en-US" dirty="0"/>
            </a:br>
            <a:r>
              <a:rPr lang="en-GB" altLang="en-US" dirty="0"/>
              <a:t>DETERMINING COST PRICE (.15-.28) </a:t>
            </a:r>
            <a:endParaRPr lang="en-ZA"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380" y="1426437"/>
            <a:ext cx="11497755" cy="5155610"/>
          </a:xfrm>
        </p:spPr>
        <p:txBody>
          <a:bodyPr>
            <a:normAutofit/>
          </a:bodyPr>
          <a:lstStyle/>
          <a:p>
            <a:pPr defTabSz="223838">
              <a:buFont typeface="Wingdings" pitchFamily="2" charset="2"/>
              <a:buChar char="q"/>
              <a:tabLst>
                <a:tab pos="714375" algn="l"/>
              </a:tabLst>
              <a:defRPr/>
            </a:pPr>
            <a:r>
              <a:rPr lang="en-US" b="1" dirty="0">
                <a:latin typeface="+mn-lt"/>
              </a:rPr>
              <a:t>(.21) Self-constructed assets</a:t>
            </a:r>
          </a:p>
          <a:p>
            <a:pPr marL="714375" lvl="1" indent="-349250" defTabSz="223838">
              <a:tabLst>
                <a:tab pos="714375" algn="l"/>
              </a:tabLst>
              <a:defRPr/>
            </a:pPr>
            <a:r>
              <a:rPr lang="en-US" sz="2400" dirty="0">
                <a:latin typeface="+mn-lt"/>
              </a:rPr>
              <a:t>Cost determined using the same principles as for acquired asset</a:t>
            </a:r>
          </a:p>
          <a:p>
            <a:pPr marL="365125" lvl="1" indent="0" defTabSz="223838">
              <a:buNone/>
              <a:tabLst>
                <a:tab pos="714375" algn="l"/>
              </a:tabLst>
              <a:defRPr/>
            </a:pPr>
            <a:endParaRPr lang="en-US" sz="2400" dirty="0">
              <a:latin typeface="+mn-lt"/>
            </a:endParaRPr>
          </a:p>
          <a:p>
            <a:pPr marL="365125" lvl="1" indent="0" defTabSz="223838">
              <a:buNone/>
              <a:tabLst>
                <a:tab pos="714375" algn="l"/>
              </a:tabLst>
              <a:defRPr/>
            </a:pPr>
            <a:r>
              <a:rPr lang="en-US" sz="2400" b="1" dirty="0">
                <a:latin typeface="+mn-lt"/>
              </a:rPr>
              <a:t>Excluded from cost:</a:t>
            </a:r>
          </a:p>
          <a:p>
            <a:pPr marL="714375" lvl="1" indent="-349250" defTabSz="223838">
              <a:tabLst>
                <a:tab pos="714375" algn="l"/>
              </a:tabLst>
              <a:defRPr/>
            </a:pPr>
            <a:r>
              <a:rPr lang="en-US" sz="2400" dirty="0">
                <a:latin typeface="+mn-lt"/>
              </a:rPr>
              <a:t>internal profits (e.g. between branches &amp; divisions), and</a:t>
            </a:r>
          </a:p>
          <a:p>
            <a:pPr marL="714375" lvl="1" indent="-349250" defTabSz="223838">
              <a:tabLst>
                <a:tab pos="714375" algn="l"/>
              </a:tabLst>
              <a:defRPr/>
            </a:pPr>
            <a:r>
              <a:rPr lang="en-US" sz="2400" dirty="0">
                <a:latin typeface="+mn-lt"/>
              </a:rPr>
              <a:t>abnormal amounts (e.g. unnecessary material and </a:t>
            </a:r>
            <a:r>
              <a:rPr lang="en-US" sz="2400" dirty="0" err="1">
                <a:latin typeface="+mn-lt"/>
              </a:rPr>
              <a:t>labour</a:t>
            </a:r>
            <a:r>
              <a:rPr lang="en-US" sz="2400" dirty="0">
                <a:latin typeface="+mn-lt"/>
              </a:rPr>
              <a:t> used)</a:t>
            </a:r>
          </a:p>
          <a:p>
            <a:pPr defTabSz="223838">
              <a:tabLst>
                <a:tab pos="714375" algn="l"/>
              </a:tabLst>
              <a:defRPr/>
            </a:pPr>
            <a:endParaRPr lang="en-US" dirty="0">
              <a:latin typeface="+mn-lt"/>
            </a:endParaRPr>
          </a:p>
          <a:p>
            <a:pPr marL="0" indent="0" defTabSz="223838">
              <a:buNone/>
              <a:tabLst>
                <a:tab pos="714375" algn="l"/>
              </a:tabLst>
              <a:defRPr/>
            </a:pPr>
            <a:r>
              <a:rPr lang="en-US" b="1" dirty="0">
                <a:latin typeface="+mn-lt"/>
              </a:rPr>
              <a:t>Deferred payments </a:t>
            </a:r>
            <a:r>
              <a:rPr lang="en-US" dirty="0">
                <a:latin typeface="+mn-lt"/>
              </a:rPr>
              <a:t>(FA278)</a:t>
            </a:r>
          </a:p>
          <a:p>
            <a:pPr marL="0" indent="0" defTabSz="223838">
              <a:buClr>
                <a:srgbClr val="04617B"/>
              </a:buClr>
              <a:buSzPct val="60000"/>
              <a:buNone/>
              <a:tabLst>
                <a:tab pos="714375" algn="l"/>
              </a:tabLst>
              <a:defRPr/>
            </a:pPr>
            <a:r>
              <a:rPr lang="en-US" dirty="0">
                <a:latin typeface="+mn-lt"/>
                <a:cs typeface="Arial" pitchFamily="34" charset="0"/>
              </a:rPr>
              <a:t> </a:t>
            </a:r>
          </a:p>
          <a:p>
            <a:pPr marL="0" indent="0" defTabSz="223838">
              <a:buClr>
                <a:srgbClr val="04617B"/>
              </a:buClr>
              <a:buSzPct val="60000"/>
              <a:buNone/>
              <a:tabLst>
                <a:tab pos="714375" algn="l"/>
              </a:tabLst>
              <a:defRPr/>
            </a:pPr>
            <a:r>
              <a:rPr lang="en-US" b="1" dirty="0">
                <a:latin typeface="+mn-lt"/>
                <a:cs typeface="Arial" pitchFamily="34" charset="0"/>
              </a:rPr>
              <a:t>Example 1a + 1b</a:t>
            </a:r>
          </a:p>
          <a:p>
            <a:endParaRPr lang="en-ZA" dirty="0">
              <a:latin typeface="+mn-lt"/>
            </a:endParaRPr>
          </a:p>
        </p:txBody>
      </p:sp>
      <p:pic>
        <p:nvPicPr>
          <p:cNvPr id="4" name="Picture 2" descr="Image result for equipment cartoon">
            <a:extLst>
              <a:ext uri="{FF2B5EF4-FFF2-40B4-BE49-F238E27FC236}">
                <a16:creationId xmlns:a16="http://schemas.microsoft.com/office/drawing/2014/main" id="{3448BEA7-3642-3664-63E2-336968D6C5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16371" y="5423336"/>
            <a:ext cx="2832249" cy="129587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A7D63669-BE5D-9CE3-64F7-91D54826CAFC}"/>
              </a:ext>
            </a:extLst>
          </p:cNvPr>
          <p:cNvSpPr>
            <a:spLocks noGrp="1"/>
          </p:cNvSpPr>
          <p:nvPr>
            <p:ph type="title"/>
          </p:nvPr>
        </p:nvSpPr>
        <p:spPr/>
        <p:txBody>
          <a:bodyPr/>
          <a:lstStyle/>
          <a:p>
            <a:r>
              <a:rPr lang="en-GB" altLang="en-US" dirty="0"/>
              <a:t>INITIAL MEASUREMENT:</a:t>
            </a:r>
            <a:br>
              <a:rPr lang="en-GB" altLang="en-US" dirty="0"/>
            </a:br>
            <a:r>
              <a:rPr lang="en-GB" altLang="en-US" dirty="0"/>
              <a:t>DETERMINING COST PRICE (.15-.28) </a:t>
            </a:r>
            <a:endParaRPr lang="en-ZA"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Image result for office buil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241618" y="1316278"/>
            <a:ext cx="11771312" cy="5155610"/>
          </a:xfrm>
        </p:spPr>
        <p:txBody>
          <a:bodyPr>
            <a:normAutofit/>
          </a:bodyPr>
          <a:lstStyle/>
          <a:p>
            <a:pPr defTabSz="223838">
              <a:buFont typeface="Wingdings" panose="05000000000000000000" pitchFamily="2" charset="2"/>
              <a:buChar char="q"/>
              <a:tabLst>
                <a:tab pos="630238" algn="l"/>
              </a:tabLst>
              <a:defRPr/>
            </a:pPr>
            <a:r>
              <a:rPr lang="en-US" b="1" dirty="0">
                <a:latin typeface="+mn-lt"/>
              </a:rPr>
              <a:t>(.29)</a:t>
            </a:r>
            <a:r>
              <a:rPr lang="en-US" dirty="0">
                <a:latin typeface="+mn-lt"/>
              </a:rPr>
              <a:t> Entity chooses one model</a:t>
            </a:r>
          </a:p>
          <a:p>
            <a:pPr marL="447675" indent="-447675" defTabSz="223838">
              <a:buFont typeface="Wingdings" pitchFamily="2" charset="2"/>
              <a:buChar char="q"/>
              <a:tabLst>
                <a:tab pos="630238" algn="l"/>
              </a:tabLst>
              <a:defRPr/>
            </a:pPr>
            <a:r>
              <a:rPr lang="en-US" dirty="0">
                <a:latin typeface="+mn-lt"/>
              </a:rPr>
              <a:t>Disclose choice in accounting policy</a:t>
            </a:r>
          </a:p>
          <a:p>
            <a:pPr marL="447675" indent="-447675" defTabSz="223838">
              <a:buFont typeface="Wingdings" pitchFamily="2" charset="2"/>
              <a:buChar char="q"/>
              <a:tabLst>
                <a:tab pos="630238" algn="l"/>
              </a:tabLst>
              <a:defRPr/>
            </a:pPr>
            <a:r>
              <a:rPr lang="en-US" dirty="0">
                <a:latin typeface="+mn-lt"/>
              </a:rPr>
              <a:t>Model is applied to entire class of assets </a:t>
            </a:r>
          </a:p>
          <a:p>
            <a:pPr marL="447675" indent="-447675" defTabSz="223838">
              <a:buFont typeface="Wingdings" pitchFamily="2" charset="2"/>
              <a:buChar char="q"/>
              <a:tabLst>
                <a:tab pos="630238" algn="l"/>
              </a:tabLst>
              <a:defRPr/>
            </a:pPr>
            <a:endParaRPr lang="en-US" b="1" dirty="0">
              <a:latin typeface="+mn-lt"/>
              <a:cs typeface="Arial" charset="0"/>
            </a:endParaRPr>
          </a:p>
          <a:p>
            <a:pPr marL="447675" indent="-447675" defTabSz="223838">
              <a:buFont typeface="Wingdings" pitchFamily="2" charset="2"/>
              <a:buChar char="q"/>
              <a:tabLst>
                <a:tab pos="630238" algn="l"/>
              </a:tabLst>
              <a:defRPr/>
            </a:pPr>
            <a:r>
              <a:rPr lang="en-US" b="1" dirty="0">
                <a:latin typeface="+mn-lt"/>
                <a:cs typeface="Arial" charset="0"/>
              </a:rPr>
              <a:t>Carrying amount</a:t>
            </a:r>
            <a:endParaRPr lang="en-US" dirty="0">
              <a:latin typeface="+mn-lt"/>
              <a:cs typeface="Arial" charset="0"/>
            </a:endParaRPr>
          </a:p>
          <a:p>
            <a:pPr marL="1158875" lvl="1" indent="-531813" defTabSz="223838">
              <a:tabLst>
                <a:tab pos="630238" algn="l"/>
              </a:tabLst>
              <a:defRPr/>
            </a:pPr>
            <a:r>
              <a:rPr lang="en-US" sz="2400" dirty="0">
                <a:latin typeface="+mn-lt"/>
                <a:cs typeface="Arial" charset="0"/>
              </a:rPr>
              <a:t>SFP-amount after deducting accumulated </a:t>
            </a:r>
            <a:r>
              <a:rPr lang="en-US" sz="2400" dirty="0" err="1">
                <a:latin typeface="+mn-lt"/>
                <a:cs typeface="Arial" charset="0"/>
              </a:rPr>
              <a:t>depr</a:t>
            </a:r>
            <a:r>
              <a:rPr lang="en-US" sz="2400" dirty="0">
                <a:latin typeface="+mn-lt"/>
                <a:cs typeface="Arial" charset="0"/>
              </a:rPr>
              <a:t> and accumulated impairment losses</a:t>
            </a:r>
            <a:endParaRPr lang="en-US" sz="2400" b="1" dirty="0">
              <a:latin typeface="+mn-lt"/>
            </a:endParaRPr>
          </a:p>
          <a:p>
            <a:pPr marL="447675" indent="-447675" defTabSz="223838">
              <a:buFont typeface="Wingdings" pitchFamily="2" charset="2"/>
              <a:buChar char="q"/>
              <a:tabLst>
                <a:tab pos="630238" algn="l"/>
              </a:tabLst>
              <a:defRPr/>
            </a:pPr>
            <a:endParaRPr lang="en-US" b="1" dirty="0">
              <a:latin typeface="+mn-lt"/>
            </a:endParaRPr>
          </a:p>
          <a:p>
            <a:pPr marL="447675" indent="-447675" defTabSz="223838">
              <a:buFont typeface="Wingdings" pitchFamily="2" charset="2"/>
              <a:buChar char="q"/>
              <a:tabLst>
                <a:tab pos="630238" algn="l"/>
              </a:tabLst>
              <a:defRPr/>
            </a:pPr>
            <a:r>
              <a:rPr lang="en-US" b="1" dirty="0">
                <a:latin typeface="+mn-lt"/>
              </a:rPr>
              <a:t>Choice</a:t>
            </a:r>
            <a:endParaRPr lang="en-US" dirty="0">
              <a:latin typeface="+mn-lt"/>
              <a:cs typeface="Arial" charset="0"/>
            </a:endParaRPr>
          </a:p>
          <a:p>
            <a:pPr marL="1158875" lvl="1" indent="-531813" defTabSz="223838">
              <a:lnSpc>
                <a:spcPct val="80000"/>
              </a:lnSpc>
              <a:tabLst>
                <a:tab pos="630238" algn="l"/>
              </a:tabLst>
              <a:defRPr/>
            </a:pPr>
            <a:r>
              <a:rPr lang="en-US" sz="2400" dirty="0">
                <a:latin typeface="+mn-lt"/>
              </a:rPr>
              <a:t>Cost model </a:t>
            </a:r>
            <a:r>
              <a:rPr lang="en-GB" altLang="en-US" sz="2400" b="1" dirty="0">
                <a:latin typeface="+mn-lt"/>
              </a:rPr>
              <a:t>(.30 &amp; .43 - .62)</a:t>
            </a:r>
            <a:br>
              <a:rPr lang="en-US" sz="2400" b="1" dirty="0">
                <a:latin typeface="+mn-lt"/>
              </a:rPr>
            </a:br>
            <a:r>
              <a:rPr lang="en-US" sz="2400" dirty="0">
                <a:latin typeface="+mn-lt"/>
              </a:rPr>
              <a:t>        </a:t>
            </a:r>
            <a:r>
              <a:rPr lang="en-US" sz="2400" b="1" dirty="0">
                <a:solidFill>
                  <a:srgbClr val="FF0000"/>
                </a:solidFill>
                <a:latin typeface="+mn-lt"/>
              </a:rPr>
              <a:t>or</a:t>
            </a:r>
          </a:p>
          <a:p>
            <a:pPr marL="1158875" lvl="1" indent="-531813" defTabSz="223838">
              <a:lnSpc>
                <a:spcPct val="80000"/>
              </a:lnSpc>
              <a:tabLst>
                <a:tab pos="630238" algn="l"/>
              </a:tabLst>
              <a:defRPr/>
            </a:pPr>
            <a:r>
              <a:rPr lang="en-US" sz="2400" dirty="0">
                <a:latin typeface="+mn-lt"/>
              </a:rPr>
              <a:t>Revaluation model </a:t>
            </a:r>
            <a:r>
              <a:rPr lang="en-US" sz="2400" b="1" dirty="0">
                <a:latin typeface="+mn-lt"/>
              </a:rPr>
              <a:t>(.31 – .42)</a:t>
            </a:r>
          </a:p>
          <a:p>
            <a:endParaRPr lang="en-ZA" dirty="0">
              <a:latin typeface="+mn-lt"/>
            </a:endParaRPr>
          </a:p>
        </p:txBody>
      </p:sp>
      <p:sp>
        <p:nvSpPr>
          <p:cNvPr id="5" name="Title 4">
            <a:extLst>
              <a:ext uri="{FF2B5EF4-FFF2-40B4-BE49-F238E27FC236}">
                <a16:creationId xmlns:a16="http://schemas.microsoft.com/office/drawing/2014/main" id="{02F93817-5FEA-584C-4FDA-AB5C4A26782A}"/>
              </a:ext>
            </a:extLst>
          </p:cNvPr>
          <p:cNvSpPr>
            <a:spLocks noGrp="1"/>
          </p:cNvSpPr>
          <p:nvPr>
            <p:ph type="title"/>
          </p:nvPr>
        </p:nvSpPr>
        <p:spPr/>
        <p:txBody>
          <a:bodyPr>
            <a:normAutofit/>
          </a:bodyPr>
          <a:lstStyle/>
          <a:p>
            <a:r>
              <a:rPr lang="en-GB" altLang="en-US" dirty="0"/>
              <a:t>MEASUREMENT AFTER INITIAL RECOGNITION</a:t>
            </a:r>
            <a:endParaRPr lang="en-ZA"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515938" y="285324"/>
            <a:ext cx="8742362" cy="1052900"/>
          </a:xfrm>
        </p:spPr>
        <p:txBody>
          <a:bodyPr/>
          <a:lstStyle/>
          <a:p>
            <a:r>
              <a:rPr lang="en-GB" altLang="en-US" dirty="0"/>
              <a:t>MEASUREMENT AFTER INITIAL RECOGNITION: Cost model</a:t>
            </a:r>
          </a:p>
        </p:txBody>
      </p:sp>
      <p:sp>
        <p:nvSpPr>
          <p:cNvPr id="2" name="Content Placeholder 1"/>
          <p:cNvSpPr>
            <a:spLocks noGrp="1"/>
          </p:cNvSpPr>
          <p:nvPr>
            <p:ph idx="1"/>
          </p:nvPr>
        </p:nvSpPr>
        <p:spPr>
          <a:xfrm>
            <a:off x="104175" y="1594660"/>
            <a:ext cx="11125197" cy="3251660"/>
          </a:xfrm>
        </p:spPr>
        <p:txBody>
          <a:bodyPr>
            <a:normAutofit/>
          </a:bodyPr>
          <a:lstStyle/>
          <a:p>
            <a:pPr marL="447675" indent="-447675" defTabSz="223838">
              <a:buFont typeface="Wingdings" pitchFamily="2" charset="2"/>
              <a:buChar char="q"/>
              <a:tabLst>
                <a:tab pos="630238" algn="l"/>
              </a:tabLst>
              <a:defRPr/>
            </a:pPr>
            <a:r>
              <a:rPr lang="en-US" b="1" dirty="0">
                <a:latin typeface="+mn-lt"/>
              </a:rPr>
              <a:t>(.30) COST MODEL</a:t>
            </a:r>
            <a:r>
              <a:rPr lang="en-US" dirty="0">
                <a:latin typeface="+mn-lt"/>
              </a:rPr>
              <a:t>:</a:t>
            </a:r>
            <a:br>
              <a:rPr lang="en-US" dirty="0">
                <a:latin typeface="+mn-lt"/>
              </a:rPr>
            </a:br>
            <a:endParaRPr lang="en-US" dirty="0">
              <a:latin typeface="+mn-lt"/>
            </a:endParaRPr>
          </a:p>
          <a:p>
            <a:pPr marL="1158875" lvl="1" indent="-531813" defTabSz="223838">
              <a:tabLst>
                <a:tab pos="630238" algn="l"/>
              </a:tabLst>
              <a:defRPr/>
            </a:pPr>
            <a:r>
              <a:rPr lang="en-US" sz="2400" dirty="0">
                <a:latin typeface="+mn-lt"/>
                <a:cs typeface="Arial" pitchFamily="34" charset="0"/>
              </a:rPr>
              <a:t>After recognition as an asset, the item of PPE will be recorded at:</a:t>
            </a:r>
            <a:br>
              <a:rPr lang="en-US" sz="2400" dirty="0">
                <a:latin typeface="+mn-lt"/>
                <a:cs typeface="Arial" pitchFamily="34" charset="0"/>
              </a:rPr>
            </a:br>
            <a:endParaRPr lang="en-US" sz="2400" dirty="0">
              <a:latin typeface="+mn-lt"/>
              <a:cs typeface="Arial" pitchFamily="34" charset="0"/>
            </a:endParaRPr>
          </a:p>
          <a:p>
            <a:pPr marL="1158875" lvl="1" indent="-531813" defTabSz="223838">
              <a:buNone/>
              <a:tabLst>
                <a:tab pos="630238" algn="l"/>
              </a:tabLst>
              <a:defRPr/>
            </a:pPr>
            <a:r>
              <a:rPr lang="en-US" sz="2400" dirty="0">
                <a:latin typeface="+mn-lt"/>
                <a:cs typeface="Arial" pitchFamily="34" charset="0"/>
              </a:rPr>
              <a:t>      			</a:t>
            </a:r>
            <a:r>
              <a:rPr lang="en-US" sz="2400" b="1" dirty="0">
                <a:solidFill>
                  <a:srgbClr val="C00000"/>
                </a:solidFill>
                <a:latin typeface="+mn-lt"/>
                <a:cs typeface="Arial" pitchFamily="34" charset="0"/>
              </a:rPr>
              <a:t>Cost</a:t>
            </a:r>
            <a:br>
              <a:rPr lang="en-US" sz="2400" dirty="0">
                <a:latin typeface="+mn-lt"/>
                <a:cs typeface="Arial" pitchFamily="34" charset="0"/>
              </a:rPr>
            </a:br>
            <a:r>
              <a:rPr lang="en-US" sz="2400" dirty="0">
                <a:latin typeface="+mn-lt"/>
                <a:cs typeface="Arial" pitchFamily="34" charset="0"/>
              </a:rPr>
              <a:t>		</a:t>
            </a:r>
            <a:r>
              <a:rPr lang="en-US" sz="2400" b="1" dirty="0">
                <a:solidFill>
                  <a:srgbClr val="C00000"/>
                </a:solidFill>
                <a:latin typeface="+mn-lt"/>
                <a:cs typeface="Arial" pitchFamily="34" charset="0"/>
              </a:rPr>
              <a:t>Less</a:t>
            </a:r>
            <a:r>
              <a:rPr lang="en-US" sz="2400" dirty="0">
                <a:latin typeface="+mn-lt"/>
                <a:cs typeface="Arial" pitchFamily="34" charset="0"/>
              </a:rPr>
              <a:t> accumulated depreciation</a:t>
            </a:r>
            <a:br>
              <a:rPr lang="en-US" sz="2400" dirty="0">
                <a:latin typeface="+mn-lt"/>
                <a:cs typeface="Arial" pitchFamily="34" charset="0"/>
              </a:rPr>
            </a:br>
            <a:r>
              <a:rPr lang="en-US" sz="2400" dirty="0">
                <a:latin typeface="+mn-lt"/>
                <a:cs typeface="Arial" pitchFamily="34" charset="0"/>
              </a:rPr>
              <a:t>		</a:t>
            </a:r>
            <a:r>
              <a:rPr lang="en-US" sz="2400" b="1" dirty="0">
                <a:solidFill>
                  <a:srgbClr val="C00000"/>
                </a:solidFill>
                <a:latin typeface="+mn-lt"/>
                <a:cs typeface="Arial" pitchFamily="34" charset="0"/>
              </a:rPr>
              <a:t>Less</a:t>
            </a:r>
            <a:r>
              <a:rPr lang="en-US" sz="2400" dirty="0">
                <a:latin typeface="+mn-lt"/>
                <a:cs typeface="Arial" pitchFamily="34" charset="0"/>
              </a:rPr>
              <a:t> accumulated impairment (FA278)</a:t>
            </a:r>
          </a:p>
          <a:p>
            <a:endParaRPr lang="en-ZA" dirty="0">
              <a:latin typeface="+mn-lt"/>
            </a:endParaRPr>
          </a:p>
        </p:txBody>
      </p:sp>
      <p:pic>
        <p:nvPicPr>
          <p:cNvPr id="4" name="Picture 2" descr="Image result for office building">
            <a:extLst>
              <a:ext uri="{FF2B5EF4-FFF2-40B4-BE49-F238E27FC236}">
                <a16:creationId xmlns:a16="http://schemas.microsoft.com/office/drawing/2014/main" id="{0270A8A4-725B-67F6-BBD5-4FC43982F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026"/>
          <p:cNvSpPr>
            <a:spLocks noGrp="1" noChangeArrowheads="1"/>
          </p:cNvSpPr>
          <p:nvPr>
            <p:ph type="title"/>
          </p:nvPr>
        </p:nvSpPr>
        <p:spPr/>
        <p:txBody>
          <a:bodyPr>
            <a:normAutofit/>
          </a:bodyPr>
          <a:lstStyle/>
          <a:p>
            <a:r>
              <a:rPr lang="en-GB" altLang="en-US" dirty="0"/>
              <a:t>DEFINITIONS (.6) </a:t>
            </a:r>
          </a:p>
        </p:txBody>
      </p:sp>
      <p:sp>
        <p:nvSpPr>
          <p:cNvPr id="103427" name="Rectangle 1027"/>
          <p:cNvSpPr>
            <a:spLocks noGrp="1" noChangeArrowheads="1"/>
          </p:cNvSpPr>
          <p:nvPr>
            <p:ph idx="1"/>
          </p:nvPr>
        </p:nvSpPr>
        <p:spPr>
          <a:xfrm>
            <a:off x="346710" y="1540795"/>
            <a:ext cx="11471910" cy="4463586"/>
          </a:xfrm>
          <a:noFill/>
          <a:ln>
            <a:noFill/>
          </a:ln>
        </p:spPr>
        <p:style>
          <a:lnRef idx="2">
            <a:schemeClr val="accent5"/>
          </a:lnRef>
          <a:fillRef idx="1">
            <a:schemeClr val="lt1"/>
          </a:fillRef>
          <a:effectRef idx="0">
            <a:schemeClr val="accent5"/>
          </a:effectRef>
          <a:fontRef idx="minor">
            <a:schemeClr val="dk1"/>
          </a:fontRef>
        </p:style>
        <p:txBody>
          <a:bodyPr>
            <a:noAutofit/>
          </a:bodyPr>
          <a:lstStyle/>
          <a:p>
            <a:pPr marL="447675" indent="-447675" defTabSz="223838">
              <a:buFont typeface="Wingdings" pitchFamily="2" charset="2"/>
              <a:buChar char="q"/>
              <a:tabLst>
                <a:tab pos="630238" algn="l"/>
              </a:tabLst>
              <a:defRPr/>
            </a:pPr>
            <a:r>
              <a:rPr lang="en-US" b="1" dirty="0"/>
              <a:t>Depreciation</a:t>
            </a:r>
          </a:p>
          <a:p>
            <a:pPr marL="1158875" lvl="1" indent="-531813" defTabSz="223838">
              <a:spcAft>
                <a:spcPts val="1200"/>
              </a:spcAft>
              <a:tabLst>
                <a:tab pos="630238" algn="l"/>
              </a:tabLst>
              <a:defRPr/>
            </a:pPr>
            <a:r>
              <a:rPr lang="en-US" sz="2400" dirty="0"/>
              <a:t>Systematic allocation of the depreciable amount over the useful life of an asset </a:t>
            </a:r>
            <a:endParaRPr lang="en-US" sz="2400" b="1" dirty="0"/>
          </a:p>
          <a:p>
            <a:pPr defTabSz="223838">
              <a:buFont typeface="Wingdings" panose="05000000000000000000" pitchFamily="2" charset="2"/>
              <a:buChar char="q"/>
              <a:tabLst>
                <a:tab pos="630238" algn="l"/>
              </a:tabLst>
              <a:defRPr/>
            </a:pPr>
            <a:r>
              <a:rPr lang="en-US" b="1" dirty="0"/>
              <a:t>   Depreciable amount</a:t>
            </a:r>
            <a:endParaRPr lang="en-US" dirty="0"/>
          </a:p>
          <a:p>
            <a:pPr marL="1158875" lvl="1" indent="-531813" defTabSz="223838">
              <a:spcAft>
                <a:spcPts val="1200"/>
              </a:spcAft>
              <a:tabLst>
                <a:tab pos="630238" algn="l"/>
              </a:tabLst>
              <a:defRPr/>
            </a:pPr>
            <a:r>
              <a:rPr lang="en-US" sz="2400" dirty="0"/>
              <a:t>Cost less residual amount</a:t>
            </a:r>
          </a:p>
          <a:p>
            <a:pPr marL="447675" indent="-447675" defTabSz="223838">
              <a:buFont typeface="Wingdings" pitchFamily="2" charset="2"/>
              <a:buChar char="q"/>
              <a:tabLst>
                <a:tab pos="630238" algn="l"/>
              </a:tabLst>
            </a:pPr>
            <a:r>
              <a:rPr lang="en-US" altLang="en-US" b="1" dirty="0">
                <a:cs typeface="Arial" charset="0"/>
              </a:rPr>
              <a:t>Useful life</a:t>
            </a:r>
            <a:endParaRPr lang="en-US" altLang="en-US" dirty="0">
              <a:cs typeface="Arial" charset="0"/>
            </a:endParaRPr>
          </a:p>
          <a:p>
            <a:pPr marL="1158875" lvl="1" indent="-531813" defTabSz="223838">
              <a:tabLst>
                <a:tab pos="630238" algn="l"/>
              </a:tabLst>
            </a:pPr>
            <a:r>
              <a:rPr lang="en-US" altLang="en-US" sz="2400" dirty="0">
                <a:cs typeface="Arial" charset="0"/>
              </a:rPr>
              <a:t>Period over which an asset is expected to be available for use by an entity, or</a:t>
            </a:r>
          </a:p>
          <a:p>
            <a:pPr marL="1158875" lvl="1" indent="-531813" defTabSz="223838">
              <a:tabLst>
                <a:tab pos="630238" algn="l"/>
              </a:tabLst>
            </a:pPr>
            <a:r>
              <a:rPr lang="en-US" altLang="en-US" sz="2400" dirty="0">
                <a:cs typeface="Arial" charset="0"/>
              </a:rPr>
              <a:t>number of production or similar units expected to be obtained from the asset by the entity</a:t>
            </a:r>
          </a:p>
          <a:p>
            <a:pPr marL="627062" lvl="1" indent="0" defTabSz="223838">
              <a:buNone/>
              <a:tabLst>
                <a:tab pos="630238" algn="l"/>
              </a:tabLst>
              <a:defRPr/>
            </a:pPr>
            <a:br>
              <a:rPr lang="en-US" sz="2400" dirty="0"/>
            </a:br>
            <a:endParaRPr lang="en-US" sz="2400" dirty="0"/>
          </a:p>
        </p:txBody>
      </p:sp>
      <p:pic>
        <p:nvPicPr>
          <p:cNvPr id="6" name="Picture 4"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16959" y="5211713"/>
            <a:ext cx="2760241" cy="1585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603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normAutofit/>
          </a:bodyPr>
          <a:lstStyle/>
          <a:p>
            <a:r>
              <a:rPr lang="en-GB" altLang="en-US" dirty="0"/>
              <a:t>DEFINITIONS (.6) </a:t>
            </a:r>
          </a:p>
        </p:txBody>
      </p:sp>
      <p:sp>
        <p:nvSpPr>
          <p:cNvPr id="2" name="Content Placeholder 1"/>
          <p:cNvSpPr>
            <a:spLocks noGrp="1"/>
          </p:cNvSpPr>
          <p:nvPr>
            <p:ph idx="1"/>
          </p:nvPr>
        </p:nvSpPr>
        <p:spPr>
          <a:xfrm>
            <a:off x="515938" y="1426437"/>
            <a:ext cx="11125197" cy="2596923"/>
          </a:xfrm>
        </p:spPr>
        <p:txBody>
          <a:bodyPr>
            <a:normAutofit/>
          </a:bodyPr>
          <a:lstStyle/>
          <a:p>
            <a:pPr marL="447675" indent="-447675" defTabSz="223838">
              <a:buFont typeface="Wingdings" pitchFamily="2" charset="2"/>
              <a:buChar char="q"/>
              <a:tabLst>
                <a:tab pos="630238" algn="l"/>
              </a:tabLst>
            </a:pPr>
            <a:r>
              <a:rPr lang="en-US" altLang="en-US" b="1" dirty="0">
                <a:latin typeface="+mn-lt"/>
                <a:cs typeface="Arial" charset="0"/>
              </a:rPr>
              <a:t>Residual value</a:t>
            </a:r>
          </a:p>
          <a:p>
            <a:pPr marL="1158875" lvl="1" indent="-531813" defTabSz="223838">
              <a:tabLst>
                <a:tab pos="630238" algn="l"/>
              </a:tabLst>
            </a:pPr>
            <a:r>
              <a:rPr lang="en-US" altLang="en-US" sz="2400" b="1" dirty="0">
                <a:latin typeface="+mn-lt"/>
                <a:cs typeface="Arial" charset="0"/>
              </a:rPr>
              <a:t>Estimated</a:t>
            </a:r>
            <a:r>
              <a:rPr lang="en-US" altLang="en-US" sz="2400" dirty="0">
                <a:latin typeface="+mn-lt"/>
                <a:cs typeface="Arial" charset="0"/>
              </a:rPr>
              <a:t> amount that an entity would </a:t>
            </a:r>
            <a:r>
              <a:rPr lang="en-US" altLang="en-US" sz="2400" b="1" dirty="0">
                <a:latin typeface="+mn-lt"/>
                <a:cs typeface="Arial" charset="0"/>
              </a:rPr>
              <a:t>currently</a:t>
            </a:r>
            <a:r>
              <a:rPr lang="en-US" altLang="en-US" sz="2400" dirty="0">
                <a:latin typeface="+mn-lt"/>
                <a:cs typeface="Arial" charset="0"/>
              </a:rPr>
              <a:t> obtain form disposal of the asset, </a:t>
            </a:r>
          </a:p>
          <a:p>
            <a:pPr marL="1158875" lvl="1" indent="-531813" defTabSz="223838">
              <a:tabLst>
                <a:tab pos="630238" algn="l"/>
              </a:tabLst>
            </a:pPr>
            <a:r>
              <a:rPr lang="en-US" altLang="en-US" sz="2400" dirty="0">
                <a:latin typeface="+mn-lt"/>
                <a:cs typeface="Arial" charset="0"/>
              </a:rPr>
              <a:t>After deducting the estimated costs of disposal, </a:t>
            </a:r>
          </a:p>
          <a:p>
            <a:pPr marL="1158875" lvl="1" indent="-531813" defTabSz="223838">
              <a:tabLst>
                <a:tab pos="630238" algn="l"/>
              </a:tabLst>
            </a:pPr>
            <a:r>
              <a:rPr lang="en-US" altLang="en-US" sz="2400" dirty="0">
                <a:latin typeface="+mn-lt"/>
                <a:cs typeface="Arial" charset="0"/>
              </a:rPr>
              <a:t>If the asset were already of the </a:t>
            </a:r>
            <a:r>
              <a:rPr lang="en-US" altLang="en-US" sz="2400" b="1" dirty="0">
                <a:latin typeface="+mn-lt"/>
                <a:cs typeface="Arial" charset="0"/>
              </a:rPr>
              <a:t>age / condition</a:t>
            </a:r>
            <a:r>
              <a:rPr lang="en-US" altLang="en-US" sz="2400" dirty="0">
                <a:latin typeface="+mn-lt"/>
                <a:cs typeface="Arial" charset="0"/>
              </a:rPr>
              <a:t> expected at </a:t>
            </a:r>
            <a:r>
              <a:rPr lang="en-US" altLang="en-US" sz="2400" b="1" dirty="0">
                <a:latin typeface="+mn-lt"/>
                <a:cs typeface="Arial" charset="0"/>
              </a:rPr>
              <a:t>end of useful life</a:t>
            </a:r>
            <a:endParaRPr lang="en-US" altLang="en-US" sz="2400" b="1" dirty="0">
              <a:solidFill>
                <a:srgbClr val="FF0000"/>
              </a:solidFill>
              <a:latin typeface="+mn-lt"/>
              <a:cs typeface="Arial" charset="0"/>
            </a:endParaRPr>
          </a:p>
          <a:p>
            <a:endParaRPr lang="en-ZA" dirty="0">
              <a:latin typeface="+mn-lt"/>
            </a:endParaRPr>
          </a:p>
        </p:txBody>
      </p:sp>
      <p:pic>
        <p:nvPicPr>
          <p:cNvPr id="4" name="Picture 4" descr="Related image">
            <a:extLst>
              <a:ext uri="{FF2B5EF4-FFF2-40B4-BE49-F238E27FC236}">
                <a16:creationId xmlns:a16="http://schemas.microsoft.com/office/drawing/2014/main" id="{0A9CB88D-0B3E-5E33-557C-1544D8C5C8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16959" y="5211713"/>
            <a:ext cx="2760241" cy="1585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251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515938" y="285324"/>
            <a:ext cx="8890952" cy="1052900"/>
          </a:xfrm>
        </p:spPr>
        <p:txBody>
          <a:bodyPr/>
          <a:lstStyle/>
          <a:p>
            <a:r>
              <a:rPr lang="en-GB" altLang="en-US" dirty="0"/>
              <a:t>MEASUREMENT AFTER INITIAL RECOGNITION: Cost model</a:t>
            </a:r>
          </a:p>
        </p:txBody>
      </p:sp>
      <p:sp>
        <p:nvSpPr>
          <p:cNvPr id="2" name="Content Placeholder 1"/>
          <p:cNvSpPr>
            <a:spLocks noGrp="1"/>
          </p:cNvSpPr>
          <p:nvPr>
            <p:ph idx="1"/>
          </p:nvPr>
        </p:nvSpPr>
        <p:spPr>
          <a:noFill/>
        </p:spPr>
        <p:txBody>
          <a:bodyPr/>
          <a:lstStyle/>
          <a:p>
            <a:pPr marL="447675" indent="-447675" defTabSz="223838">
              <a:buFont typeface="Wingdings" pitchFamily="2" charset="2"/>
              <a:buChar char="q"/>
              <a:tabLst>
                <a:tab pos="630238" algn="l"/>
              </a:tabLst>
              <a:defRPr/>
            </a:pPr>
            <a:r>
              <a:rPr lang="en-US" b="1" dirty="0">
                <a:latin typeface="+mn-lt"/>
              </a:rPr>
              <a:t>(.44 – .50): Depreciation</a:t>
            </a:r>
          </a:p>
          <a:p>
            <a:pPr marL="447675" indent="-447675" defTabSz="223838">
              <a:buFont typeface="Wingdings" pitchFamily="2" charset="2"/>
              <a:buChar char="q"/>
              <a:tabLst>
                <a:tab pos="630238" algn="l"/>
              </a:tabLst>
              <a:defRPr/>
            </a:pPr>
            <a:endParaRPr lang="en-US" b="1" dirty="0">
              <a:latin typeface="+mn-lt"/>
            </a:endParaRPr>
          </a:p>
          <a:p>
            <a:pPr marL="447675" indent="-447675" defTabSz="223838">
              <a:buFont typeface="Wingdings" pitchFamily="2" charset="2"/>
              <a:buChar char="q"/>
              <a:tabLst>
                <a:tab pos="630238" algn="l"/>
              </a:tabLst>
              <a:defRPr/>
            </a:pPr>
            <a:r>
              <a:rPr lang="en-US" b="1" dirty="0">
                <a:latin typeface="+mn-lt"/>
                <a:cs typeface="Arial" pitchFamily="34" charset="0"/>
              </a:rPr>
              <a:t>(.48) </a:t>
            </a:r>
            <a:r>
              <a:rPr lang="en-US" dirty="0">
                <a:latin typeface="+mn-lt"/>
                <a:cs typeface="Arial" pitchFamily="34" charset="0"/>
              </a:rPr>
              <a:t>Depreciation </a:t>
            </a:r>
            <a:r>
              <a:rPr lang="en-US" dirty="0">
                <a:latin typeface="+mn-lt"/>
                <a:cs typeface="Arial" pitchFamily="34" charset="0"/>
                <a:sym typeface="Wingdings" pitchFamily="2" charset="2"/>
              </a:rPr>
              <a:t>recognised as expense, unless part of the carrying amount of other assets</a:t>
            </a:r>
          </a:p>
          <a:p>
            <a:pPr marL="447675" indent="-447675" defTabSz="223838">
              <a:buFont typeface="Wingdings" pitchFamily="2" charset="2"/>
              <a:buChar char="q"/>
              <a:tabLst>
                <a:tab pos="630238" algn="l"/>
              </a:tabLst>
              <a:defRPr/>
            </a:pPr>
            <a:endParaRPr lang="en-US" dirty="0">
              <a:latin typeface="+mn-lt"/>
              <a:cs typeface="Arial" pitchFamily="34" charset="0"/>
            </a:endParaRPr>
          </a:p>
          <a:p>
            <a:pPr marL="447675" indent="-447675" defTabSz="223838">
              <a:buFont typeface="Wingdings" pitchFamily="2" charset="2"/>
              <a:buChar char="q"/>
              <a:tabLst>
                <a:tab pos="630238" algn="l"/>
              </a:tabLst>
              <a:defRPr/>
            </a:pPr>
            <a:r>
              <a:rPr lang="en-US" b="1" dirty="0">
                <a:latin typeface="+mn-lt"/>
                <a:cs typeface="Arial" pitchFamily="34" charset="0"/>
              </a:rPr>
              <a:t>(.50)</a:t>
            </a:r>
            <a:r>
              <a:rPr lang="en-US" dirty="0">
                <a:latin typeface="+mn-lt"/>
                <a:cs typeface="Arial" pitchFamily="34" charset="0"/>
              </a:rPr>
              <a:t> Depreciable amount shall be allocated on systematic basis over useful life</a:t>
            </a:r>
          </a:p>
        </p:txBody>
      </p:sp>
      <p:pic>
        <p:nvPicPr>
          <p:cNvPr id="4" name="Picture 2" descr="Image result for office building">
            <a:extLst>
              <a:ext uri="{FF2B5EF4-FFF2-40B4-BE49-F238E27FC236}">
                <a16:creationId xmlns:a16="http://schemas.microsoft.com/office/drawing/2014/main" id="{21BAD22C-AEDB-720B-3D8F-313460694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515938" y="285324"/>
            <a:ext cx="8856662" cy="1052900"/>
          </a:xfrm>
        </p:spPr>
        <p:txBody>
          <a:bodyPr/>
          <a:lstStyle/>
          <a:p>
            <a:r>
              <a:rPr lang="en-GB" altLang="en-US" dirty="0"/>
              <a:t>MEASUREMENT AFTER INITIAL RECOGNITION: Cost model</a:t>
            </a:r>
          </a:p>
        </p:txBody>
      </p:sp>
      <p:sp>
        <p:nvSpPr>
          <p:cNvPr id="2" name="Content Placeholder 1"/>
          <p:cNvSpPr>
            <a:spLocks noGrp="1"/>
          </p:cNvSpPr>
          <p:nvPr>
            <p:ph idx="1"/>
          </p:nvPr>
        </p:nvSpPr>
        <p:spPr>
          <a:xfrm>
            <a:off x="241618" y="1338224"/>
            <a:ext cx="11125197" cy="5155610"/>
          </a:xfrm>
        </p:spPr>
        <p:txBody>
          <a:bodyPr>
            <a:normAutofit/>
          </a:bodyPr>
          <a:lstStyle/>
          <a:p>
            <a:pPr marL="447675" indent="-447675" defTabSz="223838">
              <a:buFont typeface="Wingdings" pitchFamily="2" charset="2"/>
              <a:buChar char="q"/>
              <a:tabLst>
                <a:tab pos="630238" algn="l"/>
              </a:tabLst>
            </a:pPr>
            <a:r>
              <a:rPr lang="en-US" altLang="en-US" b="1" dirty="0">
                <a:latin typeface="+mn-lt"/>
                <a:cs typeface="Arial" charset="0"/>
              </a:rPr>
              <a:t>(.51) </a:t>
            </a:r>
            <a:r>
              <a:rPr lang="en-US" altLang="en-US" dirty="0">
                <a:latin typeface="+mn-lt"/>
                <a:cs typeface="Arial" charset="0"/>
              </a:rPr>
              <a:t>Residual value &amp; useful life must be reviewed at least at end of each financial year-end. (Changes treated according to IAS 8, FA 379)</a:t>
            </a:r>
            <a:br>
              <a:rPr lang="en-US" altLang="en-US" dirty="0">
                <a:latin typeface="+mn-lt"/>
                <a:cs typeface="Arial" charset="0"/>
              </a:rPr>
            </a:br>
            <a:endParaRPr lang="en-US" altLang="en-US" dirty="0">
              <a:latin typeface="+mn-lt"/>
              <a:cs typeface="Arial" charset="0"/>
            </a:endParaRPr>
          </a:p>
          <a:p>
            <a:pPr marL="447675" indent="-447675" defTabSz="223838">
              <a:buFont typeface="Wingdings" pitchFamily="2" charset="2"/>
              <a:buChar char="q"/>
              <a:tabLst>
                <a:tab pos="630238" algn="l"/>
              </a:tabLst>
            </a:pPr>
            <a:r>
              <a:rPr lang="en-US" altLang="en-US" b="1" dirty="0">
                <a:latin typeface="+mn-lt"/>
                <a:cs typeface="Arial" charset="0"/>
              </a:rPr>
              <a:t>(.53)</a:t>
            </a:r>
            <a:r>
              <a:rPr lang="en-US" altLang="en-US" dirty="0">
                <a:latin typeface="+mn-lt"/>
                <a:cs typeface="Arial" charset="0"/>
              </a:rPr>
              <a:t>Depreciable amount </a:t>
            </a:r>
            <a:r>
              <a:rPr lang="en-US" altLang="en-US" dirty="0">
                <a:latin typeface="+mn-lt"/>
                <a:cs typeface="Arial" charset="0"/>
                <a:sym typeface="Wingdings" pitchFamily="2" charset="2"/>
              </a:rPr>
              <a:t>is after deduction of residual value (residual value most of the time insignificant)</a:t>
            </a:r>
          </a:p>
          <a:p>
            <a:pPr marL="447675" indent="-447675" defTabSz="223838">
              <a:tabLst>
                <a:tab pos="630238" algn="l"/>
              </a:tabLst>
            </a:pPr>
            <a:endParaRPr lang="en-US" altLang="en-US" dirty="0">
              <a:latin typeface="+mn-lt"/>
              <a:cs typeface="Arial" charset="0"/>
            </a:endParaRPr>
          </a:p>
          <a:p>
            <a:pPr marL="447675" indent="-447675" defTabSz="223838">
              <a:buFont typeface="Wingdings" pitchFamily="2" charset="2"/>
              <a:buChar char="q"/>
              <a:tabLst>
                <a:tab pos="630238" algn="l"/>
              </a:tabLst>
            </a:pPr>
            <a:r>
              <a:rPr lang="en-US" altLang="en-US" b="1" dirty="0">
                <a:latin typeface="+mn-lt"/>
                <a:cs typeface="Arial" charset="0"/>
              </a:rPr>
              <a:t>(.52) </a:t>
            </a:r>
            <a:r>
              <a:rPr lang="en-US" altLang="en-US" dirty="0">
                <a:latin typeface="+mn-lt"/>
                <a:cs typeface="Arial" charset="0"/>
              </a:rPr>
              <a:t>Depreciate even though fair value &gt; carrying amount</a:t>
            </a:r>
            <a:br>
              <a:rPr lang="en-US" altLang="en-US" dirty="0">
                <a:latin typeface="+mn-lt"/>
                <a:cs typeface="Arial" charset="0"/>
              </a:rPr>
            </a:br>
            <a:endParaRPr lang="en-US" altLang="en-US" dirty="0">
              <a:latin typeface="+mn-lt"/>
              <a:cs typeface="Arial" charset="0"/>
            </a:endParaRPr>
          </a:p>
          <a:p>
            <a:pPr marL="447675" indent="-447675" defTabSz="223838">
              <a:buFont typeface="Wingdings" pitchFamily="2" charset="2"/>
              <a:buChar char="q"/>
              <a:tabLst>
                <a:tab pos="630238" algn="l"/>
              </a:tabLst>
            </a:pPr>
            <a:r>
              <a:rPr lang="en-US" altLang="en-US" b="1" dirty="0">
                <a:latin typeface="+mn-lt"/>
                <a:cs typeface="Arial" charset="0"/>
              </a:rPr>
              <a:t>(.52) </a:t>
            </a:r>
            <a:r>
              <a:rPr lang="en-US" altLang="en-US" dirty="0">
                <a:latin typeface="+mn-lt"/>
                <a:cs typeface="Arial" charset="0"/>
              </a:rPr>
              <a:t>Stop depreciation if residual amount &gt; carrying amount irrespective of repairs still required</a:t>
            </a:r>
          </a:p>
        </p:txBody>
      </p:sp>
      <p:pic>
        <p:nvPicPr>
          <p:cNvPr id="4" name="Picture 2" descr="Image result for office building">
            <a:extLst>
              <a:ext uri="{FF2B5EF4-FFF2-40B4-BE49-F238E27FC236}">
                <a16:creationId xmlns:a16="http://schemas.microsoft.com/office/drawing/2014/main" id="{B311541B-F008-D972-305D-B0BE965811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1651" y="506767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515938" y="285324"/>
            <a:ext cx="8948102" cy="1052900"/>
          </a:xfrm>
        </p:spPr>
        <p:txBody>
          <a:bodyPr/>
          <a:lstStyle/>
          <a:p>
            <a:r>
              <a:rPr lang="en-GB" altLang="en-US" dirty="0"/>
              <a:t>MEASUREMENT AFTER INITIAL RECOGNITION: Cost model</a:t>
            </a:r>
          </a:p>
        </p:txBody>
      </p:sp>
      <p:sp>
        <p:nvSpPr>
          <p:cNvPr id="2" name="Content Placeholder 1"/>
          <p:cNvSpPr>
            <a:spLocks noGrp="1"/>
          </p:cNvSpPr>
          <p:nvPr>
            <p:ph idx="1"/>
          </p:nvPr>
        </p:nvSpPr>
        <p:spPr/>
        <p:txBody>
          <a:bodyPr>
            <a:normAutofit/>
          </a:bodyPr>
          <a:lstStyle/>
          <a:p>
            <a:pPr marL="266700" indent="-266700" defTabSz="223838">
              <a:spcBef>
                <a:spcPts val="0"/>
              </a:spcBef>
              <a:buNone/>
              <a:tabLst>
                <a:tab pos="630238" algn="l"/>
              </a:tabLst>
              <a:defRPr/>
            </a:pPr>
            <a:r>
              <a:rPr lang="en-US" b="1" dirty="0">
                <a:latin typeface="+mn-lt"/>
              </a:rPr>
              <a:t>(.55) Depreciation starts</a:t>
            </a:r>
          </a:p>
          <a:p>
            <a:pPr marL="266700" indent="-266700" defTabSz="223838">
              <a:spcBef>
                <a:spcPts val="0"/>
              </a:spcBef>
              <a:buNone/>
              <a:tabLst>
                <a:tab pos="630238" algn="l"/>
              </a:tabLst>
              <a:defRPr/>
            </a:pPr>
            <a:r>
              <a:rPr lang="en-US" dirty="0">
                <a:latin typeface="+mn-lt"/>
              </a:rPr>
              <a:t>         from </a:t>
            </a:r>
            <a:r>
              <a:rPr lang="en-US" dirty="0">
                <a:latin typeface="+mn-lt"/>
                <a:cs typeface="Arial" pitchFamily="34" charset="0"/>
              </a:rPr>
              <a:t>date when asset is available for use,</a:t>
            </a:r>
          </a:p>
          <a:p>
            <a:pPr marL="266700" indent="-266700" defTabSz="223838">
              <a:spcBef>
                <a:spcPts val="0"/>
              </a:spcBef>
              <a:buNone/>
              <a:tabLst>
                <a:tab pos="630238" algn="l"/>
              </a:tabLst>
              <a:defRPr/>
            </a:pPr>
            <a:r>
              <a:rPr lang="en-US" dirty="0">
                <a:latin typeface="+mn-lt"/>
                <a:cs typeface="Arial" pitchFamily="34" charset="0"/>
              </a:rPr>
              <a:t>         in location and condition, as intended by        </a:t>
            </a:r>
            <a:br>
              <a:rPr lang="en-US" dirty="0">
                <a:latin typeface="+mn-lt"/>
                <a:cs typeface="Arial" pitchFamily="34" charset="0"/>
              </a:rPr>
            </a:br>
            <a:r>
              <a:rPr lang="en-US" dirty="0">
                <a:latin typeface="+mn-lt"/>
                <a:cs typeface="Arial" pitchFamily="34" charset="0"/>
              </a:rPr>
              <a:t>     management.</a:t>
            </a:r>
          </a:p>
          <a:p>
            <a:pPr marL="266700" indent="-266700" defTabSz="223838">
              <a:spcBef>
                <a:spcPts val="0"/>
              </a:spcBef>
              <a:buNone/>
              <a:tabLst>
                <a:tab pos="630238" algn="l"/>
              </a:tabLst>
              <a:defRPr/>
            </a:pPr>
            <a:endParaRPr lang="en-US" dirty="0">
              <a:solidFill>
                <a:srgbClr val="FF0000"/>
              </a:solidFill>
              <a:latin typeface="+mn-lt"/>
              <a:cs typeface="Arial" pitchFamily="34" charset="0"/>
            </a:endParaRPr>
          </a:p>
          <a:p>
            <a:pPr marL="0" indent="0" defTabSz="223838">
              <a:spcBef>
                <a:spcPts val="0"/>
              </a:spcBef>
              <a:buNone/>
              <a:tabLst>
                <a:tab pos="630238" algn="l"/>
              </a:tabLst>
              <a:defRPr/>
            </a:pPr>
            <a:r>
              <a:rPr lang="en-US" b="1" dirty="0">
                <a:latin typeface="+mn-lt"/>
                <a:cs typeface="Arial" pitchFamily="34" charset="0"/>
              </a:rPr>
              <a:t>       Depreciation stops</a:t>
            </a:r>
          </a:p>
          <a:p>
            <a:pPr marL="0" indent="0" defTabSz="223838">
              <a:spcBef>
                <a:spcPts val="0"/>
              </a:spcBef>
              <a:buNone/>
              <a:tabLst>
                <a:tab pos="630238" algn="l"/>
              </a:tabLst>
              <a:defRPr/>
            </a:pPr>
            <a:r>
              <a:rPr lang="en-US" dirty="0">
                <a:latin typeface="+mn-lt"/>
                <a:cs typeface="Arial" pitchFamily="34" charset="0"/>
              </a:rPr>
              <a:t>       Earliest of: </a:t>
            </a:r>
          </a:p>
          <a:p>
            <a:pPr marL="1158875" lvl="1" indent="-531813" defTabSz="223838">
              <a:spcBef>
                <a:spcPts val="0"/>
              </a:spcBef>
              <a:tabLst>
                <a:tab pos="630238" algn="l"/>
              </a:tabLst>
              <a:defRPr/>
            </a:pPr>
            <a:r>
              <a:rPr lang="en-US" sz="2400" dirty="0">
                <a:latin typeface="+mn-lt"/>
                <a:cs typeface="Arial" pitchFamily="34" charset="0"/>
              </a:rPr>
              <a:t>Decision to reclassify as held for sale (IFRS 5); or</a:t>
            </a:r>
            <a:br>
              <a:rPr lang="en-US" sz="2400" dirty="0">
                <a:latin typeface="+mn-lt"/>
                <a:cs typeface="Arial" pitchFamily="34" charset="0"/>
              </a:rPr>
            </a:br>
            <a:endParaRPr lang="en-US" sz="2400" dirty="0">
              <a:latin typeface="+mn-lt"/>
              <a:cs typeface="Arial" pitchFamily="34" charset="0"/>
            </a:endParaRPr>
          </a:p>
          <a:p>
            <a:pPr marL="1158875" lvl="1" indent="-531813" defTabSz="223838">
              <a:spcBef>
                <a:spcPts val="0"/>
              </a:spcBef>
              <a:tabLst>
                <a:tab pos="630238" algn="l"/>
              </a:tabLst>
              <a:defRPr/>
            </a:pPr>
            <a:r>
              <a:rPr lang="en-US" sz="2400" dirty="0">
                <a:latin typeface="+mn-lt"/>
                <a:cs typeface="Arial" pitchFamily="34" charset="0"/>
              </a:rPr>
              <a:t>Asset is </a:t>
            </a:r>
            <a:r>
              <a:rPr lang="en-US" sz="2400" dirty="0" err="1">
                <a:latin typeface="+mn-lt"/>
                <a:cs typeface="Arial" pitchFamily="34" charset="0"/>
              </a:rPr>
              <a:t>derecognised</a:t>
            </a:r>
            <a:endParaRPr lang="en-ZA" sz="2400" dirty="0">
              <a:latin typeface="+mn-lt"/>
            </a:endParaRPr>
          </a:p>
        </p:txBody>
      </p:sp>
      <p:pic>
        <p:nvPicPr>
          <p:cNvPr id="4" name="Picture 2" descr="Image result for office building">
            <a:extLst>
              <a:ext uri="{FF2B5EF4-FFF2-40B4-BE49-F238E27FC236}">
                <a16:creationId xmlns:a16="http://schemas.microsoft.com/office/drawing/2014/main" id="{9DC06A63-7159-3C48-99F8-C82BAD850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515938" y="285324"/>
            <a:ext cx="8959532" cy="1052900"/>
          </a:xfrm>
        </p:spPr>
        <p:txBody>
          <a:bodyPr/>
          <a:lstStyle/>
          <a:p>
            <a:r>
              <a:rPr lang="en-GB" altLang="en-US" dirty="0"/>
              <a:t>MEASUREMENT AFTER INITIAL RECOGNITION: Cost model</a:t>
            </a:r>
          </a:p>
        </p:txBody>
      </p:sp>
      <p:sp>
        <p:nvSpPr>
          <p:cNvPr id="2" name="Content Placeholder 1"/>
          <p:cNvSpPr>
            <a:spLocks noGrp="1"/>
          </p:cNvSpPr>
          <p:nvPr>
            <p:ph idx="1"/>
          </p:nvPr>
        </p:nvSpPr>
        <p:spPr>
          <a:xfrm>
            <a:off x="67464" y="1662247"/>
            <a:ext cx="11573671" cy="3533505"/>
          </a:xfrm>
        </p:spPr>
        <p:txBody>
          <a:bodyPr>
            <a:normAutofit/>
          </a:bodyPr>
          <a:lstStyle/>
          <a:p>
            <a:pPr marL="447675" indent="-447675" defTabSz="223838">
              <a:lnSpc>
                <a:spcPct val="80000"/>
              </a:lnSpc>
              <a:buFont typeface="Wingdings" pitchFamily="2" charset="2"/>
              <a:buChar char="q"/>
              <a:tabLst>
                <a:tab pos="630238" algn="l"/>
              </a:tabLst>
              <a:defRPr/>
            </a:pPr>
            <a:r>
              <a:rPr lang="en-US" b="1" dirty="0">
                <a:latin typeface="+mn-lt"/>
                <a:cs typeface="Arial" pitchFamily="34" charset="0"/>
              </a:rPr>
              <a:t>(.56)</a:t>
            </a:r>
            <a:r>
              <a:rPr lang="en-US" dirty="0">
                <a:latin typeface="+mn-lt"/>
                <a:cs typeface="Arial" pitchFamily="34" charset="0"/>
              </a:rPr>
              <a:t> </a:t>
            </a:r>
            <a:r>
              <a:rPr lang="en-US" dirty="0">
                <a:latin typeface="+mn-lt"/>
              </a:rPr>
              <a:t>Factors considered in determining the depreciation / useful life: </a:t>
            </a:r>
            <a:br>
              <a:rPr lang="en-US" dirty="0">
                <a:latin typeface="+mn-lt"/>
              </a:rPr>
            </a:br>
            <a:endParaRPr lang="en-US" dirty="0">
              <a:latin typeface="+mn-lt"/>
            </a:endParaRPr>
          </a:p>
          <a:p>
            <a:pPr marL="1158875" lvl="1" indent="-531813" defTabSz="223838">
              <a:lnSpc>
                <a:spcPct val="80000"/>
              </a:lnSpc>
              <a:tabLst>
                <a:tab pos="630238" algn="l"/>
              </a:tabLst>
              <a:defRPr/>
            </a:pPr>
            <a:r>
              <a:rPr lang="en-US" sz="2400" dirty="0">
                <a:latin typeface="+mn-lt"/>
              </a:rPr>
              <a:t>Expected usage of asset (capacity or physical output)</a:t>
            </a:r>
            <a:br>
              <a:rPr lang="en-US" sz="2400" dirty="0">
                <a:latin typeface="+mn-lt"/>
              </a:rPr>
            </a:br>
            <a:endParaRPr lang="en-US" sz="2400" dirty="0">
              <a:latin typeface="+mn-lt"/>
            </a:endParaRPr>
          </a:p>
          <a:p>
            <a:pPr marL="1158875" lvl="1" indent="-531813" defTabSz="223838">
              <a:lnSpc>
                <a:spcPct val="80000"/>
              </a:lnSpc>
              <a:tabLst>
                <a:tab pos="630238" algn="l"/>
              </a:tabLst>
              <a:defRPr/>
            </a:pPr>
            <a:r>
              <a:rPr lang="en-US" sz="2400" dirty="0">
                <a:latin typeface="+mn-lt"/>
              </a:rPr>
              <a:t>Physical wear and tear (shifts, repair and maintenance </a:t>
            </a:r>
            <a:r>
              <a:rPr lang="en-US" sz="2400" dirty="0" err="1">
                <a:latin typeface="+mn-lt"/>
              </a:rPr>
              <a:t>programme</a:t>
            </a:r>
            <a:r>
              <a:rPr lang="en-US" sz="2400" dirty="0">
                <a:latin typeface="+mn-lt"/>
              </a:rPr>
              <a:t> in place)</a:t>
            </a:r>
            <a:br>
              <a:rPr lang="en-US" sz="2400" dirty="0">
                <a:latin typeface="+mn-lt"/>
              </a:rPr>
            </a:br>
            <a:endParaRPr lang="en-US" sz="2400" dirty="0">
              <a:latin typeface="+mn-lt"/>
            </a:endParaRPr>
          </a:p>
          <a:p>
            <a:pPr marL="1158875" lvl="1" indent="-531813" defTabSz="223838">
              <a:lnSpc>
                <a:spcPct val="80000"/>
              </a:lnSpc>
              <a:tabLst>
                <a:tab pos="630238" algn="l"/>
              </a:tabLst>
              <a:defRPr/>
            </a:pPr>
            <a:r>
              <a:rPr lang="en-US" sz="2400" dirty="0">
                <a:latin typeface="+mn-lt"/>
              </a:rPr>
              <a:t>Technical or commercial obsolescence </a:t>
            </a:r>
            <a:br>
              <a:rPr lang="en-US" sz="2400" dirty="0">
                <a:latin typeface="+mn-lt"/>
              </a:rPr>
            </a:br>
            <a:endParaRPr lang="en-US" sz="2400" dirty="0">
              <a:latin typeface="+mn-lt"/>
            </a:endParaRPr>
          </a:p>
          <a:p>
            <a:pPr marL="1158875" lvl="1" indent="-531813" defTabSz="223838">
              <a:lnSpc>
                <a:spcPct val="80000"/>
              </a:lnSpc>
              <a:tabLst>
                <a:tab pos="630238" algn="l"/>
              </a:tabLst>
              <a:defRPr/>
            </a:pPr>
            <a:r>
              <a:rPr lang="en-US" sz="2400" dirty="0">
                <a:latin typeface="+mn-lt"/>
              </a:rPr>
              <a:t>Legal limitations on use of the asset (expiry dates or lease agreements) 	</a:t>
            </a:r>
            <a:endParaRPr lang="en-GB" sz="2400" dirty="0">
              <a:latin typeface="+mn-lt"/>
            </a:endParaRPr>
          </a:p>
          <a:p>
            <a:pPr marL="1158875" lvl="1" indent="-531813" defTabSz="223838">
              <a:lnSpc>
                <a:spcPct val="80000"/>
              </a:lnSpc>
              <a:tabLst>
                <a:tab pos="630238" algn="l"/>
              </a:tabLst>
              <a:defRPr/>
            </a:pPr>
            <a:endParaRPr lang="en-GB" sz="2400" dirty="0">
              <a:latin typeface="+mn-lt"/>
            </a:endParaRPr>
          </a:p>
          <a:p>
            <a:endParaRPr lang="en-ZA" dirty="0">
              <a:latin typeface="+mn-lt"/>
            </a:endParaRPr>
          </a:p>
        </p:txBody>
      </p:sp>
      <p:pic>
        <p:nvPicPr>
          <p:cNvPr id="4" name="Picture 2" descr="Image result for office building">
            <a:extLst>
              <a:ext uri="{FF2B5EF4-FFF2-40B4-BE49-F238E27FC236}">
                <a16:creationId xmlns:a16="http://schemas.microsoft.com/office/drawing/2014/main" id="{F050F428-888A-E259-2872-C700B2D500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515938" y="285324"/>
            <a:ext cx="8856662" cy="1052900"/>
          </a:xfrm>
        </p:spPr>
        <p:txBody>
          <a:bodyPr/>
          <a:lstStyle/>
          <a:p>
            <a:r>
              <a:rPr lang="en-GB" altLang="en-US" dirty="0"/>
              <a:t>MEASUREMENT AFTER INITIAL RECOGNITION: Cost model</a:t>
            </a:r>
          </a:p>
        </p:txBody>
      </p:sp>
      <p:sp>
        <p:nvSpPr>
          <p:cNvPr id="2" name="Content Placeholder 1"/>
          <p:cNvSpPr>
            <a:spLocks noGrp="1"/>
          </p:cNvSpPr>
          <p:nvPr>
            <p:ph idx="1"/>
          </p:nvPr>
        </p:nvSpPr>
        <p:spPr>
          <a:xfrm>
            <a:off x="137160" y="1689327"/>
            <a:ext cx="11401105" cy="2882673"/>
          </a:xfrm>
        </p:spPr>
        <p:txBody>
          <a:bodyPr/>
          <a:lstStyle/>
          <a:p>
            <a:pPr marL="447675" indent="-447675" defTabSz="223838">
              <a:buFont typeface="Wingdings" pitchFamily="2" charset="2"/>
              <a:buChar char="q"/>
              <a:tabLst>
                <a:tab pos="630238" algn="l"/>
              </a:tabLst>
              <a:defRPr/>
            </a:pPr>
            <a:r>
              <a:rPr lang="en-US" altLang="en-US" b="1" dirty="0">
                <a:latin typeface="+mn-lt"/>
              </a:rPr>
              <a:t>(.57) </a:t>
            </a:r>
            <a:r>
              <a:rPr lang="en-US" dirty="0">
                <a:latin typeface="+mn-lt"/>
              </a:rPr>
              <a:t>Determination of useful life: use judgment based on experience of entity with similar assets</a:t>
            </a:r>
          </a:p>
          <a:p>
            <a:pPr marL="447675" indent="-447675" defTabSz="223838">
              <a:tabLst>
                <a:tab pos="630238" algn="l"/>
              </a:tabLst>
              <a:defRPr/>
            </a:pPr>
            <a:endParaRPr lang="en-US" dirty="0">
              <a:latin typeface="+mn-lt"/>
            </a:endParaRPr>
          </a:p>
          <a:p>
            <a:pPr marL="447675" indent="-447675" defTabSz="223838">
              <a:buFont typeface="Wingdings" pitchFamily="2" charset="2"/>
              <a:buChar char="q"/>
              <a:tabLst>
                <a:tab pos="630238" algn="l"/>
              </a:tabLst>
              <a:defRPr/>
            </a:pPr>
            <a:r>
              <a:rPr lang="en-US" dirty="0">
                <a:latin typeface="+mn-lt"/>
              </a:rPr>
              <a:t>Useful life can be less than the economic life as useful life depends on period that </a:t>
            </a:r>
            <a:r>
              <a:rPr lang="en-US" u="sng" dirty="0">
                <a:latin typeface="+mn-lt"/>
              </a:rPr>
              <a:t>entity</a:t>
            </a:r>
            <a:r>
              <a:rPr lang="en-US" dirty="0">
                <a:latin typeface="+mn-lt"/>
              </a:rPr>
              <a:t> wants to use asset</a:t>
            </a:r>
            <a:br>
              <a:rPr lang="en-US" altLang="en-US" dirty="0">
                <a:solidFill>
                  <a:schemeClr val="tx2"/>
                </a:solidFill>
                <a:latin typeface="+mn-lt"/>
              </a:rPr>
            </a:br>
            <a:endParaRPr lang="en-US" altLang="en-US" dirty="0">
              <a:solidFill>
                <a:schemeClr val="tx2"/>
              </a:solidFill>
              <a:latin typeface="+mn-lt"/>
            </a:endParaRPr>
          </a:p>
          <a:p>
            <a:endParaRPr lang="en-ZA" dirty="0">
              <a:latin typeface="+mn-lt"/>
            </a:endParaRPr>
          </a:p>
        </p:txBody>
      </p:sp>
      <p:pic>
        <p:nvPicPr>
          <p:cNvPr id="4" name="Picture 2" descr="Image result for office building">
            <a:extLst>
              <a:ext uri="{FF2B5EF4-FFF2-40B4-BE49-F238E27FC236}">
                <a16:creationId xmlns:a16="http://schemas.microsoft.com/office/drawing/2014/main" id="{6E301F5B-EA5F-7204-FBBA-E77F61D9D9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515938" y="285324"/>
            <a:ext cx="8845232" cy="1052900"/>
          </a:xfrm>
        </p:spPr>
        <p:txBody>
          <a:bodyPr/>
          <a:lstStyle/>
          <a:p>
            <a:r>
              <a:rPr lang="en-GB" altLang="en-US" dirty="0"/>
              <a:t>MEASUREMENT AFTER INITIAL RECOGNITION: Cost model</a:t>
            </a:r>
          </a:p>
        </p:txBody>
      </p:sp>
      <p:sp>
        <p:nvSpPr>
          <p:cNvPr id="2" name="Content Placeholder 1"/>
          <p:cNvSpPr>
            <a:spLocks noGrp="1"/>
          </p:cNvSpPr>
          <p:nvPr>
            <p:ph idx="1"/>
          </p:nvPr>
        </p:nvSpPr>
        <p:spPr>
          <a:xfrm>
            <a:off x="207328" y="1460473"/>
            <a:ext cx="11125197" cy="5155610"/>
          </a:xfrm>
        </p:spPr>
        <p:txBody>
          <a:bodyPr>
            <a:normAutofit/>
          </a:bodyPr>
          <a:lstStyle/>
          <a:p>
            <a:pPr marL="447675" indent="-447675" defTabSz="223838">
              <a:buFont typeface="Wingdings" pitchFamily="2" charset="2"/>
              <a:buChar char="q"/>
              <a:tabLst>
                <a:tab pos="630238" algn="l"/>
              </a:tabLst>
              <a:defRPr/>
            </a:pPr>
            <a:r>
              <a:rPr lang="en-US" b="1" dirty="0">
                <a:latin typeface="+mn-lt"/>
              </a:rPr>
              <a:t>(.58) </a:t>
            </a:r>
            <a:r>
              <a:rPr lang="en-US" u="sng" dirty="0">
                <a:latin typeface="+mn-lt"/>
              </a:rPr>
              <a:t>Land and buildings </a:t>
            </a:r>
            <a:r>
              <a:rPr lang="en-US" dirty="0">
                <a:latin typeface="+mn-lt"/>
              </a:rPr>
              <a:t>treated separately: </a:t>
            </a:r>
            <a:br>
              <a:rPr lang="en-US" dirty="0">
                <a:latin typeface="+mn-lt"/>
              </a:rPr>
            </a:br>
            <a:endParaRPr lang="en-US" dirty="0">
              <a:latin typeface="+mn-lt"/>
            </a:endParaRPr>
          </a:p>
          <a:p>
            <a:pPr marL="1158875" lvl="1" indent="-531813" defTabSz="223838">
              <a:tabLst>
                <a:tab pos="630238" algn="l"/>
              </a:tabLst>
              <a:defRPr/>
            </a:pPr>
            <a:r>
              <a:rPr lang="en-US" sz="2400" dirty="0">
                <a:latin typeface="+mn-lt"/>
              </a:rPr>
              <a:t>Land:</a:t>
            </a:r>
          </a:p>
          <a:p>
            <a:pPr marL="1787525" lvl="2" indent="-347663" defTabSz="223838">
              <a:tabLst>
                <a:tab pos="630238" algn="l"/>
              </a:tabLst>
              <a:defRPr/>
            </a:pPr>
            <a:r>
              <a:rPr lang="en-US" sz="2400" dirty="0">
                <a:latin typeface="+mn-lt"/>
              </a:rPr>
              <a:t>Unlimited useful life; thus not depreciated, </a:t>
            </a:r>
          </a:p>
          <a:p>
            <a:pPr marL="1787525" lvl="2" indent="-347663" defTabSz="223838">
              <a:tabLst>
                <a:tab pos="630238" algn="l"/>
              </a:tabLst>
              <a:defRPr/>
            </a:pPr>
            <a:r>
              <a:rPr lang="en-US" sz="2400" dirty="0">
                <a:latin typeface="+mn-lt"/>
              </a:rPr>
              <a:t>Exceptions: quarries, mines </a:t>
            </a:r>
            <a:br>
              <a:rPr lang="en-US" sz="2400" dirty="0">
                <a:latin typeface="+mn-lt"/>
              </a:rPr>
            </a:br>
            <a:endParaRPr lang="en-US" sz="2400" dirty="0">
              <a:latin typeface="+mn-lt"/>
            </a:endParaRPr>
          </a:p>
          <a:p>
            <a:pPr marL="1158875" lvl="1" indent="-531813" defTabSz="223838">
              <a:tabLst>
                <a:tab pos="630238" algn="l"/>
              </a:tabLst>
              <a:defRPr/>
            </a:pPr>
            <a:r>
              <a:rPr lang="en-US" sz="2400" dirty="0">
                <a:latin typeface="+mn-lt"/>
              </a:rPr>
              <a:t>Buildings: limited useful life, thus depreciate</a:t>
            </a:r>
            <a:br>
              <a:rPr lang="en-US" sz="2400" dirty="0">
                <a:latin typeface="+mn-lt"/>
              </a:rPr>
            </a:br>
            <a:endParaRPr lang="en-US" sz="2400" dirty="0">
              <a:latin typeface="+mn-lt"/>
            </a:endParaRPr>
          </a:p>
          <a:p>
            <a:pPr marL="447675" indent="-447675" defTabSz="223838">
              <a:buFont typeface="Wingdings" pitchFamily="2" charset="2"/>
              <a:buChar char="q"/>
              <a:tabLst>
                <a:tab pos="630238" algn="l"/>
              </a:tabLst>
              <a:defRPr/>
            </a:pPr>
            <a:r>
              <a:rPr lang="en-US" b="1" dirty="0">
                <a:latin typeface="+mn-lt"/>
              </a:rPr>
              <a:t>(.59)</a:t>
            </a:r>
            <a:r>
              <a:rPr lang="en-US" dirty="0">
                <a:latin typeface="+mn-lt"/>
              </a:rPr>
              <a:t> If dismantling costs are included in the cost of land, depreciate this amount over period that entity will receive benefits [Hons]</a:t>
            </a:r>
          </a:p>
          <a:p>
            <a:endParaRPr lang="en-ZA" dirty="0">
              <a:latin typeface="+mn-lt"/>
            </a:endParaRPr>
          </a:p>
        </p:txBody>
      </p:sp>
      <p:pic>
        <p:nvPicPr>
          <p:cNvPr id="4" name="Picture 2" descr="Image result for office building">
            <a:extLst>
              <a:ext uri="{FF2B5EF4-FFF2-40B4-BE49-F238E27FC236}">
                <a16:creationId xmlns:a16="http://schemas.microsoft.com/office/drawing/2014/main" id="{74B3D897-7A0F-322F-3259-05C0578A39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515938" y="285324"/>
            <a:ext cx="8810942" cy="1052900"/>
          </a:xfrm>
        </p:spPr>
        <p:txBody>
          <a:bodyPr/>
          <a:lstStyle/>
          <a:p>
            <a:r>
              <a:rPr lang="en-GB" altLang="en-US" dirty="0"/>
              <a:t>MEASUREMENT AFTER INITIAL RECOGNITION: Cost model</a:t>
            </a:r>
          </a:p>
        </p:txBody>
      </p:sp>
      <p:sp>
        <p:nvSpPr>
          <p:cNvPr id="2" name="Content Placeholder 1"/>
          <p:cNvSpPr>
            <a:spLocks noGrp="1"/>
          </p:cNvSpPr>
          <p:nvPr>
            <p:ph idx="1"/>
          </p:nvPr>
        </p:nvSpPr>
        <p:spPr>
          <a:xfrm>
            <a:off x="424498" y="1702390"/>
            <a:ext cx="11125197" cy="3692570"/>
          </a:xfrm>
        </p:spPr>
        <p:txBody>
          <a:bodyPr>
            <a:normAutofit/>
          </a:bodyPr>
          <a:lstStyle/>
          <a:p>
            <a:pPr marL="447675" indent="-447675" defTabSz="223838">
              <a:lnSpc>
                <a:spcPct val="80000"/>
              </a:lnSpc>
              <a:buNone/>
              <a:tabLst>
                <a:tab pos="630238" algn="l"/>
              </a:tabLst>
              <a:defRPr/>
            </a:pPr>
            <a:r>
              <a:rPr lang="en-US" b="1" dirty="0">
                <a:latin typeface="+mn-lt"/>
              </a:rPr>
              <a:t>(.60-.62) DEPRECIATION METHOD</a:t>
            </a:r>
            <a:br>
              <a:rPr lang="en-US" u="sng" dirty="0">
                <a:latin typeface="+mn-lt"/>
              </a:rPr>
            </a:br>
            <a:endParaRPr lang="en-US" u="sng" dirty="0">
              <a:latin typeface="+mn-lt"/>
            </a:endParaRPr>
          </a:p>
          <a:p>
            <a:pPr marL="447675" indent="-447675" defTabSz="223838">
              <a:lnSpc>
                <a:spcPct val="80000"/>
              </a:lnSpc>
              <a:buFont typeface="Wingdings" pitchFamily="2" charset="2"/>
              <a:buChar char="q"/>
              <a:tabLst>
                <a:tab pos="630238" algn="l"/>
              </a:tabLst>
              <a:defRPr/>
            </a:pPr>
            <a:r>
              <a:rPr lang="en-US" dirty="0">
                <a:latin typeface="+mn-lt"/>
              </a:rPr>
              <a:t>Depreciation method shall reflect pattern in which the asset’s future economic benefits are expected to be consumed </a:t>
            </a:r>
          </a:p>
          <a:p>
            <a:pPr marL="447675" indent="-447675" defTabSz="223838">
              <a:lnSpc>
                <a:spcPct val="80000"/>
              </a:lnSpc>
              <a:buFont typeface="Wingdings" pitchFamily="2" charset="2"/>
              <a:buChar char="q"/>
              <a:tabLst>
                <a:tab pos="630238" algn="l"/>
              </a:tabLst>
              <a:defRPr/>
            </a:pPr>
            <a:r>
              <a:rPr lang="en-US" dirty="0">
                <a:latin typeface="+mn-lt"/>
              </a:rPr>
              <a:t>Revise at least annually</a:t>
            </a:r>
          </a:p>
          <a:p>
            <a:pPr marL="447675" indent="-447675" defTabSz="223838">
              <a:lnSpc>
                <a:spcPct val="80000"/>
              </a:lnSpc>
              <a:buFont typeface="Wingdings" pitchFamily="2" charset="2"/>
              <a:buChar char="q"/>
              <a:tabLst>
                <a:tab pos="630238" algn="l"/>
              </a:tabLst>
              <a:defRPr/>
            </a:pPr>
            <a:r>
              <a:rPr lang="en-US" dirty="0">
                <a:latin typeface="+mn-lt"/>
              </a:rPr>
              <a:t>Apply consequently, unless significant change</a:t>
            </a:r>
            <a:endParaRPr lang="en-US" dirty="0">
              <a:solidFill>
                <a:srgbClr val="00CC00"/>
              </a:solidFill>
              <a:latin typeface="+mn-lt"/>
            </a:endParaRPr>
          </a:p>
          <a:p>
            <a:pPr marL="447675" indent="-447675" defTabSz="223838">
              <a:lnSpc>
                <a:spcPct val="80000"/>
              </a:lnSpc>
              <a:buFont typeface="Wingdings" pitchFamily="2" charset="2"/>
              <a:buChar char="q"/>
              <a:tabLst>
                <a:tab pos="630238" algn="l"/>
              </a:tabLst>
              <a:defRPr/>
            </a:pPr>
            <a:r>
              <a:rPr lang="en-US" dirty="0">
                <a:latin typeface="+mn-lt"/>
              </a:rPr>
              <a:t>In case of significant change in method (use IAS 8 change in estimates – </a:t>
            </a:r>
            <a:r>
              <a:rPr lang="en-US" dirty="0" err="1">
                <a:latin typeface="+mn-lt"/>
              </a:rPr>
              <a:t>FinAcc</a:t>
            </a:r>
            <a:r>
              <a:rPr lang="en-US" dirty="0">
                <a:latin typeface="+mn-lt"/>
              </a:rPr>
              <a:t> 278)</a:t>
            </a:r>
          </a:p>
          <a:p>
            <a:pPr defTabSz="223838">
              <a:lnSpc>
                <a:spcPct val="80000"/>
              </a:lnSpc>
              <a:tabLst>
                <a:tab pos="630238" algn="l"/>
              </a:tabLst>
              <a:defRPr/>
            </a:pPr>
            <a:endParaRPr lang="en-US" dirty="0">
              <a:latin typeface="+mn-lt"/>
            </a:endParaRPr>
          </a:p>
          <a:p>
            <a:pPr marL="0" indent="0" defTabSz="223838">
              <a:lnSpc>
                <a:spcPct val="80000"/>
              </a:lnSpc>
              <a:buNone/>
              <a:tabLst>
                <a:tab pos="630238" algn="l"/>
              </a:tabLst>
              <a:defRPr/>
            </a:pPr>
            <a:r>
              <a:rPr lang="en-US" b="1" dirty="0">
                <a:latin typeface="+mn-lt"/>
                <a:cs typeface="Arial" charset="0"/>
              </a:rPr>
              <a:t>(.63 - .66) IMPAIRMENT </a:t>
            </a:r>
            <a:r>
              <a:rPr lang="en-US" dirty="0">
                <a:latin typeface="+mn-lt"/>
                <a:cs typeface="Arial" charset="0"/>
              </a:rPr>
              <a:t>(FA278)</a:t>
            </a:r>
            <a:endParaRPr lang="en-US" dirty="0">
              <a:latin typeface="+mn-lt"/>
            </a:endParaRPr>
          </a:p>
          <a:p>
            <a:endParaRPr lang="en-ZA" dirty="0">
              <a:latin typeface="+mn-lt"/>
            </a:endParaRPr>
          </a:p>
        </p:txBody>
      </p:sp>
      <p:pic>
        <p:nvPicPr>
          <p:cNvPr id="4" name="Picture 2" descr="Image result for office building">
            <a:extLst>
              <a:ext uri="{FF2B5EF4-FFF2-40B4-BE49-F238E27FC236}">
                <a16:creationId xmlns:a16="http://schemas.microsoft.com/office/drawing/2014/main" id="{076BA06C-3FDD-3F55-961E-3C91126DC3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0188" y="1435554"/>
            <a:ext cx="11125197" cy="3342186"/>
          </a:xfrm>
        </p:spPr>
        <p:txBody>
          <a:bodyPr>
            <a:normAutofit/>
          </a:bodyPr>
          <a:lstStyle/>
          <a:p>
            <a:pPr marL="0" indent="0" defTabSz="223838">
              <a:lnSpc>
                <a:spcPct val="80000"/>
              </a:lnSpc>
              <a:buNone/>
              <a:tabLst>
                <a:tab pos="630238" algn="l"/>
              </a:tabLst>
            </a:pPr>
            <a:r>
              <a:rPr lang="en-US" altLang="en-US" b="1" dirty="0">
                <a:latin typeface="+mn-lt"/>
                <a:cs typeface="Arial" charset="0"/>
              </a:rPr>
              <a:t>DEPRECIATION METHOD (cont.)</a:t>
            </a:r>
          </a:p>
          <a:p>
            <a:pPr marL="447675" indent="-447675" defTabSz="223838">
              <a:lnSpc>
                <a:spcPct val="80000"/>
              </a:lnSpc>
              <a:tabLst>
                <a:tab pos="630238" algn="l"/>
              </a:tabLst>
            </a:pPr>
            <a:endParaRPr lang="en-US" altLang="en-US" b="1" dirty="0">
              <a:latin typeface="+mn-lt"/>
              <a:cs typeface="Arial" charset="0"/>
            </a:endParaRPr>
          </a:p>
          <a:p>
            <a:pPr marL="447675" indent="-447675" defTabSz="223838">
              <a:lnSpc>
                <a:spcPct val="80000"/>
              </a:lnSpc>
              <a:buFont typeface="Wingdings" pitchFamily="2" charset="2"/>
              <a:buChar char="q"/>
              <a:tabLst>
                <a:tab pos="630238" algn="l"/>
              </a:tabLst>
            </a:pPr>
            <a:r>
              <a:rPr lang="en-US" altLang="en-US" dirty="0">
                <a:solidFill>
                  <a:schemeClr val="tx2"/>
                </a:solidFill>
                <a:latin typeface="+mn-lt"/>
                <a:cs typeface="Arial" charset="0"/>
              </a:rPr>
              <a:t>Available methods</a:t>
            </a:r>
            <a:r>
              <a:rPr lang="en-US" altLang="en-US" dirty="0">
                <a:latin typeface="+mn-lt"/>
                <a:cs typeface="Arial" charset="0"/>
              </a:rPr>
              <a:t>: </a:t>
            </a:r>
            <a:br>
              <a:rPr lang="en-US" altLang="en-US" dirty="0">
                <a:latin typeface="+mn-lt"/>
                <a:cs typeface="Arial" charset="0"/>
              </a:rPr>
            </a:br>
            <a:endParaRPr lang="en-US" altLang="en-US" dirty="0">
              <a:latin typeface="+mn-lt"/>
              <a:cs typeface="Arial" charset="0"/>
            </a:endParaRPr>
          </a:p>
          <a:p>
            <a:pPr marL="1158875" lvl="1" indent="-531813" defTabSz="223838">
              <a:lnSpc>
                <a:spcPct val="80000"/>
              </a:lnSpc>
              <a:tabLst>
                <a:tab pos="630238" algn="l"/>
              </a:tabLst>
            </a:pPr>
            <a:r>
              <a:rPr lang="en-US" altLang="en-US" sz="2400" dirty="0">
                <a:latin typeface="+mn-lt"/>
                <a:cs typeface="Arial" charset="0"/>
              </a:rPr>
              <a:t>Straight line (consistent amount)</a:t>
            </a:r>
            <a:br>
              <a:rPr lang="en-US" altLang="en-US" sz="2400" dirty="0">
                <a:latin typeface="+mn-lt"/>
                <a:cs typeface="Arial" charset="0"/>
              </a:rPr>
            </a:br>
            <a:endParaRPr lang="en-US" altLang="en-US" sz="2400" dirty="0">
              <a:latin typeface="+mn-lt"/>
              <a:cs typeface="Arial" charset="0"/>
            </a:endParaRPr>
          </a:p>
          <a:p>
            <a:pPr marL="1158875" lvl="1" indent="-531813" defTabSz="223838">
              <a:lnSpc>
                <a:spcPct val="80000"/>
              </a:lnSpc>
              <a:tabLst>
                <a:tab pos="630238" algn="l"/>
              </a:tabLst>
            </a:pPr>
            <a:r>
              <a:rPr lang="en-US" altLang="en-US" sz="2400" dirty="0">
                <a:latin typeface="+mn-lt"/>
                <a:cs typeface="Arial" charset="0"/>
              </a:rPr>
              <a:t>Diminishing balance (decreasing amount)</a:t>
            </a:r>
          </a:p>
          <a:p>
            <a:pPr marL="1158875" lvl="1" indent="-531813" defTabSz="223838">
              <a:lnSpc>
                <a:spcPct val="80000"/>
              </a:lnSpc>
              <a:buNone/>
              <a:tabLst>
                <a:tab pos="630238" algn="l"/>
              </a:tabLst>
            </a:pPr>
            <a:endParaRPr lang="en-US" altLang="en-US" sz="2400" dirty="0">
              <a:latin typeface="+mn-lt"/>
              <a:cs typeface="Arial" charset="0"/>
            </a:endParaRPr>
          </a:p>
          <a:p>
            <a:pPr marL="1158875" lvl="1" indent="-531813" defTabSz="223838">
              <a:lnSpc>
                <a:spcPct val="80000"/>
              </a:lnSpc>
              <a:tabLst>
                <a:tab pos="630238" algn="l"/>
              </a:tabLst>
            </a:pPr>
            <a:r>
              <a:rPr lang="en-US" altLang="en-US" sz="2400" dirty="0">
                <a:latin typeface="+mn-lt"/>
                <a:cs typeface="Arial" charset="0"/>
              </a:rPr>
              <a:t>Units produced (based on output)</a:t>
            </a:r>
          </a:p>
        </p:txBody>
      </p:sp>
      <p:pic>
        <p:nvPicPr>
          <p:cNvPr id="4" name="Picture 2" descr="Image result for office building">
            <a:extLst>
              <a:ext uri="{FF2B5EF4-FFF2-40B4-BE49-F238E27FC236}">
                <a16:creationId xmlns:a16="http://schemas.microsoft.com/office/drawing/2014/main" id="{705EBB62-04FE-9DE6-B9BE-1002F13162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EFBBBEE0-0A6E-7167-FC7F-16958808E61A}"/>
              </a:ext>
            </a:extLst>
          </p:cNvPr>
          <p:cNvSpPr>
            <a:spLocks noGrp="1" noChangeArrowheads="1"/>
          </p:cNvSpPr>
          <p:nvPr>
            <p:ph type="title"/>
          </p:nvPr>
        </p:nvSpPr>
        <p:spPr>
          <a:xfrm>
            <a:off x="515938" y="285324"/>
            <a:ext cx="8810942" cy="1052900"/>
          </a:xfrm>
        </p:spPr>
        <p:txBody>
          <a:bodyPr/>
          <a:lstStyle/>
          <a:p>
            <a:r>
              <a:rPr lang="en-GB" altLang="en-US" dirty="0"/>
              <a:t>MEASUREMENT AFTER INITIAL RECOGNITION: Cost model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algn="l" eaLnBrk="1" hangingPunct="1"/>
            <a:r>
              <a:rPr lang="en-GB" altLang="en-US" dirty="0"/>
              <a:t>DEPRECIATION</a:t>
            </a:r>
          </a:p>
        </p:txBody>
      </p:sp>
      <p:sp>
        <p:nvSpPr>
          <p:cNvPr id="2" name="Content Placeholder 1"/>
          <p:cNvSpPr>
            <a:spLocks noGrp="1"/>
          </p:cNvSpPr>
          <p:nvPr>
            <p:ph idx="1"/>
          </p:nvPr>
        </p:nvSpPr>
        <p:spPr/>
        <p:txBody>
          <a:bodyPr>
            <a:normAutofit/>
          </a:bodyPr>
          <a:lstStyle/>
          <a:p>
            <a:pPr marL="0" indent="0">
              <a:buNone/>
              <a:defRPr/>
            </a:pPr>
            <a:r>
              <a:rPr lang="en-US" dirty="0">
                <a:latin typeface="+mn-lt"/>
              </a:rPr>
              <a:t>Asset is used for &gt; 1 period</a:t>
            </a:r>
          </a:p>
          <a:p>
            <a:pPr marL="933450" lvl="1" indent="-533400">
              <a:defRPr/>
            </a:pPr>
            <a:r>
              <a:rPr lang="en-US" sz="2400" dirty="0">
                <a:latin typeface="+mn-lt"/>
              </a:rPr>
              <a:t>as asset is used its value decreases</a:t>
            </a:r>
            <a:endParaRPr lang="en-GB" sz="2400" dirty="0">
              <a:latin typeface="+mn-lt"/>
            </a:endParaRPr>
          </a:p>
          <a:p>
            <a:pPr marL="933450" lvl="1" indent="-533400">
              <a:defRPr/>
            </a:pPr>
            <a:r>
              <a:rPr lang="en-GB" sz="2400" dirty="0">
                <a:latin typeface="+mn-lt"/>
              </a:rPr>
              <a:t>an asset has an </a:t>
            </a:r>
            <a:r>
              <a:rPr lang="en-GB" sz="2400" b="1" dirty="0">
                <a:latin typeface="+mn-lt"/>
              </a:rPr>
              <a:t>estimated useful life</a:t>
            </a:r>
            <a:endParaRPr lang="en-GB" sz="2400" dirty="0">
              <a:latin typeface="+mn-lt"/>
            </a:endParaRPr>
          </a:p>
          <a:p>
            <a:pPr>
              <a:defRPr/>
            </a:pPr>
            <a:endParaRPr lang="en-GB" dirty="0">
              <a:latin typeface="+mn-lt"/>
            </a:endParaRPr>
          </a:p>
          <a:p>
            <a:pPr marL="0" indent="0">
              <a:buNone/>
              <a:defRPr/>
            </a:pPr>
            <a:r>
              <a:rPr lang="en-GB" dirty="0">
                <a:latin typeface="+mn-lt"/>
              </a:rPr>
              <a:t>Use the “convenience account” accumulated depreciation and do not write depreciation off directly against the cost account</a:t>
            </a:r>
          </a:p>
          <a:p>
            <a:endParaRPr lang="en-ZA" dirty="0">
              <a:latin typeface="+mn-lt"/>
            </a:endParaRPr>
          </a:p>
        </p:txBody>
      </p:sp>
      <p:pic>
        <p:nvPicPr>
          <p:cNvPr id="4" name="Picture 2" descr="Image result for office building">
            <a:extLst>
              <a:ext uri="{FF2B5EF4-FFF2-40B4-BE49-F238E27FC236}">
                <a16:creationId xmlns:a16="http://schemas.microsoft.com/office/drawing/2014/main" id="{13882329-B19E-3036-D0E1-FCE5772E9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519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GB" altLang="en-US" dirty="0"/>
              <a:t>DEPRECIATION METHODS</a:t>
            </a:r>
          </a:p>
        </p:txBody>
      </p:sp>
      <p:sp>
        <p:nvSpPr>
          <p:cNvPr id="2" name="Content Placeholder 1"/>
          <p:cNvSpPr>
            <a:spLocks noGrp="1"/>
          </p:cNvSpPr>
          <p:nvPr>
            <p:ph idx="1"/>
          </p:nvPr>
        </p:nvSpPr>
        <p:spPr>
          <a:xfrm>
            <a:off x="298768" y="1417066"/>
            <a:ext cx="11125197" cy="5155610"/>
          </a:xfrm>
        </p:spPr>
        <p:txBody>
          <a:bodyPr>
            <a:normAutofit/>
          </a:bodyPr>
          <a:lstStyle/>
          <a:p>
            <a:pPr marL="0" indent="0">
              <a:buNone/>
            </a:pPr>
            <a:r>
              <a:rPr lang="en-GB" altLang="en-US" b="1" dirty="0">
                <a:latin typeface="+mn-lt"/>
              </a:rPr>
              <a:t>1. Fixed instalment (straight-line method)</a:t>
            </a:r>
            <a:r>
              <a:rPr lang="en-GB" altLang="en-US" dirty="0">
                <a:latin typeface="+mn-lt"/>
              </a:rPr>
              <a:t>  </a:t>
            </a:r>
          </a:p>
          <a:p>
            <a:pPr lvl="1">
              <a:buNone/>
            </a:pPr>
            <a:r>
              <a:rPr lang="en-GB" altLang="en-US" sz="2400" dirty="0">
                <a:latin typeface="+mn-lt"/>
              </a:rPr>
              <a:t>	</a:t>
            </a:r>
          </a:p>
          <a:p>
            <a:pPr lvl="1">
              <a:buNone/>
            </a:pPr>
            <a:r>
              <a:rPr lang="en-GB" altLang="en-US" sz="2400" dirty="0" err="1">
                <a:latin typeface="+mn-lt"/>
              </a:rPr>
              <a:t>Depr</a:t>
            </a:r>
            <a:r>
              <a:rPr lang="en-GB" altLang="en-US" sz="2400" dirty="0">
                <a:latin typeface="+mn-lt"/>
              </a:rPr>
              <a:t> = fixed amount calculated on fixed % of depreciable amount over useful life of asset </a:t>
            </a:r>
            <a:r>
              <a:rPr lang="en-GB" altLang="en-US" sz="2400" b="1" dirty="0">
                <a:latin typeface="+mn-lt"/>
              </a:rPr>
              <a:t>from date asset is ready for use</a:t>
            </a:r>
          </a:p>
          <a:p>
            <a:pPr lvl="1">
              <a:buNone/>
            </a:pPr>
            <a:r>
              <a:rPr lang="en-GB" altLang="en-US" sz="2400" dirty="0">
                <a:latin typeface="+mn-lt"/>
              </a:rPr>
              <a:t>	</a:t>
            </a:r>
          </a:p>
          <a:p>
            <a:pPr lvl="1">
              <a:buNone/>
            </a:pPr>
            <a:r>
              <a:rPr lang="en-GB" altLang="en-US" sz="2400" dirty="0">
                <a:latin typeface="+mn-lt"/>
              </a:rPr>
              <a:t>NB! If asset is brought into use or alienated during the year, depreciation is apportioned for that period</a:t>
            </a:r>
          </a:p>
          <a:p>
            <a:pPr lvl="1">
              <a:buNone/>
            </a:pPr>
            <a:endParaRPr lang="en-GB" altLang="en-US" sz="2400" dirty="0">
              <a:latin typeface="+mn-lt"/>
            </a:endParaRPr>
          </a:p>
          <a:p>
            <a:pPr lvl="1">
              <a:buNone/>
            </a:pPr>
            <a:r>
              <a:rPr lang="en-GB" altLang="en-US" sz="2400" b="1" dirty="0">
                <a:latin typeface="+mn-lt"/>
              </a:rPr>
              <a:t>Example 2</a:t>
            </a:r>
          </a:p>
          <a:p>
            <a:endParaRPr lang="en-ZA" dirty="0">
              <a:latin typeface="+mn-lt"/>
            </a:endParaRPr>
          </a:p>
        </p:txBody>
      </p:sp>
      <p:pic>
        <p:nvPicPr>
          <p:cNvPr id="4" name="Picture 2" descr="Image result for office building">
            <a:extLst>
              <a:ext uri="{FF2B5EF4-FFF2-40B4-BE49-F238E27FC236}">
                <a16:creationId xmlns:a16="http://schemas.microsoft.com/office/drawing/2014/main" id="{AE75DD08-C0C5-EFB4-2E17-77F6461F7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682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GB" altLang="en-US" dirty="0"/>
              <a:t>DEPRECIATION METHODS</a:t>
            </a:r>
          </a:p>
        </p:txBody>
      </p:sp>
      <p:sp>
        <p:nvSpPr>
          <p:cNvPr id="2" name="Content Placeholder 1"/>
          <p:cNvSpPr>
            <a:spLocks noGrp="1"/>
          </p:cNvSpPr>
          <p:nvPr>
            <p:ph idx="1"/>
          </p:nvPr>
        </p:nvSpPr>
        <p:spPr>
          <a:xfrm>
            <a:off x="160020" y="1426437"/>
            <a:ext cx="11481115" cy="4414293"/>
          </a:xfrm>
        </p:spPr>
        <p:txBody>
          <a:bodyPr>
            <a:normAutofit/>
          </a:bodyPr>
          <a:lstStyle/>
          <a:p>
            <a:pPr marL="0" indent="0">
              <a:buNone/>
            </a:pPr>
            <a:r>
              <a:rPr lang="en-GB" altLang="en-US" b="1" dirty="0">
                <a:latin typeface="+mn-lt"/>
              </a:rPr>
              <a:t>2. Diminishing balance method (reducing balance method)</a:t>
            </a:r>
            <a:endParaRPr lang="en-GB" altLang="en-US" dirty="0">
              <a:latin typeface="+mn-lt"/>
            </a:endParaRPr>
          </a:p>
          <a:p>
            <a:endParaRPr lang="en-GB" altLang="en-US" dirty="0">
              <a:latin typeface="+mn-lt"/>
            </a:endParaRPr>
          </a:p>
          <a:p>
            <a:pPr marL="457200" lvl="1" indent="0">
              <a:buNone/>
            </a:pPr>
            <a:r>
              <a:rPr lang="en-GB" altLang="en-US" sz="2400" dirty="0">
                <a:latin typeface="+mn-lt"/>
              </a:rPr>
              <a:t>write off on (depreciable amount – accumulated </a:t>
            </a:r>
            <a:r>
              <a:rPr lang="en-GB" altLang="en-US" sz="2400" dirty="0" err="1">
                <a:latin typeface="+mn-lt"/>
              </a:rPr>
              <a:t>depr</a:t>
            </a:r>
            <a:r>
              <a:rPr lang="en-GB" altLang="en-US" sz="2400" dirty="0">
                <a:latin typeface="+mn-lt"/>
              </a:rPr>
              <a:t>) at a fixed % </a:t>
            </a:r>
            <a:r>
              <a:rPr lang="en-GB" altLang="en-US" sz="2400" b="1" dirty="0">
                <a:latin typeface="+mn-lt"/>
              </a:rPr>
              <a:t>from date ready for use</a:t>
            </a:r>
          </a:p>
          <a:p>
            <a:pPr marL="457200" lvl="1" indent="0">
              <a:buNone/>
            </a:pPr>
            <a:endParaRPr lang="en-GB" altLang="en-US" sz="2400" b="1" dirty="0">
              <a:latin typeface="+mn-lt"/>
            </a:endParaRPr>
          </a:p>
          <a:p>
            <a:pPr marL="457200" lvl="1" indent="0">
              <a:buNone/>
            </a:pPr>
            <a:r>
              <a:rPr lang="en-GB" altLang="en-US" sz="2400" dirty="0">
                <a:latin typeface="+mn-lt"/>
              </a:rPr>
              <a:t>NB! If asset is brought into use or alienated during the year, depreciation is apportioned for that period</a:t>
            </a:r>
          </a:p>
          <a:p>
            <a:endParaRPr lang="en-ZA" dirty="0">
              <a:latin typeface="+mn-lt"/>
            </a:endParaRPr>
          </a:p>
          <a:p>
            <a:pPr marL="0" indent="0">
              <a:buNone/>
            </a:pPr>
            <a:r>
              <a:rPr lang="en-ZA" b="1" dirty="0">
                <a:latin typeface="+mn-lt"/>
              </a:rPr>
              <a:t>Example 3</a:t>
            </a:r>
          </a:p>
        </p:txBody>
      </p:sp>
      <p:pic>
        <p:nvPicPr>
          <p:cNvPr id="4" name="Picture 2" descr="Image result for office building">
            <a:extLst>
              <a:ext uri="{FF2B5EF4-FFF2-40B4-BE49-F238E27FC236}">
                <a16:creationId xmlns:a16="http://schemas.microsoft.com/office/drawing/2014/main" id="{75BCE3EE-1933-7413-126A-FACCE11A02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1137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GB" altLang="en-US" dirty="0"/>
              <a:t>DEPRECIATION METHODS</a:t>
            </a:r>
          </a:p>
        </p:txBody>
      </p:sp>
      <p:sp>
        <p:nvSpPr>
          <p:cNvPr id="5" name="Rectangle 4"/>
          <p:cNvSpPr/>
          <p:nvPr/>
        </p:nvSpPr>
        <p:spPr bwMode="auto">
          <a:xfrm>
            <a:off x="5668175" y="4984989"/>
            <a:ext cx="4444310" cy="1324331"/>
          </a:xfrm>
          <a:prstGeom prst="rect">
            <a:avLst/>
          </a:prstGeom>
          <a:ln w="38100">
            <a:prstDash val="sysDot"/>
            <a:headEnd type="none" w="med" len="med"/>
            <a:tailEnd type="triangl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lvl="1" eaLnBrk="1" hangingPunct="1"/>
            <a:r>
              <a:rPr lang="en-US" altLang="en-US" sz="2400" b="1" dirty="0">
                <a:solidFill>
                  <a:schemeClr val="tx1"/>
                </a:solidFill>
              </a:rPr>
              <a:t> What about the period from when the asset is </a:t>
            </a:r>
            <a:r>
              <a:rPr lang="en-US" altLang="en-US" sz="2400" b="1" u="sng" dirty="0">
                <a:solidFill>
                  <a:schemeClr val="tx1"/>
                </a:solidFill>
              </a:rPr>
              <a:t>ready for use</a:t>
            </a:r>
            <a:r>
              <a:rPr lang="en-US" altLang="en-US" sz="2400" b="1" dirty="0">
                <a:solidFill>
                  <a:schemeClr val="tx1"/>
                </a:solidFill>
              </a:rPr>
              <a:t> to </a:t>
            </a:r>
            <a:r>
              <a:rPr lang="en-US" altLang="en-US" sz="2400" b="1" u="sng" dirty="0">
                <a:solidFill>
                  <a:schemeClr val="tx1"/>
                </a:solidFill>
              </a:rPr>
              <a:t>beginning of use</a:t>
            </a:r>
            <a:r>
              <a:rPr lang="en-US" altLang="en-US" sz="2400" b="1" dirty="0">
                <a:solidFill>
                  <a:schemeClr val="tx1"/>
                </a:solidFill>
              </a:rPr>
              <a:t>?</a:t>
            </a:r>
            <a:endParaRPr lang="en-US" altLang="en-US" sz="2400" b="1" u="sng" dirty="0">
              <a:solidFill>
                <a:schemeClr val="tx1"/>
              </a:solidFill>
            </a:endParaRPr>
          </a:p>
        </p:txBody>
      </p:sp>
      <p:sp>
        <p:nvSpPr>
          <p:cNvPr id="2" name="Content Placeholder 1"/>
          <p:cNvSpPr>
            <a:spLocks noGrp="1"/>
          </p:cNvSpPr>
          <p:nvPr>
            <p:ph idx="1"/>
          </p:nvPr>
        </p:nvSpPr>
        <p:spPr>
          <a:xfrm>
            <a:off x="426720" y="1246222"/>
            <a:ext cx="11540490" cy="5326454"/>
          </a:xfrm>
        </p:spPr>
        <p:txBody>
          <a:bodyPr>
            <a:noAutofit/>
          </a:bodyPr>
          <a:lstStyle/>
          <a:p>
            <a:pPr marL="0" indent="0">
              <a:buNone/>
            </a:pPr>
            <a:r>
              <a:rPr lang="en-US" altLang="en-US" b="1" dirty="0">
                <a:latin typeface="+mn-lt"/>
              </a:rPr>
              <a:t>3. Production unit method</a:t>
            </a:r>
          </a:p>
          <a:p>
            <a:pPr marL="457200" lvl="1" indent="0">
              <a:buNone/>
            </a:pPr>
            <a:r>
              <a:rPr lang="en-US" altLang="en-US" sz="2400" b="1" dirty="0">
                <a:latin typeface="+mn-lt"/>
              </a:rPr>
              <a:t>Life of asset based on total number of units that an asset can produce</a:t>
            </a:r>
          </a:p>
          <a:p>
            <a:pPr lvl="1">
              <a:buNone/>
            </a:pPr>
            <a:r>
              <a:rPr lang="en-US" altLang="en-US" sz="2400" dirty="0">
                <a:latin typeface="+mn-lt"/>
              </a:rPr>
              <a:t>	</a:t>
            </a:r>
          </a:p>
          <a:p>
            <a:pPr lvl="1">
              <a:buNone/>
            </a:pPr>
            <a:r>
              <a:rPr lang="en-US" altLang="en-US" sz="2400" dirty="0" err="1">
                <a:latin typeface="+mn-lt"/>
              </a:rPr>
              <a:t>Depr</a:t>
            </a:r>
            <a:r>
              <a:rPr lang="en-US" altLang="en-US" sz="2400" dirty="0">
                <a:latin typeface="+mn-lt"/>
              </a:rPr>
              <a:t> for year = depreciable amount x units produced during the year divided by the total estimated units that will be produced by the asset</a:t>
            </a:r>
          </a:p>
          <a:p>
            <a:pPr lvl="1">
              <a:buNone/>
            </a:pPr>
            <a:endParaRPr lang="en-US" altLang="en-US" sz="2400" dirty="0">
              <a:latin typeface="+mn-lt"/>
            </a:endParaRPr>
          </a:p>
          <a:p>
            <a:pPr lvl="1">
              <a:buNone/>
            </a:pPr>
            <a:r>
              <a:rPr lang="en-US" altLang="en-US" sz="2400" dirty="0">
                <a:latin typeface="+mn-lt"/>
              </a:rPr>
              <a:t>NB! Asset in use for only a portion of the year – no apportionment needed </a:t>
            </a:r>
          </a:p>
          <a:p>
            <a:pPr lvl="1"/>
            <a:endParaRPr lang="en-US" altLang="en-US" sz="2400" b="1" dirty="0">
              <a:latin typeface="+mn-lt"/>
            </a:endParaRPr>
          </a:p>
          <a:p>
            <a:pPr marL="457200" lvl="1" indent="0">
              <a:buNone/>
            </a:pPr>
            <a:r>
              <a:rPr lang="en-US" altLang="en-US" sz="2400" b="1" dirty="0">
                <a:latin typeface="+mn-lt"/>
              </a:rPr>
              <a:t>Variation</a:t>
            </a:r>
            <a:r>
              <a:rPr lang="en-US" altLang="en-US" sz="2400" dirty="0">
                <a:latin typeface="+mn-lt"/>
              </a:rPr>
              <a:t> </a:t>
            </a:r>
          </a:p>
          <a:p>
            <a:pPr lvl="2"/>
            <a:r>
              <a:rPr lang="en-US" altLang="en-US" sz="2400" dirty="0">
                <a:latin typeface="+mn-lt"/>
              </a:rPr>
              <a:t>use machine hours</a:t>
            </a:r>
          </a:p>
          <a:p>
            <a:pPr lvl="2"/>
            <a:r>
              <a:rPr lang="en-US" altLang="en-US" sz="2400" dirty="0">
                <a:latin typeface="+mn-lt"/>
              </a:rPr>
              <a:t>use kilometers</a:t>
            </a:r>
          </a:p>
          <a:p>
            <a:pPr marL="384048" lvl="2" indent="0">
              <a:buNone/>
            </a:pPr>
            <a:r>
              <a:rPr lang="en-US" altLang="en-US" sz="2400" b="1" dirty="0">
                <a:latin typeface="+mn-lt"/>
              </a:rPr>
              <a:t>Example 4</a:t>
            </a:r>
          </a:p>
        </p:txBody>
      </p:sp>
      <p:pic>
        <p:nvPicPr>
          <p:cNvPr id="4" name="Picture 2" descr="Image result for office building">
            <a:extLst>
              <a:ext uri="{FF2B5EF4-FFF2-40B4-BE49-F238E27FC236}">
                <a16:creationId xmlns:a16="http://schemas.microsoft.com/office/drawing/2014/main" id="{E478D3A1-4DBF-7D34-CD39-8B9DCAAD7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208" y="4959942"/>
            <a:ext cx="1790328" cy="179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939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algn="l" eaLnBrk="1" hangingPunct="1"/>
            <a:r>
              <a:rPr lang="en-GB" altLang="en-US" dirty="0"/>
              <a:t>DERECOGNITION (.67 – .72)</a:t>
            </a:r>
          </a:p>
        </p:txBody>
      </p:sp>
      <p:pic>
        <p:nvPicPr>
          <p:cNvPr id="24578" name="Picture 2" descr="Image result for OFFICE DESK CARTO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7313" y="5474529"/>
            <a:ext cx="2112169" cy="138347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298768" y="1530221"/>
            <a:ext cx="11125197" cy="3441829"/>
          </a:xfrm>
        </p:spPr>
        <p:txBody>
          <a:bodyPr>
            <a:normAutofit/>
          </a:bodyPr>
          <a:lstStyle/>
          <a:p>
            <a:pPr marL="447675" indent="-447675" defTabSz="223838">
              <a:lnSpc>
                <a:spcPct val="80000"/>
              </a:lnSpc>
              <a:buFont typeface="Wingdings" pitchFamily="2" charset="2"/>
              <a:buChar char="q"/>
              <a:tabLst>
                <a:tab pos="630238" algn="l"/>
              </a:tabLst>
            </a:pPr>
            <a:r>
              <a:rPr lang="en-US" altLang="en-US" b="1" dirty="0">
                <a:latin typeface="+mn-lt"/>
              </a:rPr>
              <a:t>(.67)</a:t>
            </a:r>
            <a:r>
              <a:rPr lang="en-US" altLang="en-US" dirty="0">
                <a:latin typeface="+mn-lt"/>
              </a:rPr>
              <a:t> </a:t>
            </a:r>
            <a:r>
              <a:rPr lang="en-US" altLang="en-US" dirty="0" err="1">
                <a:latin typeface="+mn-lt"/>
                <a:cs typeface="Arial" charset="0"/>
              </a:rPr>
              <a:t>Derecognise</a:t>
            </a:r>
            <a:r>
              <a:rPr lang="en-US" altLang="en-US" dirty="0">
                <a:latin typeface="+mn-lt"/>
                <a:cs typeface="Arial" charset="0"/>
              </a:rPr>
              <a:t> the carrying amount if:</a:t>
            </a:r>
          </a:p>
          <a:p>
            <a:pPr marL="1158875" lvl="1" indent="-531813" defTabSz="223838">
              <a:lnSpc>
                <a:spcPct val="80000"/>
              </a:lnSpc>
              <a:tabLst>
                <a:tab pos="630238" algn="l"/>
              </a:tabLst>
            </a:pPr>
            <a:r>
              <a:rPr lang="en-US" altLang="en-US" sz="2400" dirty="0">
                <a:latin typeface="+mn-lt"/>
                <a:cs typeface="Arial" charset="0"/>
              </a:rPr>
              <a:t>Asset is disposed of</a:t>
            </a:r>
          </a:p>
          <a:p>
            <a:pPr marL="1158875" lvl="1" indent="-531813" defTabSz="223838">
              <a:lnSpc>
                <a:spcPct val="80000"/>
              </a:lnSpc>
              <a:tabLst>
                <a:tab pos="630238" algn="l"/>
              </a:tabLst>
            </a:pPr>
            <a:r>
              <a:rPr lang="en-US" altLang="en-US" sz="2400" dirty="0">
                <a:latin typeface="+mn-lt"/>
                <a:cs typeface="Arial" charset="0"/>
              </a:rPr>
              <a:t>No further econ benefits are expected from the use or disposal of the asset</a:t>
            </a:r>
          </a:p>
          <a:p>
            <a:pPr marL="1158875" lvl="1" indent="-531813" defTabSz="223838">
              <a:lnSpc>
                <a:spcPct val="80000"/>
              </a:lnSpc>
              <a:buNone/>
              <a:tabLst>
                <a:tab pos="630238" algn="l"/>
              </a:tabLst>
            </a:pPr>
            <a:endParaRPr lang="en-US" altLang="en-US" sz="2400" dirty="0">
              <a:latin typeface="+mn-lt"/>
              <a:cs typeface="Arial" charset="0"/>
            </a:endParaRPr>
          </a:p>
          <a:p>
            <a:endParaRPr lang="en-ZA" dirty="0">
              <a:latin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r>
              <a:rPr lang="en-GB" altLang="en-US" dirty="0"/>
              <a:t>DERECOGNITION (.67 – .72)</a:t>
            </a:r>
          </a:p>
        </p:txBody>
      </p:sp>
      <p:pic>
        <p:nvPicPr>
          <p:cNvPr id="6" name="Picture 2" descr="Image result for OFFICE DESK CARTO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79831" y="5474529"/>
            <a:ext cx="2112169" cy="1383471"/>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515938" y="1426437"/>
            <a:ext cx="11125197" cy="2779803"/>
          </a:xfrm>
        </p:spPr>
        <p:txBody>
          <a:bodyPr>
            <a:normAutofit/>
          </a:bodyPr>
          <a:lstStyle/>
          <a:p>
            <a:pPr marL="447675" indent="-447675" defTabSz="223838">
              <a:lnSpc>
                <a:spcPct val="80000"/>
              </a:lnSpc>
              <a:buFont typeface="Wingdings" pitchFamily="2" charset="2"/>
              <a:buChar char="q"/>
              <a:tabLst>
                <a:tab pos="630238" algn="l"/>
              </a:tabLst>
              <a:defRPr/>
            </a:pPr>
            <a:r>
              <a:rPr lang="en-US" b="1" dirty="0">
                <a:latin typeface="+mn-lt"/>
              </a:rPr>
              <a:t>(.68)</a:t>
            </a:r>
            <a:r>
              <a:rPr lang="en-US" dirty="0">
                <a:latin typeface="+mn-lt"/>
              </a:rPr>
              <a:t> Profit / loss with </a:t>
            </a:r>
            <a:r>
              <a:rPr lang="en-US" dirty="0" err="1">
                <a:latin typeface="+mn-lt"/>
              </a:rPr>
              <a:t>derecognition</a:t>
            </a:r>
            <a:r>
              <a:rPr lang="en-US" dirty="0">
                <a:latin typeface="+mn-lt"/>
              </a:rPr>
              <a:t> to be </a:t>
            </a:r>
            <a:r>
              <a:rPr lang="en-US" dirty="0" err="1">
                <a:latin typeface="+mn-lt"/>
              </a:rPr>
              <a:t>recognised</a:t>
            </a:r>
            <a:r>
              <a:rPr lang="en-US" dirty="0">
                <a:latin typeface="+mn-lt"/>
              </a:rPr>
              <a:t> in SCI.</a:t>
            </a:r>
            <a:br>
              <a:rPr lang="en-US" dirty="0">
                <a:latin typeface="+mn-lt"/>
              </a:rPr>
            </a:br>
            <a:endParaRPr lang="en-US" dirty="0">
              <a:latin typeface="+mn-lt"/>
            </a:endParaRPr>
          </a:p>
          <a:p>
            <a:pPr marL="1190625" lvl="1" indent="-447675" defTabSz="223838">
              <a:lnSpc>
                <a:spcPct val="80000"/>
              </a:lnSpc>
              <a:tabLst>
                <a:tab pos="630238" algn="l"/>
              </a:tabLst>
              <a:defRPr/>
            </a:pPr>
            <a:r>
              <a:rPr lang="en-US" sz="2400" dirty="0">
                <a:latin typeface="+mn-lt"/>
              </a:rPr>
              <a:t>Profit / loss = net proceeds with sale less carrying amount</a:t>
            </a:r>
            <a:endParaRPr lang="en-ZA" sz="2400" dirty="0">
              <a:latin typeface="+mn-lt"/>
            </a:endParaRPr>
          </a:p>
          <a:p>
            <a:endParaRPr lang="en-ZA" b="1" dirty="0">
              <a:latin typeface="+mn-lt"/>
            </a:endParaRPr>
          </a:p>
          <a:p>
            <a:pPr marL="0" indent="0">
              <a:buNone/>
            </a:pPr>
            <a:r>
              <a:rPr lang="en-ZA" b="1" dirty="0">
                <a:latin typeface="+mn-lt"/>
              </a:rPr>
              <a:t>Example 7+8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6"/>
          <p:cNvSpPr>
            <a:spLocks noGrp="1" noChangeArrowheads="1"/>
          </p:cNvSpPr>
          <p:nvPr>
            <p:ph type="title"/>
          </p:nvPr>
        </p:nvSpPr>
        <p:spPr/>
        <p:txBody>
          <a:bodyPr>
            <a:normAutofit/>
          </a:bodyPr>
          <a:lstStyle/>
          <a:p>
            <a:pPr algn="l" eaLnBrk="1" hangingPunct="1"/>
            <a:r>
              <a:rPr lang="en-GB" altLang="en-US" dirty="0"/>
              <a:t>DISCLOSURE (.73 - .79)</a:t>
            </a:r>
          </a:p>
        </p:txBody>
      </p:sp>
      <p:graphicFrame>
        <p:nvGraphicFramePr>
          <p:cNvPr id="7" name="Table 6">
            <a:extLst>
              <a:ext uri="{FF2B5EF4-FFF2-40B4-BE49-F238E27FC236}">
                <a16:creationId xmlns:a16="http://schemas.microsoft.com/office/drawing/2014/main" id="{B89BAFAF-5167-0E57-9A9E-DF2E576ABAAD}"/>
              </a:ext>
            </a:extLst>
          </p:cNvPr>
          <p:cNvGraphicFramePr>
            <a:graphicFrameLocks noGrp="1"/>
          </p:cNvGraphicFramePr>
          <p:nvPr>
            <p:extLst>
              <p:ext uri="{D42A27DB-BD31-4B8C-83A1-F6EECF244321}">
                <p14:modId xmlns:p14="http://schemas.microsoft.com/office/powerpoint/2010/main" val="714731795"/>
              </p:ext>
            </p:extLst>
          </p:nvPr>
        </p:nvGraphicFramePr>
        <p:xfrm>
          <a:off x="347472" y="1447408"/>
          <a:ext cx="11466576" cy="3663109"/>
        </p:xfrm>
        <a:graphic>
          <a:graphicData uri="http://schemas.openxmlformats.org/drawingml/2006/table">
            <a:tbl>
              <a:tblPr firstRow="1" firstCol="1" bandRow="1"/>
              <a:tblGrid>
                <a:gridCol w="1810512">
                  <a:extLst>
                    <a:ext uri="{9D8B030D-6E8A-4147-A177-3AD203B41FA5}">
                      <a16:colId xmlns:a16="http://schemas.microsoft.com/office/drawing/2014/main" val="20000"/>
                    </a:ext>
                  </a:extLst>
                </a:gridCol>
                <a:gridCol w="9656064">
                  <a:extLst>
                    <a:ext uri="{9D8B030D-6E8A-4147-A177-3AD203B41FA5}">
                      <a16:colId xmlns:a16="http://schemas.microsoft.com/office/drawing/2014/main" val="20001"/>
                    </a:ext>
                  </a:extLst>
                </a:gridCol>
              </a:tblGrid>
              <a:tr h="410073">
                <a:tc>
                  <a:txBody>
                    <a:bodyPr/>
                    <a:lstStyle/>
                    <a:p>
                      <a:pPr algn="just">
                        <a:spcAft>
                          <a:spcPts val="0"/>
                        </a:spcAft>
                      </a:pPr>
                      <a:r>
                        <a:rPr lang="en-ZA" sz="2000" dirty="0">
                          <a:effectLst/>
                          <a:latin typeface="+mn-lt"/>
                          <a:ea typeface="Times New Roman"/>
                        </a:rPr>
                        <a:t>IAS16:73(a)</a:t>
                      </a:r>
                      <a:endParaRPr lang="en-ZA" sz="2800" dirty="0">
                        <a:effectLst/>
                        <a:latin typeface="+mn-lt"/>
                        <a:ea typeface="Times New Roman"/>
                      </a:endParaRP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000" dirty="0">
                          <a:effectLst/>
                          <a:latin typeface="+mn-lt"/>
                          <a:ea typeface="Times New Roman"/>
                        </a:rPr>
                        <a:t>The measurement basis used for determining the gross carrying amount of the property, plant and equipment. </a:t>
                      </a:r>
                      <a:endParaRPr lang="en-ZA" sz="2800" dirty="0">
                        <a:effectLst/>
                        <a:latin typeface="+mn-lt"/>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r h="205036">
                <a:tc>
                  <a:txBody>
                    <a:bodyPr/>
                    <a:lstStyle/>
                    <a:p>
                      <a:pPr algn="just">
                        <a:spcAft>
                          <a:spcPts val="0"/>
                        </a:spcAft>
                      </a:pPr>
                      <a:r>
                        <a:rPr lang="en-ZA" sz="2000" dirty="0">
                          <a:effectLst/>
                          <a:latin typeface="+mn-lt"/>
                          <a:ea typeface="Times New Roman"/>
                        </a:rPr>
                        <a:t>IAS16:73(b– c)</a:t>
                      </a:r>
                      <a:endParaRPr lang="en-ZA" sz="2800" dirty="0">
                        <a:effectLst/>
                        <a:latin typeface="+mn-lt"/>
                        <a:ea typeface="Times New Roman"/>
                      </a:endParaRP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000" dirty="0">
                          <a:effectLst/>
                          <a:latin typeface="+mn-lt"/>
                          <a:ea typeface="Times New Roman"/>
                        </a:rPr>
                        <a:t>The depreciation method, depreciation rate and useful lives used</a:t>
                      </a:r>
                      <a:endParaRPr lang="en-ZA" sz="2800" dirty="0">
                        <a:effectLst/>
                        <a:latin typeface="+mn-lt"/>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410073">
                <a:tc>
                  <a:txBody>
                    <a:bodyPr/>
                    <a:lstStyle/>
                    <a:p>
                      <a:pPr algn="just">
                        <a:spcAft>
                          <a:spcPts val="0"/>
                        </a:spcAft>
                      </a:pPr>
                      <a:r>
                        <a:rPr lang="en-ZA" sz="2000" dirty="0">
                          <a:effectLst/>
                          <a:latin typeface="+mn-lt"/>
                          <a:ea typeface="Times New Roman"/>
                        </a:rPr>
                        <a:t>IAS16:73(d)</a:t>
                      </a:r>
                      <a:endParaRPr lang="en-ZA" sz="2800" dirty="0">
                        <a:effectLst/>
                        <a:latin typeface="+mn-lt"/>
                        <a:ea typeface="Times New Roman"/>
                      </a:endParaRP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000" dirty="0">
                          <a:effectLst/>
                          <a:latin typeface="+mn-lt"/>
                          <a:ea typeface="Times New Roman"/>
                        </a:rPr>
                        <a:t>Gross carrying amount and accumulated depreciation at the beginning and end of the year</a:t>
                      </a:r>
                      <a:endParaRPr lang="en-ZA" sz="2800" dirty="0">
                        <a:effectLst/>
                        <a:latin typeface="+mn-lt"/>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615109">
                <a:tc>
                  <a:txBody>
                    <a:bodyPr/>
                    <a:lstStyle/>
                    <a:p>
                      <a:pPr algn="just">
                        <a:spcAft>
                          <a:spcPts val="0"/>
                        </a:spcAft>
                      </a:pPr>
                      <a:r>
                        <a:rPr lang="en-ZA" sz="2000" dirty="0">
                          <a:effectLst/>
                          <a:latin typeface="+mn-lt"/>
                          <a:ea typeface="Times New Roman"/>
                        </a:rPr>
                        <a:t>IAS16:73(e)</a:t>
                      </a:r>
                      <a:endParaRPr lang="en-ZA" sz="2800" dirty="0">
                        <a:effectLst/>
                        <a:latin typeface="+mn-lt"/>
                        <a:ea typeface="Times New Roman"/>
                      </a:endParaRP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000" dirty="0">
                          <a:effectLst/>
                          <a:latin typeface="+mn-lt"/>
                          <a:ea typeface="Times New Roman"/>
                        </a:rPr>
                        <a:t>Reconciliation of the carrying amount from beginning to end of the year showing additions, disposals, revaluations, depreciation and any other movements.</a:t>
                      </a:r>
                      <a:endParaRPr lang="en-ZA" sz="2800" dirty="0">
                        <a:effectLst/>
                        <a:latin typeface="+mn-lt"/>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205036">
                <a:tc>
                  <a:txBody>
                    <a:bodyPr/>
                    <a:lstStyle/>
                    <a:p>
                      <a:pPr algn="just">
                        <a:spcAft>
                          <a:spcPts val="0"/>
                        </a:spcAft>
                      </a:pPr>
                      <a:r>
                        <a:rPr lang="en-ZA" sz="2000" dirty="0">
                          <a:effectLst/>
                          <a:latin typeface="+mn-lt"/>
                          <a:ea typeface="Times New Roman"/>
                        </a:rPr>
                        <a:t>IAS16:74(a)</a:t>
                      </a:r>
                      <a:endParaRPr lang="en-ZA" sz="2800" dirty="0">
                        <a:effectLst/>
                        <a:latin typeface="+mn-lt"/>
                        <a:ea typeface="Times New Roman"/>
                      </a:endParaRP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000" dirty="0">
                          <a:effectLst/>
                          <a:latin typeface="+mn-lt"/>
                          <a:ea typeface="Times New Roman"/>
                        </a:rPr>
                        <a:t>Restrictions on title or whether asset is pledged as security</a:t>
                      </a:r>
                      <a:endParaRPr lang="en-ZA" sz="2800" dirty="0">
                        <a:effectLst/>
                        <a:latin typeface="+mn-lt"/>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410073">
                <a:tc>
                  <a:txBody>
                    <a:bodyPr/>
                    <a:lstStyle/>
                    <a:p>
                      <a:pPr algn="just">
                        <a:spcAft>
                          <a:spcPts val="0"/>
                        </a:spcAft>
                      </a:pPr>
                      <a:r>
                        <a:rPr lang="en-ZA" sz="2000" dirty="0">
                          <a:effectLst/>
                          <a:latin typeface="+mn-lt"/>
                          <a:ea typeface="Times New Roman"/>
                        </a:rPr>
                        <a:t>IAS16:74(d)</a:t>
                      </a:r>
                      <a:endParaRPr lang="en-ZA" sz="2800" dirty="0">
                        <a:effectLst/>
                        <a:latin typeface="+mn-lt"/>
                        <a:ea typeface="Times New Roman"/>
                      </a:endParaRP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000" dirty="0">
                          <a:effectLst/>
                          <a:latin typeface="+mn-lt"/>
                          <a:ea typeface="Times New Roman"/>
                        </a:rPr>
                        <a:t>Any compensation received for assets that were disposed of or written-off during the year</a:t>
                      </a:r>
                      <a:endParaRPr lang="en-ZA" sz="2800" dirty="0">
                        <a:effectLst/>
                        <a:latin typeface="+mn-lt"/>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r h="410073">
                <a:tc>
                  <a:txBody>
                    <a:bodyPr/>
                    <a:lstStyle/>
                    <a:p>
                      <a:pPr algn="just">
                        <a:spcAft>
                          <a:spcPts val="0"/>
                        </a:spcAft>
                      </a:pPr>
                      <a:r>
                        <a:rPr lang="en-ZA" sz="2000" dirty="0">
                          <a:effectLst/>
                          <a:latin typeface="+mn-lt"/>
                          <a:ea typeface="Times New Roman"/>
                        </a:rPr>
                        <a:t>IAS1:97</a:t>
                      </a:r>
                      <a:endParaRPr lang="en-ZA" sz="2800" dirty="0">
                        <a:effectLst/>
                        <a:latin typeface="+mn-lt"/>
                        <a:ea typeface="Times New Roman"/>
                      </a:endParaRP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000" dirty="0">
                          <a:effectLst/>
                          <a:latin typeface="+mn-lt"/>
                          <a:ea typeface="Times New Roman"/>
                        </a:rPr>
                        <a:t>Profit or loss on sale of property, plant and equipment (usually considered to be qualitatively material)</a:t>
                      </a:r>
                      <a:endParaRPr lang="en-ZA" sz="2800" dirty="0">
                        <a:effectLst/>
                        <a:latin typeface="+mn-lt"/>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04650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normAutofit/>
          </a:bodyPr>
          <a:lstStyle/>
          <a:p>
            <a:pPr algn="l" eaLnBrk="1" hangingPunct="1"/>
            <a:r>
              <a:rPr lang="en-GB" altLang="en-US" sz="3200" dirty="0"/>
              <a:t>MEASURMENT AFTER INITIAL RECOGNITION</a:t>
            </a:r>
          </a:p>
        </p:txBody>
      </p:sp>
      <p:sp>
        <p:nvSpPr>
          <p:cNvPr id="3" name="Content Placeholder 2"/>
          <p:cNvSpPr>
            <a:spLocks noGrp="1"/>
          </p:cNvSpPr>
          <p:nvPr>
            <p:ph idx="1"/>
          </p:nvPr>
        </p:nvSpPr>
        <p:spPr>
          <a:xfrm>
            <a:off x="100584" y="3702263"/>
            <a:ext cx="11990832" cy="2870413"/>
          </a:xfrm>
        </p:spPr>
        <p:txBody>
          <a:bodyPr>
            <a:noAutofit/>
          </a:bodyPr>
          <a:lstStyle/>
          <a:p>
            <a:pPr marL="0" indent="0">
              <a:lnSpc>
                <a:spcPct val="120000"/>
              </a:lnSpc>
              <a:buNone/>
              <a:defRPr/>
            </a:pPr>
            <a:r>
              <a:rPr lang="en-US" sz="2400" b="1" dirty="0">
                <a:latin typeface="+mn-lt"/>
                <a:cs typeface="Arial" panose="020B0604020202020204" pitchFamily="34" charset="0"/>
              </a:rPr>
              <a:t>(.29)  </a:t>
            </a:r>
            <a:r>
              <a:rPr lang="en-US" sz="2400" dirty="0">
                <a:latin typeface="+mn-lt"/>
                <a:cs typeface="Arial" panose="020B0604020202020204" pitchFamily="34" charset="0"/>
              </a:rPr>
              <a:t>Entity choose  cost – or revaluation model   </a:t>
            </a:r>
          </a:p>
          <a:p>
            <a:pPr marL="0" indent="0">
              <a:lnSpc>
                <a:spcPct val="120000"/>
              </a:lnSpc>
              <a:buNone/>
              <a:defRPr/>
            </a:pPr>
            <a:r>
              <a:rPr lang="en-US" sz="2400" b="1" dirty="0">
                <a:latin typeface="+mn-lt"/>
                <a:cs typeface="Arial" panose="020B0604020202020204" pitchFamily="34" charset="0"/>
              </a:rPr>
              <a:t>(.30)  </a:t>
            </a:r>
            <a:r>
              <a:rPr lang="en-US" sz="2400" b="1" u="sng" dirty="0">
                <a:latin typeface="+mn-lt"/>
                <a:cs typeface="Arial" panose="020B0604020202020204" pitchFamily="34" charset="0"/>
              </a:rPr>
              <a:t>Cost model</a:t>
            </a:r>
            <a:r>
              <a:rPr lang="en-US" sz="2400" dirty="0">
                <a:latin typeface="+mn-lt"/>
                <a:cs typeface="Arial" panose="020B0604020202020204" pitchFamily="34" charset="0"/>
              </a:rPr>
              <a:t>: Carrying amount = Cost less accumulated depreciation and accumulated impairment losses</a:t>
            </a:r>
          </a:p>
          <a:p>
            <a:pPr marL="0" indent="0">
              <a:lnSpc>
                <a:spcPct val="120000"/>
              </a:lnSpc>
              <a:buNone/>
              <a:defRPr/>
            </a:pPr>
            <a:r>
              <a:rPr lang="en-US" sz="2400" b="1" dirty="0">
                <a:latin typeface="+mn-lt"/>
                <a:cs typeface="Arial" panose="020B0604020202020204" pitchFamily="34" charset="0"/>
              </a:rPr>
              <a:t>(.31)  </a:t>
            </a:r>
            <a:r>
              <a:rPr lang="en-US" sz="2400" b="1" u="sng" dirty="0">
                <a:latin typeface="+mn-lt"/>
                <a:cs typeface="Arial" panose="020B0604020202020204" pitchFamily="34" charset="0"/>
              </a:rPr>
              <a:t>Revaluation model</a:t>
            </a:r>
            <a:r>
              <a:rPr lang="en-US" sz="2400" dirty="0">
                <a:latin typeface="+mn-lt"/>
                <a:cs typeface="Arial" panose="020B0604020202020204" pitchFamily="34" charset="0"/>
              </a:rPr>
              <a:t>: Carrying amount = Revalued amount (fair value at date of revaluation)  less subsequent accumulated depreciation and subsequent accumulated impairment losses</a:t>
            </a:r>
          </a:p>
        </p:txBody>
      </p:sp>
      <p:cxnSp>
        <p:nvCxnSpPr>
          <p:cNvPr id="11" name="Straight Arrow Connector 10"/>
          <p:cNvCxnSpPr/>
          <p:nvPr/>
        </p:nvCxnSpPr>
        <p:spPr>
          <a:xfrm rot="10800000" flipV="1">
            <a:off x="5429566" y="2755663"/>
            <a:ext cx="360363" cy="144463"/>
          </a:xfrm>
          <a:prstGeom prst="straightConnector1">
            <a:avLst/>
          </a:prstGeom>
          <a:ln w="38100">
            <a:solidFill>
              <a:schemeClr val="tx1">
                <a:lumMod val="95000"/>
                <a:lumOff val="5000"/>
              </a:schemeClr>
            </a:solidFill>
            <a:tailEnd type="arrow"/>
          </a:ln>
        </p:spPr>
        <p:style>
          <a:lnRef idx="1">
            <a:schemeClr val="accent2"/>
          </a:lnRef>
          <a:fillRef idx="0">
            <a:schemeClr val="accent2"/>
          </a:fillRef>
          <a:effectRef idx="0">
            <a:schemeClr val="accent2"/>
          </a:effectRef>
          <a:fontRef idx="minor">
            <a:schemeClr val="tx1"/>
          </a:fontRef>
        </p:style>
      </p:cxnSp>
      <p:cxnSp>
        <p:nvCxnSpPr>
          <p:cNvPr id="15" name="Straight Arrow Connector 14"/>
          <p:cNvCxnSpPr/>
          <p:nvPr/>
        </p:nvCxnSpPr>
        <p:spPr>
          <a:xfrm>
            <a:off x="6364513" y="2755664"/>
            <a:ext cx="360362" cy="1444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auto">
          <a:xfrm>
            <a:off x="4368007" y="1305489"/>
            <a:ext cx="3455987" cy="746953"/>
          </a:xfrm>
          <a:prstGeom prst="rect">
            <a:avLst/>
          </a:prstGeom>
          <a:ln>
            <a:headEnd type="none" w="med" len="med"/>
            <a:tailEnd type="triangl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ZA" sz="2400" b="1" u="sng" dirty="0">
                <a:solidFill>
                  <a:srgbClr val="FFFFFF"/>
                </a:solidFill>
                <a:latin typeface="Calibri" panose="020F0502020204030204"/>
              </a:rPr>
              <a:t>Initial recognition</a:t>
            </a:r>
          </a:p>
          <a:p>
            <a:pPr algn="ctr" fontAlgn="base">
              <a:spcBef>
                <a:spcPct val="0"/>
              </a:spcBef>
              <a:spcAft>
                <a:spcPct val="0"/>
              </a:spcAft>
            </a:pPr>
            <a:r>
              <a:rPr lang="en-ZA" sz="2400" b="1" dirty="0">
                <a:solidFill>
                  <a:srgbClr val="FFFFFF"/>
                </a:solidFill>
                <a:latin typeface="Calibri" panose="020F0502020204030204"/>
              </a:rPr>
              <a:t>COST PRICE</a:t>
            </a:r>
          </a:p>
        </p:txBody>
      </p:sp>
      <p:sp>
        <p:nvSpPr>
          <p:cNvPr id="17" name="Rectangle 16"/>
          <p:cNvSpPr/>
          <p:nvPr/>
        </p:nvSpPr>
        <p:spPr bwMode="auto">
          <a:xfrm>
            <a:off x="4010809" y="2179857"/>
            <a:ext cx="4179772" cy="503573"/>
          </a:xfrm>
          <a:prstGeom prst="rect">
            <a:avLst/>
          </a:prstGeom>
          <a:ln>
            <a:headEnd type="none" w="med" len="med"/>
            <a:tailEnd type="triangl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ZA" sz="2400" b="1" u="sng" dirty="0">
                <a:solidFill>
                  <a:srgbClr val="4D5356"/>
                </a:solidFill>
                <a:latin typeface="Calibri" panose="020F0502020204030204"/>
              </a:rPr>
              <a:t>Subsequent measurement</a:t>
            </a:r>
            <a:endParaRPr lang="en-ZA" sz="2400" b="1" dirty="0">
              <a:solidFill>
                <a:srgbClr val="4D5356"/>
              </a:solidFill>
              <a:latin typeface="Calibri" panose="020F0502020204030204"/>
            </a:endParaRPr>
          </a:p>
        </p:txBody>
      </p:sp>
      <p:sp>
        <p:nvSpPr>
          <p:cNvPr id="18" name="Rectangle 17"/>
          <p:cNvSpPr/>
          <p:nvPr/>
        </p:nvSpPr>
        <p:spPr bwMode="auto">
          <a:xfrm>
            <a:off x="3644222" y="2931525"/>
            <a:ext cx="1822905" cy="770738"/>
          </a:xfrm>
          <a:prstGeom prst="rect">
            <a:avLst/>
          </a:prstGeom>
          <a:ln>
            <a:headEnd type="none" w="med" len="med"/>
            <a:tailEnd type="triangl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ZA" sz="2400" b="1" dirty="0">
                <a:solidFill>
                  <a:srgbClr val="FFFFFF"/>
                </a:solidFill>
                <a:latin typeface="Calibri" panose="020F0502020204030204"/>
              </a:rPr>
              <a:t>COST MODEL</a:t>
            </a:r>
          </a:p>
        </p:txBody>
      </p:sp>
      <p:sp>
        <p:nvSpPr>
          <p:cNvPr id="19" name="Rectangle 18"/>
          <p:cNvSpPr/>
          <p:nvPr/>
        </p:nvSpPr>
        <p:spPr bwMode="auto">
          <a:xfrm>
            <a:off x="6456041" y="2926810"/>
            <a:ext cx="2029591" cy="775453"/>
          </a:xfrm>
          <a:prstGeom prst="rect">
            <a:avLst/>
          </a:prstGeom>
          <a:ln>
            <a:headEnd type="none" w="med" len="med"/>
            <a:tailEnd type="triangle" w="med" len="med"/>
          </a:ln>
        </p:spPr>
        <p:style>
          <a:lnRef idx="3">
            <a:schemeClr val="lt1"/>
          </a:lnRef>
          <a:fillRef idx="1">
            <a:schemeClr val="dk1"/>
          </a:fillRef>
          <a:effectRef idx="1">
            <a:schemeClr val="dk1"/>
          </a:effectRef>
          <a:fontRef idx="minor">
            <a:schemeClr val="lt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ZA" sz="2400" b="1" dirty="0">
                <a:solidFill>
                  <a:srgbClr val="FFFFFF"/>
                </a:solidFill>
                <a:latin typeface="Calibri" panose="020F0502020204030204"/>
              </a:rPr>
              <a:t>REVALUATION MODEL</a:t>
            </a:r>
          </a:p>
        </p:txBody>
      </p:sp>
    </p:spTree>
    <p:extLst>
      <p:ext uri="{BB962C8B-B14F-4D97-AF65-F5344CB8AC3E}">
        <p14:creationId xmlns:p14="http://schemas.microsoft.com/office/powerpoint/2010/main" val="41570063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1910954" y="285324"/>
            <a:ext cx="6561310" cy="1052900"/>
          </a:xfrm>
        </p:spPr>
        <p:txBody>
          <a:bodyPr>
            <a:normAutofit fontScale="90000"/>
          </a:bodyPr>
          <a:lstStyle/>
          <a:p>
            <a:r>
              <a:rPr lang="en-GB" altLang="en-US" sz="3200" dirty="0"/>
              <a:t>MEASUREMENT AFTER INITIAL RECOGNITION: Revaluation model</a:t>
            </a:r>
          </a:p>
        </p:txBody>
      </p:sp>
      <p:sp>
        <p:nvSpPr>
          <p:cNvPr id="2" name="Content Placeholder 1"/>
          <p:cNvSpPr>
            <a:spLocks noGrp="1"/>
          </p:cNvSpPr>
          <p:nvPr>
            <p:ph idx="1"/>
          </p:nvPr>
        </p:nvSpPr>
        <p:spPr>
          <a:xfrm>
            <a:off x="423352" y="1755252"/>
            <a:ext cx="11189528" cy="2881885"/>
          </a:xfrm>
        </p:spPr>
        <p:txBody>
          <a:bodyPr>
            <a:normAutofit lnSpcReduction="10000"/>
          </a:bodyPr>
          <a:lstStyle/>
          <a:p>
            <a:pPr marL="0" indent="0">
              <a:buNone/>
            </a:pPr>
            <a:r>
              <a:rPr lang="en-US" altLang="en-US" sz="2400" b="1" dirty="0">
                <a:latin typeface="+mn-lt"/>
                <a:cs typeface="Arial" panose="020B0604020202020204" pitchFamily="34" charset="0"/>
              </a:rPr>
              <a:t>(.31) </a:t>
            </a:r>
            <a:r>
              <a:rPr lang="en-US" altLang="en-US" sz="2400" dirty="0">
                <a:latin typeface="+mn-lt"/>
                <a:cs typeface="Arial" panose="020B0604020202020204" pitchFamily="34" charset="0"/>
              </a:rPr>
              <a:t>Can only revalue if fair value can be measured reliably.</a:t>
            </a:r>
          </a:p>
          <a:p>
            <a:pPr>
              <a:buFont typeface="Wingdings" panose="05000000000000000000" pitchFamily="2" charset="2"/>
              <a:buChar char="Ø"/>
            </a:pPr>
            <a:endParaRPr lang="en-US" altLang="en-US" sz="2400" dirty="0">
              <a:latin typeface="+mn-lt"/>
              <a:cs typeface="Arial" panose="020B0604020202020204" pitchFamily="34" charset="0"/>
            </a:endParaRPr>
          </a:p>
          <a:p>
            <a:pPr marL="0" indent="0" defTabSz="223838">
              <a:lnSpc>
                <a:spcPct val="80000"/>
              </a:lnSpc>
              <a:buNone/>
              <a:tabLst>
                <a:tab pos="630238" algn="l"/>
              </a:tabLst>
              <a:defRPr/>
            </a:pPr>
            <a:r>
              <a:rPr lang="en-US" sz="2400" b="1" dirty="0">
                <a:latin typeface="+mn-lt"/>
                <a:cs typeface="Arial" panose="020B0604020202020204" pitchFamily="34" charset="0"/>
              </a:rPr>
              <a:t>(.6) Definition of Fair value</a:t>
            </a:r>
          </a:p>
          <a:p>
            <a:pPr marL="742950" lvl="1" indent="0" defTabSz="223838">
              <a:lnSpc>
                <a:spcPct val="80000"/>
              </a:lnSpc>
              <a:buNone/>
              <a:tabLst>
                <a:tab pos="630238" algn="l"/>
              </a:tabLst>
              <a:defRPr/>
            </a:pPr>
            <a:r>
              <a:rPr lang="en-US" sz="2400" dirty="0">
                <a:latin typeface="+mn-lt"/>
                <a:cs typeface="Arial" panose="020B0604020202020204" pitchFamily="34" charset="0"/>
              </a:rPr>
              <a:t>Price that would be received to sell an asset (or paid to transfer a liability) in an orderly transaction between market participants at the measurement date.</a:t>
            </a:r>
          </a:p>
          <a:p>
            <a:pPr marL="1085850" lvl="1" indent="-342900" defTabSz="223838">
              <a:lnSpc>
                <a:spcPct val="80000"/>
              </a:lnSpc>
              <a:buFont typeface="Wingdings" panose="05000000000000000000" pitchFamily="2" charset="2"/>
              <a:buChar char="Ø"/>
              <a:tabLst>
                <a:tab pos="630238" algn="l"/>
              </a:tabLst>
              <a:defRPr/>
            </a:pPr>
            <a:endParaRPr lang="en-US" altLang="en-US" sz="2400" dirty="0">
              <a:latin typeface="+mn-lt"/>
              <a:cs typeface="Arial" panose="020B0604020202020204" pitchFamily="34" charset="0"/>
            </a:endParaRPr>
          </a:p>
          <a:p>
            <a:pPr marL="0" indent="0">
              <a:buNone/>
            </a:pPr>
            <a:r>
              <a:rPr lang="en-US" altLang="en-US" sz="2400" b="1" dirty="0">
                <a:latin typeface="+mn-lt"/>
                <a:cs typeface="Arial" panose="020B0604020202020204" pitchFamily="34" charset="0"/>
              </a:rPr>
              <a:t>(.31) </a:t>
            </a:r>
            <a:r>
              <a:rPr lang="en-US" altLang="en-US" sz="2400" dirty="0">
                <a:latin typeface="+mn-lt"/>
                <a:cs typeface="Arial" panose="020B0604020202020204" pitchFamily="34" charset="0"/>
              </a:rPr>
              <a:t>Revaluation must be performed on a regular basis to ensure that the carrying amount does not differ materially from the fair value at reporting date.</a:t>
            </a:r>
          </a:p>
        </p:txBody>
      </p:sp>
      <p:pic>
        <p:nvPicPr>
          <p:cNvPr id="4" name="Picture 2" descr="Image result for building clipart">
            <a:extLst>
              <a:ext uri="{FF2B5EF4-FFF2-40B4-BE49-F238E27FC236}">
                <a16:creationId xmlns:a16="http://schemas.microsoft.com/office/drawing/2014/main" id="{F01111DC-3898-D91F-85F9-D73E34F60F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84882" y="5394676"/>
            <a:ext cx="1463325" cy="146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4134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136" y="1682606"/>
            <a:ext cx="11539728" cy="3906634"/>
          </a:xfrm>
        </p:spPr>
        <p:txBody>
          <a:bodyPr>
            <a:normAutofit/>
          </a:bodyPr>
          <a:lstStyle/>
          <a:p>
            <a:pPr marL="0" indent="0">
              <a:buNone/>
              <a:defRPr/>
            </a:pPr>
            <a:r>
              <a:rPr lang="en-US" sz="2400" b="1" dirty="0">
                <a:latin typeface="+mn-lt"/>
                <a:cs typeface="Arial" panose="020B0604020202020204" pitchFamily="34" charset="0"/>
              </a:rPr>
              <a:t>(.39) </a:t>
            </a:r>
            <a:r>
              <a:rPr lang="en-US" sz="2400" dirty="0">
                <a:latin typeface="+mn-lt"/>
                <a:cs typeface="Arial" panose="020B0604020202020204" pitchFamily="34" charset="0"/>
              </a:rPr>
              <a:t>If carrying amount of asset increases because of revaluation</a:t>
            </a:r>
          </a:p>
          <a:p>
            <a:pPr lvl="1">
              <a:buFont typeface="Wingdings" panose="05000000000000000000" pitchFamily="2" charset="2"/>
              <a:buChar char="§"/>
              <a:defRPr/>
            </a:pPr>
            <a:r>
              <a:rPr lang="en-US" sz="2400" dirty="0">
                <a:latin typeface="+mn-lt"/>
                <a:cs typeface="Arial" panose="020B0604020202020204" pitchFamily="34" charset="0"/>
              </a:rPr>
              <a:t>Cr Other  comprehensive income in SCI (and accumulate in revaluation surplus in equity); </a:t>
            </a:r>
          </a:p>
          <a:p>
            <a:pPr>
              <a:buFont typeface="Wingdings" panose="05000000000000000000" pitchFamily="2" charset="2"/>
              <a:buChar char="Ø"/>
              <a:defRPr/>
            </a:pPr>
            <a:endParaRPr lang="en-US" sz="2400" dirty="0">
              <a:latin typeface="+mn-lt"/>
              <a:cs typeface="Arial" panose="020B0604020202020204" pitchFamily="34" charset="0"/>
            </a:endParaRPr>
          </a:p>
          <a:p>
            <a:pPr marL="0" indent="0">
              <a:buNone/>
              <a:defRPr/>
            </a:pPr>
            <a:r>
              <a:rPr lang="en-US" sz="2400" b="1" dirty="0">
                <a:latin typeface="+mn-lt"/>
                <a:cs typeface="Arial" panose="020B0604020202020204" pitchFamily="34" charset="0"/>
              </a:rPr>
              <a:t>(.40) </a:t>
            </a:r>
            <a:r>
              <a:rPr lang="en-US" sz="2400" dirty="0">
                <a:latin typeface="+mn-lt"/>
                <a:cs typeface="Arial" panose="020B0604020202020204" pitchFamily="34" charset="0"/>
              </a:rPr>
              <a:t>If carrying amount of asset decreases because of revaluation</a:t>
            </a:r>
          </a:p>
          <a:p>
            <a:pPr lvl="1">
              <a:buFont typeface="Wingdings" panose="05000000000000000000" pitchFamily="2" charset="2"/>
              <a:buChar char="§"/>
              <a:defRPr/>
            </a:pPr>
            <a:r>
              <a:rPr lang="en-US" sz="2400" dirty="0">
                <a:latin typeface="+mn-lt"/>
                <a:cs typeface="Arial" panose="020B0604020202020204" pitchFamily="34" charset="0"/>
              </a:rPr>
              <a:t>Dr Other  comprehensive income (in SCI) to the extent of any credit balance remaining in the revaluation surplus.</a:t>
            </a:r>
          </a:p>
          <a:p>
            <a:pPr lvl="1">
              <a:defRPr/>
            </a:pPr>
            <a:endParaRPr lang="en-US" sz="2400" dirty="0">
              <a:latin typeface="+mn-lt"/>
              <a:cs typeface="Arial" panose="020B0604020202020204" pitchFamily="34" charset="0"/>
            </a:endParaRPr>
          </a:p>
          <a:p>
            <a:pPr marL="201168" lvl="1" indent="0">
              <a:buNone/>
              <a:defRPr/>
            </a:pPr>
            <a:r>
              <a:rPr lang="en-US" sz="2400" b="1" dirty="0">
                <a:highlight>
                  <a:srgbClr val="FFFF00"/>
                </a:highlight>
                <a:latin typeface="+mn-lt"/>
                <a:cs typeface="Arial" panose="020B0604020202020204" pitchFamily="34" charset="0"/>
              </a:rPr>
              <a:t>Example 9</a:t>
            </a:r>
          </a:p>
          <a:p>
            <a:endParaRPr lang="en-ZA" sz="2400" dirty="0">
              <a:latin typeface="+mn-lt"/>
              <a:cs typeface="Arial" panose="020B0604020202020204" pitchFamily="34" charset="0"/>
            </a:endParaRPr>
          </a:p>
        </p:txBody>
      </p:sp>
      <p:pic>
        <p:nvPicPr>
          <p:cNvPr id="6" name="Picture 2" descr="Image result for building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84882" y="5394676"/>
            <a:ext cx="1463325" cy="14633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a:extLst>
              <a:ext uri="{FF2B5EF4-FFF2-40B4-BE49-F238E27FC236}">
                <a16:creationId xmlns:a16="http://schemas.microsoft.com/office/drawing/2014/main" id="{132F7CE6-D0F6-B4E8-34F7-AA8C5C9B82CB}"/>
              </a:ext>
            </a:extLst>
          </p:cNvPr>
          <p:cNvSpPr>
            <a:spLocks noGrp="1" noChangeArrowheads="1"/>
          </p:cNvSpPr>
          <p:nvPr>
            <p:ph type="title"/>
          </p:nvPr>
        </p:nvSpPr>
        <p:spPr>
          <a:xfrm>
            <a:off x="1910954" y="285324"/>
            <a:ext cx="6561310" cy="1052900"/>
          </a:xfrm>
        </p:spPr>
        <p:txBody>
          <a:bodyPr>
            <a:normAutofit fontScale="90000"/>
          </a:bodyPr>
          <a:lstStyle/>
          <a:p>
            <a:r>
              <a:rPr lang="en-GB" altLang="en-US" sz="3200" dirty="0"/>
              <a:t>MEASUREMENT AFTER INITIAL RECOGNITION: Revaluation model</a:t>
            </a:r>
          </a:p>
        </p:txBody>
      </p:sp>
    </p:spTree>
    <p:extLst>
      <p:ext uri="{BB962C8B-B14F-4D97-AF65-F5344CB8AC3E}">
        <p14:creationId xmlns:p14="http://schemas.microsoft.com/office/powerpoint/2010/main" val="1583248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624013706"/>
              </p:ext>
            </p:extLst>
          </p:nvPr>
        </p:nvGraphicFramePr>
        <p:xfrm>
          <a:off x="201168" y="1933929"/>
          <a:ext cx="11521440" cy="2194560"/>
        </p:xfrm>
        <a:graphic>
          <a:graphicData uri="http://schemas.openxmlformats.org/drawingml/2006/table">
            <a:tbl>
              <a:tblPr firstRow="1" firstCol="1" bandRow="1"/>
              <a:tblGrid>
                <a:gridCol w="2139964">
                  <a:extLst>
                    <a:ext uri="{9D8B030D-6E8A-4147-A177-3AD203B41FA5}">
                      <a16:colId xmlns:a16="http://schemas.microsoft.com/office/drawing/2014/main" val="20000"/>
                    </a:ext>
                  </a:extLst>
                </a:gridCol>
                <a:gridCol w="9381476">
                  <a:extLst>
                    <a:ext uri="{9D8B030D-6E8A-4147-A177-3AD203B41FA5}">
                      <a16:colId xmlns:a16="http://schemas.microsoft.com/office/drawing/2014/main" val="20001"/>
                    </a:ext>
                  </a:extLst>
                </a:gridCol>
              </a:tblGrid>
              <a:tr h="0">
                <a:tc>
                  <a:txBody>
                    <a:bodyPr/>
                    <a:lstStyle/>
                    <a:p>
                      <a:pPr algn="just">
                        <a:spcAft>
                          <a:spcPts val="0"/>
                        </a:spcAft>
                      </a:pPr>
                      <a:r>
                        <a:rPr lang="en-ZA" sz="2400" dirty="0">
                          <a:effectLst/>
                          <a:latin typeface="+mn-lt"/>
                          <a:ea typeface="Times New Roman"/>
                        </a:rPr>
                        <a:t>IAS16:77(a)</a:t>
                      </a: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400" dirty="0">
                          <a:effectLst/>
                          <a:latin typeface="+mn-lt"/>
                          <a:ea typeface="Times New Roman"/>
                        </a:rPr>
                        <a:t>The effective date of the revaluation</a:t>
                      </a:r>
                    </a:p>
                  </a:txBody>
                  <a:tcPr marL="68580" marR="68580" marT="0" marB="0">
                    <a:lnL>
                      <a:noFill/>
                    </a:lnL>
                    <a:lnR>
                      <a:noFill/>
                    </a:lnR>
                    <a:lnT>
                      <a:noFill/>
                    </a:lnT>
                    <a:lnB>
                      <a:noFill/>
                    </a:lnB>
                  </a:tcPr>
                </a:tc>
                <a:extLst>
                  <a:ext uri="{0D108BD9-81ED-4DB2-BD59-A6C34878D82A}">
                    <a16:rowId xmlns:a16="http://schemas.microsoft.com/office/drawing/2014/main" val="10000"/>
                  </a:ext>
                </a:extLst>
              </a:tr>
              <a:tr h="0">
                <a:tc>
                  <a:txBody>
                    <a:bodyPr/>
                    <a:lstStyle/>
                    <a:p>
                      <a:pPr algn="just">
                        <a:spcAft>
                          <a:spcPts val="0"/>
                        </a:spcAft>
                      </a:pPr>
                      <a:r>
                        <a:rPr lang="en-ZA" sz="2400" dirty="0">
                          <a:effectLst/>
                          <a:latin typeface="+mn-lt"/>
                          <a:ea typeface="Times New Roman"/>
                        </a:rPr>
                        <a:t>IAS16:77(b)</a:t>
                      </a: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400" dirty="0">
                          <a:effectLst/>
                          <a:latin typeface="+mn-lt"/>
                          <a:ea typeface="Times New Roman"/>
                        </a:rPr>
                        <a:t>Whether an independent valuer was involved</a:t>
                      </a:r>
                    </a:p>
                  </a:txBody>
                  <a:tcPr marL="68580" marR="68580" marT="0" marB="0">
                    <a:lnL>
                      <a:noFill/>
                    </a:lnL>
                    <a:lnR>
                      <a:noFill/>
                    </a:lnR>
                    <a:lnT>
                      <a:noFill/>
                    </a:lnT>
                    <a:lnB>
                      <a:noFill/>
                    </a:lnB>
                  </a:tcPr>
                </a:tc>
                <a:extLst>
                  <a:ext uri="{0D108BD9-81ED-4DB2-BD59-A6C34878D82A}">
                    <a16:rowId xmlns:a16="http://schemas.microsoft.com/office/drawing/2014/main" val="10001"/>
                  </a:ext>
                </a:extLst>
              </a:tr>
              <a:tr h="0">
                <a:tc>
                  <a:txBody>
                    <a:bodyPr/>
                    <a:lstStyle/>
                    <a:p>
                      <a:pPr algn="just">
                        <a:spcAft>
                          <a:spcPts val="0"/>
                        </a:spcAft>
                      </a:pPr>
                      <a:r>
                        <a:rPr lang="en-ZA" sz="2400" dirty="0">
                          <a:effectLst/>
                          <a:latin typeface="+mn-lt"/>
                          <a:ea typeface="Times New Roman"/>
                        </a:rPr>
                        <a:t>IAS16:77(e)</a:t>
                      </a: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400" dirty="0">
                          <a:effectLst/>
                          <a:latin typeface="+mn-lt"/>
                          <a:ea typeface="Times New Roman"/>
                        </a:rPr>
                        <a:t>The carrying amount if the asset had been carried at depreciated historic cost</a:t>
                      </a:r>
                    </a:p>
                  </a:txBody>
                  <a:tcPr marL="68580" marR="68580" marT="0" marB="0">
                    <a:lnL>
                      <a:noFill/>
                    </a:lnL>
                    <a:lnR>
                      <a:noFill/>
                    </a:lnR>
                    <a:lnT>
                      <a:noFill/>
                    </a:lnT>
                    <a:lnB>
                      <a:noFill/>
                    </a:lnB>
                  </a:tcPr>
                </a:tc>
                <a:extLst>
                  <a:ext uri="{0D108BD9-81ED-4DB2-BD59-A6C34878D82A}">
                    <a16:rowId xmlns:a16="http://schemas.microsoft.com/office/drawing/2014/main" val="10002"/>
                  </a:ext>
                </a:extLst>
              </a:tr>
              <a:tr h="0">
                <a:tc>
                  <a:txBody>
                    <a:bodyPr/>
                    <a:lstStyle/>
                    <a:p>
                      <a:pPr algn="just">
                        <a:spcAft>
                          <a:spcPts val="0"/>
                        </a:spcAft>
                      </a:pPr>
                      <a:r>
                        <a:rPr lang="en-ZA" sz="2400" dirty="0">
                          <a:effectLst/>
                          <a:latin typeface="+mn-lt"/>
                          <a:ea typeface="Times New Roman"/>
                        </a:rPr>
                        <a:t>IAS16:77(f)</a:t>
                      </a:r>
                    </a:p>
                  </a:txBody>
                  <a:tcPr marL="68580" marR="68580" marT="0" marB="0">
                    <a:lnL>
                      <a:noFill/>
                    </a:lnL>
                    <a:lnR>
                      <a:noFill/>
                    </a:lnR>
                    <a:lnT>
                      <a:noFill/>
                    </a:lnT>
                    <a:lnB>
                      <a:noFill/>
                    </a:lnB>
                  </a:tcPr>
                </a:tc>
                <a:tc>
                  <a:txBody>
                    <a:bodyPr/>
                    <a:lstStyle/>
                    <a:p>
                      <a:pPr marL="342900" lvl="0" indent="-342900" algn="just">
                        <a:spcAft>
                          <a:spcPts val="0"/>
                        </a:spcAft>
                        <a:buFont typeface="Symbol"/>
                        <a:buChar char=""/>
                      </a:pPr>
                      <a:r>
                        <a:rPr lang="en-ZA" sz="2400" dirty="0">
                          <a:effectLst/>
                          <a:latin typeface="+mn-lt"/>
                          <a:ea typeface="Times New Roman"/>
                        </a:rPr>
                        <a:t>Revaluation surplus relating to property, plant and equipment at beginning and end of the year</a:t>
                      </a:r>
                    </a:p>
                  </a:txBody>
                  <a:tcPr marL="68580" marR="68580" marT="0" marB="0">
                    <a:lnL>
                      <a:noFill/>
                    </a:lnL>
                    <a:lnR>
                      <a:noFill/>
                    </a:lnR>
                    <a:lnT>
                      <a:noFill/>
                    </a:lnT>
                    <a:lnB>
                      <a:noFill/>
                    </a:lnB>
                  </a:tcPr>
                </a:tc>
                <a:extLst>
                  <a:ext uri="{0D108BD9-81ED-4DB2-BD59-A6C34878D82A}">
                    <a16:rowId xmlns:a16="http://schemas.microsoft.com/office/drawing/2014/main" val="10003"/>
                  </a:ext>
                </a:extLst>
              </a:tr>
            </a:tbl>
          </a:graphicData>
        </a:graphic>
      </p:graphicFrame>
      <p:sp>
        <p:nvSpPr>
          <p:cNvPr id="9" name="Rectangle 2"/>
          <p:cNvSpPr>
            <a:spLocks noChangeArrowheads="1"/>
          </p:cNvSpPr>
          <p:nvPr/>
        </p:nvSpPr>
        <p:spPr bwMode="auto">
          <a:xfrm>
            <a:off x="201168" y="1338224"/>
            <a:ext cx="955357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defRPr/>
            </a:pPr>
            <a:r>
              <a:rPr lang="en-ZA" sz="2400" dirty="0">
                <a:solidFill>
                  <a:srgbClr val="4D5356"/>
                </a:solidFill>
                <a:latin typeface="Calibri" panose="020F0502020204030204"/>
                <a:ea typeface="Times New Roman" pitchFamily="18" charset="0"/>
                <a:cs typeface="Arial" pitchFamily="34" charset="0"/>
              </a:rPr>
              <a:t>If items of property, plant and equipment are carried at revalued amounts: </a:t>
            </a:r>
            <a:endParaRPr lang="en-ZA" sz="2400" dirty="0">
              <a:solidFill>
                <a:srgbClr val="4D5356"/>
              </a:solidFill>
              <a:latin typeface="Calibri" panose="020F0502020204030204"/>
            </a:endParaRPr>
          </a:p>
          <a:p>
            <a:pPr eaLnBrk="0" fontAlgn="base" hangingPunct="0">
              <a:spcBef>
                <a:spcPct val="0"/>
              </a:spcBef>
              <a:spcAft>
                <a:spcPct val="0"/>
              </a:spcAft>
              <a:defRPr/>
            </a:pPr>
            <a:endParaRPr lang="en-ZA" sz="2000" dirty="0">
              <a:solidFill>
                <a:srgbClr val="4D5356"/>
              </a:solidFill>
              <a:latin typeface="Calibri" panose="020F0502020204030204"/>
            </a:endParaRPr>
          </a:p>
        </p:txBody>
      </p:sp>
      <p:sp>
        <p:nvSpPr>
          <p:cNvPr id="5" name="Title 4">
            <a:extLst>
              <a:ext uri="{FF2B5EF4-FFF2-40B4-BE49-F238E27FC236}">
                <a16:creationId xmlns:a16="http://schemas.microsoft.com/office/drawing/2014/main" id="{21CACE12-DBFB-236D-08BE-61C6C2DF7B2D}"/>
              </a:ext>
            </a:extLst>
          </p:cNvPr>
          <p:cNvSpPr>
            <a:spLocks noGrp="1"/>
          </p:cNvSpPr>
          <p:nvPr>
            <p:ph type="title"/>
          </p:nvPr>
        </p:nvSpPr>
        <p:spPr/>
        <p:txBody>
          <a:bodyPr/>
          <a:lstStyle/>
          <a:p>
            <a:r>
              <a:rPr lang="en-GB" altLang="en-US" sz="3200" dirty="0"/>
              <a:t>DISCLOSURE (.73 - .79)</a:t>
            </a:r>
            <a:endParaRPr lang="en-ZA" sz="3200" dirty="0"/>
          </a:p>
        </p:txBody>
      </p:sp>
    </p:spTree>
    <p:extLst>
      <p:ext uri="{BB962C8B-B14F-4D97-AF65-F5344CB8AC3E}">
        <p14:creationId xmlns:p14="http://schemas.microsoft.com/office/powerpoint/2010/main" val="3523639869"/>
      </p:ext>
    </p:extLst>
  </p:cSld>
  <p:clrMapOvr>
    <a:masterClrMapping/>
  </p:clrMapOvr>
</p:sld>
</file>

<file path=ppt/theme/theme1.xml><?xml version="1.0" encoding="utf-8"?>
<a:theme xmlns:a="http://schemas.openxmlformats.org/drawingml/2006/main" name="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8C6D65BAC40A45BAB92F14DB5F4FAF" ma:contentTypeVersion="13" ma:contentTypeDescription="Create a new document." ma:contentTypeScope="" ma:versionID="4bebfb9a38d2a52932940e3bd172a61b">
  <xsd:schema xmlns:xsd="http://www.w3.org/2001/XMLSchema" xmlns:xs="http://www.w3.org/2001/XMLSchema" xmlns:p="http://schemas.microsoft.com/office/2006/metadata/properties" xmlns:ns2="88a3d677-9216-46c3-8201-ee58da5def3b" xmlns:ns3="dffefaba-9bcc-430d-9abe-09565c10f6ee" targetNamespace="http://schemas.microsoft.com/office/2006/metadata/properties" ma:root="true" ma:fieldsID="c2094452f851fe343f0223b9fe04b330" ns2:_="" ns3:_="">
    <xsd:import namespace="88a3d677-9216-46c3-8201-ee58da5def3b"/>
    <xsd:import namespace="dffefaba-9bcc-430d-9abe-09565c10f6e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3d677-9216-46c3-8201-ee58da5def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ffefaba-9bcc-430d-9abe-09565c10f6ee"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6BAB9D-4EE9-4033-AB72-A72D6D5ED5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a3d677-9216-46c3-8201-ee58da5def3b"/>
    <ds:schemaRef ds:uri="dffefaba-9bcc-430d-9abe-09565c10f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A6082A2-059F-450D-9B82-4DCBDAC1F6A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9B9220D-8720-49D8-96AD-9ED891556F7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38223</TotalTime>
  <Words>2318</Words>
  <Application>Microsoft Office PowerPoint</Application>
  <PresentationFormat>Widescreen</PresentationFormat>
  <Paragraphs>266</Paragraphs>
  <Slides>36</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Calibri Light</vt:lpstr>
      <vt:lpstr>Symbol</vt:lpstr>
      <vt:lpstr>Trebuchet MS</vt:lpstr>
      <vt:lpstr>Wingdings</vt:lpstr>
      <vt:lpstr>Office Theme</vt:lpstr>
      <vt:lpstr>1_Office Theme</vt:lpstr>
      <vt:lpstr>IAS 16: PROPERTY, PLANT AND EQUIPMENT </vt:lpstr>
      <vt:lpstr>OBJECTIVE &amp; SCOPE</vt:lpstr>
      <vt:lpstr>OBJECTIVE &amp; SCOPE</vt:lpstr>
      <vt:lpstr>PART I</vt:lpstr>
      <vt:lpstr>RECOGNITION </vt:lpstr>
      <vt:lpstr>RECOGNITION </vt:lpstr>
      <vt:lpstr>INITIAL MEASUREMENT: DETERMINING COST PRICE (.15-.28) </vt:lpstr>
      <vt:lpstr>INITIAL MEASUREMENT: DETERMINING COST PRICE (.15-.28) </vt:lpstr>
      <vt:lpstr>INITIAL MEASUREMENT: DETERMINING COST PRICE (.15-.28) </vt:lpstr>
      <vt:lpstr>INITIAL MEASUREMENT: DETERMINING COST PRICE (.15-.28) </vt:lpstr>
      <vt:lpstr>INITIAL MEASUREMENT: DETERMINING COST PRICE (.15-.28) </vt:lpstr>
      <vt:lpstr>INITIAL MEASUREMENT: DETERMINING COST PRICE (.15-.28) </vt:lpstr>
      <vt:lpstr>INITIAL MEASUREMENT: DETERMINING COST PRICE (.15-.28) </vt:lpstr>
      <vt:lpstr>MEASUREMENT AFTER INITIAL RECOGNITION</vt:lpstr>
      <vt:lpstr>MEASUREMENT AFTER INITIAL RECOGNITION: Cost model</vt:lpstr>
      <vt:lpstr>DEFINITIONS (.6) </vt:lpstr>
      <vt:lpstr>DEFINITIONS (.6) </vt:lpstr>
      <vt:lpstr>MEASUREMENT AFTER INITIAL RECOGNITION: Cost model</vt:lpstr>
      <vt:lpstr>MEASUREMENT AFTER INITIAL RECOGNITION: Cost model</vt:lpstr>
      <vt:lpstr>MEASUREMENT AFTER INITIAL RECOGNITION: Cost model</vt:lpstr>
      <vt:lpstr>MEASUREMENT AFTER INITIAL RECOGNITION: Cost model</vt:lpstr>
      <vt:lpstr>MEASUREMENT AFTER INITIAL RECOGNITION: Cost model</vt:lpstr>
      <vt:lpstr>MEASUREMENT AFTER INITIAL RECOGNITION: Cost model</vt:lpstr>
      <vt:lpstr>MEASUREMENT AFTER INITIAL RECOGNITION: Cost model</vt:lpstr>
      <vt:lpstr>MEASUREMENT AFTER INITIAL RECOGNITION: Cost model</vt:lpstr>
      <vt:lpstr>DEPRECIATION</vt:lpstr>
      <vt:lpstr>DEPRECIATION METHODS</vt:lpstr>
      <vt:lpstr>DEPRECIATION METHODS</vt:lpstr>
      <vt:lpstr>DEPRECIATION METHODS</vt:lpstr>
      <vt:lpstr>DERECOGNITION (.67 – .72)</vt:lpstr>
      <vt:lpstr>DERECOGNITION (.67 – .72)</vt:lpstr>
      <vt:lpstr>DISCLOSURE (.73 - .79)</vt:lpstr>
      <vt:lpstr>MEASURMENT AFTER INITIAL RECOGNITION</vt:lpstr>
      <vt:lpstr>MEASUREMENT AFTER INITIAL RECOGNITION: Revaluation model</vt:lpstr>
      <vt:lpstr>MEASUREMENT AFTER INITIAL RECOGNITION: Revaluation model</vt:lpstr>
      <vt:lpstr>DISCLOSURE (.73 - .79)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Muller, L, Mev [lm2@sun.ac.za]</dc:creator>
  <cp:lastModifiedBy>Ngobese, LM, Mr [lmngobese@sun.ac.za]</cp:lastModifiedBy>
  <cp:revision>707</cp:revision>
  <dcterms:created xsi:type="dcterms:W3CDTF">2021-09-15T08:20:16Z</dcterms:created>
  <dcterms:modified xsi:type="dcterms:W3CDTF">2026-03-04T12:39:03Z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0x010100008C6D65BAC40A45BAB92F14DB5F4FAF</vt:lpwstr>
  </property>
</Properties>
</file>