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handoutMasterIdLst>
    <p:handoutMasterId r:id="rId10"/>
  </p:handoutMasterIdLst>
  <p:sldIdLst>
    <p:sldId id="256" r:id="rId2"/>
    <p:sldId id="257" r:id="rId3"/>
    <p:sldId id="259" r:id="rId4"/>
    <p:sldId id="260" r:id="rId5"/>
    <p:sldId id="266" r:id="rId6"/>
    <p:sldId id="261" r:id="rId7"/>
    <p:sldId id="262" r:id="rId8"/>
    <p:sldId id="263" r:id="rId9"/>
  </p:sldIdLst>
  <p:sldSz cx="9144000" cy="6858000" type="screen4x3"/>
  <p:notesSz cx="7010400" cy="92964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98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3" y="0"/>
            <a:ext cx="303688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98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6888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98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3" y="8831263"/>
            <a:ext cx="303688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D28C8F2-C4CF-4392-8E0D-3444F6E1DB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934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&amp; End Slide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pergraphic">
            <a:extLst>
              <a:ext uri="{FF2B5EF4-FFF2-40B4-BE49-F238E27FC236}">
                <a16:creationId xmlns:a16="http://schemas.microsoft.com/office/drawing/2014/main" id="{5B248510-4BC7-9345-88FC-2E0C971BA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1219" y="1341440"/>
            <a:ext cx="897728" cy="1837209"/>
          </a:xfrm>
          <a:prstGeom prst="rect">
            <a:avLst/>
          </a:prstGeom>
        </p:spPr>
      </p:pic>
      <p:cxnSp>
        <p:nvCxnSpPr>
          <p:cNvPr id="5" name="Gold H Line">
            <a:extLst>
              <a:ext uri="{FF2B5EF4-FFF2-40B4-BE49-F238E27FC236}">
                <a16:creationId xmlns:a16="http://schemas.microsoft.com/office/drawing/2014/main" id="{D2E91EF0-985A-D444-B885-44EABE549784}"/>
              </a:ext>
            </a:extLst>
          </p:cNvPr>
          <p:cNvCxnSpPr/>
          <p:nvPr/>
        </p:nvCxnSpPr>
        <p:spPr>
          <a:xfrm>
            <a:off x="0" y="1341438"/>
            <a:ext cx="9144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itle">
            <a:extLst>
              <a:ext uri="{FF2B5EF4-FFF2-40B4-BE49-F238E27FC236}">
                <a16:creationId xmlns:a16="http://schemas.microsoft.com/office/drawing/2014/main" id="{62CE03E8-B1C3-CC40-B8F9-5DD639D93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273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ld H Line">
            <a:extLst>
              <a:ext uri="{FF2B5EF4-FFF2-40B4-BE49-F238E27FC236}">
                <a16:creationId xmlns:a16="http://schemas.microsoft.com/office/drawing/2014/main" id="{14D6B201-F64D-A747-B121-C05B2A976FDB}"/>
              </a:ext>
            </a:extLst>
          </p:cNvPr>
          <p:cNvCxnSpPr/>
          <p:nvPr/>
        </p:nvCxnSpPr>
        <p:spPr>
          <a:xfrm>
            <a:off x="0" y="1341438"/>
            <a:ext cx="9144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7"/>
            <a:ext cx="8341853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84085"/>
            <a:ext cx="8341853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630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Patter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034" y="1342422"/>
            <a:ext cx="9142965" cy="5256000"/>
          </a:xfrm>
          <a:prstGeom prst="rect">
            <a:avLst/>
          </a:prstGeom>
        </p:spPr>
      </p:pic>
      <p:grpSp>
        <p:nvGrpSpPr>
          <p:cNvPr id="11" name="Bottom Corner Cover Ups">
            <a:extLst>
              <a:ext uri="{FF2B5EF4-FFF2-40B4-BE49-F238E27FC236}">
                <a16:creationId xmlns:a16="http://schemas.microsoft.com/office/drawing/2014/main" id="{6B263B2D-D558-B84C-9022-34F07C2522D9}"/>
              </a:ext>
            </a:extLst>
          </p:cNvPr>
          <p:cNvGrpSpPr/>
          <p:nvPr/>
        </p:nvGrpSpPr>
        <p:grpSpPr>
          <a:xfrm>
            <a:off x="1" y="5911729"/>
            <a:ext cx="9144020" cy="949000"/>
            <a:chOff x="0" y="5911729"/>
            <a:chExt cx="12192027" cy="949000"/>
          </a:xfrm>
        </p:grpSpPr>
        <p:pic>
          <p:nvPicPr>
            <p:cNvPr id="12" name="SU.Footer.Shape.White.Cover.R">
              <a:extLst>
                <a:ext uri="{FF2B5EF4-FFF2-40B4-BE49-F238E27FC236}">
                  <a16:creationId xmlns:a16="http://schemas.microsoft.com/office/drawing/2014/main" id="{A42B02D9-6BCD-3B46-A57F-212570E5235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3" name="SU.Footer.Shape.White.Cover.L">
              <a:extLst>
                <a:ext uri="{FF2B5EF4-FFF2-40B4-BE49-F238E27FC236}">
                  <a16:creationId xmlns:a16="http://schemas.microsoft.com/office/drawing/2014/main" id="{7BE51404-5FBA-E747-9F0C-F3B96BD7237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7"/>
            <a:ext cx="8341853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8341853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990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orient="horz" pos="86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Pattern Panel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034" y="1342422"/>
            <a:ext cx="3031488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2814333-1BF5-E849-A0FE-9AA7C7404101}"/>
              </a:ext>
            </a:extLst>
          </p:cNvPr>
          <p:cNvGrpSpPr/>
          <p:nvPr/>
        </p:nvGrpSpPr>
        <p:grpSpPr>
          <a:xfrm>
            <a:off x="1" y="5911729"/>
            <a:ext cx="9144020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03FDF139-728B-024E-9703-C432EBC41B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29002AAF-104D-E541-A418-B45D06E37C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23880" y="1439056"/>
            <a:ext cx="5506974" cy="505918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2" y="1439056"/>
            <a:ext cx="2643521" cy="5059179"/>
          </a:xfrm>
        </p:spPr>
        <p:txBody>
          <a:bodyPr anchor="t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38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/>
        </p:nvSpPr>
        <p:spPr>
          <a:xfrm>
            <a:off x="0" y="1"/>
            <a:ext cx="9144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cxnSp>
        <p:nvCxnSpPr>
          <p:cNvPr id="10" name="Gold H Line">
            <a:extLst>
              <a:ext uri="{FF2B5EF4-FFF2-40B4-BE49-F238E27FC236}">
                <a16:creationId xmlns:a16="http://schemas.microsoft.com/office/drawing/2014/main" id="{BCBE8D15-217A-AD4B-B1B6-A4A4464A9778}"/>
              </a:ext>
            </a:extLst>
          </p:cNvPr>
          <p:cNvCxnSpPr/>
          <p:nvPr/>
        </p:nvCxnSpPr>
        <p:spPr>
          <a:xfrm>
            <a:off x="0" y="1341438"/>
            <a:ext cx="9144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729164" y="2093513"/>
            <a:ext cx="4001690" cy="441971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9" name="Sub-heading 2">
            <a:extLst>
              <a:ext uri="{FF2B5EF4-FFF2-40B4-BE49-F238E27FC236}">
                <a16:creationId xmlns:a16="http://schemas.microsoft.com/office/drawing/2014/main" id="{EFD6BD00-14FA-0C44-936C-18A58C6AE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164" y="1374651"/>
            <a:ext cx="400169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9163" y="234094"/>
            <a:ext cx="4001690" cy="1019176"/>
          </a:xfrm>
        </p:spPr>
        <p:txBody>
          <a:bodyPr/>
          <a:lstStyle>
            <a:lvl1pPr marL="0" indent="0">
              <a:buFontTx/>
              <a:buNone/>
              <a:defRPr lang="en-GB" sz="24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7"/>
            <a:ext cx="4025837" cy="441971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1">
            <a:extLst>
              <a:ext uri="{FF2B5EF4-FFF2-40B4-BE49-F238E27FC236}">
                <a16:creationId xmlns:a16="http://schemas.microsoft.com/office/drawing/2014/main" id="{C672C517-E44C-5541-8903-0803B60C3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4025837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2" y="234094"/>
            <a:ext cx="4025837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968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x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/>
        </p:nvSpPr>
        <p:spPr>
          <a:xfrm>
            <a:off x="0" y="1"/>
            <a:ext cx="9144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cxnSp>
        <p:nvCxnSpPr>
          <p:cNvPr id="18" name="Gold H Line">
            <a:extLst>
              <a:ext uri="{FF2B5EF4-FFF2-40B4-BE49-F238E27FC236}">
                <a16:creationId xmlns:a16="http://schemas.microsoft.com/office/drawing/2014/main" id="{FF14821C-DD56-5047-8DDF-2CED2D6B409A}"/>
              </a:ext>
            </a:extLst>
          </p:cNvPr>
          <p:cNvCxnSpPr/>
          <p:nvPr/>
        </p:nvCxnSpPr>
        <p:spPr>
          <a:xfrm>
            <a:off x="0" y="1341438"/>
            <a:ext cx="9144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30854" y="2093513"/>
            <a:ext cx="2700000" cy="440472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3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0854" y="1382146"/>
            <a:ext cx="270000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854" y="230573"/>
            <a:ext cx="27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209926" y="2093513"/>
            <a:ext cx="2699999" cy="440472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5" name="Sub-heading 2">
            <a:extLst>
              <a:ext uri="{FF2B5EF4-FFF2-40B4-BE49-F238E27FC236}">
                <a16:creationId xmlns:a16="http://schemas.microsoft.com/office/drawing/2014/main" id="{EB65077B-EB16-BF45-A1FD-89A294FE27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9926" y="1382146"/>
            <a:ext cx="2699999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9925" y="229952"/>
            <a:ext cx="27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0" y="2093513"/>
            <a:ext cx="2700000" cy="440472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0" y="1382146"/>
            <a:ext cx="270000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9000" y="229952"/>
            <a:ext cx="27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6031802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Slide on White Bg 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48026" y="4478954"/>
            <a:ext cx="3588959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140490" y="-43952"/>
            <a:ext cx="3588959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38600" y="2097153"/>
            <a:ext cx="4692254" cy="441607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8600" y="1382714"/>
            <a:ext cx="4692254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304" y="2943724"/>
            <a:ext cx="333614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55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7"/>
            <a:ext cx="8341853" cy="436962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8341853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94054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022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Patter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238EDFC1-EE9A-8048-86A1-2E5C9233E7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035" y="1342422"/>
            <a:ext cx="9142966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93D46E69-FB5E-344A-A7B7-752C7C6ECCDD}"/>
              </a:ext>
            </a:extLst>
          </p:cNvPr>
          <p:cNvGrpSpPr/>
          <p:nvPr/>
        </p:nvGrpSpPr>
        <p:grpSpPr>
          <a:xfrm>
            <a:off x="1" y="5911729"/>
            <a:ext cx="9144020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C3DAB37C-2D70-5C41-B708-179C820942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73C9FD76-564E-0348-A31C-D0132A5B66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6"/>
            <a:ext cx="8341853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8341853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62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Pattern Panel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D1F2E50E-95E6-FC4E-962F-EC9D3C8E6F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035" y="1342422"/>
            <a:ext cx="3031488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B3C7A21B-1B7F-7C48-A146-B42CAF24A16C}"/>
              </a:ext>
            </a:extLst>
          </p:cNvPr>
          <p:cNvGrpSpPr/>
          <p:nvPr/>
        </p:nvGrpSpPr>
        <p:grpSpPr>
          <a:xfrm>
            <a:off x="1" y="5911729"/>
            <a:ext cx="9144020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4E7E269D-C46B-D74D-ADD3-C0B4C411F7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643164C7-3D42-2F47-9B4F-124EA03007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23880" y="1446552"/>
            <a:ext cx="5506974" cy="50666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2" y="1446551"/>
            <a:ext cx="2643521" cy="5066674"/>
          </a:xfrm>
        </p:spPr>
        <p:txBody>
          <a:bodyPr anchor="t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556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l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hite Rectangle">
            <a:extLst>
              <a:ext uri="{FF2B5EF4-FFF2-40B4-BE49-F238E27FC236}">
                <a16:creationId xmlns:a16="http://schemas.microsoft.com/office/drawing/2014/main" id="{16180752-C10C-8440-9EE3-94FE745DE7CB}"/>
              </a:ext>
            </a:extLst>
          </p:cNvPr>
          <p:cNvSpPr/>
          <p:nvPr/>
        </p:nvSpPr>
        <p:spPr>
          <a:xfrm>
            <a:off x="0" y="1"/>
            <a:ext cx="9144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3DFF6234-ED27-674E-B499-43815E04B1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729164" y="2093513"/>
            <a:ext cx="4001690" cy="4427209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rgbClr val="4D5356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2">
            <a:extLst>
              <a:ext uri="{FF2B5EF4-FFF2-40B4-BE49-F238E27FC236}">
                <a16:creationId xmlns:a16="http://schemas.microsoft.com/office/drawing/2014/main" id="{566B889E-5E19-884B-A6F6-A481CC7DE2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164" y="1382146"/>
            <a:ext cx="400169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F6537FBF-A738-EB4D-9E99-BDECCAA2C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9163" y="234093"/>
            <a:ext cx="4001690" cy="1019176"/>
          </a:xfrm>
        </p:spPr>
        <p:txBody>
          <a:bodyPr/>
          <a:lstStyle>
            <a:lvl1pPr marL="0" indent="0">
              <a:buFontTx/>
              <a:buNone/>
              <a:defRPr lang="en-GB" sz="24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1F49F80C-ACC3-A44A-8CC6-3C5EDE1809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7"/>
            <a:ext cx="4025837" cy="4422095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rgbClr val="4D5356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B3F930F9-C039-AF47-823C-5530804EC8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4025837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EDA3B2F-BE8B-BF42-ABB3-E31B7ECCE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2" y="286559"/>
            <a:ext cx="402583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749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xColumns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257E3393-912E-0B49-AEEE-D6B9ACB96FDA}"/>
              </a:ext>
            </a:extLst>
          </p:cNvPr>
          <p:cNvSpPr/>
          <p:nvPr/>
        </p:nvSpPr>
        <p:spPr>
          <a:xfrm>
            <a:off x="0" y="1"/>
            <a:ext cx="9144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D3B1D8D-243B-DA40-B75D-A969A88B2F8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30854" y="2093513"/>
            <a:ext cx="2700000" cy="440472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3">
            <a:extLst>
              <a:ext uri="{FF2B5EF4-FFF2-40B4-BE49-F238E27FC236}">
                <a16:creationId xmlns:a16="http://schemas.microsoft.com/office/drawing/2014/main" id="{651902F8-552C-7C40-AA8D-2CE4C4E180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0854" y="1382146"/>
            <a:ext cx="270000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D70127F6-1B72-C84F-9735-3D0725E985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850" y="229952"/>
            <a:ext cx="27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6" name="Content Placeholder  2">
            <a:extLst>
              <a:ext uri="{FF2B5EF4-FFF2-40B4-BE49-F238E27FC236}">
                <a16:creationId xmlns:a16="http://schemas.microsoft.com/office/drawing/2014/main" id="{26B27DB4-949B-464F-A1EF-C46A3C3631C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209926" y="2093513"/>
            <a:ext cx="2699999" cy="440472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7" name="Sub-heading 2">
            <a:extLst>
              <a:ext uri="{FF2B5EF4-FFF2-40B4-BE49-F238E27FC236}">
                <a16:creationId xmlns:a16="http://schemas.microsoft.com/office/drawing/2014/main" id="{26C885C7-ECC4-4F47-8909-3F2435E193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9926" y="1382146"/>
            <a:ext cx="2699999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8" name="Title 2">
            <a:extLst>
              <a:ext uri="{FF2B5EF4-FFF2-40B4-BE49-F238E27FC236}">
                <a16:creationId xmlns:a16="http://schemas.microsoft.com/office/drawing/2014/main" id="{58332A8F-EAE9-F94C-83E3-1D8BA1D919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9925" y="229952"/>
            <a:ext cx="27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F2D4C76D-E14A-6D42-98D9-5AB41C4534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0" y="2093513"/>
            <a:ext cx="2700000" cy="440472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0" name="Sub-heading 1">
            <a:extLst>
              <a:ext uri="{FF2B5EF4-FFF2-40B4-BE49-F238E27FC236}">
                <a16:creationId xmlns:a16="http://schemas.microsoft.com/office/drawing/2014/main" id="{E5ACC0B6-8927-2744-B7D5-8F74BBD9F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0" y="1382146"/>
            <a:ext cx="270000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92EB4B94-2979-2E4C-BC92-09558809B4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9000" y="229952"/>
            <a:ext cx="27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164176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Sand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48026" y="4478954"/>
            <a:ext cx="3588959" cy="2148599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2C99B27B-2E8D-C04F-BC82-C62BE78709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140490" y="-43952"/>
            <a:ext cx="3588959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38600" y="2097153"/>
            <a:ext cx="4692254" cy="441607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8599" y="1384865"/>
            <a:ext cx="4692254" cy="631312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304" y="2943724"/>
            <a:ext cx="333614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224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7"/>
            <a:ext cx="8341853" cy="4407105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8341853" cy="644993"/>
          </a:xfrm>
          <a:noFill/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95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Patter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attern">
            <a:extLst>
              <a:ext uri="{FF2B5EF4-FFF2-40B4-BE49-F238E27FC236}">
                <a16:creationId xmlns:a16="http://schemas.microsoft.com/office/drawing/2014/main" id="{4226EFA1-497F-5A4F-8521-91A0CFCC6F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035" y="1342422"/>
            <a:ext cx="9142966" cy="5256000"/>
          </a:xfrm>
          <a:prstGeom prst="rect">
            <a:avLst/>
          </a:prstGeom>
        </p:spPr>
      </p:pic>
      <p:grpSp>
        <p:nvGrpSpPr>
          <p:cNvPr id="26" name="Bottom Corner Cover Ups">
            <a:extLst>
              <a:ext uri="{FF2B5EF4-FFF2-40B4-BE49-F238E27FC236}">
                <a16:creationId xmlns:a16="http://schemas.microsoft.com/office/drawing/2014/main" id="{12DF9248-7DA5-8141-89FC-ECD244595B6B}"/>
              </a:ext>
            </a:extLst>
          </p:cNvPr>
          <p:cNvGrpSpPr/>
          <p:nvPr/>
        </p:nvGrpSpPr>
        <p:grpSpPr>
          <a:xfrm>
            <a:off x="1" y="5911729"/>
            <a:ext cx="9144020" cy="949000"/>
            <a:chOff x="0" y="5911729"/>
            <a:chExt cx="12192027" cy="949000"/>
          </a:xfrm>
        </p:grpSpPr>
        <p:pic>
          <p:nvPicPr>
            <p:cNvPr id="27" name="SU.Footer.Shape.White.Cover.R">
              <a:extLst>
                <a:ext uri="{FF2B5EF4-FFF2-40B4-BE49-F238E27FC236}">
                  <a16:creationId xmlns:a16="http://schemas.microsoft.com/office/drawing/2014/main" id="{44528E5A-08AB-2F40-85F7-9CF0230748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8" name="SU.Footer.Shape.White.Cover.L">
              <a:extLst>
                <a:ext uri="{FF2B5EF4-FFF2-40B4-BE49-F238E27FC236}">
                  <a16:creationId xmlns:a16="http://schemas.microsoft.com/office/drawing/2014/main" id="{D874E491-8EBD-0144-BAB4-4A1A86F2BCF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7"/>
            <a:ext cx="8341853" cy="4414600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8341853" cy="644993"/>
          </a:xfr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2"/>
              </a:buClr>
              <a:buFontTx/>
              <a:buNone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47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Pattern Panel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attern">
            <a:extLst>
              <a:ext uri="{FF2B5EF4-FFF2-40B4-BE49-F238E27FC236}">
                <a16:creationId xmlns:a16="http://schemas.microsoft.com/office/drawing/2014/main" id="{4A2374C0-3B03-8F48-9525-7E36392B29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035" y="1342422"/>
            <a:ext cx="3031488" cy="5256000"/>
          </a:xfrm>
          <a:prstGeom prst="rect">
            <a:avLst/>
          </a:prstGeom>
        </p:spPr>
      </p:pic>
      <p:grpSp>
        <p:nvGrpSpPr>
          <p:cNvPr id="21" name="Bottom Corner Cover Ups">
            <a:extLst>
              <a:ext uri="{FF2B5EF4-FFF2-40B4-BE49-F238E27FC236}">
                <a16:creationId xmlns:a16="http://schemas.microsoft.com/office/drawing/2014/main" id="{27B58CE0-B94F-A74F-AF83-E7C43D629945}"/>
              </a:ext>
            </a:extLst>
          </p:cNvPr>
          <p:cNvGrpSpPr/>
          <p:nvPr/>
        </p:nvGrpSpPr>
        <p:grpSpPr>
          <a:xfrm>
            <a:off x="1" y="5911729"/>
            <a:ext cx="9144020" cy="949000"/>
            <a:chOff x="0" y="5911729"/>
            <a:chExt cx="12192027" cy="949000"/>
          </a:xfrm>
        </p:grpSpPr>
        <p:pic>
          <p:nvPicPr>
            <p:cNvPr id="22" name="SU.Footer.Shape.White.Cover.R">
              <a:extLst>
                <a:ext uri="{FF2B5EF4-FFF2-40B4-BE49-F238E27FC236}">
                  <a16:creationId xmlns:a16="http://schemas.microsoft.com/office/drawing/2014/main" id="{96365ED4-3E98-AF49-A700-D172265237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3" name="SU.Footer.Shape.White.Cover.L">
              <a:extLst>
                <a:ext uri="{FF2B5EF4-FFF2-40B4-BE49-F238E27FC236}">
                  <a16:creationId xmlns:a16="http://schemas.microsoft.com/office/drawing/2014/main" id="{D3178EAC-4321-104D-9E00-9ED1994E17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23880" y="1439056"/>
            <a:ext cx="5506974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2" y="1438310"/>
            <a:ext cx="2643521" cy="5074939"/>
          </a:xfrm>
        </p:spPr>
        <p:txBody>
          <a:bodyPr anchor="t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311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l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hite Rectangle">
            <a:extLst>
              <a:ext uri="{FF2B5EF4-FFF2-40B4-BE49-F238E27FC236}">
                <a16:creationId xmlns:a16="http://schemas.microsoft.com/office/drawing/2014/main" id="{D2611FE4-4CE8-7644-A6FD-ABFB5B5B8D60}"/>
              </a:ext>
            </a:extLst>
          </p:cNvPr>
          <p:cNvSpPr/>
          <p:nvPr/>
        </p:nvSpPr>
        <p:spPr>
          <a:xfrm>
            <a:off x="0" y="1"/>
            <a:ext cx="9144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5BA92924-BA89-854C-8409-64B301FD09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729164" y="2093513"/>
            <a:ext cx="4001690" cy="4397229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Sub-heading 2">
            <a:extLst>
              <a:ext uri="{FF2B5EF4-FFF2-40B4-BE49-F238E27FC236}">
                <a16:creationId xmlns:a16="http://schemas.microsoft.com/office/drawing/2014/main" id="{90BCFF40-F87E-ED46-9480-AC27B8F7C8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164" y="1382146"/>
            <a:ext cx="400169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24773FA7-6E41-CA4A-B944-CFB56DE621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9163" y="234093"/>
            <a:ext cx="4001690" cy="1071642"/>
          </a:xfrm>
        </p:spPr>
        <p:txBody>
          <a:bodyPr/>
          <a:lstStyle>
            <a:lvl1pPr marL="0" indent="0">
              <a:buFontTx/>
              <a:buNone/>
              <a:defRPr lang="en-GB" sz="24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DE1645F-7F5E-DF4A-92A3-FB3C5E5CD28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7"/>
            <a:ext cx="4025837" cy="4397229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D7D43BA8-224C-6246-ABDE-468543E9DE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4025837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A004F2E-DDA4-A340-97A9-41B223F5D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2" y="286559"/>
            <a:ext cx="402583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762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xColumns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1A1C789A-0612-3644-A79B-9492F3528D52}"/>
              </a:ext>
            </a:extLst>
          </p:cNvPr>
          <p:cNvSpPr/>
          <p:nvPr/>
        </p:nvSpPr>
        <p:spPr>
          <a:xfrm>
            <a:off x="0" y="1"/>
            <a:ext cx="9144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63BC844-4DA9-DB4A-A3AA-E8A8209E09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30854" y="2093513"/>
            <a:ext cx="2700000" cy="441971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5" name="Sub-heading 3">
            <a:extLst>
              <a:ext uri="{FF2B5EF4-FFF2-40B4-BE49-F238E27FC236}">
                <a16:creationId xmlns:a16="http://schemas.microsoft.com/office/drawing/2014/main" id="{D8F5F88C-07A7-2147-A0EA-3CBC0139E6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0854" y="1382146"/>
            <a:ext cx="270000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29E07662-F181-D847-979F-68604D4006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854" y="230572"/>
            <a:ext cx="27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7" name="Content Placeholder  2">
            <a:extLst>
              <a:ext uri="{FF2B5EF4-FFF2-40B4-BE49-F238E27FC236}">
                <a16:creationId xmlns:a16="http://schemas.microsoft.com/office/drawing/2014/main" id="{81BE3FB5-7628-A44F-8346-A0EAD26BDE0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209926" y="2093513"/>
            <a:ext cx="2699999" cy="441971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8" name="Sub-heading 2">
            <a:extLst>
              <a:ext uri="{FF2B5EF4-FFF2-40B4-BE49-F238E27FC236}">
                <a16:creationId xmlns:a16="http://schemas.microsoft.com/office/drawing/2014/main" id="{733D04FF-BCA2-1642-A192-144D8BEEF2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9926" y="1382146"/>
            <a:ext cx="2699999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FC4B0CEE-DA4A-3244-81A8-3C23508A14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9925" y="229952"/>
            <a:ext cx="27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0" name="Content Placeholder 1">
            <a:extLst>
              <a:ext uri="{FF2B5EF4-FFF2-40B4-BE49-F238E27FC236}">
                <a16:creationId xmlns:a16="http://schemas.microsoft.com/office/drawing/2014/main" id="{86AEBDB5-8697-1944-A7CB-0C142AFA5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0" y="2093513"/>
            <a:ext cx="2700000" cy="4419714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1" name="Sub-heading 1">
            <a:extLst>
              <a:ext uri="{FF2B5EF4-FFF2-40B4-BE49-F238E27FC236}">
                <a16:creationId xmlns:a16="http://schemas.microsoft.com/office/drawing/2014/main" id="{609BD0E6-9034-2C40-A3D4-10BA44739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0" y="1382146"/>
            <a:ext cx="270000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AE43938-8335-A749-BAE2-E305CF0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9000" y="229952"/>
            <a:ext cx="27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3594011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Maroon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48026" y="4471003"/>
            <a:ext cx="3588959" cy="2148599"/>
          </a:xfrm>
          <a:prstGeom prst="rect">
            <a:avLst/>
          </a:prstGeom>
        </p:spPr>
      </p:pic>
      <p:pic>
        <p:nvPicPr>
          <p:cNvPr id="19" name="Pattern Maroon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5515"/>
          <a:stretch/>
        </p:blipFill>
        <p:spPr>
          <a:xfrm rot="10800000">
            <a:off x="169458" y="1341306"/>
            <a:ext cx="3588959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866" t="14321" r="48528" b="71220"/>
          <a:stretch/>
        </p:blipFill>
        <p:spPr>
          <a:xfrm rot="10800000">
            <a:off x="170437" y="-42185"/>
            <a:ext cx="3588959" cy="1376863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38600" y="2101463"/>
            <a:ext cx="4692254" cy="4419258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8599" y="1376839"/>
            <a:ext cx="4692254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54" y="2943724"/>
            <a:ext cx="33399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405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7"/>
            <a:ext cx="8341853" cy="4422095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8341853" cy="644993"/>
          </a:xfr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2"/>
              </a:buClr>
              <a:buFontTx/>
              <a:buNone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3213"/>
            <a:ext cx="6246424" cy="105288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826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Patter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attern">
            <a:extLst>
              <a:ext uri="{FF2B5EF4-FFF2-40B4-BE49-F238E27FC236}">
                <a16:creationId xmlns:a16="http://schemas.microsoft.com/office/drawing/2014/main" id="{C0EE66DB-533C-E64C-B3D1-64CA280079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035" y="1342422"/>
            <a:ext cx="9142966" cy="5256000"/>
          </a:xfrm>
          <a:prstGeom prst="rect">
            <a:avLst/>
          </a:prstGeom>
        </p:spPr>
      </p:pic>
      <p:grpSp>
        <p:nvGrpSpPr>
          <p:cNvPr id="3" name="Bottom Corner Cover Ups">
            <a:extLst>
              <a:ext uri="{FF2B5EF4-FFF2-40B4-BE49-F238E27FC236}">
                <a16:creationId xmlns:a16="http://schemas.microsoft.com/office/drawing/2014/main" id="{5005E7C9-6600-A544-AFA5-371577BEB73F}"/>
              </a:ext>
            </a:extLst>
          </p:cNvPr>
          <p:cNvGrpSpPr/>
          <p:nvPr/>
        </p:nvGrpSpPr>
        <p:grpSpPr>
          <a:xfrm>
            <a:off x="1" y="5911729"/>
            <a:ext cx="9144020" cy="949000"/>
            <a:chOff x="0" y="5911729"/>
            <a:chExt cx="12192027" cy="949000"/>
          </a:xfrm>
        </p:grpSpPr>
        <p:pic>
          <p:nvPicPr>
            <p:cNvPr id="9" name="SU.Footer.Shape.White.Cover.R">
              <a:extLst>
                <a:ext uri="{FF2B5EF4-FFF2-40B4-BE49-F238E27FC236}">
                  <a16:creationId xmlns:a16="http://schemas.microsoft.com/office/drawing/2014/main" id="{1D0C4382-EBF0-994D-87EB-841AE6F0F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0" name="SU.Footer.Shape.White.Cover.L">
              <a:extLst>
                <a:ext uri="{FF2B5EF4-FFF2-40B4-BE49-F238E27FC236}">
                  <a16:creationId xmlns:a16="http://schemas.microsoft.com/office/drawing/2014/main" id="{A9785C11-D389-7D4F-9474-E4C97B9273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7"/>
            <a:ext cx="8341853" cy="4414600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8341853" cy="644993"/>
          </a:xfr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2"/>
              </a:buClr>
              <a:buFontTx/>
              <a:buNone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6403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-heading + Content on Pattern Panel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attern">
            <a:extLst>
              <a:ext uri="{FF2B5EF4-FFF2-40B4-BE49-F238E27FC236}">
                <a16:creationId xmlns:a16="http://schemas.microsoft.com/office/drawing/2014/main" id="{D5786CBE-E2DA-F242-8EF3-D86AFD77730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9167"/>
          <a:stretch/>
        </p:blipFill>
        <p:spPr>
          <a:xfrm>
            <a:off x="1035" y="1342422"/>
            <a:ext cx="2838030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6742E16-A430-8D49-8E48-2E7C539F8975}"/>
              </a:ext>
            </a:extLst>
          </p:cNvPr>
          <p:cNvGrpSpPr/>
          <p:nvPr/>
        </p:nvGrpSpPr>
        <p:grpSpPr>
          <a:xfrm>
            <a:off x="1" y="5911729"/>
            <a:ext cx="9144020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36D2AD46-C46A-354E-BEB5-538F821ABE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FCFD9C81-5F69-5644-80F4-B4957DB6B59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4" name="Content Placeholder ">
            <a:extLst>
              <a:ext uri="{FF2B5EF4-FFF2-40B4-BE49-F238E27FC236}">
                <a16:creationId xmlns:a16="http://schemas.microsoft.com/office/drawing/2014/main" id="{D0E9C235-E1AC-4547-A3F0-A9434CA86F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032524" y="1439056"/>
            <a:ext cx="5860754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3" name="Sub-heading">
            <a:extLst>
              <a:ext uri="{FF2B5EF4-FFF2-40B4-BE49-F238E27FC236}">
                <a16:creationId xmlns:a16="http://schemas.microsoft.com/office/drawing/2014/main" id="{4F600B9D-C6D1-B541-84C3-79F974E469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2" y="1437745"/>
            <a:ext cx="2450063" cy="5075482"/>
          </a:xfrm>
        </p:spPr>
        <p:txBody>
          <a:bodyPr anchor="t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GB" sz="2100" b="0" i="0" kern="120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1" y="286559"/>
            <a:ext cx="6246424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9551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l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White Rectangle">
            <a:extLst>
              <a:ext uri="{FF2B5EF4-FFF2-40B4-BE49-F238E27FC236}">
                <a16:creationId xmlns:a16="http://schemas.microsoft.com/office/drawing/2014/main" id="{E092BD89-6351-F14F-99A1-F9ED46FD8A3D}"/>
              </a:ext>
            </a:extLst>
          </p:cNvPr>
          <p:cNvSpPr/>
          <p:nvPr/>
        </p:nvSpPr>
        <p:spPr>
          <a:xfrm>
            <a:off x="0" y="1"/>
            <a:ext cx="9144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1" name="Content Placeholder  2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729164" y="2093512"/>
            <a:ext cx="4001690" cy="4414600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2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164" y="1382146"/>
            <a:ext cx="400169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EB87052C-3318-B443-ACEB-EB3464C7D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9163" y="234094"/>
            <a:ext cx="4001690" cy="1071641"/>
          </a:xfrm>
        </p:spPr>
        <p:txBody>
          <a:bodyPr/>
          <a:lstStyle>
            <a:lvl1pPr marL="0" indent="0">
              <a:buFontTx/>
              <a:buNone/>
              <a:defRPr lang="en-GB" sz="24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1" y="2098626"/>
            <a:ext cx="4025837" cy="4414600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1" y="1379765"/>
            <a:ext cx="4025837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02" y="286559"/>
            <a:ext cx="402583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9974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xColumns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F91E8B35-3A4B-C141-A1D0-4589A2506ABF}"/>
              </a:ext>
            </a:extLst>
          </p:cNvPr>
          <p:cNvSpPr/>
          <p:nvPr/>
        </p:nvSpPr>
        <p:spPr>
          <a:xfrm>
            <a:off x="0" y="1"/>
            <a:ext cx="9144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BBB9A18E-F7B6-1241-9C63-76045CF5625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30854" y="2093513"/>
            <a:ext cx="2700000" cy="4412219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4" name="Sub-heading 3">
            <a:extLst>
              <a:ext uri="{FF2B5EF4-FFF2-40B4-BE49-F238E27FC236}">
                <a16:creationId xmlns:a16="http://schemas.microsoft.com/office/drawing/2014/main" id="{73E54803-8D9E-3F45-B6AB-2245573210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0854" y="1382146"/>
            <a:ext cx="270000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5" name="Title 3">
            <a:extLst>
              <a:ext uri="{FF2B5EF4-FFF2-40B4-BE49-F238E27FC236}">
                <a16:creationId xmlns:a16="http://schemas.microsoft.com/office/drawing/2014/main" id="{16F8BEA3-5345-1748-AA80-5B585F793F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854" y="229952"/>
            <a:ext cx="2700000" cy="105355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6" name="Content Placeholder  2">
            <a:extLst>
              <a:ext uri="{FF2B5EF4-FFF2-40B4-BE49-F238E27FC236}">
                <a16:creationId xmlns:a16="http://schemas.microsoft.com/office/drawing/2014/main" id="{88B2884D-0365-B541-8F3C-C51C6A73AE2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209926" y="2093513"/>
            <a:ext cx="2699999" cy="4412219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7" name="Sub-heading 2">
            <a:extLst>
              <a:ext uri="{FF2B5EF4-FFF2-40B4-BE49-F238E27FC236}">
                <a16:creationId xmlns:a16="http://schemas.microsoft.com/office/drawing/2014/main" id="{6D580DE4-7F66-D04D-B514-60DB430392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9926" y="1382146"/>
            <a:ext cx="2699999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8" name="Title 2">
            <a:extLst>
              <a:ext uri="{FF2B5EF4-FFF2-40B4-BE49-F238E27FC236}">
                <a16:creationId xmlns:a16="http://schemas.microsoft.com/office/drawing/2014/main" id="{A6F7933B-A88D-C34B-BD54-79381E7FAA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9925" y="229952"/>
            <a:ext cx="27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2A0A52AC-CBA4-EA46-BD1B-323F4DB400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000" y="2093513"/>
            <a:ext cx="2700000" cy="4412219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0" name="Sub-heading 1">
            <a:extLst>
              <a:ext uri="{FF2B5EF4-FFF2-40B4-BE49-F238E27FC236}">
                <a16:creationId xmlns:a16="http://schemas.microsoft.com/office/drawing/2014/main" id="{CA2CC1C2-E7EE-0648-820D-BC18F6B338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000" y="1382146"/>
            <a:ext cx="2700000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60F85EF3-BC19-7441-B388-C548745126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9000" y="229952"/>
            <a:ext cx="27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3429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6858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0287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371600" indent="0" algn="l">
              <a:buFontTx/>
              <a:buNone/>
              <a:defRPr sz="24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3315763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Grey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48026" y="4471003"/>
            <a:ext cx="3588959" cy="2148599"/>
          </a:xfrm>
          <a:prstGeom prst="rect">
            <a:avLst/>
          </a:prstGeom>
        </p:spPr>
      </p:pic>
      <p:pic>
        <p:nvPicPr>
          <p:cNvPr id="19" name="Pattern Grey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5515"/>
          <a:stretch/>
        </p:blipFill>
        <p:spPr>
          <a:xfrm rot="10800000">
            <a:off x="169458" y="1334681"/>
            <a:ext cx="3588959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866" t="14321" r="48528" b="71220"/>
          <a:stretch/>
        </p:blipFill>
        <p:spPr>
          <a:xfrm rot="10800000">
            <a:off x="170437" y="-42183"/>
            <a:ext cx="3588959" cy="137686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38600" y="2096646"/>
            <a:ext cx="4692254" cy="4416581"/>
          </a:xfrm>
        </p:spPr>
        <p:txBody>
          <a:bodyPr>
            <a:normAutofit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8599" y="1381174"/>
            <a:ext cx="4692254" cy="644993"/>
          </a:xfrm>
        </p:spPr>
        <p:txBody>
          <a:bodyPr anchor="ctr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1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54" y="2943724"/>
            <a:ext cx="33399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7733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49E4A-9F5B-4BBB-AF92-6555D065EB58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3524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B1A4AB-DD35-49DF-A5A9-C69B9DFF9FD2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6810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1BF03-64A7-4772-9011-5F03A66F582F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6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/>
        </p:nvSpPr>
        <p:spPr>
          <a:xfrm>
            <a:off x="0" y="0"/>
            <a:ext cx="9144000" cy="1341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16" name="SU.Footer.Shape.White">
            <a:extLst>
              <a:ext uri="{FF2B5EF4-FFF2-40B4-BE49-F238E27FC236}">
                <a16:creationId xmlns:a16="http://schemas.microsoft.com/office/drawing/2014/main" id="{C2021710-E914-7244-8A47-3745EFB08A9D}"/>
              </a:ext>
            </a:extLst>
          </p:cNvPr>
          <p:cNvPicPr>
            <a:picLocks noChangeAspect="1"/>
          </p:cNvPicPr>
          <p:nvPr/>
        </p:nvPicPr>
        <p:blipFill rotWithShape="1">
          <a:blip r:embed="rId3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rcRect b="18185"/>
          <a:stretch/>
        </p:blipFill>
        <p:spPr>
          <a:xfrm>
            <a:off x="0" y="5909002"/>
            <a:ext cx="9144000" cy="948999"/>
          </a:xfrm>
          <a:prstGeom prst="rect">
            <a:avLst/>
          </a:prstGeom>
        </p:spPr>
      </p:pic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/>
        </p:nvSpPr>
        <p:spPr>
          <a:xfrm>
            <a:off x="386954" y="6597651"/>
            <a:ext cx="83439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75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Economic and Management Sciences | </a:t>
            </a:r>
            <a:r>
              <a:rPr lang="en-GB" sz="75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EyeNzululwazi</a:t>
            </a:r>
            <a:r>
              <a:rPr lang="en-GB" sz="75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</a:t>
            </a:r>
            <a:r>
              <a:rPr lang="en-GB" sz="75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ngoQoqosho</a:t>
            </a:r>
            <a:r>
              <a:rPr lang="en-GB" sz="75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</a:t>
            </a:r>
            <a:r>
              <a:rPr lang="en-GB" sz="75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noLawulo</a:t>
            </a:r>
            <a:r>
              <a:rPr lang="en-GB" sz="75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| </a:t>
            </a:r>
            <a:r>
              <a:rPr lang="en-GB" sz="75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Ekonomiese</a:t>
            </a:r>
            <a:r>
              <a:rPr lang="en-GB" sz="75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</a:t>
            </a:r>
            <a:r>
              <a:rPr lang="en-GB" sz="75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en</a:t>
            </a:r>
            <a:r>
              <a:rPr lang="en-GB" sz="75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</a:t>
            </a:r>
            <a:r>
              <a:rPr lang="en-GB" sz="75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Bestuurswetenskappe</a:t>
            </a:r>
            <a:endParaRPr lang="en-GB" sz="750" b="0" i="0" dirty="0">
              <a:solidFill>
                <a:schemeClr val="accent3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SU.Shape" hidden="1">
            <a:extLst>
              <a:ext uri="{FF2B5EF4-FFF2-40B4-BE49-F238E27FC236}">
                <a16:creationId xmlns:a16="http://schemas.microsoft.com/office/drawing/2014/main" id="{050DDAF9-8F3A-0B48-82E1-6040CBB5F5D1}"/>
              </a:ext>
            </a:extLst>
          </p:cNvPr>
          <p:cNvSpPr/>
          <p:nvPr/>
        </p:nvSpPr>
        <p:spPr>
          <a:xfrm>
            <a:off x="0" y="1339540"/>
            <a:ext cx="9144000" cy="5259988"/>
          </a:xfrm>
          <a:custGeom>
            <a:avLst/>
            <a:gdLst>
              <a:gd name="connsiteX0" fmla="*/ 76801 w 3455263"/>
              <a:gd name="connsiteY0" fmla="*/ 1812227 h 1812226"/>
              <a:gd name="connsiteX1" fmla="*/ 0 w 3455263"/>
              <a:gd name="connsiteY1" fmla="*/ 1735169 h 1812226"/>
              <a:gd name="connsiteX2" fmla="*/ 0 w 3455263"/>
              <a:gd name="connsiteY2" fmla="*/ 0 h 1812226"/>
              <a:gd name="connsiteX3" fmla="*/ 3455263 w 3455263"/>
              <a:gd name="connsiteY3" fmla="*/ 0 h 1812226"/>
              <a:gd name="connsiteX4" fmla="*/ 3455263 w 3455263"/>
              <a:gd name="connsiteY4" fmla="*/ 1581150 h 1812226"/>
              <a:gd name="connsiteX5" fmla="*/ 3224766 w 3455263"/>
              <a:gd name="connsiteY5" fmla="*/ 1811750 h 1812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5263" h="1812226">
                <a:moveTo>
                  <a:pt x="76801" y="1812227"/>
                </a:moveTo>
                <a:cubicBezTo>
                  <a:pt x="76801" y="1812227"/>
                  <a:pt x="0" y="1812227"/>
                  <a:pt x="0" y="1735169"/>
                </a:cubicBezTo>
                <a:lnTo>
                  <a:pt x="0" y="0"/>
                </a:lnTo>
                <a:lnTo>
                  <a:pt x="3455263" y="0"/>
                </a:lnTo>
                <a:lnTo>
                  <a:pt x="3455263" y="1581150"/>
                </a:lnTo>
                <a:cubicBezTo>
                  <a:pt x="3455263" y="1581150"/>
                  <a:pt x="3455263" y="1811750"/>
                  <a:pt x="3224766" y="1811750"/>
                </a:cubicBezTo>
                <a:close/>
              </a:path>
            </a:pathLst>
          </a:cu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80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954" y="1426437"/>
            <a:ext cx="8343898" cy="515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4" y="285324"/>
            <a:ext cx="6386727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8" name="SU Logo">
            <a:extLst>
              <a:ext uri="{FF2B5EF4-FFF2-40B4-BE49-F238E27FC236}">
                <a16:creationId xmlns:a16="http://schemas.microsoft.com/office/drawing/2014/main" id="{4BCB2B4B-739F-974A-8938-B9DE97032C4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6854221" y="130470"/>
            <a:ext cx="2289779" cy="103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40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  <p:sldLayoutId id="2147483770" r:id="rId22"/>
    <p:sldLayoutId id="2147483771" r:id="rId23"/>
    <p:sldLayoutId id="2147483772" r:id="rId24"/>
    <p:sldLayoutId id="2147483773" r:id="rId25"/>
    <p:sldLayoutId id="2147483774" r:id="rId26"/>
    <p:sldLayoutId id="2147483775" r:id="rId27"/>
    <p:sldLayoutId id="2147483776" r:id="rId2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65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>
          <p15:clr>
            <a:srgbClr val="F26B43"/>
          </p15:clr>
        </p15:guide>
        <p15:guide id="2" pos="325">
          <p15:clr>
            <a:srgbClr val="F26B43"/>
          </p15:clr>
        </p15:guide>
        <p15:guide id="3" pos="166">
          <p15:clr>
            <a:srgbClr val="F26B43"/>
          </p15:clr>
        </p15:guide>
        <p15:guide id="4" pos="7514">
          <p15:clr>
            <a:srgbClr val="F26B43"/>
          </p15:clr>
        </p15:guide>
        <p15:guide id="5" pos="7333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232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86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26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2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2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2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27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hemeOverride" Target="../theme/themeOverr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70146" y="2204864"/>
            <a:ext cx="7772400" cy="646112"/>
          </a:xfrm>
        </p:spPr>
        <p:txBody>
          <a:bodyPr>
            <a:noAutofit/>
          </a:bodyPr>
          <a:lstStyle/>
          <a:p>
            <a:pPr eaLnBrk="1" hangingPunct="1"/>
            <a:r>
              <a:rPr lang="en-US" sz="5400" b="1"/>
              <a:t>Value added tax</a:t>
            </a:r>
            <a:endParaRPr lang="en-GB" sz="5400" b="1"/>
          </a:p>
        </p:txBody>
      </p:sp>
      <p:pic>
        <p:nvPicPr>
          <p:cNvPr id="5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645024"/>
            <a:ext cx="3238128" cy="16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274638"/>
            <a:ext cx="8596313" cy="1296987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/>
              <a:t>VAT Act</a:t>
            </a:r>
            <a:endParaRPr lang="en-GB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772816"/>
            <a:ext cx="80772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+mj-lt"/>
                <a:cs typeface="Arial" charset="0"/>
              </a:rPr>
              <a:t>VAT Act is dealt with in </a:t>
            </a:r>
            <a:r>
              <a:rPr lang="en-US" sz="2800" b="1" dirty="0">
                <a:latin typeface="+mj-lt"/>
                <a:cs typeface="Arial" charset="0"/>
              </a:rPr>
              <a:t>Tax 298 and 399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dirty="0">
                <a:latin typeface="+mj-lt"/>
                <a:cs typeface="Arial" charset="0"/>
              </a:rPr>
              <a:t>Connection to </a:t>
            </a:r>
            <a:r>
              <a:rPr lang="en-GB" sz="2800" b="1" dirty="0">
                <a:latin typeface="+mj-lt"/>
                <a:cs typeface="Arial" charset="0"/>
              </a:rPr>
              <a:t>Fin </a:t>
            </a:r>
            <a:r>
              <a:rPr lang="en-GB" sz="2800" b="1" dirty="0" err="1">
                <a:latin typeface="+mj-lt"/>
                <a:cs typeface="Arial" charset="0"/>
              </a:rPr>
              <a:t>Acc</a:t>
            </a:r>
            <a:r>
              <a:rPr lang="en-GB" sz="2800" dirty="0">
                <a:latin typeface="+mj-lt"/>
                <a:cs typeface="Arial" charset="0"/>
              </a:rPr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>
                <a:latin typeface="+mj-lt"/>
                <a:cs typeface="Arial" charset="0"/>
              </a:rPr>
              <a:t>VAT is integral to the accounting system of any business which is registered for VAT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>
                <a:latin typeface="+mj-lt"/>
                <a:cs typeface="Arial" charset="0"/>
              </a:rPr>
              <a:t>VAT can be tested in conjunction with any topic where transactions occur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>
                <a:latin typeface="+mj-lt"/>
                <a:cs typeface="Arial" charset="0"/>
              </a:rPr>
              <a:t>Test questions will usually indicate whether VAT is applicable or should be ignored.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>
                <a:latin typeface="+mj-lt"/>
                <a:cs typeface="Arial" charset="0"/>
              </a:rPr>
              <a:t>Where VAT is applicable in a test question: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2000" dirty="0">
                <a:latin typeface="+mj-lt"/>
                <a:cs typeface="Arial" charset="0"/>
              </a:rPr>
              <a:t>Assume prices include VAT, unless otherwise indicated in the question</a:t>
            </a:r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340768"/>
            <a:ext cx="2400201" cy="1421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273050"/>
            <a:ext cx="8596313" cy="1296988"/>
          </a:xfrm>
        </p:spPr>
        <p:txBody>
          <a:bodyPr/>
          <a:lstStyle/>
          <a:p>
            <a:pPr eaLnBrk="1" hangingPunct="1"/>
            <a:r>
              <a:rPr lang="en-US" b="1" dirty="0"/>
              <a:t>VAT: how it is levied</a:t>
            </a:r>
            <a:endParaRPr lang="en-GB" sz="2800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844824"/>
            <a:ext cx="8419852" cy="4464495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>
                <a:latin typeface="+mj-lt"/>
                <a:cs typeface="Arial" charset="0"/>
              </a:rPr>
              <a:t>14% </a:t>
            </a:r>
            <a:r>
              <a:rPr lang="en-GB" sz="2800" dirty="0">
                <a:cs typeface="Arial" charset="0"/>
              </a:rPr>
              <a:t>(until 31 March 2018) </a:t>
            </a:r>
          </a:p>
          <a:p>
            <a:r>
              <a:rPr lang="en-GB" sz="2800" dirty="0">
                <a:cs typeface="Arial" charset="0"/>
              </a:rPr>
              <a:t>15% (from 1 April 2018)</a:t>
            </a:r>
          </a:p>
          <a:p>
            <a:r>
              <a:rPr lang="en-GB" sz="2800" dirty="0">
                <a:cs typeface="Arial" charset="0"/>
              </a:rPr>
              <a:t> </a:t>
            </a:r>
            <a:r>
              <a:rPr lang="en-GB" sz="2800" dirty="0">
                <a:latin typeface="+mj-lt"/>
                <a:cs typeface="Arial" charset="0"/>
              </a:rPr>
              <a:t>of all </a:t>
            </a:r>
            <a:r>
              <a:rPr lang="en-GB" sz="2800" b="1" dirty="0">
                <a:latin typeface="+mj-lt"/>
                <a:cs typeface="Arial" charset="0"/>
              </a:rPr>
              <a:t>goods and services </a:t>
            </a:r>
            <a:r>
              <a:rPr lang="en-GB" sz="2800" dirty="0">
                <a:latin typeface="+mj-lt"/>
                <a:cs typeface="Arial" charset="0"/>
              </a:rPr>
              <a:t>supplied by </a:t>
            </a:r>
            <a:r>
              <a:rPr lang="en-GB" sz="2800" b="1" dirty="0">
                <a:latin typeface="+mj-lt"/>
                <a:cs typeface="Arial" charset="0"/>
              </a:rPr>
              <a:t>vendors</a:t>
            </a:r>
          </a:p>
          <a:p>
            <a:endParaRPr lang="en-GB" sz="2800" b="1" dirty="0">
              <a:latin typeface="+mj-lt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sz="2800" b="1" dirty="0">
                <a:latin typeface="+mj-lt"/>
                <a:cs typeface="Arial" charset="0"/>
              </a:rPr>
              <a:t>VAT vendor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b="1" dirty="0">
                <a:solidFill>
                  <a:srgbClr val="FF0000"/>
                </a:solidFill>
                <a:latin typeface="+mj-lt"/>
                <a:cs typeface="Arial" charset="0"/>
              </a:rPr>
              <a:t>Person</a:t>
            </a:r>
            <a:r>
              <a:rPr lang="en-GB" sz="2400" b="1" dirty="0">
                <a:latin typeface="+mj-lt"/>
                <a:cs typeface="Arial" charset="0"/>
              </a:rPr>
              <a:t> </a:t>
            </a:r>
            <a:r>
              <a:rPr lang="en-GB" sz="2400" dirty="0">
                <a:latin typeface="+mj-lt"/>
                <a:cs typeface="Arial" charset="0"/>
              </a:rPr>
              <a:t>(company, CC, individual etc.)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b="1" dirty="0">
                <a:solidFill>
                  <a:srgbClr val="FF0000"/>
                </a:solidFill>
                <a:latin typeface="+mj-lt"/>
                <a:cs typeface="Arial" charset="0"/>
              </a:rPr>
              <a:t>Registered for VAT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2000" dirty="0">
                <a:latin typeface="+mj-lt"/>
                <a:cs typeface="Arial" charset="0"/>
              </a:rPr>
              <a:t>Compulsory –enterprises with turnover &gt; R1 000 000</a:t>
            </a:r>
          </a:p>
          <a:p>
            <a:pPr lvl="2" eaLnBrk="1" hangingPunct="1">
              <a:lnSpc>
                <a:spcPct val="90000"/>
              </a:lnSpc>
            </a:pPr>
            <a:r>
              <a:rPr lang="en-GB" sz="2000" dirty="0">
                <a:latin typeface="+mj-lt"/>
                <a:cs typeface="Arial" charset="0"/>
              </a:rPr>
              <a:t>Voluntary – enterprises with turnover &gt; R50 000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dirty="0">
                <a:latin typeface="+mj-lt"/>
                <a:cs typeface="Arial" charset="0"/>
              </a:rPr>
              <a:t>NB: definition of </a:t>
            </a:r>
            <a:r>
              <a:rPr lang="en-GB" sz="2800" b="1" dirty="0">
                <a:latin typeface="+mj-lt"/>
                <a:cs typeface="Arial" charset="0"/>
              </a:rPr>
              <a:t>enterprise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b="1" dirty="0">
                <a:latin typeface="+mj-lt"/>
                <a:cs typeface="Arial" charset="0"/>
              </a:rPr>
              <a:t>Exemptions/deemed supplies</a:t>
            </a:r>
          </a:p>
          <a:p>
            <a:pPr lvl="1" eaLnBrk="1" hangingPunct="1">
              <a:lnSpc>
                <a:spcPct val="90000"/>
              </a:lnSpc>
            </a:pPr>
            <a:endParaRPr lang="en-GB" sz="2400" dirty="0">
              <a:latin typeface="+mj-lt"/>
            </a:endParaRPr>
          </a:p>
          <a:p>
            <a:pPr eaLnBrk="1" hangingPunct="1">
              <a:lnSpc>
                <a:spcPct val="90000"/>
              </a:lnSpc>
            </a:pPr>
            <a:endParaRPr lang="en-GB" sz="2800" dirty="0">
              <a:latin typeface="+mj-lt"/>
            </a:endParaRPr>
          </a:p>
        </p:txBody>
      </p:sp>
      <p:pic>
        <p:nvPicPr>
          <p:cNvPr id="4" name="Picture 2" descr="Image result for v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674" y="3347892"/>
            <a:ext cx="1892326" cy="129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ight Brace 1">
            <a:extLst>
              <a:ext uri="{FF2B5EF4-FFF2-40B4-BE49-F238E27FC236}">
                <a16:creationId xmlns:a16="http://schemas.microsoft.com/office/drawing/2014/main" id="{3C5BC434-9C83-603C-FA4C-3D201CF32342}"/>
              </a:ext>
            </a:extLst>
          </p:cNvPr>
          <p:cNvSpPr/>
          <p:nvPr/>
        </p:nvSpPr>
        <p:spPr>
          <a:xfrm>
            <a:off x="4644008" y="5301208"/>
            <a:ext cx="432048" cy="8640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1A20CC-3BB6-30C2-41F2-B0C0B66EEA5E}"/>
              </a:ext>
            </a:extLst>
          </p:cNvPr>
          <p:cNvSpPr/>
          <p:nvPr/>
        </p:nvSpPr>
        <p:spPr>
          <a:xfrm>
            <a:off x="5400092" y="5304224"/>
            <a:ext cx="3343288" cy="864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Dealt with in Tax 399</a:t>
            </a:r>
            <a:endParaRPr lang="en-Z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ACAEFB-9103-9D9A-CA92-19081E7EE6F9}"/>
              </a:ext>
            </a:extLst>
          </p:cNvPr>
          <p:cNvSpPr/>
          <p:nvPr/>
        </p:nvSpPr>
        <p:spPr>
          <a:xfrm>
            <a:off x="4312346" y="1844823"/>
            <a:ext cx="3240360" cy="864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/>
              <a:t>Older questions still use 14%. </a:t>
            </a:r>
          </a:p>
          <a:p>
            <a:pPr algn="ctr"/>
            <a:r>
              <a:rPr lang="en-ZA" sz="1400" dirty="0"/>
              <a:t>Newer questions use 15%. </a:t>
            </a:r>
          </a:p>
          <a:p>
            <a:pPr algn="ctr"/>
            <a:r>
              <a:rPr lang="en-ZA" sz="1400" dirty="0"/>
              <a:t>Assessments will use 15%.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273050"/>
            <a:ext cx="8596313" cy="1296988"/>
          </a:xfrm>
        </p:spPr>
        <p:txBody>
          <a:bodyPr/>
          <a:lstStyle/>
          <a:p>
            <a:pPr eaLnBrk="1" hangingPunct="1"/>
            <a:r>
              <a:rPr lang="en-US" b="1" dirty="0"/>
              <a:t>VAT: mechanics </a:t>
            </a:r>
            <a:endParaRPr lang="en-GB" sz="28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916832"/>
            <a:ext cx="77724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b="1" dirty="0">
                <a:latin typeface="+mj-lt"/>
                <a:cs typeface="Arial" charset="0"/>
              </a:rPr>
              <a:t>Output tax on sales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800" b="1" dirty="0">
              <a:latin typeface="+mj-lt"/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b="1" dirty="0">
                <a:latin typeface="+mj-lt"/>
                <a:cs typeface="Arial" charset="0"/>
              </a:rPr>
              <a:t>Input tax on purchases</a:t>
            </a:r>
            <a:r>
              <a:rPr lang="en-US" sz="2800" dirty="0">
                <a:solidFill>
                  <a:srgbClr val="CC0099"/>
                </a:solidFill>
                <a:latin typeface="+mj-lt"/>
                <a:cs typeface="Arial" charset="0"/>
              </a:rPr>
              <a:t>	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800" dirty="0">
              <a:solidFill>
                <a:srgbClr val="CC0099"/>
              </a:solidFill>
              <a:latin typeface="+mj-lt"/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b="1" dirty="0">
                <a:latin typeface="+mj-lt"/>
                <a:cs typeface="Arial" charset="0"/>
              </a:rPr>
              <a:t>Difference between output and input VAT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+mj-lt"/>
                <a:cs typeface="Arial" charset="0"/>
              </a:rPr>
              <a:t>= amount payable to SARS or receivable from SARS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b="1" dirty="0">
                <a:latin typeface="+mj-lt"/>
                <a:cs typeface="Arial" charset="0"/>
              </a:rPr>
              <a:t>NB! </a:t>
            </a:r>
            <a:r>
              <a:rPr lang="en-GB" sz="2400" dirty="0">
                <a:latin typeface="+mj-lt"/>
                <a:cs typeface="Arial" charset="0"/>
              </a:rPr>
              <a:t>VAT is not another tax on enterprises – enterprises merely act as </a:t>
            </a:r>
            <a:r>
              <a:rPr lang="en-GB" sz="2400" b="1" dirty="0">
                <a:latin typeface="+mj-lt"/>
                <a:cs typeface="Arial" charset="0"/>
              </a:rPr>
              <a:t>collection agents </a:t>
            </a:r>
            <a:r>
              <a:rPr lang="en-GB" sz="2400" dirty="0">
                <a:latin typeface="+mj-lt"/>
                <a:cs typeface="Arial" charset="0"/>
              </a:rPr>
              <a:t>for SARS</a:t>
            </a:r>
            <a:endParaRPr lang="en-GB" sz="2800" dirty="0">
              <a:latin typeface="+mj-lt"/>
              <a:cs typeface="Arial" charset="0"/>
            </a:endParaRPr>
          </a:p>
        </p:txBody>
      </p:sp>
      <p:pic>
        <p:nvPicPr>
          <p:cNvPr id="5" name="Picture 8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484784"/>
            <a:ext cx="2304256" cy="132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273050"/>
            <a:ext cx="8596313" cy="1296988"/>
          </a:xfrm>
        </p:spPr>
        <p:txBody>
          <a:bodyPr/>
          <a:lstStyle/>
          <a:p>
            <a:pPr eaLnBrk="1" hangingPunct="1"/>
            <a:r>
              <a:rPr lang="en-US" b="1" dirty="0"/>
              <a:t>VAT: mechanics </a:t>
            </a:r>
            <a:endParaRPr lang="en-GB" sz="28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916832"/>
            <a:ext cx="7772400" cy="4876800"/>
          </a:xfrm>
        </p:spPr>
        <p:txBody>
          <a:bodyPr/>
          <a:lstStyle/>
          <a:p>
            <a:endParaRPr lang="en-GB" sz="2800" dirty="0">
              <a:latin typeface="+mj-lt"/>
              <a:cs typeface="Arial" charset="0"/>
            </a:endParaRPr>
          </a:p>
          <a:p>
            <a:endParaRPr lang="en-GB" sz="2800" dirty="0">
              <a:latin typeface="+mj-lt"/>
              <a:cs typeface="Arial" charset="0"/>
            </a:endParaRPr>
          </a:p>
          <a:p>
            <a:r>
              <a:rPr lang="en-GB" sz="2800" dirty="0">
                <a:latin typeface="+mj-lt"/>
                <a:cs typeface="Arial" charset="0"/>
              </a:rPr>
              <a:t>VAT is levied at each point in the production and distribution channel </a:t>
            </a:r>
          </a:p>
          <a:p>
            <a:pPr lvl="1"/>
            <a:r>
              <a:rPr lang="en-US" sz="2400" b="1" dirty="0">
                <a:solidFill>
                  <a:schemeClr val="accent2"/>
                </a:solidFill>
                <a:latin typeface="+mj-lt"/>
                <a:cs typeface="Arial" charset="0"/>
              </a:rPr>
              <a:t>Example 1 and 2</a:t>
            </a:r>
          </a:p>
          <a:p>
            <a:pPr eaLnBrk="1" hangingPunct="1">
              <a:lnSpc>
                <a:spcPct val="80000"/>
              </a:lnSpc>
            </a:pPr>
            <a:endParaRPr lang="en-GB" sz="2800" dirty="0">
              <a:latin typeface="+mj-lt"/>
              <a:cs typeface="Arial" charset="0"/>
            </a:endParaRPr>
          </a:p>
        </p:txBody>
      </p:sp>
      <p:pic>
        <p:nvPicPr>
          <p:cNvPr id="5" name="Picture 8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540415"/>
            <a:ext cx="2304256" cy="132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017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273050"/>
            <a:ext cx="8596313" cy="1296988"/>
          </a:xfrm>
        </p:spPr>
        <p:txBody>
          <a:bodyPr/>
          <a:lstStyle/>
          <a:p>
            <a:pPr eaLnBrk="1" hangingPunct="1"/>
            <a:r>
              <a:rPr lang="en-US" b="1" dirty="0"/>
              <a:t>VAT: Accounting treatment</a:t>
            </a:r>
            <a:endParaRPr lang="en-GB" sz="2800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844824"/>
            <a:ext cx="8509248" cy="4800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Arial" charset="0"/>
              </a:rPr>
              <a:t>All </a:t>
            </a:r>
            <a:r>
              <a:rPr lang="en-US" sz="2400" b="1" dirty="0">
                <a:latin typeface="+mj-lt"/>
                <a:cs typeface="Arial" charset="0"/>
              </a:rPr>
              <a:t>subsidiary journals </a:t>
            </a:r>
            <a:r>
              <a:rPr lang="en-US" sz="2400" dirty="0">
                <a:latin typeface="+mj-lt"/>
                <a:cs typeface="Arial" charset="0"/>
              </a:rPr>
              <a:t>have a VAT column (example)</a:t>
            </a:r>
            <a:endParaRPr lang="en-US" sz="2800" dirty="0">
              <a:latin typeface="+mj-lt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+mj-lt"/>
                <a:cs typeface="Arial" charset="0"/>
              </a:rPr>
              <a:t>Levy VAT on </a:t>
            </a:r>
            <a:r>
              <a:rPr lang="en-US" sz="2800" b="1" dirty="0">
                <a:latin typeface="+mj-lt"/>
                <a:cs typeface="Arial" charset="0"/>
              </a:rPr>
              <a:t>all</a:t>
            </a:r>
            <a:r>
              <a:rPr lang="en-US" sz="2800" dirty="0">
                <a:latin typeface="+mj-lt"/>
                <a:cs typeface="Arial" charset="0"/>
              </a:rPr>
              <a:t> sales and services rendered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Arial" charset="0"/>
              </a:rPr>
              <a:t>VAT is NOT raised on the receipt of cash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+mj-lt"/>
                <a:cs typeface="Arial" charset="0"/>
              </a:rPr>
              <a:t>Pay VAT on </a:t>
            </a:r>
            <a:r>
              <a:rPr lang="en-US" sz="2800" b="1" dirty="0">
                <a:latin typeface="+mj-lt"/>
                <a:cs typeface="Arial" charset="0"/>
              </a:rPr>
              <a:t>all </a:t>
            </a:r>
            <a:r>
              <a:rPr lang="en-US" sz="2800" dirty="0">
                <a:latin typeface="+mj-lt"/>
                <a:cs typeface="Arial" charset="0"/>
              </a:rPr>
              <a:t>purchases and services used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Arial" charset="0"/>
              </a:rPr>
              <a:t>VAT is NOT raised on payment of CASH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+mj-lt"/>
                <a:cs typeface="Arial" charset="0"/>
              </a:rPr>
              <a:t>Trade discount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+mj-lt"/>
                <a:cs typeface="Arial" charset="0"/>
              </a:rPr>
              <a:t>Sales and purchase returns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+mj-lt"/>
                <a:cs typeface="Arial" charset="0"/>
              </a:rPr>
              <a:t>Release of rights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Arial" charset="0"/>
              </a:rPr>
              <a:t>Cash discount received/allowed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Arial" charset="0"/>
              </a:rPr>
              <a:t>Release of obligation to pay creditor and bad debts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273050"/>
            <a:ext cx="8596313" cy="1296988"/>
          </a:xfrm>
        </p:spPr>
        <p:txBody>
          <a:bodyPr/>
          <a:lstStyle/>
          <a:p>
            <a:r>
              <a:rPr lang="en-US" b="1" dirty="0"/>
              <a:t>VAT: Accounting treatment</a:t>
            </a:r>
            <a:endParaRPr lang="en-GB" sz="28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17525" y="1845734"/>
            <a:ext cx="8158931" cy="4463586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b="1" dirty="0">
                <a:latin typeface="+mj-lt"/>
                <a:cs typeface="Arial" charset="0"/>
              </a:rPr>
              <a:t>Month-end</a:t>
            </a:r>
            <a:r>
              <a:rPr lang="en-US" sz="2400" dirty="0">
                <a:latin typeface="+mj-lt"/>
                <a:cs typeface="Arial" charset="0"/>
              </a:rPr>
              <a:t>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Arial" charset="0"/>
              </a:rPr>
              <a:t>Debit the total of input VAT column and credit the total of output VAT column to the VAT control account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Arial" charset="0"/>
              </a:rPr>
              <a:t>Depending on the balance on the VAT control account, either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Arial" charset="0"/>
              </a:rPr>
              <a:t>net output VAT would be payable to SARS (credit balance); or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Arial" charset="0"/>
              </a:rPr>
              <a:t>net input VAT would be receivable from SARS (debit balance)</a:t>
            </a:r>
            <a:endParaRPr lang="en-GB" sz="2400" dirty="0">
              <a:latin typeface="+mj-lt"/>
              <a:cs typeface="Arial" charset="0"/>
            </a:endParaRPr>
          </a:p>
        </p:txBody>
      </p:sp>
      <p:pic>
        <p:nvPicPr>
          <p:cNvPr id="4" name="Picture 8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725144"/>
            <a:ext cx="2304256" cy="132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274638"/>
            <a:ext cx="8596313" cy="1296987"/>
          </a:xfrm>
        </p:spPr>
        <p:txBody>
          <a:bodyPr/>
          <a:lstStyle/>
          <a:p>
            <a:pPr eaLnBrk="1" hangingPunct="1"/>
            <a:r>
              <a:rPr lang="en-US" b="1" dirty="0"/>
              <a:t>VAT: where does VAT apply?</a:t>
            </a:r>
            <a:endParaRPr lang="en-GB" sz="2800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9552" y="1948008"/>
            <a:ext cx="4032448" cy="4321199"/>
          </a:xfrm>
          <a:ln w="38100">
            <a:solidFill>
              <a:srgbClr val="D60093"/>
            </a:solidFill>
            <a:prstDash val="sysDot"/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b="1" dirty="0">
                <a:latin typeface="+mj-lt"/>
                <a:cs typeface="Arial" charset="0"/>
              </a:rPr>
              <a:t>Purchases of goods and services</a:t>
            </a:r>
            <a:r>
              <a:rPr lang="en-US" sz="2400" dirty="0">
                <a:latin typeface="+mj-lt"/>
                <a:cs typeface="Arial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+mj-lt"/>
                <a:cs typeface="Arial" charset="0"/>
              </a:rPr>
              <a:t>Claim input VAT back from SARS (on the VAT levied on the purchase price by the VAT Vendor)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Arial" charset="0"/>
              </a:rPr>
              <a:t>Adjust input VAT claim for: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dirty="0">
                <a:latin typeface="+mj-lt"/>
                <a:cs typeface="Arial" charset="0"/>
              </a:rPr>
              <a:t>Purchase returns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dirty="0">
                <a:latin typeface="+mj-lt"/>
                <a:cs typeface="Arial" charset="0"/>
              </a:rPr>
              <a:t>Cash discount with the settlement of the goods/services purchased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dirty="0">
                <a:latin typeface="+mj-lt"/>
                <a:cs typeface="Arial" charset="0"/>
              </a:rPr>
              <a:t>Release of payment by creditor</a:t>
            </a:r>
            <a:br>
              <a:rPr lang="en-GB" sz="2000" dirty="0">
                <a:latin typeface="+mj-lt"/>
                <a:cs typeface="Arial" charset="0"/>
              </a:rPr>
            </a:br>
            <a:r>
              <a:rPr lang="en-GB" sz="2000" dirty="0">
                <a:latin typeface="+mj-lt"/>
                <a:cs typeface="Arial" charset="0"/>
              </a:rPr>
              <a:t>(forgiveness of debt) </a:t>
            </a:r>
          </a:p>
          <a:p>
            <a:pPr lvl="1" eaLnBrk="1" hangingPunct="1">
              <a:lnSpc>
                <a:spcPct val="90000"/>
              </a:lnSpc>
            </a:pPr>
            <a:endParaRPr lang="en-GB" dirty="0">
              <a:latin typeface="+mj-lt"/>
            </a:endParaRPr>
          </a:p>
        </p:txBody>
      </p:sp>
      <p:sp>
        <p:nvSpPr>
          <p:cNvPr id="39940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815681" y="1948008"/>
            <a:ext cx="3888432" cy="4321199"/>
          </a:xfrm>
          <a:ln w="38100">
            <a:solidFill>
              <a:srgbClr val="D60093"/>
            </a:solidFill>
            <a:prstDash val="sysDot"/>
          </a:ln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latin typeface="+mj-lt"/>
                <a:cs typeface="Arial" pitchFamily="34" charset="0"/>
              </a:rPr>
              <a:t>Sale of goods and services</a:t>
            </a:r>
            <a:r>
              <a:rPr lang="en-US" sz="2400" dirty="0">
                <a:latin typeface="+mj-lt"/>
                <a:cs typeface="Arial" pitchFamily="34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>
                <a:latin typeface="+mj-lt"/>
                <a:cs typeface="Arial" pitchFamily="34" charset="0"/>
              </a:rPr>
              <a:t>Levy VAT and pay output VAT to SARS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Adjust output VAT for: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>
                <a:latin typeface="+mj-lt"/>
                <a:cs typeface="Arial" pitchFamily="34" charset="0"/>
              </a:rPr>
              <a:t>Sales returns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>
                <a:latin typeface="+mj-lt"/>
                <a:cs typeface="Arial" pitchFamily="34" charset="0"/>
              </a:rPr>
              <a:t>Cash discount with the receipt of payment for goods or services rendered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>
                <a:latin typeface="+mj-lt"/>
                <a:cs typeface="Arial" pitchFamily="34" charset="0"/>
              </a:rPr>
              <a:t>Bad debts written off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endParaRPr lang="en-GB" sz="2000" dirty="0">
              <a:latin typeface="+mj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bldLvl="2" autoUpdateAnimBg="0"/>
      <p:bldP spid="39940" grpId="0" build="p" bldLvl="2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EMS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2CCCD3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MS#2022">
    <a:dk1>
      <a:srgbClr val="4D5356"/>
    </a:dk1>
    <a:lt1>
      <a:srgbClr val="FFFFFF"/>
    </a:lt1>
    <a:dk2>
      <a:srgbClr val="4D5356"/>
    </a:dk2>
    <a:lt2>
      <a:srgbClr val="FFFFFF"/>
    </a:lt2>
    <a:accent1>
      <a:srgbClr val="61223B"/>
    </a:accent1>
    <a:accent2>
      <a:srgbClr val="B79962"/>
    </a:accent2>
    <a:accent3>
      <a:srgbClr val="2CCCD3"/>
    </a:accent3>
    <a:accent4>
      <a:srgbClr val="8C979A"/>
    </a:accent4>
    <a:accent5>
      <a:srgbClr val="61223B"/>
    </a:accent5>
    <a:accent6>
      <a:srgbClr val="8B2346"/>
    </a:accent6>
    <a:hlink>
      <a:srgbClr val="B79962"/>
    </a:hlink>
    <a:folHlink>
      <a:srgbClr val="8C979A"/>
    </a:folHlink>
  </a:clrScheme>
</a:themeOverride>
</file>

<file path=ppt/theme/themeOverride2.xml><?xml version="1.0" encoding="utf-8"?>
<a:themeOverride xmlns:a="http://schemas.openxmlformats.org/drawingml/2006/main">
  <a:clrScheme name="EMS#2022">
    <a:dk1>
      <a:srgbClr val="4D5356"/>
    </a:dk1>
    <a:lt1>
      <a:srgbClr val="FFFFFF"/>
    </a:lt1>
    <a:dk2>
      <a:srgbClr val="4D5356"/>
    </a:dk2>
    <a:lt2>
      <a:srgbClr val="FFFFFF"/>
    </a:lt2>
    <a:accent1>
      <a:srgbClr val="61223B"/>
    </a:accent1>
    <a:accent2>
      <a:srgbClr val="B79962"/>
    </a:accent2>
    <a:accent3>
      <a:srgbClr val="2CCCD3"/>
    </a:accent3>
    <a:accent4>
      <a:srgbClr val="8C979A"/>
    </a:accent4>
    <a:accent5>
      <a:srgbClr val="61223B"/>
    </a:accent5>
    <a:accent6>
      <a:srgbClr val="8B2346"/>
    </a:accent6>
    <a:hlink>
      <a:srgbClr val="B79962"/>
    </a:hlink>
    <a:folHlink>
      <a:srgbClr val="8C979A"/>
    </a:folHlink>
  </a:clrScheme>
</a:themeOverride>
</file>

<file path=ppt/theme/themeOverride3.xml><?xml version="1.0" encoding="utf-8"?>
<a:themeOverride xmlns:a="http://schemas.openxmlformats.org/drawingml/2006/main">
  <a:clrScheme name="EMS#2022">
    <a:dk1>
      <a:srgbClr val="4D5356"/>
    </a:dk1>
    <a:lt1>
      <a:srgbClr val="FFFFFF"/>
    </a:lt1>
    <a:dk2>
      <a:srgbClr val="4D5356"/>
    </a:dk2>
    <a:lt2>
      <a:srgbClr val="FFFFFF"/>
    </a:lt2>
    <a:accent1>
      <a:srgbClr val="61223B"/>
    </a:accent1>
    <a:accent2>
      <a:srgbClr val="B79962"/>
    </a:accent2>
    <a:accent3>
      <a:srgbClr val="2CCCD3"/>
    </a:accent3>
    <a:accent4>
      <a:srgbClr val="8C979A"/>
    </a:accent4>
    <a:accent5>
      <a:srgbClr val="61223B"/>
    </a:accent5>
    <a:accent6>
      <a:srgbClr val="8B2346"/>
    </a:accent6>
    <a:hlink>
      <a:srgbClr val="B79962"/>
    </a:hlink>
    <a:folHlink>
      <a:srgbClr val="8C979A"/>
    </a:folHlink>
  </a:clrScheme>
</a:themeOverride>
</file>

<file path=ppt/theme/themeOverride4.xml><?xml version="1.0" encoding="utf-8"?>
<a:themeOverride xmlns:a="http://schemas.openxmlformats.org/drawingml/2006/main">
  <a:clrScheme name="EMS#2022">
    <a:dk1>
      <a:srgbClr val="4D5356"/>
    </a:dk1>
    <a:lt1>
      <a:srgbClr val="FFFFFF"/>
    </a:lt1>
    <a:dk2>
      <a:srgbClr val="4D5356"/>
    </a:dk2>
    <a:lt2>
      <a:srgbClr val="FFFFFF"/>
    </a:lt2>
    <a:accent1>
      <a:srgbClr val="61223B"/>
    </a:accent1>
    <a:accent2>
      <a:srgbClr val="B79962"/>
    </a:accent2>
    <a:accent3>
      <a:srgbClr val="2CCCD3"/>
    </a:accent3>
    <a:accent4>
      <a:srgbClr val="8C979A"/>
    </a:accent4>
    <a:accent5>
      <a:srgbClr val="61223B"/>
    </a:accent5>
    <a:accent6>
      <a:srgbClr val="8B2346"/>
    </a:accent6>
    <a:hlink>
      <a:srgbClr val="B79962"/>
    </a:hlink>
    <a:folHlink>
      <a:srgbClr val="8C979A"/>
    </a:folHlink>
  </a:clrScheme>
</a:themeOverride>
</file>

<file path=ppt/theme/themeOverride5.xml><?xml version="1.0" encoding="utf-8"?>
<a:themeOverride xmlns:a="http://schemas.openxmlformats.org/drawingml/2006/main">
  <a:clrScheme name="EMS#2022">
    <a:dk1>
      <a:srgbClr val="4D5356"/>
    </a:dk1>
    <a:lt1>
      <a:srgbClr val="FFFFFF"/>
    </a:lt1>
    <a:dk2>
      <a:srgbClr val="4D5356"/>
    </a:dk2>
    <a:lt2>
      <a:srgbClr val="FFFFFF"/>
    </a:lt2>
    <a:accent1>
      <a:srgbClr val="61223B"/>
    </a:accent1>
    <a:accent2>
      <a:srgbClr val="B79962"/>
    </a:accent2>
    <a:accent3>
      <a:srgbClr val="2CCCD3"/>
    </a:accent3>
    <a:accent4>
      <a:srgbClr val="8C979A"/>
    </a:accent4>
    <a:accent5>
      <a:srgbClr val="61223B"/>
    </a:accent5>
    <a:accent6>
      <a:srgbClr val="8B2346"/>
    </a:accent6>
    <a:hlink>
      <a:srgbClr val="B79962"/>
    </a:hlink>
    <a:folHlink>
      <a:srgbClr val="8C979A"/>
    </a:folHlink>
  </a:clrScheme>
</a:themeOverride>
</file>

<file path=ppt/theme/themeOverride6.xml><?xml version="1.0" encoding="utf-8"?>
<a:themeOverride xmlns:a="http://schemas.openxmlformats.org/drawingml/2006/main">
  <a:clrScheme name="EMS#2022">
    <a:dk1>
      <a:srgbClr val="4D5356"/>
    </a:dk1>
    <a:lt1>
      <a:srgbClr val="FFFFFF"/>
    </a:lt1>
    <a:dk2>
      <a:srgbClr val="4D5356"/>
    </a:dk2>
    <a:lt2>
      <a:srgbClr val="FFFFFF"/>
    </a:lt2>
    <a:accent1>
      <a:srgbClr val="61223B"/>
    </a:accent1>
    <a:accent2>
      <a:srgbClr val="B79962"/>
    </a:accent2>
    <a:accent3>
      <a:srgbClr val="2CCCD3"/>
    </a:accent3>
    <a:accent4>
      <a:srgbClr val="8C979A"/>
    </a:accent4>
    <a:accent5>
      <a:srgbClr val="61223B"/>
    </a:accent5>
    <a:accent6>
      <a:srgbClr val="8B2346"/>
    </a:accent6>
    <a:hlink>
      <a:srgbClr val="B79962"/>
    </a:hlink>
    <a:folHlink>
      <a:srgbClr val="8C979A"/>
    </a:folHlink>
  </a:clrScheme>
</a:themeOverride>
</file>

<file path=ppt/theme/themeOverride7.xml><?xml version="1.0" encoding="utf-8"?>
<a:themeOverride xmlns:a="http://schemas.openxmlformats.org/drawingml/2006/main">
  <a:clrScheme name="EMS#2022">
    <a:dk1>
      <a:srgbClr val="4D5356"/>
    </a:dk1>
    <a:lt1>
      <a:srgbClr val="FFFFFF"/>
    </a:lt1>
    <a:dk2>
      <a:srgbClr val="4D5356"/>
    </a:dk2>
    <a:lt2>
      <a:srgbClr val="FFFFFF"/>
    </a:lt2>
    <a:accent1>
      <a:srgbClr val="61223B"/>
    </a:accent1>
    <a:accent2>
      <a:srgbClr val="B79962"/>
    </a:accent2>
    <a:accent3>
      <a:srgbClr val="2CCCD3"/>
    </a:accent3>
    <a:accent4>
      <a:srgbClr val="8C979A"/>
    </a:accent4>
    <a:accent5>
      <a:srgbClr val="61223B"/>
    </a:accent5>
    <a:accent6>
      <a:srgbClr val="8B2346"/>
    </a:accent6>
    <a:hlink>
      <a:srgbClr val="B79962"/>
    </a:hlink>
    <a:folHlink>
      <a:srgbClr val="8C979A"/>
    </a:folHlink>
  </a:clrScheme>
</a:themeOverride>
</file>

<file path=ppt/theme/themeOverride8.xml><?xml version="1.0" encoding="utf-8"?>
<a:themeOverride xmlns:a="http://schemas.openxmlformats.org/drawingml/2006/main">
  <a:clrScheme name="EMS#2022">
    <a:dk1>
      <a:srgbClr val="4D5356"/>
    </a:dk1>
    <a:lt1>
      <a:srgbClr val="FFFFFF"/>
    </a:lt1>
    <a:dk2>
      <a:srgbClr val="4D5356"/>
    </a:dk2>
    <a:lt2>
      <a:srgbClr val="FFFFFF"/>
    </a:lt2>
    <a:accent1>
      <a:srgbClr val="61223B"/>
    </a:accent1>
    <a:accent2>
      <a:srgbClr val="B79962"/>
    </a:accent2>
    <a:accent3>
      <a:srgbClr val="2CCCD3"/>
    </a:accent3>
    <a:accent4>
      <a:srgbClr val="8C979A"/>
    </a:accent4>
    <a:accent5>
      <a:srgbClr val="61223B"/>
    </a:accent5>
    <a:accent6>
      <a:srgbClr val="8B2346"/>
    </a:accent6>
    <a:hlink>
      <a:srgbClr val="B79962"/>
    </a:hlink>
    <a:folHlink>
      <a:srgbClr val="8C979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6636</TotalTime>
  <Words>466</Words>
  <Application>Microsoft Office PowerPoint</Application>
  <PresentationFormat>On-screen Show (4:3)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Comic Sans MS</vt:lpstr>
      <vt:lpstr>Trebuchet MS</vt:lpstr>
      <vt:lpstr>Office Theme</vt:lpstr>
      <vt:lpstr>Value added tax</vt:lpstr>
      <vt:lpstr>VAT Act</vt:lpstr>
      <vt:lpstr>VAT: how it is levied</vt:lpstr>
      <vt:lpstr>VAT: mechanics </vt:lpstr>
      <vt:lpstr>VAT: mechanics </vt:lpstr>
      <vt:lpstr>VAT: Accounting treatment</vt:lpstr>
      <vt:lpstr>VAT: Accounting treatment</vt:lpstr>
      <vt:lpstr>VAT: where does VAT apply?</vt:lpstr>
    </vt:vector>
  </TitlesOfParts>
  <Company>Stellenbosch Universiteit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Belasting op toegevoegde waarde  Value added tax</dc:title>
  <dc:creator>jvdberg</dc:creator>
  <cp:lastModifiedBy>Ngobese, LM, Mr [lmngobese@sun.ac.za]</cp:lastModifiedBy>
  <cp:revision>69</cp:revision>
  <cp:lastPrinted>1601-01-01T00:00:00Z</cp:lastPrinted>
  <dcterms:created xsi:type="dcterms:W3CDTF">2004-03-03T11:31:52Z</dcterms:created>
  <dcterms:modified xsi:type="dcterms:W3CDTF">2026-02-05T08:42:05Z</dcterms:modified>
</cp:coreProperties>
</file>