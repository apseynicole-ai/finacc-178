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3.xml" ContentType="application/vnd.openxmlformats-officedocument.themeOverride+xml"/>
  <Override PartName="/ppt/theme/themeOverride14.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15.xml" ContentType="application/vnd.openxmlformats-officedocument.themeOverride+xml"/>
  <Override PartName="/ppt/theme/themeOverride16.xml" ContentType="application/vnd.openxmlformats-officedocument.themeOverride+xml"/>
  <Override PartName="/ppt/notesSlides/notesSlide2.xml" ContentType="application/vnd.openxmlformats-officedocument.presentationml.notesSl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27.xml" ContentType="application/vnd.openxmlformats-officedocument.themeOverr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28.xml" ContentType="application/vnd.openxmlformats-officedocument.themeOverr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heme/themeOverride29.xml" ContentType="application/vnd.openxmlformats-officedocument.themeOverride+xml"/>
  <Override PartName="/ppt/theme/themeOverride30.xml" ContentType="application/vnd.openxmlformats-officedocument.themeOverr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notesSlides/notesSlide3.xml" ContentType="application/vnd.openxmlformats-officedocument.presentationml.notesSl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Lst>
  <p:notesMasterIdLst>
    <p:notesMasterId r:id="rId66"/>
  </p:notesMasterIdLst>
  <p:handoutMasterIdLst>
    <p:handoutMasterId r:id="rId67"/>
  </p:handoutMasterIdLst>
  <p:sldIdLst>
    <p:sldId id="603" r:id="rId2"/>
    <p:sldId id="343" r:id="rId3"/>
    <p:sldId id="256" r:id="rId4"/>
    <p:sldId id="292" r:id="rId5"/>
    <p:sldId id="291" r:id="rId6"/>
    <p:sldId id="280" r:id="rId7"/>
    <p:sldId id="594" r:id="rId8"/>
    <p:sldId id="260" r:id="rId9"/>
    <p:sldId id="294" r:id="rId10"/>
    <p:sldId id="595" r:id="rId11"/>
    <p:sldId id="262" r:id="rId12"/>
    <p:sldId id="587" r:id="rId13"/>
    <p:sldId id="349" r:id="rId14"/>
    <p:sldId id="557" r:id="rId15"/>
    <p:sldId id="316" r:id="rId16"/>
    <p:sldId id="355" r:id="rId17"/>
    <p:sldId id="351" r:id="rId18"/>
    <p:sldId id="319" r:id="rId19"/>
    <p:sldId id="356" r:id="rId20"/>
    <p:sldId id="320" r:id="rId21"/>
    <p:sldId id="321" r:id="rId22"/>
    <p:sldId id="322" r:id="rId23"/>
    <p:sldId id="596" r:id="rId24"/>
    <p:sldId id="323" r:id="rId25"/>
    <p:sldId id="324" r:id="rId26"/>
    <p:sldId id="588" r:id="rId27"/>
    <p:sldId id="325" r:id="rId28"/>
    <p:sldId id="326" r:id="rId29"/>
    <p:sldId id="327" r:id="rId30"/>
    <p:sldId id="328" r:id="rId31"/>
    <p:sldId id="591" r:id="rId32"/>
    <p:sldId id="329" r:id="rId33"/>
    <p:sldId id="330" r:id="rId34"/>
    <p:sldId id="597" r:id="rId35"/>
    <p:sldId id="558" r:id="rId36"/>
    <p:sldId id="559" r:id="rId37"/>
    <p:sldId id="560" r:id="rId38"/>
    <p:sldId id="598" r:id="rId39"/>
    <p:sldId id="458" r:id="rId40"/>
    <p:sldId id="562" r:id="rId41"/>
    <p:sldId id="604" r:id="rId42"/>
    <p:sldId id="563" r:id="rId43"/>
    <p:sldId id="564" r:id="rId44"/>
    <p:sldId id="565" r:id="rId45"/>
    <p:sldId id="599" r:id="rId46"/>
    <p:sldId id="567" r:id="rId47"/>
    <p:sldId id="568" r:id="rId48"/>
    <p:sldId id="569" r:id="rId49"/>
    <p:sldId id="570" r:id="rId50"/>
    <p:sldId id="571" r:id="rId51"/>
    <p:sldId id="600" r:id="rId52"/>
    <p:sldId id="572" r:id="rId53"/>
    <p:sldId id="575" r:id="rId54"/>
    <p:sldId id="577" r:id="rId55"/>
    <p:sldId id="601" r:id="rId56"/>
    <p:sldId id="578" r:id="rId57"/>
    <p:sldId id="579" r:id="rId58"/>
    <p:sldId id="580" r:id="rId59"/>
    <p:sldId id="581" r:id="rId60"/>
    <p:sldId id="582" r:id="rId61"/>
    <p:sldId id="602" r:id="rId62"/>
    <p:sldId id="583" r:id="rId63"/>
    <p:sldId id="584" r:id="rId64"/>
    <p:sldId id="585" r:id="rId65"/>
  </p:sldIdLst>
  <p:sldSz cx="9902825" cy="6858000"/>
  <p:notesSz cx="6797675" cy="992822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1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3300"/>
    <a:srgbClr val="FF3399"/>
    <a:srgbClr val="0033CC"/>
    <a:srgbClr val="CC3399"/>
    <a:srgbClr val="CCECFF"/>
    <a:srgbClr val="CC00CC"/>
    <a:srgbClr val="008080"/>
    <a:srgbClr val="00660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82" autoAdjust="0"/>
    <p:restoredTop sz="78782" autoAdjust="0"/>
  </p:normalViewPr>
  <p:slideViewPr>
    <p:cSldViewPr>
      <p:cViewPr varScale="1">
        <p:scale>
          <a:sx n="50" d="100"/>
          <a:sy n="50" d="100"/>
        </p:scale>
        <p:origin x="1744" y="28"/>
      </p:cViewPr>
      <p:guideLst>
        <p:guide orient="horz" pos="2160"/>
        <p:guide pos="3119"/>
      </p:guideLst>
    </p:cSldViewPr>
  </p:slideViewPr>
  <p:outlineViewPr>
    <p:cViewPr>
      <p:scale>
        <a:sx n="33" d="100"/>
        <a:sy n="33" d="100"/>
      </p:scale>
      <p:origin x="0" y="66186"/>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BD68B2-57CF-4DFA-8716-D4C248C205DE}" type="doc">
      <dgm:prSet loTypeId="urn:microsoft.com/office/officeart/2005/8/layout/cycle2" loCatId="cycle" qsTypeId="urn:microsoft.com/office/officeart/2005/8/quickstyle/3d1" qsCatId="3D" csTypeId="urn:microsoft.com/office/officeart/2005/8/colors/colorful1" csCatId="colorful" phldr="1"/>
      <dgm:spPr/>
      <dgm:t>
        <a:bodyPr/>
        <a:lstStyle/>
        <a:p>
          <a:endParaRPr lang="en-ZA"/>
        </a:p>
      </dgm:t>
    </dgm:pt>
    <dgm:pt modelId="{159898A5-3DC2-4ABF-87B5-8571312415F0}">
      <dgm:prSet phldrT="[Text]"/>
      <dgm:spPr/>
      <dgm:t>
        <a:bodyPr/>
        <a:lstStyle/>
        <a:p>
          <a:r>
            <a:rPr lang="en-ZA" noProof="0" dirty="0"/>
            <a:t>Assets/Liabilities</a:t>
          </a:r>
        </a:p>
        <a:p>
          <a:r>
            <a:rPr lang="en-ZA" noProof="0" dirty="0"/>
            <a:t>(and equity)</a:t>
          </a:r>
        </a:p>
      </dgm:t>
    </dgm:pt>
    <dgm:pt modelId="{10908B48-6FB4-4434-9D73-15114CA3AAAE}" type="parTrans" cxnId="{7462397D-0735-4EC3-9B8F-8D9FA11F08E0}">
      <dgm:prSet/>
      <dgm:spPr/>
      <dgm:t>
        <a:bodyPr/>
        <a:lstStyle/>
        <a:p>
          <a:endParaRPr lang="en-ZA" noProof="0" dirty="0"/>
        </a:p>
      </dgm:t>
    </dgm:pt>
    <dgm:pt modelId="{39B7859F-11B5-45D7-BD29-88AEEBAB4402}" type="sibTrans" cxnId="{7462397D-0735-4EC3-9B8F-8D9FA11F08E0}">
      <dgm:prSet/>
      <dgm:spPr/>
      <dgm:t>
        <a:bodyPr/>
        <a:lstStyle/>
        <a:p>
          <a:endParaRPr lang="en-ZA" noProof="0" dirty="0"/>
        </a:p>
      </dgm:t>
    </dgm:pt>
    <dgm:pt modelId="{08410928-162E-4AAA-A05F-7AF68F1E5C05}">
      <dgm:prSet phldrT="[Text]"/>
      <dgm:spPr/>
      <dgm:t>
        <a:bodyPr/>
        <a:lstStyle/>
        <a:p>
          <a:r>
            <a:rPr lang="en-ZA" noProof="0" dirty="0"/>
            <a:t>Income/Expenses</a:t>
          </a:r>
        </a:p>
      </dgm:t>
    </dgm:pt>
    <dgm:pt modelId="{02C41D28-0D07-4BAA-A338-F5410994AF50}" type="parTrans" cxnId="{AAE2792D-D73D-496A-AE67-37D80683EA6E}">
      <dgm:prSet/>
      <dgm:spPr/>
      <dgm:t>
        <a:bodyPr/>
        <a:lstStyle/>
        <a:p>
          <a:endParaRPr lang="en-ZA" noProof="0" dirty="0"/>
        </a:p>
      </dgm:t>
    </dgm:pt>
    <dgm:pt modelId="{DEA6706A-74C5-41A9-A4EC-B3B4F0927825}" type="sibTrans" cxnId="{AAE2792D-D73D-496A-AE67-37D80683EA6E}">
      <dgm:prSet/>
      <dgm:spPr/>
      <dgm:t>
        <a:bodyPr/>
        <a:lstStyle/>
        <a:p>
          <a:endParaRPr lang="en-ZA" noProof="0" dirty="0"/>
        </a:p>
      </dgm:t>
    </dgm:pt>
    <dgm:pt modelId="{88A76269-48F2-48EC-9CBF-507AFA7286BA}">
      <dgm:prSet phldrT="[Text]"/>
      <dgm:spPr/>
      <dgm:t>
        <a:bodyPr/>
        <a:lstStyle/>
        <a:p>
          <a:r>
            <a:rPr lang="en-ZA" noProof="0" dirty="0"/>
            <a:t>Recognition </a:t>
          </a:r>
        </a:p>
      </dgm:t>
    </dgm:pt>
    <dgm:pt modelId="{ED636EA0-81B0-4088-895A-C1590CCC1E23}" type="parTrans" cxnId="{2508D79C-444F-405C-99B6-F5C5E4E99FFA}">
      <dgm:prSet/>
      <dgm:spPr/>
      <dgm:t>
        <a:bodyPr/>
        <a:lstStyle/>
        <a:p>
          <a:endParaRPr lang="en-ZA" noProof="0" dirty="0"/>
        </a:p>
      </dgm:t>
    </dgm:pt>
    <dgm:pt modelId="{B425AF31-158E-4B55-A964-ADEE8CE62343}" type="sibTrans" cxnId="{2508D79C-444F-405C-99B6-F5C5E4E99FFA}">
      <dgm:prSet/>
      <dgm:spPr/>
      <dgm:t>
        <a:bodyPr/>
        <a:lstStyle/>
        <a:p>
          <a:endParaRPr lang="en-ZA" noProof="0" dirty="0"/>
        </a:p>
      </dgm:t>
    </dgm:pt>
    <dgm:pt modelId="{28FCAF3F-08CD-4A52-9EF9-0B5CFA537A58}">
      <dgm:prSet/>
      <dgm:spPr/>
      <dgm:t>
        <a:bodyPr/>
        <a:lstStyle/>
        <a:p>
          <a:r>
            <a:rPr lang="en-ZA" noProof="0" dirty="0"/>
            <a:t>Financial statements</a:t>
          </a:r>
        </a:p>
      </dgm:t>
    </dgm:pt>
    <dgm:pt modelId="{632A1955-1FCA-4099-8B7F-4F234E361FE1}" type="parTrans" cxnId="{F2A4320E-74E0-4397-8578-2B880BF671F0}">
      <dgm:prSet/>
      <dgm:spPr/>
      <dgm:t>
        <a:bodyPr/>
        <a:lstStyle/>
        <a:p>
          <a:endParaRPr lang="en-ZA" noProof="0" dirty="0"/>
        </a:p>
      </dgm:t>
    </dgm:pt>
    <dgm:pt modelId="{913CCAB2-EA4A-4815-9844-CECC71421BFC}" type="sibTrans" cxnId="{F2A4320E-74E0-4397-8578-2B880BF671F0}">
      <dgm:prSet/>
      <dgm:spPr/>
      <dgm:t>
        <a:bodyPr/>
        <a:lstStyle/>
        <a:p>
          <a:endParaRPr lang="en-ZA" noProof="0" dirty="0"/>
        </a:p>
      </dgm:t>
    </dgm:pt>
    <dgm:pt modelId="{6B774632-21B0-4408-8B96-4C174C0D8321}" type="pres">
      <dgm:prSet presAssocID="{46BD68B2-57CF-4DFA-8716-D4C248C205DE}" presName="cycle" presStyleCnt="0">
        <dgm:presLayoutVars>
          <dgm:dir/>
          <dgm:resizeHandles val="exact"/>
        </dgm:presLayoutVars>
      </dgm:prSet>
      <dgm:spPr/>
    </dgm:pt>
    <dgm:pt modelId="{9E5C2C4C-BE9D-40A2-B206-FDB8B5D52783}" type="pres">
      <dgm:prSet presAssocID="{159898A5-3DC2-4ABF-87B5-8571312415F0}" presName="node" presStyleLbl="node1" presStyleIdx="0" presStyleCnt="4">
        <dgm:presLayoutVars>
          <dgm:bulletEnabled val="1"/>
        </dgm:presLayoutVars>
      </dgm:prSet>
      <dgm:spPr/>
    </dgm:pt>
    <dgm:pt modelId="{C9F75AA9-E7BE-462C-8F91-61DA9DECA04B}" type="pres">
      <dgm:prSet presAssocID="{39B7859F-11B5-45D7-BD29-88AEEBAB4402}" presName="sibTrans" presStyleLbl="sibTrans2D1" presStyleIdx="0" presStyleCnt="4"/>
      <dgm:spPr/>
    </dgm:pt>
    <dgm:pt modelId="{5569430C-73E9-4BFE-8819-38476DAF5790}" type="pres">
      <dgm:prSet presAssocID="{39B7859F-11B5-45D7-BD29-88AEEBAB4402}" presName="connectorText" presStyleLbl="sibTrans2D1" presStyleIdx="0" presStyleCnt="4"/>
      <dgm:spPr/>
    </dgm:pt>
    <dgm:pt modelId="{E51D197C-2897-4FA7-ADA9-72858BEDF3D5}" type="pres">
      <dgm:prSet presAssocID="{08410928-162E-4AAA-A05F-7AF68F1E5C05}" presName="node" presStyleLbl="node1" presStyleIdx="1" presStyleCnt="4">
        <dgm:presLayoutVars>
          <dgm:bulletEnabled val="1"/>
        </dgm:presLayoutVars>
      </dgm:prSet>
      <dgm:spPr/>
    </dgm:pt>
    <dgm:pt modelId="{FD1C6AF0-6109-45BF-B550-166012C0FD5B}" type="pres">
      <dgm:prSet presAssocID="{DEA6706A-74C5-41A9-A4EC-B3B4F0927825}" presName="sibTrans" presStyleLbl="sibTrans2D1" presStyleIdx="1" presStyleCnt="4"/>
      <dgm:spPr/>
    </dgm:pt>
    <dgm:pt modelId="{F42F2263-3EA4-4E07-B4CD-DEC919B3D27F}" type="pres">
      <dgm:prSet presAssocID="{DEA6706A-74C5-41A9-A4EC-B3B4F0927825}" presName="connectorText" presStyleLbl="sibTrans2D1" presStyleIdx="1" presStyleCnt="4"/>
      <dgm:spPr/>
    </dgm:pt>
    <dgm:pt modelId="{20D7691F-A1D3-49B4-A73B-ED99DE6353C4}" type="pres">
      <dgm:prSet presAssocID="{88A76269-48F2-48EC-9CBF-507AFA7286BA}" presName="node" presStyleLbl="node1" presStyleIdx="2" presStyleCnt="4">
        <dgm:presLayoutVars>
          <dgm:bulletEnabled val="1"/>
        </dgm:presLayoutVars>
      </dgm:prSet>
      <dgm:spPr/>
    </dgm:pt>
    <dgm:pt modelId="{20A0913D-DA2D-4FD3-BC56-137B04F3EB42}" type="pres">
      <dgm:prSet presAssocID="{B425AF31-158E-4B55-A964-ADEE8CE62343}" presName="sibTrans" presStyleLbl="sibTrans2D1" presStyleIdx="2" presStyleCnt="4"/>
      <dgm:spPr/>
    </dgm:pt>
    <dgm:pt modelId="{3BC5E867-63F5-42AF-9F33-3A49461D09D4}" type="pres">
      <dgm:prSet presAssocID="{B425AF31-158E-4B55-A964-ADEE8CE62343}" presName="connectorText" presStyleLbl="sibTrans2D1" presStyleIdx="2" presStyleCnt="4"/>
      <dgm:spPr/>
    </dgm:pt>
    <dgm:pt modelId="{0A67B68D-1E28-44B4-A390-F54A9ADB331A}" type="pres">
      <dgm:prSet presAssocID="{28FCAF3F-08CD-4A52-9EF9-0B5CFA537A58}" presName="node" presStyleLbl="node1" presStyleIdx="3" presStyleCnt="4">
        <dgm:presLayoutVars>
          <dgm:bulletEnabled val="1"/>
        </dgm:presLayoutVars>
      </dgm:prSet>
      <dgm:spPr/>
    </dgm:pt>
    <dgm:pt modelId="{26EA146F-BE7F-474F-A007-B662D29AB9CF}" type="pres">
      <dgm:prSet presAssocID="{913CCAB2-EA4A-4815-9844-CECC71421BFC}" presName="sibTrans" presStyleLbl="sibTrans2D1" presStyleIdx="3" presStyleCnt="4"/>
      <dgm:spPr/>
    </dgm:pt>
    <dgm:pt modelId="{7FC1C733-A20A-4829-A7F4-117D16314F54}" type="pres">
      <dgm:prSet presAssocID="{913CCAB2-EA4A-4815-9844-CECC71421BFC}" presName="connectorText" presStyleLbl="sibTrans2D1" presStyleIdx="3" presStyleCnt="4"/>
      <dgm:spPr/>
    </dgm:pt>
  </dgm:ptLst>
  <dgm:cxnLst>
    <dgm:cxn modelId="{F2A4320E-74E0-4397-8578-2B880BF671F0}" srcId="{46BD68B2-57CF-4DFA-8716-D4C248C205DE}" destId="{28FCAF3F-08CD-4A52-9EF9-0B5CFA537A58}" srcOrd="3" destOrd="0" parTransId="{632A1955-1FCA-4099-8B7F-4F234E361FE1}" sibTransId="{913CCAB2-EA4A-4815-9844-CECC71421BFC}"/>
    <dgm:cxn modelId="{FD5C5710-FF7F-45CC-9161-F2261974AEBE}" type="presOf" srcId="{B425AF31-158E-4B55-A964-ADEE8CE62343}" destId="{20A0913D-DA2D-4FD3-BC56-137B04F3EB42}" srcOrd="0" destOrd="0" presId="urn:microsoft.com/office/officeart/2005/8/layout/cycle2"/>
    <dgm:cxn modelId="{852C341A-8C01-4717-858D-F6DE0D76793F}" type="presOf" srcId="{159898A5-3DC2-4ABF-87B5-8571312415F0}" destId="{9E5C2C4C-BE9D-40A2-B206-FDB8B5D52783}" srcOrd="0" destOrd="0" presId="urn:microsoft.com/office/officeart/2005/8/layout/cycle2"/>
    <dgm:cxn modelId="{1C7EB51B-9E7F-413A-8868-F3F8A57BB4C0}" type="presOf" srcId="{913CCAB2-EA4A-4815-9844-CECC71421BFC}" destId="{7FC1C733-A20A-4829-A7F4-117D16314F54}" srcOrd="1" destOrd="0" presId="urn:microsoft.com/office/officeart/2005/8/layout/cycle2"/>
    <dgm:cxn modelId="{8C4F6429-F5B0-4DA6-8FD3-CF20504B2D54}" type="presOf" srcId="{08410928-162E-4AAA-A05F-7AF68F1E5C05}" destId="{E51D197C-2897-4FA7-ADA9-72858BEDF3D5}" srcOrd="0" destOrd="0" presId="urn:microsoft.com/office/officeart/2005/8/layout/cycle2"/>
    <dgm:cxn modelId="{AAE2792D-D73D-496A-AE67-37D80683EA6E}" srcId="{46BD68B2-57CF-4DFA-8716-D4C248C205DE}" destId="{08410928-162E-4AAA-A05F-7AF68F1E5C05}" srcOrd="1" destOrd="0" parTransId="{02C41D28-0D07-4BAA-A338-F5410994AF50}" sibTransId="{DEA6706A-74C5-41A9-A4EC-B3B4F0927825}"/>
    <dgm:cxn modelId="{B7A78935-18AB-428C-BFA0-40B86E5CFAEF}" type="presOf" srcId="{B425AF31-158E-4B55-A964-ADEE8CE62343}" destId="{3BC5E867-63F5-42AF-9F33-3A49461D09D4}" srcOrd="1" destOrd="0" presId="urn:microsoft.com/office/officeart/2005/8/layout/cycle2"/>
    <dgm:cxn modelId="{91A99444-1DEB-46E0-B214-2E13306C5A77}" type="presOf" srcId="{39B7859F-11B5-45D7-BD29-88AEEBAB4402}" destId="{C9F75AA9-E7BE-462C-8F91-61DA9DECA04B}" srcOrd="0" destOrd="0" presId="urn:microsoft.com/office/officeart/2005/8/layout/cycle2"/>
    <dgm:cxn modelId="{0A3B8366-CB06-444C-A6FB-860A24AC440D}" type="presOf" srcId="{39B7859F-11B5-45D7-BD29-88AEEBAB4402}" destId="{5569430C-73E9-4BFE-8819-38476DAF5790}" srcOrd="1" destOrd="0" presId="urn:microsoft.com/office/officeart/2005/8/layout/cycle2"/>
    <dgm:cxn modelId="{14540B53-01FC-43F8-8C79-DA23628BF224}" type="presOf" srcId="{DEA6706A-74C5-41A9-A4EC-B3B4F0927825}" destId="{FD1C6AF0-6109-45BF-B550-166012C0FD5B}" srcOrd="0" destOrd="0" presId="urn:microsoft.com/office/officeart/2005/8/layout/cycle2"/>
    <dgm:cxn modelId="{7462397D-0735-4EC3-9B8F-8D9FA11F08E0}" srcId="{46BD68B2-57CF-4DFA-8716-D4C248C205DE}" destId="{159898A5-3DC2-4ABF-87B5-8571312415F0}" srcOrd="0" destOrd="0" parTransId="{10908B48-6FB4-4434-9D73-15114CA3AAAE}" sibTransId="{39B7859F-11B5-45D7-BD29-88AEEBAB4402}"/>
    <dgm:cxn modelId="{97BD388C-F3F3-4D87-9529-D2C3E8906811}" type="presOf" srcId="{46BD68B2-57CF-4DFA-8716-D4C248C205DE}" destId="{6B774632-21B0-4408-8B96-4C174C0D8321}" srcOrd="0" destOrd="0" presId="urn:microsoft.com/office/officeart/2005/8/layout/cycle2"/>
    <dgm:cxn modelId="{2508D79C-444F-405C-99B6-F5C5E4E99FFA}" srcId="{46BD68B2-57CF-4DFA-8716-D4C248C205DE}" destId="{88A76269-48F2-48EC-9CBF-507AFA7286BA}" srcOrd="2" destOrd="0" parTransId="{ED636EA0-81B0-4088-895A-C1590CCC1E23}" sibTransId="{B425AF31-158E-4B55-A964-ADEE8CE62343}"/>
    <dgm:cxn modelId="{F2D8ABB6-5F3E-4E00-877F-597473BF3000}" type="presOf" srcId="{88A76269-48F2-48EC-9CBF-507AFA7286BA}" destId="{20D7691F-A1D3-49B4-A73B-ED99DE6353C4}" srcOrd="0" destOrd="0" presId="urn:microsoft.com/office/officeart/2005/8/layout/cycle2"/>
    <dgm:cxn modelId="{263BD1B8-C884-4ADF-91B5-AC63D831E7B1}" type="presOf" srcId="{913CCAB2-EA4A-4815-9844-CECC71421BFC}" destId="{26EA146F-BE7F-474F-A007-B662D29AB9CF}" srcOrd="0" destOrd="0" presId="urn:microsoft.com/office/officeart/2005/8/layout/cycle2"/>
    <dgm:cxn modelId="{49D2C4DB-3ADC-4922-99D4-2B21B440B7D0}" type="presOf" srcId="{DEA6706A-74C5-41A9-A4EC-B3B4F0927825}" destId="{F42F2263-3EA4-4E07-B4CD-DEC919B3D27F}" srcOrd="1" destOrd="0" presId="urn:microsoft.com/office/officeart/2005/8/layout/cycle2"/>
    <dgm:cxn modelId="{594568EA-3A84-4A53-AF0C-36A40FE3F733}" type="presOf" srcId="{28FCAF3F-08CD-4A52-9EF9-0B5CFA537A58}" destId="{0A67B68D-1E28-44B4-A390-F54A9ADB331A}" srcOrd="0" destOrd="0" presId="urn:microsoft.com/office/officeart/2005/8/layout/cycle2"/>
    <dgm:cxn modelId="{2AD3BA16-3CBE-4935-BF5E-625CA550D2E1}" type="presParOf" srcId="{6B774632-21B0-4408-8B96-4C174C0D8321}" destId="{9E5C2C4C-BE9D-40A2-B206-FDB8B5D52783}" srcOrd="0" destOrd="0" presId="urn:microsoft.com/office/officeart/2005/8/layout/cycle2"/>
    <dgm:cxn modelId="{225FA8BA-C903-45B5-A218-1282463D9854}" type="presParOf" srcId="{6B774632-21B0-4408-8B96-4C174C0D8321}" destId="{C9F75AA9-E7BE-462C-8F91-61DA9DECA04B}" srcOrd="1" destOrd="0" presId="urn:microsoft.com/office/officeart/2005/8/layout/cycle2"/>
    <dgm:cxn modelId="{E7EFAF9F-4371-4612-835A-F1B456424168}" type="presParOf" srcId="{C9F75AA9-E7BE-462C-8F91-61DA9DECA04B}" destId="{5569430C-73E9-4BFE-8819-38476DAF5790}" srcOrd="0" destOrd="0" presId="urn:microsoft.com/office/officeart/2005/8/layout/cycle2"/>
    <dgm:cxn modelId="{9336E616-58EE-4D03-AE70-90F4ED52CCA5}" type="presParOf" srcId="{6B774632-21B0-4408-8B96-4C174C0D8321}" destId="{E51D197C-2897-4FA7-ADA9-72858BEDF3D5}" srcOrd="2" destOrd="0" presId="urn:microsoft.com/office/officeart/2005/8/layout/cycle2"/>
    <dgm:cxn modelId="{6293CEC3-A6F7-4CAC-AFAF-B4EF45AF0F9A}" type="presParOf" srcId="{6B774632-21B0-4408-8B96-4C174C0D8321}" destId="{FD1C6AF0-6109-45BF-B550-166012C0FD5B}" srcOrd="3" destOrd="0" presId="urn:microsoft.com/office/officeart/2005/8/layout/cycle2"/>
    <dgm:cxn modelId="{B6F0D3C0-2FEC-4BB9-ACBC-528515ED4DC0}" type="presParOf" srcId="{FD1C6AF0-6109-45BF-B550-166012C0FD5B}" destId="{F42F2263-3EA4-4E07-B4CD-DEC919B3D27F}" srcOrd="0" destOrd="0" presId="urn:microsoft.com/office/officeart/2005/8/layout/cycle2"/>
    <dgm:cxn modelId="{23A108CC-B6B5-460F-B30A-E7A44662545D}" type="presParOf" srcId="{6B774632-21B0-4408-8B96-4C174C0D8321}" destId="{20D7691F-A1D3-49B4-A73B-ED99DE6353C4}" srcOrd="4" destOrd="0" presId="urn:microsoft.com/office/officeart/2005/8/layout/cycle2"/>
    <dgm:cxn modelId="{2DD447EB-B147-41D6-80D7-2C2879E12739}" type="presParOf" srcId="{6B774632-21B0-4408-8B96-4C174C0D8321}" destId="{20A0913D-DA2D-4FD3-BC56-137B04F3EB42}" srcOrd="5" destOrd="0" presId="urn:microsoft.com/office/officeart/2005/8/layout/cycle2"/>
    <dgm:cxn modelId="{29699390-37AA-46CE-AED2-944141C41D6A}" type="presParOf" srcId="{20A0913D-DA2D-4FD3-BC56-137B04F3EB42}" destId="{3BC5E867-63F5-42AF-9F33-3A49461D09D4}" srcOrd="0" destOrd="0" presId="urn:microsoft.com/office/officeart/2005/8/layout/cycle2"/>
    <dgm:cxn modelId="{43EC347B-DF9D-480E-8EFD-217640342C85}" type="presParOf" srcId="{6B774632-21B0-4408-8B96-4C174C0D8321}" destId="{0A67B68D-1E28-44B4-A390-F54A9ADB331A}" srcOrd="6" destOrd="0" presId="urn:microsoft.com/office/officeart/2005/8/layout/cycle2"/>
    <dgm:cxn modelId="{3F6F9778-F404-490E-A94D-C9FBA992C3EA}" type="presParOf" srcId="{6B774632-21B0-4408-8B96-4C174C0D8321}" destId="{26EA146F-BE7F-474F-A007-B662D29AB9CF}" srcOrd="7" destOrd="0" presId="urn:microsoft.com/office/officeart/2005/8/layout/cycle2"/>
    <dgm:cxn modelId="{BCD35983-E77E-4663-9F8E-E1260C26CCF1}" type="presParOf" srcId="{26EA146F-BE7F-474F-A007-B662D29AB9CF}" destId="{7FC1C733-A20A-4829-A7F4-117D16314F54}" srcOrd="0" destOrd="0" presId="urn:microsoft.com/office/officeart/2005/8/layout/cycle2"/>
  </dgm:cxnLst>
  <dgm:bg>
    <a:solidFill>
      <a:schemeClr val="accent4">
        <a:lumMod val="20000"/>
        <a:lumOff val="8000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CE9690-B825-4F44-8EE9-667070E1D6F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204C324-2759-47D4-967E-6B55A5BC743E}">
      <dgm:prSet phldrT="[Text]"/>
      <dgm:spPr/>
      <dgm:t>
        <a:bodyPr/>
        <a:lstStyle/>
        <a:p>
          <a:r>
            <a:rPr lang="en-US" dirty="0">
              <a:latin typeface="Arial" panose="020B0604020202020204" pitchFamily="34" charset="0"/>
              <a:cs typeface="Arial" panose="020B0604020202020204" pitchFamily="34" charset="0"/>
            </a:rPr>
            <a:t>To provide financial information about the reporting entity that it useful to…</a:t>
          </a:r>
        </a:p>
      </dgm:t>
    </dgm:pt>
    <dgm:pt modelId="{FB31F061-488E-4AD2-8026-A32E56FCA96A}" type="parTrans" cxnId="{8FD11D00-0737-4553-B7FD-CB4591C34120}">
      <dgm:prSet/>
      <dgm:spPr/>
      <dgm:t>
        <a:bodyPr/>
        <a:lstStyle/>
        <a:p>
          <a:endParaRPr lang="en-US"/>
        </a:p>
      </dgm:t>
    </dgm:pt>
    <dgm:pt modelId="{8F271883-65C6-46C9-868A-2AECD6F03B3A}" type="sibTrans" cxnId="{8FD11D00-0737-4553-B7FD-CB4591C34120}">
      <dgm:prSet/>
      <dgm:spPr/>
      <dgm:t>
        <a:bodyPr/>
        <a:lstStyle/>
        <a:p>
          <a:endParaRPr lang="en-US"/>
        </a:p>
      </dgm:t>
    </dgm:pt>
    <dgm:pt modelId="{6FDAC7F6-3FBD-47EA-98F0-F0559CFB42F8}">
      <dgm:prSet phldrT="[Text]" custT="1"/>
      <dgm:spPr/>
      <dgm:t>
        <a:bodyPr/>
        <a:lstStyle/>
        <a:p>
          <a:r>
            <a:rPr lang="en-US" sz="2400" dirty="0">
              <a:latin typeface="Arial" panose="020B0604020202020204" pitchFamily="34" charset="0"/>
              <a:cs typeface="Arial" panose="020B0604020202020204" pitchFamily="34" charset="0"/>
            </a:rPr>
            <a:t>Primary users</a:t>
          </a:r>
        </a:p>
      </dgm:t>
    </dgm:pt>
    <dgm:pt modelId="{8032E912-7D5A-4E1D-9F77-C57A0542EE55}" type="parTrans" cxnId="{1322D714-0244-458F-B65C-E93E9C1D8320}">
      <dgm:prSet/>
      <dgm:spPr/>
      <dgm:t>
        <a:bodyPr/>
        <a:lstStyle/>
        <a:p>
          <a:endParaRPr lang="en-US"/>
        </a:p>
      </dgm:t>
    </dgm:pt>
    <dgm:pt modelId="{AB322EBE-FB5F-4382-B7AA-65B6F2DD6BCC}" type="sibTrans" cxnId="{1322D714-0244-458F-B65C-E93E9C1D8320}">
      <dgm:prSet/>
      <dgm:spPr/>
      <dgm:t>
        <a:bodyPr/>
        <a:lstStyle/>
        <a:p>
          <a:endParaRPr lang="en-US"/>
        </a:p>
      </dgm:t>
    </dgm:pt>
    <dgm:pt modelId="{0862AB27-8469-4CA0-8D46-89F57C6FEEBE}">
      <dgm:prSet phldrT="[Text]"/>
      <dgm:spPr/>
      <dgm:t>
        <a:bodyPr/>
        <a:lstStyle/>
        <a:p>
          <a:r>
            <a:rPr lang="en-US" dirty="0">
              <a:latin typeface="Arial" panose="020B0604020202020204" pitchFamily="34" charset="0"/>
              <a:cs typeface="Arial" panose="020B0604020202020204" pitchFamily="34" charset="0"/>
            </a:rPr>
            <a:t>Existing and potential investors,</a:t>
          </a:r>
        </a:p>
      </dgm:t>
    </dgm:pt>
    <dgm:pt modelId="{0F77C959-BE7F-4C39-9755-5D36E847F8FF}" type="parTrans" cxnId="{DD0BF7F9-BABA-4975-94A5-DAE0FD2626E3}">
      <dgm:prSet/>
      <dgm:spPr/>
      <dgm:t>
        <a:bodyPr/>
        <a:lstStyle/>
        <a:p>
          <a:endParaRPr lang="en-US"/>
        </a:p>
      </dgm:t>
    </dgm:pt>
    <dgm:pt modelId="{4D8E8136-F03B-4B02-9331-44FFBC48DD34}" type="sibTrans" cxnId="{DD0BF7F9-BABA-4975-94A5-DAE0FD2626E3}">
      <dgm:prSet/>
      <dgm:spPr/>
      <dgm:t>
        <a:bodyPr/>
        <a:lstStyle/>
        <a:p>
          <a:endParaRPr lang="en-US"/>
        </a:p>
      </dgm:t>
    </dgm:pt>
    <dgm:pt modelId="{58372B41-5C1D-49A2-AE37-4EA13B2A4F2D}">
      <dgm:prSet phldrT="[Text]" custT="1"/>
      <dgm:spPr/>
      <dgm:t>
        <a:bodyPr/>
        <a:lstStyle/>
        <a:p>
          <a:r>
            <a:rPr lang="en-US" sz="2400" dirty="0">
              <a:latin typeface="Arial" panose="020B0604020202020204" pitchFamily="34" charset="0"/>
              <a:cs typeface="Arial" panose="020B0604020202020204" pitchFamily="34" charset="0"/>
            </a:rPr>
            <a:t>Decisions</a:t>
          </a:r>
        </a:p>
      </dgm:t>
    </dgm:pt>
    <dgm:pt modelId="{57BE2816-7478-42AD-848A-6CFC7AE81FCA}" type="parTrans" cxnId="{98C74B94-0551-4646-A3D4-54FE0FD53F4D}">
      <dgm:prSet/>
      <dgm:spPr/>
      <dgm:t>
        <a:bodyPr/>
        <a:lstStyle/>
        <a:p>
          <a:endParaRPr lang="en-US"/>
        </a:p>
      </dgm:t>
    </dgm:pt>
    <dgm:pt modelId="{1232A0B4-C398-469E-8677-BA7A6193D2BF}" type="sibTrans" cxnId="{98C74B94-0551-4646-A3D4-54FE0FD53F4D}">
      <dgm:prSet/>
      <dgm:spPr/>
      <dgm:t>
        <a:bodyPr/>
        <a:lstStyle/>
        <a:p>
          <a:endParaRPr lang="en-US"/>
        </a:p>
      </dgm:t>
    </dgm:pt>
    <dgm:pt modelId="{B9D23956-7DAE-4315-8621-B92DEF6B5066}">
      <dgm:prSet phldrT="[Text]"/>
      <dgm:spPr/>
      <dgm:t>
        <a:bodyPr/>
        <a:lstStyle/>
        <a:p>
          <a:r>
            <a:rPr lang="en-ZA" dirty="0">
              <a:latin typeface="Arial" panose="020B0604020202020204" pitchFamily="34" charset="0"/>
              <a:cs typeface="Arial" panose="020B0604020202020204" pitchFamily="34" charset="0"/>
            </a:rPr>
            <a:t>Buying / selling / holding equity and debt instruments</a:t>
          </a:r>
          <a:endParaRPr lang="en-US" dirty="0">
            <a:latin typeface="Arial" panose="020B0604020202020204" pitchFamily="34" charset="0"/>
            <a:cs typeface="Arial" panose="020B0604020202020204" pitchFamily="34" charset="0"/>
          </a:endParaRPr>
        </a:p>
      </dgm:t>
    </dgm:pt>
    <dgm:pt modelId="{F31B1D02-8250-4E6B-8854-95523D12E69A}" type="parTrans" cxnId="{D2892E11-C309-4878-916A-8DBF6E25FE4A}">
      <dgm:prSet/>
      <dgm:spPr/>
      <dgm:t>
        <a:bodyPr/>
        <a:lstStyle/>
        <a:p>
          <a:endParaRPr lang="en-US"/>
        </a:p>
      </dgm:t>
    </dgm:pt>
    <dgm:pt modelId="{CC106C77-DA5B-4B31-A0C0-93F0140D1B37}" type="sibTrans" cxnId="{D2892E11-C309-4878-916A-8DBF6E25FE4A}">
      <dgm:prSet/>
      <dgm:spPr/>
      <dgm:t>
        <a:bodyPr/>
        <a:lstStyle/>
        <a:p>
          <a:endParaRPr lang="en-US"/>
        </a:p>
      </dgm:t>
    </dgm:pt>
    <dgm:pt modelId="{D0AB26C8-1541-4C36-9818-031EC2D19F22}">
      <dgm:prSet phldrT="[Text]"/>
      <dgm:spPr/>
      <dgm:t>
        <a:bodyPr/>
        <a:lstStyle/>
        <a:p>
          <a:r>
            <a:rPr lang="en-US" dirty="0">
              <a:latin typeface="Arial" panose="020B0604020202020204" pitchFamily="34" charset="0"/>
              <a:cs typeface="Arial" panose="020B0604020202020204" pitchFamily="34" charset="0"/>
            </a:rPr>
            <a:t>Existing and potential lenders, and</a:t>
          </a:r>
        </a:p>
      </dgm:t>
    </dgm:pt>
    <dgm:pt modelId="{606E169A-CEC4-4535-88BF-E422F3BE74C7}" type="parTrans" cxnId="{F5F9EB6A-268B-4AB2-99E5-13194874D6D2}">
      <dgm:prSet/>
      <dgm:spPr/>
      <dgm:t>
        <a:bodyPr/>
        <a:lstStyle/>
        <a:p>
          <a:endParaRPr lang="en-US"/>
        </a:p>
      </dgm:t>
    </dgm:pt>
    <dgm:pt modelId="{90F4D268-61C9-4FD6-BA5A-75A771694CF7}" type="sibTrans" cxnId="{F5F9EB6A-268B-4AB2-99E5-13194874D6D2}">
      <dgm:prSet/>
      <dgm:spPr/>
      <dgm:t>
        <a:bodyPr/>
        <a:lstStyle/>
        <a:p>
          <a:endParaRPr lang="en-US"/>
        </a:p>
      </dgm:t>
    </dgm:pt>
    <dgm:pt modelId="{D4BBD92F-D176-43F0-A439-777985341165}">
      <dgm:prSet phldrT="[Text]"/>
      <dgm:spPr/>
      <dgm:t>
        <a:bodyPr/>
        <a:lstStyle/>
        <a:p>
          <a:r>
            <a:rPr lang="en-US" dirty="0">
              <a:latin typeface="Arial" panose="020B0604020202020204" pitchFamily="34" charset="0"/>
              <a:cs typeface="Arial" panose="020B0604020202020204" pitchFamily="34" charset="0"/>
            </a:rPr>
            <a:t>Existing and potential other creditors</a:t>
          </a:r>
        </a:p>
      </dgm:t>
    </dgm:pt>
    <dgm:pt modelId="{08B2EFA3-9BFC-4660-BC58-CA10A68C77BB}" type="parTrans" cxnId="{31C15788-8CB3-4798-A0AF-35FCC3DE0FE6}">
      <dgm:prSet/>
      <dgm:spPr/>
      <dgm:t>
        <a:bodyPr/>
        <a:lstStyle/>
        <a:p>
          <a:endParaRPr lang="en-US"/>
        </a:p>
      </dgm:t>
    </dgm:pt>
    <dgm:pt modelId="{97D154DC-4893-44F3-84A5-BEDC7798BA3A}" type="sibTrans" cxnId="{31C15788-8CB3-4798-A0AF-35FCC3DE0FE6}">
      <dgm:prSet/>
      <dgm:spPr/>
      <dgm:t>
        <a:bodyPr/>
        <a:lstStyle/>
        <a:p>
          <a:endParaRPr lang="en-US"/>
        </a:p>
      </dgm:t>
    </dgm:pt>
    <dgm:pt modelId="{3B56B4F8-08AD-4751-A520-A87C23EA0163}">
      <dgm:prSet/>
      <dgm:spPr/>
      <dgm:t>
        <a:bodyPr/>
        <a:lstStyle/>
        <a:p>
          <a:r>
            <a:rPr lang="en-ZA" dirty="0">
              <a:latin typeface="Arial" panose="020B0604020202020204" pitchFamily="34" charset="0"/>
              <a:cs typeface="Arial" panose="020B0604020202020204" pitchFamily="34" charset="0"/>
            </a:rPr>
            <a:t>Providing / settling loans and other forms of credit</a:t>
          </a:r>
        </a:p>
      </dgm:t>
    </dgm:pt>
    <dgm:pt modelId="{889F1445-4CFE-412F-8E0A-8DC12AB86005}" type="parTrans" cxnId="{EF099662-0DEA-4F0D-BC8F-C3B72863B95A}">
      <dgm:prSet/>
      <dgm:spPr/>
      <dgm:t>
        <a:bodyPr/>
        <a:lstStyle/>
        <a:p>
          <a:endParaRPr lang="en-US"/>
        </a:p>
      </dgm:t>
    </dgm:pt>
    <dgm:pt modelId="{8C4A1328-F54C-459E-866E-8CA1FD532DF8}" type="sibTrans" cxnId="{EF099662-0DEA-4F0D-BC8F-C3B72863B95A}">
      <dgm:prSet/>
      <dgm:spPr/>
      <dgm:t>
        <a:bodyPr/>
        <a:lstStyle/>
        <a:p>
          <a:endParaRPr lang="en-US"/>
        </a:p>
      </dgm:t>
    </dgm:pt>
    <dgm:pt modelId="{40DFB8BD-207A-4449-8848-A9A5F38B51DB}">
      <dgm:prSet/>
      <dgm:spPr/>
      <dgm:t>
        <a:bodyPr/>
        <a:lstStyle/>
        <a:p>
          <a:r>
            <a:rPr lang="en-US" dirty="0">
              <a:latin typeface="Arial" panose="020B0604020202020204" pitchFamily="34" charset="0"/>
              <a:cs typeface="Arial" panose="020B0604020202020204" pitchFamily="34" charset="0"/>
            </a:rPr>
            <a:t>Exercising rights to vote on, or otherwise influence, management’s actions that affect the use of the entity’s economic resources</a:t>
          </a:r>
          <a:endParaRPr lang="en-ZA" dirty="0">
            <a:latin typeface="Arial" panose="020B0604020202020204" pitchFamily="34" charset="0"/>
            <a:cs typeface="Arial" panose="020B0604020202020204" pitchFamily="34" charset="0"/>
          </a:endParaRPr>
        </a:p>
      </dgm:t>
    </dgm:pt>
    <dgm:pt modelId="{632346C9-D6DD-4C79-8EC3-E516405F06D2}" type="parTrans" cxnId="{30F25C3A-5ACB-4AF8-B100-82766BFDCD2B}">
      <dgm:prSet/>
      <dgm:spPr/>
      <dgm:t>
        <a:bodyPr/>
        <a:lstStyle/>
        <a:p>
          <a:endParaRPr lang="en-US"/>
        </a:p>
      </dgm:t>
    </dgm:pt>
    <dgm:pt modelId="{7DC6A267-4F7A-44C8-8121-4CB1CD931A1B}" type="sibTrans" cxnId="{30F25C3A-5ACB-4AF8-B100-82766BFDCD2B}">
      <dgm:prSet/>
      <dgm:spPr/>
      <dgm:t>
        <a:bodyPr/>
        <a:lstStyle/>
        <a:p>
          <a:endParaRPr lang="en-US"/>
        </a:p>
      </dgm:t>
    </dgm:pt>
    <dgm:pt modelId="{CE7EAD24-62E1-471F-9053-B1F35C16C291}">
      <dgm:prSet phldrT="[Text]" custT="1"/>
      <dgm:spPr/>
      <dgm:t>
        <a:bodyPr/>
        <a:lstStyle/>
        <a:p>
          <a:r>
            <a:rPr lang="en-US" sz="2400" dirty="0">
              <a:latin typeface="Arial" panose="020B0604020202020204" pitchFamily="34" charset="0"/>
              <a:cs typeface="Arial" panose="020B0604020202020204" pitchFamily="34" charset="0"/>
            </a:rPr>
            <a:t>Objective</a:t>
          </a:r>
          <a:endParaRPr lang="en-US" sz="1600" dirty="0">
            <a:latin typeface="Arial" panose="020B0604020202020204" pitchFamily="34" charset="0"/>
            <a:cs typeface="Arial" panose="020B0604020202020204" pitchFamily="34" charset="0"/>
          </a:endParaRPr>
        </a:p>
      </dgm:t>
    </dgm:pt>
    <dgm:pt modelId="{71A1A2D1-C55F-446A-8AD6-93026E3F08B9}" type="sibTrans" cxnId="{5797B03B-7E27-4A85-8444-B8AB580735D8}">
      <dgm:prSet/>
      <dgm:spPr/>
      <dgm:t>
        <a:bodyPr/>
        <a:lstStyle/>
        <a:p>
          <a:endParaRPr lang="en-US"/>
        </a:p>
      </dgm:t>
    </dgm:pt>
    <dgm:pt modelId="{9284F13C-E7A1-4E5E-ADEF-829DAC14EE0E}" type="parTrans" cxnId="{5797B03B-7E27-4A85-8444-B8AB580735D8}">
      <dgm:prSet/>
      <dgm:spPr/>
      <dgm:t>
        <a:bodyPr/>
        <a:lstStyle/>
        <a:p>
          <a:endParaRPr lang="en-US"/>
        </a:p>
      </dgm:t>
    </dgm:pt>
    <dgm:pt modelId="{9C066842-B4DC-431B-B1BF-9A0C2BF68467}" type="pres">
      <dgm:prSet presAssocID="{01CE9690-B825-4F44-8EE9-667070E1D6F4}" presName="Name0" presStyleCnt="0">
        <dgm:presLayoutVars>
          <dgm:dir/>
          <dgm:animLvl val="lvl"/>
          <dgm:resizeHandles val="exact"/>
        </dgm:presLayoutVars>
      </dgm:prSet>
      <dgm:spPr/>
    </dgm:pt>
    <dgm:pt modelId="{0D7B6558-6A56-4FE2-A1C4-B7EB85F2E055}" type="pres">
      <dgm:prSet presAssocID="{CE7EAD24-62E1-471F-9053-B1F35C16C291}" presName="linNode" presStyleCnt="0"/>
      <dgm:spPr/>
    </dgm:pt>
    <dgm:pt modelId="{F83010D4-00F1-4F72-8891-15E83CED7A8D}" type="pres">
      <dgm:prSet presAssocID="{CE7EAD24-62E1-471F-9053-B1F35C16C291}" presName="parentText" presStyleLbl="node1" presStyleIdx="0" presStyleCnt="3" custScaleX="82635" custScaleY="69543" custLinFactNeighborX="-4884" custLinFactNeighborY="-6190">
        <dgm:presLayoutVars>
          <dgm:chMax val="1"/>
          <dgm:bulletEnabled val="1"/>
        </dgm:presLayoutVars>
      </dgm:prSet>
      <dgm:spPr/>
    </dgm:pt>
    <dgm:pt modelId="{DD291351-930B-4A72-B7DE-F35900CD6F1E}" type="pres">
      <dgm:prSet presAssocID="{CE7EAD24-62E1-471F-9053-B1F35C16C291}" presName="descendantText" presStyleLbl="alignAccFollowNode1" presStyleIdx="0" presStyleCnt="3">
        <dgm:presLayoutVars>
          <dgm:bulletEnabled val="1"/>
        </dgm:presLayoutVars>
      </dgm:prSet>
      <dgm:spPr/>
    </dgm:pt>
    <dgm:pt modelId="{4F3BE091-5BB7-4991-BDEC-F0EF47C28C87}" type="pres">
      <dgm:prSet presAssocID="{71A1A2D1-C55F-446A-8AD6-93026E3F08B9}" presName="sp" presStyleCnt="0"/>
      <dgm:spPr/>
    </dgm:pt>
    <dgm:pt modelId="{8F3A9F29-6DB6-4422-87B0-524B2341FC84}" type="pres">
      <dgm:prSet presAssocID="{6FDAC7F6-3FBD-47EA-98F0-F0559CFB42F8}" presName="linNode" presStyleCnt="0"/>
      <dgm:spPr/>
    </dgm:pt>
    <dgm:pt modelId="{103F879D-C17E-46FD-A7AB-0B372895B9AF}" type="pres">
      <dgm:prSet presAssocID="{6FDAC7F6-3FBD-47EA-98F0-F0559CFB42F8}" presName="parentText" presStyleLbl="node1" presStyleIdx="1" presStyleCnt="3" custScaleX="82635" custScaleY="69543" custLinFactNeighborX="-4884" custLinFactNeighborY="-6140">
        <dgm:presLayoutVars>
          <dgm:chMax val="1"/>
          <dgm:bulletEnabled val="1"/>
        </dgm:presLayoutVars>
      </dgm:prSet>
      <dgm:spPr/>
    </dgm:pt>
    <dgm:pt modelId="{6435857D-1A95-45DD-9226-044182B76524}" type="pres">
      <dgm:prSet presAssocID="{6FDAC7F6-3FBD-47EA-98F0-F0559CFB42F8}" presName="descendantText" presStyleLbl="alignAccFollowNode1" presStyleIdx="1" presStyleCnt="3">
        <dgm:presLayoutVars>
          <dgm:bulletEnabled val="1"/>
        </dgm:presLayoutVars>
      </dgm:prSet>
      <dgm:spPr/>
    </dgm:pt>
    <dgm:pt modelId="{2809BE3A-5A78-43B3-A73A-7760D20A3F57}" type="pres">
      <dgm:prSet presAssocID="{AB322EBE-FB5F-4382-B7AA-65B6F2DD6BCC}" presName="sp" presStyleCnt="0"/>
      <dgm:spPr/>
    </dgm:pt>
    <dgm:pt modelId="{A5707CD1-8A08-4BD8-89A4-EBA6DA35B83E}" type="pres">
      <dgm:prSet presAssocID="{58372B41-5C1D-49A2-AE37-4EA13B2A4F2D}" presName="linNode" presStyleCnt="0"/>
      <dgm:spPr/>
    </dgm:pt>
    <dgm:pt modelId="{7130ACD7-D171-4C23-9C65-EACB8CBD1FDB}" type="pres">
      <dgm:prSet presAssocID="{58372B41-5C1D-49A2-AE37-4EA13B2A4F2D}" presName="parentText" presStyleLbl="node1" presStyleIdx="2" presStyleCnt="3" custScaleX="82635" custScaleY="69543" custLinFactNeighborX="-4884" custLinFactNeighborY="-6140">
        <dgm:presLayoutVars>
          <dgm:chMax val="1"/>
          <dgm:bulletEnabled val="1"/>
        </dgm:presLayoutVars>
      </dgm:prSet>
      <dgm:spPr/>
    </dgm:pt>
    <dgm:pt modelId="{1B27BB89-C7A3-4BDC-8023-88CDB8E22B6F}" type="pres">
      <dgm:prSet presAssocID="{58372B41-5C1D-49A2-AE37-4EA13B2A4F2D}" presName="descendantText" presStyleLbl="alignAccFollowNode1" presStyleIdx="2" presStyleCnt="3">
        <dgm:presLayoutVars>
          <dgm:bulletEnabled val="1"/>
        </dgm:presLayoutVars>
      </dgm:prSet>
      <dgm:spPr/>
    </dgm:pt>
  </dgm:ptLst>
  <dgm:cxnLst>
    <dgm:cxn modelId="{8FD11D00-0737-4553-B7FD-CB4591C34120}" srcId="{CE7EAD24-62E1-471F-9053-B1F35C16C291}" destId="{0204C324-2759-47D4-967E-6B55A5BC743E}" srcOrd="0" destOrd="0" parTransId="{FB31F061-488E-4AD2-8026-A32E56FCA96A}" sibTransId="{8F271883-65C6-46C9-868A-2AECD6F03B3A}"/>
    <dgm:cxn modelId="{D2892E11-C309-4878-916A-8DBF6E25FE4A}" srcId="{58372B41-5C1D-49A2-AE37-4EA13B2A4F2D}" destId="{B9D23956-7DAE-4315-8621-B92DEF6B5066}" srcOrd="0" destOrd="0" parTransId="{F31B1D02-8250-4E6B-8854-95523D12E69A}" sibTransId="{CC106C77-DA5B-4B31-A0C0-93F0140D1B37}"/>
    <dgm:cxn modelId="{7C5BF612-AFA8-4295-8EB7-9DFFE45B4CC8}" type="presOf" srcId="{D4BBD92F-D176-43F0-A439-777985341165}" destId="{6435857D-1A95-45DD-9226-044182B76524}" srcOrd="0" destOrd="2" presId="urn:microsoft.com/office/officeart/2005/8/layout/vList5"/>
    <dgm:cxn modelId="{1322D714-0244-458F-B65C-E93E9C1D8320}" srcId="{01CE9690-B825-4F44-8EE9-667070E1D6F4}" destId="{6FDAC7F6-3FBD-47EA-98F0-F0559CFB42F8}" srcOrd="1" destOrd="0" parTransId="{8032E912-7D5A-4E1D-9F77-C57A0542EE55}" sibTransId="{AB322EBE-FB5F-4382-B7AA-65B6F2DD6BCC}"/>
    <dgm:cxn modelId="{BDA5D026-B347-44E8-B122-5BF9C5C99DE8}" type="presOf" srcId="{58372B41-5C1D-49A2-AE37-4EA13B2A4F2D}" destId="{7130ACD7-D171-4C23-9C65-EACB8CBD1FDB}" srcOrd="0" destOrd="0" presId="urn:microsoft.com/office/officeart/2005/8/layout/vList5"/>
    <dgm:cxn modelId="{DB2A1D38-66DB-48B3-B3C5-3D89812B8F7D}" type="presOf" srcId="{01CE9690-B825-4F44-8EE9-667070E1D6F4}" destId="{9C066842-B4DC-431B-B1BF-9A0C2BF68467}" srcOrd="0" destOrd="0" presId="urn:microsoft.com/office/officeart/2005/8/layout/vList5"/>
    <dgm:cxn modelId="{30F25C3A-5ACB-4AF8-B100-82766BFDCD2B}" srcId="{58372B41-5C1D-49A2-AE37-4EA13B2A4F2D}" destId="{40DFB8BD-207A-4449-8848-A9A5F38B51DB}" srcOrd="2" destOrd="0" parTransId="{632346C9-D6DD-4C79-8EC3-E516405F06D2}" sibTransId="{7DC6A267-4F7A-44C8-8121-4CB1CD931A1B}"/>
    <dgm:cxn modelId="{5797B03B-7E27-4A85-8444-B8AB580735D8}" srcId="{01CE9690-B825-4F44-8EE9-667070E1D6F4}" destId="{CE7EAD24-62E1-471F-9053-B1F35C16C291}" srcOrd="0" destOrd="0" parTransId="{9284F13C-E7A1-4E5E-ADEF-829DAC14EE0E}" sibTransId="{71A1A2D1-C55F-446A-8AD6-93026E3F08B9}"/>
    <dgm:cxn modelId="{EF099662-0DEA-4F0D-BC8F-C3B72863B95A}" srcId="{58372B41-5C1D-49A2-AE37-4EA13B2A4F2D}" destId="{3B56B4F8-08AD-4751-A520-A87C23EA0163}" srcOrd="1" destOrd="0" parTransId="{889F1445-4CFE-412F-8E0A-8DC12AB86005}" sibTransId="{8C4A1328-F54C-459E-866E-8CA1FD532DF8}"/>
    <dgm:cxn modelId="{52FD8064-47AC-402C-B739-D44985A01216}" type="presOf" srcId="{6FDAC7F6-3FBD-47EA-98F0-F0559CFB42F8}" destId="{103F879D-C17E-46FD-A7AB-0B372895B9AF}" srcOrd="0" destOrd="0" presId="urn:microsoft.com/office/officeart/2005/8/layout/vList5"/>
    <dgm:cxn modelId="{F086A466-FD2E-4A04-AF3E-B8E0739B8FED}" type="presOf" srcId="{40DFB8BD-207A-4449-8848-A9A5F38B51DB}" destId="{1B27BB89-C7A3-4BDC-8023-88CDB8E22B6F}" srcOrd="0" destOrd="2" presId="urn:microsoft.com/office/officeart/2005/8/layout/vList5"/>
    <dgm:cxn modelId="{C1D5984A-54C4-40C7-BB72-3F87EC37BA02}" type="presOf" srcId="{0862AB27-8469-4CA0-8D46-89F57C6FEEBE}" destId="{6435857D-1A95-45DD-9226-044182B76524}" srcOrd="0" destOrd="0" presId="urn:microsoft.com/office/officeart/2005/8/layout/vList5"/>
    <dgm:cxn modelId="{F5F9EB6A-268B-4AB2-99E5-13194874D6D2}" srcId="{6FDAC7F6-3FBD-47EA-98F0-F0559CFB42F8}" destId="{D0AB26C8-1541-4C36-9818-031EC2D19F22}" srcOrd="1" destOrd="0" parTransId="{606E169A-CEC4-4535-88BF-E422F3BE74C7}" sibTransId="{90F4D268-61C9-4FD6-BA5A-75A771694CF7}"/>
    <dgm:cxn modelId="{F805EB4B-6FB6-47C1-AA87-A9D94C2ECD78}" type="presOf" srcId="{3B56B4F8-08AD-4751-A520-A87C23EA0163}" destId="{1B27BB89-C7A3-4BDC-8023-88CDB8E22B6F}" srcOrd="0" destOrd="1" presId="urn:microsoft.com/office/officeart/2005/8/layout/vList5"/>
    <dgm:cxn modelId="{31C15788-8CB3-4798-A0AF-35FCC3DE0FE6}" srcId="{6FDAC7F6-3FBD-47EA-98F0-F0559CFB42F8}" destId="{D4BBD92F-D176-43F0-A439-777985341165}" srcOrd="2" destOrd="0" parTransId="{08B2EFA3-9BFC-4660-BC58-CA10A68C77BB}" sibTransId="{97D154DC-4893-44F3-84A5-BEDC7798BA3A}"/>
    <dgm:cxn modelId="{98C74B94-0551-4646-A3D4-54FE0FD53F4D}" srcId="{01CE9690-B825-4F44-8EE9-667070E1D6F4}" destId="{58372B41-5C1D-49A2-AE37-4EA13B2A4F2D}" srcOrd="2" destOrd="0" parTransId="{57BE2816-7478-42AD-848A-6CFC7AE81FCA}" sibTransId="{1232A0B4-C398-469E-8677-BA7A6193D2BF}"/>
    <dgm:cxn modelId="{3AA40F95-2A52-49A8-829E-6C1EE4137B9D}" type="presOf" srcId="{B9D23956-7DAE-4315-8621-B92DEF6B5066}" destId="{1B27BB89-C7A3-4BDC-8023-88CDB8E22B6F}" srcOrd="0" destOrd="0" presId="urn:microsoft.com/office/officeart/2005/8/layout/vList5"/>
    <dgm:cxn modelId="{14B743B4-6DE1-41BB-AF72-1C909C687AFE}" type="presOf" srcId="{CE7EAD24-62E1-471F-9053-B1F35C16C291}" destId="{F83010D4-00F1-4F72-8891-15E83CED7A8D}" srcOrd="0" destOrd="0" presId="urn:microsoft.com/office/officeart/2005/8/layout/vList5"/>
    <dgm:cxn modelId="{7006FFB4-00B8-4FD0-99D6-84D2D3C532F6}" type="presOf" srcId="{D0AB26C8-1541-4C36-9818-031EC2D19F22}" destId="{6435857D-1A95-45DD-9226-044182B76524}" srcOrd="0" destOrd="1" presId="urn:microsoft.com/office/officeart/2005/8/layout/vList5"/>
    <dgm:cxn modelId="{DD0BF7F9-BABA-4975-94A5-DAE0FD2626E3}" srcId="{6FDAC7F6-3FBD-47EA-98F0-F0559CFB42F8}" destId="{0862AB27-8469-4CA0-8D46-89F57C6FEEBE}" srcOrd="0" destOrd="0" parTransId="{0F77C959-BE7F-4C39-9755-5D36E847F8FF}" sibTransId="{4D8E8136-F03B-4B02-9331-44FFBC48DD34}"/>
    <dgm:cxn modelId="{E8E665FE-900F-423F-99D6-689D4EDD0B3F}" type="presOf" srcId="{0204C324-2759-47D4-967E-6B55A5BC743E}" destId="{DD291351-930B-4A72-B7DE-F35900CD6F1E}" srcOrd="0" destOrd="0" presId="urn:microsoft.com/office/officeart/2005/8/layout/vList5"/>
    <dgm:cxn modelId="{E64B430D-6E09-4309-98E2-FCFFCCC61FCA}" type="presParOf" srcId="{9C066842-B4DC-431B-B1BF-9A0C2BF68467}" destId="{0D7B6558-6A56-4FE2-A1C4-B7EB85F2E055}" srcOrd="0" destOrd="0" presId="urn:microsoft.com/office/officeart/2005/8/layout/vList5"/>
    <dgm:cxn modelId="{1AF0E12A-AFE7-4925-99E4-17564432B38D}" type="presParOf" srcId="{0D7B6558-6A56-4FE2-A1C4-B7EB85F2E055}" destId="{F83010D4-00F1-4F72-8891-15E83CED7A8D}" srcOrd="0" destOrd="0" presId="urn:microsoft.com/office/officeart/2005/8/layout/vList5"/>
    <dgm:cxn modelId="{5FFE6F3B-1418-45FB-A763-9B25F6F2254E}" type="presParOf" srcId="{0D7B6558-6A56-4FE2-A1C4-B7EB85F2E055}" destId="{DD291351-930B-4A72-B7DE-F35900CD6F1E}" srcOrd="1" destOrd="0" presId="urn:microsoft.com/office/officeart/2005/8/layout/vList5"/>
    <dgm:cxn modelId="{8554D213-86ED-4BC2-B320-6DA5A89924AF}" type="presParOf" srcId="{9C066842-B4DC-431B-B1BF-9A0C2BF68467}" destId="{4F3BE091-5BB7-4991-BDEC-F0EF47C28C87}" srcOrd="1" destOrd="0" presId="urn:microsoft.com/office/officeart/2005/8/layout/vList5"/>
    <dgm:cxn modelId="{7CE2EF5A-5B96-421E-AD97-F7B1B0C53274}" type="presParOf" srcId="{9C066842-B4DC-431B-B1BF-9A0C2BF68467}" destId="{8F3A9F29-6DB6-4422-87B0-524B2341FC84}" srcOrd="2" destOrd="0" presId="urn:microsoft.com/office/officeart/2005/8/layout/vList5"/>
    <dgm:cxn modelId="{534BADDB-595B-4425-A640-A59514600759}" type="presParOf" srcId="{8F3A9F29-6DB6-4422-87B0-524B2341FC84}" destId="{103F879D-C17E-46FD-A7AB-0B372895B9AF}" srcOrd="0" destOrd="0" presId="urn:microsoft.com/office/officeart/2005/8/layout/vList5"/>
    <dgm:cxn modelId="{2AD5D44D-6CB4-463A-B0AB-5365993CDE60}" type="presParOf" srcId="{8F3A9F29-6DB6-4422-87B0-524B2341FC84}" destId="{6435857D-1A95-45DD-9226-044182B76524}" srcOrd="1" destOrd="0" presId="urn:microsoft.com/office/officeart/2005/8/layout/vList5"/>
    <dgm:cxn modelId="{B6857E30-821C-41FB-AA5C-C5F0DB8F026A}" type="presParOf" srcId="{9C066842-B4DC-431B-B1BF-9A0C2BF68467}" destId="{2809BE3A-5A78-43B3-A73A-7760D20A3F57}" srcOrd="3" destOrd="0" presId="urn:microsoft.com/office/officeart/2005/8/layout/vList5"/>
    <dgm:cxn modelId="{72CFC9BA-254B-4F73-96BD-8BF81DE90006}" type="presParOf" srcId="{9C066842-B4DC-431B-B1BF-9A0C2BF68467}" destId="{A5707CD1-8A08-4BD8-89A4-EBA6DA35B83E}" srcOrd="4" destOrd="0" presId="urn:microsoft.com/office/officeart/2005/8/layout/vList5"/>
    <dgm:cxn modelId="{4A0F29F8-4EB4-45D4-84E4-CF80AACA5CB7}" type="presParOf" srcId="{A5707CD1-8A08-4BD8-89A4-EBA6DA35B83E}" destId="{7130ACD7-D171-4C23-9C65-EACB8CBD1FDB}" srcOrd="0" destOrd="0" presId="urn:microsoft.com/office/officeart/2005/8/layout/vList5"/>
    <dgm:cxn modelId="{6EE0BB10-029D-47F1-BE9F-0C669AFD5AC7}" type="presParOf" srcId="{A5707CD1-8A08-4BD8-89A4-EBA6DA35B83E}" destId="{1B27BB89-C7A3-4BDC-8023-88CDB8E22B6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2135A4-5558-45CA-95F6-0E78985A1711}"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9ACC0957-B3DD-4013-8E1A-7635535555C5}">
      <dgm:prSet phldrT="[Text]" custT="1"/>
      <dgm:spPr/>
      <dgm:t>
        <a:bodyPr/>
        <a:lstStyle/>
        <a:p>
          <a:r>
            <a:rPr lang="en-US" sz="4400" dirty="0"/>
            <a:t>Information needed to make these assessments in paragraph 1.3 </a:t>
          </a:r>
          <a:r>
            <a:rPr lang="en-US" sz="1600" dirty="0"/>
            <a:t>[1.4]</a:t>
          </a:r>
        </a:p>
      </dgm:t>
    </dgm:pt>
    <dgm:pt modelId="{8FD04009-D845-400A-974E-BE6EF42D7FBC}" type="parTrans" cxnId="{21D2E917-C972-4842-9C74-9CC3623684F2}">
      <dgm:prSet/>
      <dgm:spPr/>
      <dgm:t>
        <a:bodyPr/>
        <a:lstStyle/>
        <a:p>
          <a:endParaRPr lang="en-US"/>
        </a:p>
      </dgm:t>
    </dgm:pt>
    <dgm:pt modelId="{86422404-843A-4867-B2B6-782258A01EB6}" type="sibTrans" cxnId="{21D2E917-C972-4842-9C74-9CC3623684F2}">
      <dgm:prSet/>
      <dgm:spPr/>
      <dgm:t>
        <a:bodyPr/>
        <a:lstStyle/>
        <a:p>
          <a:endParaRPr lang="en-US"/>
        </a:p>
      </dgm:t>
    </dgm:pt>
    <dgm:pt modelId="{7A2725D1-4A4A-484A-BF41-290F30BE048B}">
      <dgm:prSet phldrT="[Text]"/>
      <dgm:spPr/>
      <dgm:t>
        <a:bodyPr/>
        <a:lstStyle/>
        <a:p>
          <a:r>
            <a:rPr lang="en-US" dirty="0">
              <a:latin typeface="Arial" pitchFamily="34" charset="0"/>
              <a:cs typeface="Arial" pitchFamily="34" charset="0"/>
            </a:rPr>
            <a:t>Economic resources available (Assets)?</a:t>
          </a:r>
          <a:endParaRPr lang="en-US" dirty="0"/>
        </a:p>
      </dgm:t>
    </dgm:pt>
    <dgm:pt modelId="{38FB14AE-EB34-490B-B126-001C05F6197E}" type="parTrans" cxnId="{C6DF5E5F-E08F-4901-998B-F68222E6FD7F}">
      <dgm:prSet/>
      <dgm:spPr/>
      <dgm:t>
        <a:bodyPr/>
        <a:lstStyle/>
        <a:p>
          <a:endParaRPr lang="en-US"/>
        </a:p>
      </dgm:t>
    </dgm:pt>
    <dgm:pt modelId="{64FB7CA6-6C2F-4504-B6A9-B6597633BCB6}" type="sibTrans" cxnId="{C6DF5E5F-E08F-4901-998B-F68222E6FD7F}">
      <dgm:prSet/>
      <dgm:spPr/>
      <dgm:t>
        <a:bodyPr/>
        <a:lstStyle/>
        <a:p>
          <a:endParaRPr lang="en-US"/>
        </a:p>
      </dgm:t>
    </dgm:pt>
    <dgm:pt modelId="{8573A1C0-4D2C-4BB0-A1BD-C2C446C19AC5}">
      <dgm:prSet phldrT="[Text]"/>
      <dgm:spPr/>
      <dgm:t>
        <a:bodyPr/>
        <a:lstStyle/>
        <a:p>
          <a:r>
            <a:rPr lang="en-US" dirty="0">
              <a:latin typeface="Arial" pitchFamily="34" charset="0"/>
              <a:cs typeface="Arial" pitchFamily="34" charset="0"/>
            </a:rPr>
            <a:t>How efficiently and effectively the entity’s management have discharged their responsibilities to use entity’s economic resources </a:t>
          </a:r>
          <a:endParaRPr lang="en-US" dirty="0"/>
        </a:p>
      </dgm:t>
    </dgm:pt>
    <dgm:pt modelId="{98D94A22-E020-4C61-BECA-5A548634E35B}" type="parTrans" cxnId="{6E143AA3-2D08-4FA4-8FAC-0905B119DD9C}">
      <dgm:prSet/>
      <dgm:spPr/>
      <dgm:t>
        <a:bodyPr/>
        <a:lstStyle/>
        <a:p>
          <a:endParaRPr lang="en-US"/>
        </a:p>
      </dgm:t>
    </dgm:pt>
    <dgm:pt modelId="{68C5EA56-0154-483C-AB55-B0454464254F}" type="sibTrans" cxnId="{6E143AA3-2D08-4FA4-8FAC-0905B119DD9C}">
      <dgm:prSet/>
      <dgm:spPr/>
      <dgm:t>
        <a:bodyPr/>
        <a:lstStyle/>
        <a:p>
          <a:endParaRPr lang="en-US"/>
        </a:p>
      </dgm:t>
    </dgm:pt>
    <dgm:pt modelId="{B6BB1F0B-49CA-4301-932E-C1118C658955}">
      <dgm:prSet/>
      <dgm:spPr/>
      <dgm:t>
        <a:bodyPr/>
        <a:lstStyle/>
        <a:p>
          <a:r>
            <a:rPr lang="en-US" dirty="0">
              <a:latin typeface="Arial" pitchFamily="34" charset="0"/>
              <a:cs typeface="Arial" pitchFamily="34" charset="0"/>
            </a:rPr>
            <a:t>Claims against the entity (Liabilities)?</a:t>
          </a:r>
        </a:p>
      </dgm:t>
    </dgm:pt>
    <dgm:pt modelId="{F9B56446-5D11-4876-A6C3-D70C96A118AB}" type="parTrans" cxnId="{E31FCF76-7C54-4988-B31A-F9E6DBFEEF7C}">
      <dgm:prSet/>
      <dgm:spPr/>
      <dgm:t>
        <a:bodyPr/>
        <a:lstStyle/>
        <a:p>
          <a:endParaRPr lang="en-US"/>
        </a:p>
      </dgm:t>
    </dgm:pt>
    <dgm:pt modelId="{8B157A11-1CFB-455A-BF46-7CDF8795874F}" type="sibTrans" cxnId="{E31FCF76-7C54-4988-B31A-F9E6DBFEEF7C}">
      <dgm:prSet/>
      <dgm:spPr/>
      <dgm:t>
        <a:bodyPr/>
        <a:lstStyle/>
        <a:p>
          <a:endParaRPr lang="en-US"/>
        </a:p>
      </dgm:t>
    </dgm:pt>
    <dgm:pt modelId="{91882A77-3535-4F5C-AAE4-53C07C3934E4}" type="pres">
      <dgm:prSet presAssocID="{092135A4-5558-45CA-95F6-0E78985A1711}" presName="composite" presStyleCnt="0">
        <dgm:presLayoutVars>
          <dgm:chMax val="1"/>
          <dgm:dir/>
          <dgm:resizeHandles val="exact"/>
        </dgm:presLayoutVars>
      </dgm:prSet>
      <dgm:spPr/>
    </dgm:pt>
    <dgm:pt modelId="{E952F664-6A3D-46E2-BC50-39D0A128B921}" type="pres">
      <dgm:prSet presAssocID="{9ACC0957-B3DD-4013-8E1A-7635535555C5}" presName="roof" presStyleLbl="dkBgShp" presStyleIdx="0" presStyleCnt="2" custLinFactNeighborX="-421" custLinFactNeighborY="1882"/>
      <dgm:spPr/>
    </dgm:pt>
    <dgm:pt modelId="{24958B72-E62C-4213-A534-26585A0C3386}" type="pres">
      <dgm:prSet presAssocID="{9ACC0957-B3DD-4013-8E1A-7635535555C5}" presName="pillars" presStyleCnt="0"/>
      <dgm:spPr/>
    </dgm:pt>
    <dgm:pt modelId="{40F05061-E071-41CD-80FA-FF12FB4220B2}" type="pres">
      <dgm:prSet presAssocID="{9ACC0957-B3DD-4013-8E1A-7635535555C5}" presName="pillar1" presStyleLbl="node1" presStyleIdx="0" presStyleCnt="3">
        <dgm:presLayoutVars>
          <dgm:bulletEnabled val="1"/>
        </dgm:presLayoutVars>
      </dgm:prSet>
      <dgm:spPr/>
    </dgm:pt>
    <dgm:pt modelId="{D17C6085-9CDF-4C0D-A59B-3BE5ADFE3182}" type="pres">
      <dgm:prSet presAssocID="{B6BB1F0B-49CA-4301-932E-C1118C658955}" presName="pillarX" presStyleLbl="node1" presStyleIdx="1" presStyleCnt="3">
        <dgm:presLayoutVars>
          <dgm:bulletEnabled val="1"/>
        </dgm:presLayoutVars>
      </dgm:prSet>
      <dgm:spPr/>
    </dgm:pt>
    <dgm:pt modelId="{87320B8D-ED09-4DF1-9D73-F018BB3AC8C4}" type="pres">
      <dgm:prSet presAssocID="{8573A1C0-4D2C-4BB0-A1BD-C2C446C19AC5}" presName="pillarX" presStyleLbl="node1" presStyleIdx="2" presStyleCnt="3">
        <dgm:presLayoutVars>
          <dgm:bulletEnabled val="1"/>
        </dgm:presLayoutVars>
      </dgm:prSet>
      <dgm:spPr/>
    </dgm:pt>
    <dgm:pt modelId="{833BEFE7-F8E8-46AD-AFCB-E1173917D23D}" type="pres">
      <dgm:prSet presAssocID="{9ACC0957-B3DD-4013-8E1A-7635535555C5}" presName="base" presStyleLbl="dkBgShp" presStyleIdx="1" presStyleCnt="2"/>
      <dgm:spPr/>
    </dgm:pt>
  </dgm:ptLst>
  <dgm:cxnLst>
    <dgm:cxn modelId="{21D2E917-C972-4842-9C74-9CC3623684F2}" srcId="{092135A4-5558-45CA-95F6-0E78985A1711}" destId="{9ACC0957-B3DD-4013-8E1A-7635535555C5}" srcOrd="0" destOrd="0" parTransId="{8FD04009-D845-400A-974E-BE6EF42D7FBC}" sibTransId="{86422404-843A-4867-B2B6-782258A01EB6}"/>
    <dgm:cxn modelId="{C6DF5E5F-E08F-4901-998B-F68222E6FD7F}" srcId="{9ACC0957-B3DD-4013-8E1A-7635535555C5}" destId="{7A2725D1-4A4A-484A-BF41-290F30BE048B}" srcOrd="0" destOrd="0" parTransId="{38FB14AE-EB34-490B-B126-001C05F6197E}" sibTransId="{64FB7CA6-6C2F-4504-B6A9-B6597633BCB6}"/>
    <dgm:cxn modelId="{E2872F47-CF43-4F96-9A1F-2130F1977E72}" type="presOf" srcId="{B6BB1F0B-49CA-4301-932E-C1118C658955}" destId="{D17C6085-9CDF-4C0D-A59B-3BE5ADFE3182}" srcOrd="0" destOrd="0" presId="urn:microsoft.com/office/officeart/2005/8/layout/hList3"/>
    <dgm:cxn modelId="{E31FCF76-7C54-4988-B31A-F9E6DBFEEF7C}" srcId="{9ACC0957-B3DD-4013-8E1A-7635535555C5}" destId="{B6BB1F0B-49CA-4301-932E-C1118C658955}" srcOrd="1" destOrd="0" parTransId="{F9B56446-5D11-4876-A6C3-D70C96A118AB}" sibTransId="{8B157A11-1CFB-455A-BF46-7CDF8795874F}"/>
    <dgm:cxn modelId="{85723777-218E-4DE8-B015-E14786CCD1FD}" type="presOf" srcId="{092135A4-5558-45CA-95F6-0E78985A1711}" destId="{91882A77-3535-4F5C-AAE4-53C07C3934E4}" srcOrd="0" destOrd="0" presId="urn:microsoft.com/office/officeart/2005/8/layout/hList3"/>
    <dgm:cxn modelId="{6E143AA3-2D08-4FA4-8FAC-0905B119DD9C}" srcId="{9ACC0957-B3DD-4013-8E1A-7635535555C5}" destId="{8573A1C0-4D2C-4BB0-A1BD-C2C446C19AC5}" srcOrd="2" destOrd="0" parTransId="{98D94A22-E020-4C61-BECA-5A548634E35B}" sibTransId="{68C5EA56-0154-483C-AB55-B0454464254F}"/>
    <dgm:cxn modelId="{19C584A7-DC13-4C41-BB8F-92C6C90E0144}" type="presOf" srcId="{9ACC0957-B3DD-4013-8E1A-7635535555C5}" destId="{E952F664-6A3D-46E2-BC50-39D0A128B921}" srcOrd="0" destOrd="0" presId="urn:microsoft.com/office/officeart/2005/8/layout/hList3"/>
    <dgm:cxn modelId="{E4C90AC1-23E0-4835-AEA5-F19E13896D6D}" type="presOf" srcId="{8573A1C0-4D2C-4BB0-A1BD-C2C446C19AC5}" destId="{87320B8D-ED09-4DF1-9D73-F018BB3AC8C4}" srcOrd="0" destOrd="0" presId="urn:microsoft.com/office/officeart/2005/8/layout/hList3"/>
    <dgm:cxn modelId="{3F12BAC5-27E8-42CA-8E75-ECDDA0EBDC69}" type="presOf" srcId="{7A2725D1-4A4A-484A-BF41-290F30BE048B}" destId="{40F05061-E071-41CD-80FA-FF12FB4220B2}" srcOrd="0" destOrd="0" presId="urn:microsoft.com/office/officeart/2005/8/layout/hList3"/>
    <dgm:cxn modelId="{2EE7A8A9-B5EC-4B1E-B38A-96B865F1CEAC}" type="presParOf" srcId="{91882A77-3535-4F5C-AAE4-53C07C3934E4}" destId="{E952F664-6A3D-46E2-BC50-39D0A128B921}" srcOrd="0" destOrd="0" presId="urn:microsoft.com/office/officeart/2005/8/layout/hList3"/>
    <dgm:cxn modelId="{6E002D6F-F131-40FB-BC5C-4B19DB70BE38}" type="presParOf" srcId="{91882A77-3535-4F5C-AAE4-53C07C3934E4}" destId="{24958B72-E62C-4213-A534-26585A0C3386}" srcOrd="1" destOrd="0" presId="urn:microsoft.com/office/officeart/2005/8/layout/hList3"/>
    <dgm:cxn modelId="{27EF5EF0-AEB7-4689-B695-686DC7E22ED9}" type="presParOf" srcId="{24958B72-E62C-4213-A534-26585A0C3386}" destId="{40F05061-E071-41CD-80FA-FF12FB4220B2}" srcOrd="0" destOrd="0" presId="urn:microsoft.com/office/officeart/2005/8/layout/hList3"/>
    <dgm:cxn modelId="{E81DA6AB-9AE6-4310-9E14-BF3BBEF635E3}" type="presParOf" srcId="{24958B72-E62C-4213-A534-26585A0C3386}" destId="{D17C6085-9CDF-4C0D-A59B-3BE5ADFE3182}" srcOrd="1" destOrd="0" presId="urn:microsoft.com/office/officeart/2005/8/layout/hList3"/>
    <dgm:cxn modelId="{3D2667C9-17F0-41C6-B2BE-0066480AE0E2}" type="presParOf" srcId="{24958B72-E62C-4213-A534-26585A0C3386}" destId="{87320B8D-ED09-4DF1-9D73-F018BB3AC8C4}" srcOrd="2" destOrd="0" presId="urn:microsoft.com/office/officeart/2005/8/layout/hList3"/>
    <dgm:cxn modelId="{F3C16662-AEA1-4599-B080-78E61AD98243}" type="presParOf" srcId="{91882A77-3535-4F5C-AAE4-53C07C3934E4}" destId="{833BEFE7-F8E8-46AD-AFCB-E1173917D23D}"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73BD63C-D928-4CEE-9252-97D17599777B}" type="doc">
      <dgm:prSet loTypeId="urn:microsoft.com/office/officeart/2005/8/layout/orgChart1" loCatId="hierarchy" qsTypeId="urn:microsoft.com/office/officeart/2005/8/quickstyle/simple2" qsCatId="simple" csTypeId="urn:microsoft.com/office/officeart/2005/8/colors/accent1_2" csCatId="accent1" phldr="1"/>
      <dgm:spPr/>
      <dgm:t>
        <a:bodyPr/>
        <a:lstStyle/>
        <a:p>
          <a:endParaRPr lang="en-US"/>
        </a:p>
      </dgm:t>
    </dgm:pt>
    <dgm:pt modelId="{51B6C9BF-C907-4A1A-BEB5-55B5B242A7C5}">
      <dgm:prSet phldrT="[Text]" custT="1"/>
      <dgm:spPr/>
      <dgm:t>
        <a:bodyPr/>
        <a:lstStyle/>
        <a:p>
          <a:r>
            <a:rPr lang="en-US" sz="3000" b="1" dirty="0">
              <a:latin typeface="Arial" panose="020B0604020202020204" pitchFamily="34" charset="0"/>
              <a:cs typeface="Arial" panose="020B0604020202020204" pitchFamily="34" charset="0"/>
            </a:rPr>
            <a:t>FUNDAMENTAL CHARACTERISTICS</a:t>
          </a:r>
        </a:p>
        <a:p>
          <a:r>
            <a:rPr lang="en-US" sz="2000" dirty="0">
              <a:latin typeface="Arial" panose="020B0604020202020204" pitchFamily="34" charset="0"/>
              <a:cs typeface="Arial" panose="020B0604020202020204" pitchFamily="34" charset="0"/>
            </a:rPr>
            <a:t>(Primary/minimum requirements for useful information -&gt; </a:t>
          </a:r>
          <a:r>
            <a:rPr lang="en-US" sz="2000" b="1" dirty="0">
              <a:latin typeface="Arial" panose="020B0604020202020204" pitchFamily="34" charset="0"/>
              <a:cs typeface="Arial" panose="020B0604020202020204" pitchFamily="34" charset="0"/>
            </a:rPr>
            <a:t>need to meet both </a:t>
          </a:r>
          <a:r>
            <a:rPr lang="en-US" sz="2000" dirty="0">
              <a:latin typeface="Arial" panose="020B0604020202020204" pitchFamily="34" charset="0"/>
              <a:cs typeface="Arial" panose="020B0604020202020204" pitchFamily="34" charset="0"/>
            </a:rPr>
            <a:t>(2.4)</a:t>
          </a:r>
        </a:p>
      </dgm:t>
    </dgm:pt>
    <dgm:pt modelId="{222BB452-137B-4483-AA4F-6B6982F2799A}" type="parTrans" cxnId="{4B99E003-3C00-4EFD-835E-92D093631C1C}">
      <dgm:prSet/>
      <dgm:spPr/>
      <dgm:t>
        <a:bodyPr/>
        <a:lstStyle/>
        <a:p>
          <a:endParaRPr lang="en-US"/>
        </a:p>
      </dgm:t>
    </dgm:pt>
    <dgm:pt modelId="{28BF20A5-95AE-4677-A1F1-F08B01EA5E53}" type="sibTrans" cxnId="{4B99E003-3C00-4EFD-835E-92D093631C1C}">
      <dgm:prSet/>
      <dgm:spPr/>
      <dgm:t>
        <a:bodyPr/>
        <a:lstStyle/>
        <a:p>
          <a:endParaRPr lang="en-US"/>
        </a:p>
      </dgm:t>
    </dgm:pt>
    <dgm:pt modelId="{40340553-38B4-4097-9E35-2C9243C06995}">
      <dgm:prSet phldrT="[Text]"/>
      <dgm:spPr/>
      <dgm:t>
        <a:bodyPr/>
        <a:lstStyle/>
        <a:p>
          <a:r>
            <a:rPr lang="en-US" dirty="0">
              <a:latin typeface="Arial" panose="020B0604020202020204" pitchFamily="34" charset="0"/>
              <a:cs typeface="Arial" panose="020B0604020202020204" pitchFamily="34" charset="0"/>
            </a:rPr>
            <a:t>Relevant</a:t>
          </a:r>
        </a:p>
      </dgm:t>
    </dgm:pt>
    <dgm:pt modelId="{04EE9C2A-122C-4EEB-A277-42D51E026D7D}" type="parTrans" cxnId="{64BC3C38-28C8-4ED8-B607-41BE000CAD87}">
      <dgm:prSet/>
      <dgm:spPr/>
      <dgm:t>
        <a:bodyPr/>
        <a:lstStyle/>
        <a:p>
          <a:endParaRPr lang="en-US"/>
        </a:p>
      </dgm:t>
    </dgm:pt>
    <dgm:pt modelId="{497D313E-D832-4341-B169-B5F46C2FEDF6}" type="sibTrans" cxnId="{64BC3C38-28C8-4ED8-B607-41BE000CAD87}">
      <dgm:prSet/>
      <dgm:spPr/>
      <dgm:t>
        <a:bodyPr/>
        <a:lstStyle/>
        <a:p>
          <a:endParaRPr lang="en-US"/>
        </a:p>
      </dgm:t>
    </dgm:pt>
    <dgm:pt modelId="{332398E2-39C5-4FCE-B71B-160E6EBFFDBB}">
      <dgm:prSet phldrT="[Text]"/>
      <dgm:spPr/>
      <dgm:t>
        <a:bodyPr/>
        <a:lstStyle/>
        <a:p>
          <a:r>
            <a:rPr lang="en-US" dirty="0">
              <a:latin typeface="Arial" panose="020B0604020202020204" pitchFamily="34" charset="0"/>
              <a:cs typeface="Arial" panose="020B0604020202020204" pitchFamily="34" charset="0"/>
            </a:rPr>
            <a:t>Faithful representation</a:t>
          </a:r>
        </a:p>
      </dgm:t>
    </dgm:pt>
    <dgm:pt modelId="{A4B80F99-6B54-4657-B82C-CC6AFA65EBF6}" type="parTrans" cxnId="{7771762F-5C2C-4830-A212-23FEE69529BF}">
      <dgm:prSet/>
      <dgm:spPr/>
      <dgm:t>
        <a:bodyPr/>
        <a:lstStyle/>
        <a:p>
          <a:endParaRPr lang="en-US"/>
        </a:p>
      </dgm:t>
    </dgm:pt>
    <dgm:pt modelId="{395DE3B1-0894-4D0E-8600-485502612E9A}" type="sibTrans" cxnId="{7771762F-5C2C-4830-A212-23FEE69529BF}">
      <dgm:prSet/>
      <dgm:spPr/>
      <dgm:t>
        <a:bodyPr/>
        <a:lstStyle/>
        <a:p>
          <a:endParaRPr lang="en-US"/>
        </a:p>
      </dgm:t>
    </dgm:pt>
    <dgm:pt modelId="{01F031B9-DC0F-46AA-8A12-ECDA9297CA83}" type="pres">
      <dgm:prSet presAssocID="{473BD63C-D928-4CEE-9252-97D17599777B}" presName="hierChild1" presStyleCnt="0">
        <dgm:presLayoutVars>
          <dgm:orgChart val="1"/>
          <dgm:chPref val="1"/>
          <dgm:dir/>
          <dgm:animOne val="branch"/>
          <dgm:animLvl val="lvl"/>
          <dgm:resizeHandles/>
        </dgm:presLayoutVars>
      </dgm:prSet>
      <dgm:spPr/>
    </dgm:pt>
    <dgm:pt modelId="{33C6DE3E-0C11-4232-B529-9606036283F3}" type="pres">
      <dgm:prSet presAssocID="{51B6C9BF-C907-4A1A-BEB5-55B5B242A7C5}" presName="hierRoot1" presStyleCnt="0">
        <dgm:presLayoutVars>
          <dgm:hierBranch val="init"/>
        </dgm:presLayoutVars>
      </dgm:prSet>
      <dgm:spPr/>
    </dgm:pt>
    <dgm:pt modelId="{D44641CE-3B36-46CB-9297-C740F42AFCC5}" type="pres">
      <dgm:prSet presAssocID="{51B6C9BF-C907-4A1A-BEB5-55B5B242A7C5}" presName="rootComposite1" presStyleCnt="0"/>
      <dgm:spPr/>
    </dgm:pt>
    <dgm:pt modelId="{5362F443-48E4-4083-944F-584107DC23E2}" type="pres">
      <dgm:prSet presAssocID="{51B6C9BF-C907-4A1A-BEB5-55B5B242A7C5}" presName="rootText1" presStyleLbl="node0" presStyleIdx="0" presStyleCnt="1" custScaleX="221107" custScaleY="118810">
        <dgm:presLayoutVars>
          <dgm:chPref val="3"/>
        </dgm:presLayoutVars>
      </dgm:prSet>
      <dgm:spPr/>
    </dgm:pt>
    <dgm:pt modelId="{A69CE705-D2C1-4FB7-9D82-13179DDD0D0D}" type="pres">
      <dgm:prSet presAssocID="{51B6C9BF-C907-4A1A-BEB5-55B5B242A7C5}" presName="rootConnector1" presStyleLbl="node1" presStyleIdx="0" presStyleCnt="0"/>
      <dgm:spPr/>
    </dgm:pt>
    <dgm:pt modelId="{D31165BE-2FD7-465F-B4E5-358F38452786}" type="pres">
      <dgm:prSet presAssocID="{51B6C9BF-C907-4A1A-BEB5-55B5B242A7C5}" presName="hierChild2" presStyleCnt="0"/>
      <dgm:spPr/>
    </dgm:pt>
    <dgm:pt modelId="{E0243003-B7BE-4198-A663-9EEF569B151C}" type="pres">
      <dgm:prSet presAssocID="{04EE9C2A-122C-4EEB-A277-42D51E026D7D}" presName="Name37" presStyleLbl="parChTrans1D2" presStyleIdx="0" presStyleCnt="2"/>
      <dgm:spPr/>
    </dgm:pt>
    <dgm:pt modelId="{6C743357-80C1-4620-A923-0A1A82CC47A8}" type="pres">
      <dgm:prSet presAssocID="{40340553-38B4-4097-9E35-2C9243C06995}" presName="hierRoot2" presStyleCnt="0">
        <dgm:presLayoutVars>
          <dgm:hierBranch val="init"/>
        </dgm:presLayoutVars>
      </dgm:prSet>
      <dgm:spPr/>
    </dgm:pt>
    <dgm:pt modelId="{8BDD38BD-4480-491F-B18B-2DC9755A9E33}" type="pres">
      <dgm:prSet presAssocID="{40340553-38B4-4097-9E35-2C9243C06995}" presName="rootComposite" presStyleCnt="0"/>
      <dgm:spPr/>
    </dgm:pt>
    <dgm:pt modelId="{615A075C-5679-4F17-9C0C-E8CA6C81D258}" type="pres">
      <dgm:prSet presAssocID="{40340553-38B4-4097-9E35-2C9243C06995}" presName="rootText" presStyleLbl="node2" presStyleIdx="0" presStyleCnt="2" custScaleX="82361">
        <dgm:presLayoutVars>
          <dgm:chPref val="3"/>
        </dgm:presLayoutVars>
      </dgm:prSet>
      <dgm:spPr/>
    </dgm:pt>
    <dgm:pt modelId="{3B125293-33CE-4388-9917-3A2EEDD5E9A5}" type="pres">
      <dgm:prSet presAssocID="{40340553-38B4-4097-9E35-2C9243C06995}" presName="rootConnector" presStyleLbl="node2" presStyleIdx="0" presStyleCnt="2"/>
      <dgm:spPr/>
    </dgm:pt>
    <dgm:pt modelId="{1E283944-4FF0-45AB-9DAA-ED457C9C99C0}" type="pres">
      <dgm:prSet presAssocID="{40340553-38B4-4097-9E35-2C9243C06995}" presName="hierChild4" presStyleCnt="0"/>
      <dgm:spPr/>
    </dgm:pt>
    <dgm:pt modelId="{A30F7152-7613-4EC6-A393-BA3823EA3386}" type="pres">
      <dgm:prSet presAssocID="{40340553-38B4-4097-9E35-2C9243C06995}" presName="hierChild5" presStyleCnt="0"/>
      <dgm:spPr/>
    </dgm:pt>
    <dgm:pt modelId="{9F4A95C0-8A4F-4968-BC97-F10874EAD0EE}" type="pres">
      <dgm:prSet presAssocID="{A4B80F99-6B54-4657-B82C-CC6AFA65EBF6}" presName="Name37" presStyleLbl="parChTrans1D2" presStyleIdx="1" presStyleCnt="2"/>
      <dgm:spPr/>
    </dgm:pt>
    <dgm:pt modelId="{51D0AD8E-C3A7-4F2E-863A-31E9124F2AF1}" type="pres">
      <dgm:prSet presAssocID="{332398E2-39C5-4FCE-B71B-160E6EBFFDBB}" presName="hierRoot2" presStyleCnt="0">
        <dgm:presLayoutVars>
          <dgm:hierBranch val="init"/>
        </dgm:presLayoutVars>
      </dgm:prSet>
      <dgm:spPr/>
    </dgm:pt>
    <dgm:pt modelId="{9E2E50C9-CB64-45A3-BE93-37266A398FEF}" type="pres">
      <dgm:prSet presAssocID="{332398E2-39C5-4FCE-B71B-160E6EBFFDBB}" presName="rootComposite" presStyleCnt="0"/>
      <dgm:spPr/>
    </dgm:pt>
    <dgm:pt modelId="{09470604-FBED-4348-A919-22CB5EBC2646}" type="pres">
      <dgm:prSet presAssocID="{332398E2-39C5-4FCE-B71B-160E6EBFFDBB}" presName="rootText" presStyleLbl="node2" presStyleIdx="1" presStyleCnt="2" custScaleX="82361">
        <dgm:presLayoutVars>
          <dgm:chPref val="3"/>
        </dgm:presLayoutVars>
      </dgm:prSet>
      <dgm:spPr/>
    </dgm:pt>
    <dgm:pt modelId="{AAB5B4A1-6C44-4E85-9B64-6C7EC6933863}" type="pres">
      <dgm:prSet presAssocID="{332398E2-39C5-4FCE-B71B-160E6EBFFDBB}" presName="rootConnector" presStyleLbl="node2" presStyleIdx="1" presStyleCnt="2"/>
      <dgm:spPr/>
    </dgm:pt>
    <dgm:pt modelId="{6CB7F2AA-719E-4BFB-BA56-62EEEF9F370D}" type="pres">
      <dgm:prSet presAssocID="{332398E2-39C5-4FCE-B71B-160E6EBFFDBB}" presName="hierChild4" presStyleCnt="0"/>
      <dgm:spPr/>
    </dgm:pt>
    <dgm:pt modelId="{2CB275A2-AB60-4CC4-8941-79E529F51F5F}" type="pres">
      <dgm:prSet presAssocID="{332398E2-39C5-4FCE-B71B-160E6EBFFDBB}" presName="hierChild5" presStyleCnt="0"/>
      <dgm:spPr/>
    </dgm:pt>
    <dgm:pt modelId="{82868817-4DBD-4167-BE70-CEEF7FCDC3C7}" type="pres">
      <dgm:prSet presAssocID="{51B6C9BF-C907-4A1A-BEB5-55B5B242A7C5}" presName="hierChild3" presStyleCnt="0"/>
      <dgm:spPr/>
    </dgm:pt>
  </dgm:ptLst>
  <dgm:cxnLst>
    <dgm:cxn modelId="{4B99E003-3C00-4EFD-835E-92D093631C1C}" srcId="{473BD63C-D928-4CEE-9252-97D17599777B}" destId="{51B6C9BF-C907-4A1A-BEB5-55B5B242A7C5}" srcOrd="0" destOrd="0" parTransId="{222BB452-137B-4483-AA4F-6B6982F2799A}" sibTransId="{28BF20A5-95AE-4677-A1F1-F08B01EA5E53}"/>
    <dgm:cxn modelId="{0EB6FF16-7433-490B-90E2-780F42950921}" type="presOf" srcId="{04EE9C2A-122C-4EEB-A277-42D51E026D7D}" destId="{E0243003-B7BE-4198-A663-9EEF569B151C}" srcOrd="0" destOrd="0" presId="urn:microsoft.com/office/officeart/2005/8/layout/orgChart1"/>
    <dgm:cxn modelId="{7771762F-5C2C-4830-A212-23FEE69529BF}" srcId="{51B6C9BF-C907-4A1A-BEB5-55B5B242A7C5}" destId="{332398E2-39C5-4FCE-B71B-160E6EBFFDBB}" srcOrd="1" destOrd="0" parTransId="{A4B80F99-6B54-4657-B82C-CC6AFA65EBF6}" sibTransId="{395DE3B1-0894-4D0E-8600-485502612E9A}"/>
    <dgm:cxn modelId="{64BC3C38-28C8-4ED8-B607-41BE000CAD87}" srcId="{51B6C9BF-C907-4A1A-BEB5-55B5B242A7C5}" destId="{40340553-38B4-4097-9E35-2C9243C06995}" srcOrd="0" destOrd="0" parTransId="{04EE9C2A-122C-4EEB-A277-42D51E026D7D}" sibTransId="{497D313E-D832-4341-B169-B5F46C2FEDF6}"/>
    <dgm:cxn modelId="{988BB54F-4F0C-484D-B107-37E6D5E86456}" type="presOf" srcId="{51B6C9BF-C907-4A1A-BEB5-55B5B242A7C5}" destId="{5362F443-48E4-4083-944F-584107DC23E2}" srcOrd="0" destOrd="0" presId="urn:microsoft.com/office/officeart/2005/8/layout/orgChart1"/>
    <dgm:cxn modelId="{CADB4270-0BD9-4003-A41F-DDD5FBB48193}" type="presOf" srcId="{40340553-38B4-4097-9E35-2C9243C06995}" destId="{615A075C-5679-4F17-9C0C-E8CA6C81D258}" srcOrd="0" destOrd="0" presId="urn:microsoft.com/office/officeart/2005/8/layout/orgChart1"/>
    <dgm:cxn modelId="{C0A83DC1-C6AE-4F44-ACF0-2044E407BF47}" type="presOf" srcId="{51B6C9BF-C907-4A1A-BEB5-55B5B242A7C5}" destId="{A69CE705-D2C1-4FB7-9D82-13179DDD0D0D}" srcOrd="1" destOrd="0" presId="urn:microsoft.com/office/officeart/2005/8/layout/orgChart1"/>
    <dgm:cxn modelId="{89E9FED6-FD53-400A-8918-4F9C4C790C1B}" type="presOf" srcId="{332398E2-39C5-4FCE-B71B-160E6EBFFDBB}" destId="{AAB5B4A1-6C44-4E85-9B64-6C7EC6933863}" srcOrd="1" destOrd="0" presId="urn:microsoft.com/office/officeart/2005/8/layout/orgChart1"/>
    <dgm:cxn modelId="{8D20D9EF-4959-4E47-AEFD-5A7A0CE0DC48}" type="presOf" srcId="{332398E2-39C5-4FCE-B71B-160E6EBFFDBB}" destId="{09470604-FBED-4348-A919-22CB5EBC2646}" srcOrd="0" destOrd="0" presId="urn:microsoft.com/office/officeart/2005/8/layout/orgChart1"/>
    <dgm:cxn modelId="{BDEBE3EF-D68C-4274-9E5B-2364A17089D3}" type="presOf" srcId="{473BD63C-D928-4CEE-9252-97D17599777B}" destId="{01F031B9-DC0F-46AA-8A12-ECDA9297CA83}" srcOrd="0" destOrd="0" presId="urn:microsoft.com/office/officeart/2005/8/layout/orgChart1"/>
    <dgm:cxn modelId="{CECAE5F0-D88C-46EF-B1AE-9F9A2C1F3DA4}" type="presOf" srcId="{40340553-38B4-4097-9E35-2C9243C06995}" destId="{3B125293-33CE-4388-9917-3A2EEDD5E9A5}" srcOrd="1" destOrd="0" presId="urn:microsoft.com/office/officeart/2005/8/layout/orgChart1"/>
    <dgm:cxn modelId="{069FB1F6-EC4D-4973-9615-9EBDC78EDD49}" type="presOf" srcId="{A4B80F99-6B54-4657-B82C-CC6AFA65EBF6}" destId="{9F4A95C0-8A4F-4968-BC97-F10874EAD0EE}" srcOrd="0" destOrd="0" presId="urn:microsoft.com/office/officeart/2005/8/layout/orgChart1"/>
    <dgm:cxn modelId="{49422F39-5E38-4964-9011-E1B19FC7F656}" type="presParOf" srcId="{01F031B9-DC0F-46AA-8A12-ECDA9297CA83}" destId="{33C6DE3E-0C11-4232-B529-9606036283F3}" srcOrd="0" destOrd="0" presId="urn:microsoft.com/office/officeart/2005/8/layout/orgChart1"/>
    <dgm:cxn modelId="{FB5C970E-7340-47B5-AE3A-243B7D95D60A}" type="presParOf" srcId="{33C6DE3E-0C11-4232-B529-9606036283F3}" destId="{D44641CE-3B36-46CB-9297-C740F42AFCC5}" srcOrd="0" destOrd="0" presId="urn:microsoft.com/office/officeart/2005/8/layout/orgChart1"/>
    <dgm:cxn modelId="{7971288F-AA8D-45B9-99C5-64EF057728BB}" type="presParOf" srcId="{D44641CE-3B36-46CB-9297-C740F42AFCC5}" destId="{5362F443-48E4-4083-944F-584107DC23E2}" srcOrd="0" destOrd="0" presId="urn:microsoft.com/office/officeart/2005/8/layout/orgChart1"/>
    <dgm:cxn modelId="{D02CCD7C-B041-4F7B-BFBE-92DCDE9683BD}" type="presParOf" srcId="{D44641CE-3B36-46CB-9297-C740F42AFCC5}" destId="{A69CE705-D2C1-4FB7-9D82-13179DDD0D0D}" srcOrd="1" destOrd="0" presId="urn:microsoft.com/office/officeart/2005/8/layout/orgChart1"/>
    <dgm:cxn modelId="{A4F20437-5F34-4E0B-9D8F-CEB9707819BE}" type="presParOf" srcId="{33C6DE3E-0C11-4232-B529-9606036283F3}" destId="{D31165BE-2FD7-465F-B4E5-358F38452786}" srcOrd="1" destOrd="0" presId="urn:microsoft.com/office/officeart/2005/8/layout/orgChart1"/>
    <dgm:cxn modelId="{5EC31F21-EF02-4000-BD87-333074885782}" type="presParOf" srcId="{D31165BE-2FD7-465F-B4E5-358F38452786}" destId="{E0243003-B7BE-4198-A663-9EEF569B151C}" srcOrd="0" destOrd="0" presId="urn:microsoft.com/office/officeart/2005/8/layout/orgChart1"/>
    <dgm:cxn modelId="{DACF6C12-589E-4D91-AC94-776540FBDF7F}" type="presParOf" srcId="{D31165BE-2FD7-465F-B4E5-358F38452786}" destId="{6C743357-80C1-4620-A923-0A1A82CC47A8}" srcOrd="1" destOrd="0" presId="urn:microsoft.com/office/officeart/2005/8/layout/orgChart1"/>
    <dgm:cxn modelId="{72921A4B-C268-4C88-9BB9-020CB74DE537}" type="presParOf" srcId="{6C743357-80C1-4620-A923-0A1A82CC47A8}" destId="{8BDD38BD-4480-491F-B18B-2DC9755A9E33}" srcOrd="0" destOrd="0" presId="urn:microsoft.com/office/officeart/2005/8/layout/orgChart1"/>
    <dgm:cxn modelId="{580542C5-AB69-4EDA-95C3-B6F00F1D1FF7}" type="presParOf" srcId="{8BDD38BD-4480-491F-B18B-2DC9755A9E33}" destId="{615A075C-5679-4F17-9C0C-E8CA6C81D258}" srcOrd="0" destOrd="0" presId="urn:microsoft.com/office/officeart/2005/8/layout/orgChart1"/>
    <dgm:cxn modelId="{EAC20CD6-6CC8-4DB4-BD34-D1236574F570}" type="presParOf" srcId="{8BDD38BD-4480-491F-B18B-2DC9755A9E33}" destId="{3B125293-33CE-4388-9917-3A2EEDD5E9A5}" srcOrd="1" destOrd="0" presId="urn:microsoft.com/office/officeart/2005/8/layout/orgChart1"/>
    <dgm:cxn modelId="{42A9BB9E-D339-4B4C-827B-BAD37BF983B8}" type="presParOf" srcId="{6C743357-80C1-4620-A923-0A1A82CC47A8}" destId="{1E283944-4FF0-45AB-9DAA-ED457C9C99C0}" srcOrd="1" destOrd="0" presId="urn:microsoft.com/office/officeart/2005/8/layout/orgChart1"/>
    <dgm:cxn modelId="{8566D2A8-974B-4C43-86E6-C6315B642D78}" type="presParOf" srcId="{6C743357-80C1-4620-A923-0A1A82CC47A8}" destId="{A30F7152-7613-4EC6-A393-BA3823EA3386}" srcOrd="2" destOrd="0" presId="urn:microsoft.com/office/officeart/2005/8/layout/orgChart1"/>
    <dgm:cxn modelId="{4220FCA7-CED7-4858-B8BB-FE7952CDD01A}" type="presParOf" srcId="{D31165BE-2FD7-465F-B4E5-358F38452786}" destId="{9F4A95C0-8A4F-4968-BC97-F10874EAD0EE}" srcOrd="2" destOrd="0" presId="urn:microsoft.com/office/officeart/2005/8/layout/orgChart1"/>
    <dgm:cxn modelId="{0DB7AF0F-D684-403C-A693-FFD9B79D5E8D}" type="presParOf" srcId="{D31165BE-2FD7-465F-B4E5-358F38452786}" destId="{51D0AD8E-C3A7-4F2E-863A-31E9124F2AF1}" srcOrd="3" destOrd="0" presId="urn:microsoft.com/office/officeart/2005/8/layout/orgChart1"/>
    <dgm:cxn modelId="{D18AC8CB-96CA-41A8-9290-42365BD0C557}" type="presParOf" srcId="{51D0AD8E-C3A7-4F2E-863A-31E9124F2AF1}" destId="{9E2E50C9-CB64-45A3-BE93-37266A398FEF}" srcOrd="0" destOrd="0" presId="urn:microsoft.com/office/officeart/2005/8/layout/orgChart1"/>
    <dgm:cxn modelId="{81C8D36B-8744-44AB-B058-C8C1D59A47B2}" type="presParOf" srcId="{9E2E50C9-CB64-45A3-BE93-37266A398FEF}" destId="{09470604-FBED-4348-A919-22CB5EBC2646}" srcOrd="0" destOrd="0" presId="urn:microsoft.com/office/officeart/2005/8/layout/orgChart1"/>
    <dgm:cxn modelId="{E2D3110B-9DF7-43E2-B6D4-B62FDEA95754}" type="presParOf" srcId="{9E2E50C9-CB64-45A3-BE93-37266A398FEF}" destId="{AAB5B4A1-6C44-4E85-9B64-6C7EC6933863}" srcOrd="1" destOrd="0" presId="urn:microsoft.com/office/officeart/2005/8/layout/orgChart1"/>
    <dgm:cxn modelId="{4784A41A-0364-4754-A5FC-5383C3E580AD}" type="presParOf" srcId="{51D0AD8E-C3A7-4F2E-863A-31E9124F2AF1}" destId="{6CB7F2AA-719E-4BFB-BA56-62EEEF9F370D}" srcOrd="1" destOrd="0" presId="urn:microsoft.com/office/officeart/2005/8/layout/orgChart1"/>
    <dgm:cxn modelId="{44E134F5-A88C-4331-98C3-B2B70F78EC1F}" type="presParOf" srcId="{51D0AD8E-C3A7-4F2E-863A-31E9124F2AF1}" destId="{2CB275A2-AB60-4CC4-8941-79E529F51F5F}" srcOrd="2" destOrd="0" presId="urn:microsoft.com/office/officeart/2005/8/layout/orgChart1"/>
    <dgm:cxn modelId="{F0A8241B-6EF6-4F0B-972A-EAB4AB41B322}" type="presParOf" srcId="{33C6DE3E-0C11-4232-B529-9606036283F3}" destId="{82868817-4DBD-4167-BE70-CEEF7FCDC3C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ED9CC2-1D25-4C33-8401-84C906E0323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B7C51A84-0A8C-4F40-B5AC-6BE840F08988}">
      <dgm:prSet phldrT="[Text]" custT="1"/>
      <dgm:spPr/>
      <dgm:t>
        <a:bodyPr/>
        <a:lstStyle/>
        <a:p>
          <a:r>
            <a:rPr lang="en-US" sz="4000" b="1" dirty="0">
              <a:latin typeface="Arial" panose="020B0604020202020204" pitchFamily="34" charset="0"/>
              <a:cs typeface="Arial" panose="020B0604020202020204" pitchFamily="34" charset="0"/>
            </a:rPr>
            <a:t>RELEVANT</a:t>
          </a:r>
        </a:p>
        <a:p>
          <a:r>
            <a:rPr lang="en-US" sz="2000" dirty="0">
              <a:latin typeface="Arial" panose="020B0604020202020204" pitchFamily="34" charset="0"/>
              <a:cs typeface="Arial" panose="020B0604020202020204" pitchFamily="34" charset="0"/>
            </a:rPr>
            <a:t>(Can influence users’ economic decisions) </a:t>
          </a:r>
        </a:p>
      </dgm:t>
    </dgm:pt>
    <dgm:pt modelId="{F6B4BAD0-7052-4706-A6B1-76D09CF6040F}" type="parTrans" cxnId="{9768E221-1AEB-42CA-9C5C-2EE9B4425F31}">
      <dgm:prSet/>
      <dgm:spPr/>
      <dgm:t>
        <a:bodyPr/>
        <a:lstStyle/>
        <a:p>
          <a:endParaRPr lang="en-US">
            <a:latin typeface="Arial" panose="020B0604020202020204" pitchFamily="34" charset="0"/>
            <a:cs typeface="Arial" panose="020B0604020202020204" pitchFamily="34" charset="0"/>
          </a:endParaRPr>
        </a:p>
      </dgm:t>
    </dgm:pt>
    <dgm:pt modelId="{2232A2F2-C8C1-4F4D-B53B-82BC608559E2}" type="sibTrans" cxnId="{9768E221-1AEB-42CA-9C5C-2EE9B4425F31}">
      <dgm:prSet/>
      <dgm:spPr/>
      <dgm:t>
        <a:bodyPr/>
        <a:lstStyle/>
        <a:p>
          <a:endParaRPr lang="en-US">
            <a:latin typeface="Arial" panose="020B0604020202020204" pitchFamily="34" charset="0"/>
            <a:cs typeface="Arial" panose="020B0604020202020204" pitchFamily="34" charset="0"/>
          </a:endParaRPr>
        </a:p>
      </dgm:t>
    </dgm:pt>
    <dgm:pt modelId="{D0F844E8-62E0-4460-9DC2-8CF0EEC23A33}">
      <dgm:prSet phldrT="[Text]" custT="1"/>
      <dgm:spPr/>
      <dgm:t>
        <a:bodyPr/>
        <a:lstStyle/>
        <a:p>
          <a:r>
            <a:rPr lang="en-US" sz="3000" dirty="0">
              <a:latin typeface="Arial" panose="020B0604020202020204" pitchFamily="34" charset="0"/>
              <a:cs typeface="Arial" panose="020B0604020202020204" pitchFamily="34" charset="0"/>
            </a:rPr>
            <a:t>Predictive value</a:t>
          </a:r>
        </a:p>
        <a:p>
          <a:r>
            <a:rPr lang="en-US" sz="1800" dirty="0">
              <a:latin typeface="Arial" panose="020B0604020202020204" pitchFamily="34" charset="0"/>
              <a:cs typeface="Arial" panose="020B0604020202020204" pitchFamily="34" charset="0"/>
            </a:rPr>
            <a:t>(</a:t>
          </a:r>
          <a:r>
            <a:rPr lang="en-ZA" sz="1800" dirty="0">
              <a:latin typeface="Arial" panose="020B0604020202020204" pitchFamily="34" charset="0"/>
              <a:cs typeface="Arial" panose="020B0604020202020204" pitchFamily="34" charset="0"/>
            </a:rPr>
            <a:t>can be used as an input to processes employed by users to predict future outcomes)</a:t>
          </a:r>
          <a:endParaRPr lang="en-US" sz="1800" dirty="0">
            <a:latin typeface="Arial" panose="020B0604020202020204" pitchFamily="34" charset="0"/>
            <a:cs typeface="Arial" panose="020B0604020202020204" pitchFamily="34" charset="0"/>
          </a:endParaRPr>
        </a:p>
      </dgm:t>
    </dgm:pt>
    <dgm:pt modelId="{9872C98F-DD41-45EA-83D1-2A5D6A6F49FD}" type="parTrans" cxnId="{BC2512CF-CBEE-4ED8-8D14-6EA0C73A81B1}">
      <dgm:prSet/>
      <dgm:spPr/>
      <dgm:t>
        <a:bodyPr/>
        <a:lstStyle/>
        <a:p>
          <a:endParaRPr lang="en-US">
            <a:latin typeface="Arial" panose="020B0604020202020204" pitchFamily="34" charset="0"/>
            <a:cs typeface="Arial" panose="020B0604020202020204" pitchFamily="34" charset="0"/>
          </a:endParaRPr>
        </a:p>
      </dgm:t>
    </dgm:pt>
    <dgm:pt modelId="{CD08055E-7FC4-45F3-995D-8F4F16EBA503}" type="sibTrans" cxnId="{BC2512CF-CBEE-4ED8-8D14-6EA0C73A81B1}">
      <dgm:prSet/>
      <dgm:spPr/>
      <dgm:t>
        <a:bodyPr/>
        <a:lstStyle/>
        <a:p>
          <a:endParaRPr lang="en-US">
            <a:latin typeface="Arial" panose="020B0604020202020204" pitchFamily="34" charset="0"/>
            <a:cs typeface="Arial" panose="020B0604020202020204" pitchFamily="34" charset="0"/>
          </a:endParaRPr>
        </a:p>
      </dgm:t>
    </dgm:pt>
    <dgm:pt modelId="{C6533F8E-98B1-42A6-ACB8-92DABCFCC2B1}">
      <dgm:prSet phldrT="[Text]" custT="1"/>
      <dgm:spPr/>
      <dgm:t>
        <a:bodyPr/>
        <a:lstStyle/>
        <a:p>
          <a:r>
            <a:rPr lang="en-US" sz="3000" dirty="0">
              <a:latin typeface="Arial" panose="020B0604020202020204" pitchFamily="34" charset="0"/>
              <a:cs typeface="Arial" panose="020B0604020202020204" pitchFamily="34" charset="0"/>
            </a:rPr>
            <a:t>Confirmatory value</a:t>
          </a:r>
        </a:p>
        <a:p>
          <a:r>
            <a:rPr lang="en-US" sz="1800" dirty="0">
              <a:latin typeface="Arial" panose="020B0604020202020204" pitchFamily="34" charset="0"/>
              <a:cs typeface="Arial" panose="020B0604020202020204" pitchFamily="34" charset="0"/>
            </a:rPr>
            <a:t>(</a:t>
          </a:r>
          <a:r>
            <a:rPr lang="en-ZA" sz="1800" dirty="0">
              <a:latin typeface="Arial" panose="020B0604020202020204" pitchFamily="34" charset="0"/>
              <a:cs typeface="Arial" panose="020B0604020202020204" pitchFamily="34" charset="0"/>
            </a:rPr>
            <a:t>provides feedback about (confirms or changes) </a:t>
          </a:r>
          <a:r>
            <a:rPr lang="en-US" sz="1800" dirty="0">
              <a:latin typeface="Arial" panose="020B0604020202020204" pitchFamily="34" charset="0"/>
              <a:cs typeface="Arial" panose="020B0604020202020204" pitchFamily="34" charset="0"/>
            </a:rPr>
            <a:t>previous evaluations)</a:t>
          </a:r>
        </a:p>
      </dgm:t>
    </dgm:pt>
    <dgm:pt modelId="{0AE68570-0860-48BE-B93A-230E0C69E748}" type="parTrans" cxnId="{25DA32C0-616E-42AE-B140-6A6B09DF92F6}">
      <dgm:prSet/>
      <dgm:spPr/>
      <dgm:t>
        <a:bodyPr/>
        <a:lstStyle/>
        <a:p>
          <a:endParaRPr lang="en-US">
            <a:latin typeface="Arial" panose="020B0604020202020204" pitchFamily="34" charset="0"/>
            <a:cs typeface="Arial" panose="020B0604020202020204" pitchFamily="34" charset="0"/>
          </a:endParaRPr>
        </a:p>
      </dgm:t>
    </dgm:pt>
    <dgm:pt modelId="{1F876C12-9005-4FDD-986E-476EE9A01A8F}" type="sibTrans" cxnId="{25DA32C0-616E-42AE-B140-6A6B09DF92F6}">
      <dgm:prSet/>
      <dgm:spPr/>
      <dgm:t>
        <a:bodyPr/>
        <a:lstStyle/>
        <a:p>
          <a:endParaRPr lang="en-US">
            <a:latin typeface="Arial" panose="020B0604020202020204" pitchFamily="34" charset="0"/>
            <a:cs typeface="Arial" panose="020B0604020202020204" pitchFamily="34" charset="0"/>
          </a:endParaRPr>
        </a:p>
      </dgm:t>
    </dgm:pt>
    <dgm:pt modelId="{C5F7F396-BAE1-4A0C-9D9D-E63DA982D8C0}" type="pres">
      <dgm:prSet presAssocID="{FBED9CC2-1D25-4C33-8401-84C906E03235}" presName="hierChild1" presStyleCnt="0">
        <dgm:presLayoutVars>
          <dgm:orgChart val="1"/>
          <dgm:chPref val="1"/>
          <dgm:dir/>
          <dgm:animOne val="branch"/>
          <dgm:animLvl val="lvl"/>
          <dgm:resizeHandles/>
        </dgm:presLayoutVars>
      </dgm:prSet>
      <dgm:spPr/>
    </dgm:pt>
    <dgm:pt modelId="{B0B222B3-C6BC-41CF-AA70-98AF2EFAED30}" type="pres">
      <dgm:prSet presAssocID="{B7C51A84-0A8C-4F40-B5AC-6BE840F08988}" presName="hierRoot1" presStyleCnt="0">
        <dgm:presLayoutVars>
          <dgm:hierBranch val="init"/>
        </dgm:presLayoutVars>
      </dgm:prSet>
      <dgm:spPr/>
    </dgm:pt>
    <dgm:pt modelId="{96A8A48D-87CD-4D86-A6D5-4149A4FEA884}" type="pres">
      <dgm:prSet presAssocID="{B7C51A84-0A8C-4F40-B5AC-6BE840F08988}" presName="rootComposite1" presStyleCnt="0"/>
      <dgm:spPr/>
    </dgm:pt>
    <dgm:pt modelId="{0A2F8390-BA39-4145-B408-672FB07DEBB8}" type="pres">
      <dgm:prSet presAssocID="{B7C51A84-0A8C-4F40-B5AC-6BE840F08988}" presName="rootText1" presStyleLbl="node0" presStyleIdx="0" presStyleCnt="1" custScaleY="91175">
        <dgm:presLayoutVars>
          <dgm:chPref val="3"/>
        </dgm:presLayoutVars>
      </dgm:prSet>
      <dgm:spPr/>
    </dgm:pt>
    <dgm:pt modelId="{4097AEE4-C9AD-48D0-A0E7-D3F85E81D4E3}" type="pres">
      <dgm:prSet presAssocID="{B7C51A84-0A8C-4F40-B5AC-6BE840F08988}" presName="rootConnector1" presStyleLbl="node1" presStyleIdx="0" presStyleCnt="0"/>
      <dgm:spPr/>
    </dgm:pt>
    <dgm:pt modelId="{9702AA5E-7D87-4340-94FB-401DDF70C402}" type="pres">
      <dgm:prSet presAssocID="{B7C51A84-0A8C-4F40-B5AC-6BE840F08988}" presName="hierChild2" presStyleCnt="0"/>
      <dgm:spPr/>
    </dgm:pt>
    <dgm:pt modelId="{F999360E-1F0F-4947-A671-43013B37E87B}" type="pres">
      <dgm:prSet presAssocID="{9872C98F-DD41-45EA-83D1-2A5D6A6F49FD}" presName="Name37" presStyleLbl="parChTrans1D2" presStyleIdx="0" presStyleCnt="2"/>
      <dgm:spPr/>
    </dgm:pt>
    <dgm:pt modelId="{A4D440EB-5A44-41C5-B92F-4E1F00BCBF77}" type="pres">
      <dgm:prSet presAssocID="{D0F844E8-62E0-4460-9DC2-8CF0EEC23A33}" presName="hierRoot2" presStyleCnt="0">
        <dgm:presLayoutVars>
          <dgm:hierBranch val="init"/>
        </dgm:presLayoutVars>
      </dgm:prSet>
      <dgm:spPr/>
    </dgm:pt>
    <dgm:pt modelId="{6A0FF549-16DF-4BF5-B194-4D89D3946F3C}" type="pres">
      <dgm:prSet presAssocID="{D0F844E8-62E0-4460-9DC2-8CF0EEC23A33}" presName="rootComposite" presStyleCnt="0"/>
      <dgm:spPr/>
    </dgm:pt>
    <dgm:pt modelId="{53807871-7209-4960-82D1-8D91D6F584B8}" type="pres">
      <dgm:prSet presAssocID="{D0F844E8-62E0-4460-9DC2-8CF0EEC23A33}" presName="rootText" presStyleLbl="node2" presStyleIdx="0" presStyleCnt="2" custScaleY="89485">
        <dgm:presLayoutVars>
          <dgm:chPref val="3"/>
        </dgm:presLayoutVars>
      </dgm:prSet>
      <dgm:spPr/>
    </dgm:pt>
    <dgm:pt modelId="{C34EB4F4-9103-4F46-A759-6DD05A904226}" type="pres">
      <dgm:prSet presAssocID="{D0F844E8-62E0-4460-9DC2-8CF0EEC23A33}" presName="rootConnector" presStyleLbl="node2" presStyleIdx="0" presStyleCnt="2"/>
      <dgm:spPr/>
    </dgm:pt>
    <dgm:pt modelId="{D3519133-E76B-4A49-B53C-D465EA2F1BA1}" type="pres">
      <dgm:prSet presAssocID="{D0F844E8-62E0-4460-9DC2-8CF0EEC23A33}" presName="hierChild4" presStyleCnt="0"/>
      <dgm:spPr/>
    </dgm:pt>
    <dgm:pt modelId="{B7902FB6-805B-4A36-B38F-32471060149D}" type="pres">
      <dgm:prSet presAssocID="{D0F844E8-62E0-4460-9DC2-8CF0EEC23A33}" presName="hierChild5" presStyleCnt="0"/>
      <dgm:spPr/>
    </dgm:pt>
    <dgm:pt modelId="{078A6DBA-6C58-4182-ACD2-459F537BBCD3}" type="pres">
      <dgm:prSet presAssocID="{0AE68570-0860-48BE-B93A-230E0C69E748}" presName="Name37" presStyleLbl="parChTrans1D2" presStyleIdx="1" presStyleCnt="2"/>
      <dgm:spPr/>
    </dgm:pt>
    <dgm:pt modelId="{A3C8BA01-8DF1-4B8D-BEBA-B27B0E6EB479}" type="pres">
      <dgm:prSet presAssocID="{C6533F8E-98B1-42A6-ACB8-92DABCFCC2B1}" presName="hierRoot2" presStyleCnt="0">
        <dgm:presLayoutVars>
          <dgm:hierBranch val="init"/>
        </dgm:presLayoutVars>
      </dgm:prSet>
      <dgm:spPr/>
    </dgm:pt>
    <dgm:pt modelId="{F0D60E62-0F0E-429C-AD97-D7F235A05D32}" type="pres">
      <dgm:prSet presAssocID="{C6533F8E-98B1-42A6-ACB8-92DABCFCC2B1}" presName="rootComposite" presStyleCnt="0"/>
      <dgm:spPr/>
    </dgm:pt>
    <dgm:pt modelId="{9F05F74F-71DA-47AE-BCD9-8868F98D9A88}" type="pres">
      <dgm:prSet presAssocID="{C6533F8E-98B1-42A6-ACB8-92DABCFCC2B1}" presName="rootText" presStyleLbl="node2" presStyleIdx="1" presStyleCnt="2" custScaleY="89519">
        <dgm:presLayoutVars>
          <dgm:chPref val="3"/>
        </dgm:presLayoutVars>
      </dgm:prSet>
      <dgm:spPr/>
    </dgm:pt>
    <dgm:pt modelId="{67208BF1-38A6-49CC-AA9A-0FCD40C5432D}" type="pres">
      <dgm:prSet presAssocID="{C6533F8E-98B1-42A6-ACB8-92DABCFCC2B1}" presName="rootConnector" presStyleLbl="node2" presStyleIdx="1" presStyleCnt="2"/>
      <dgm:spPr/>
    </dgm:pt>
    <dgm:pt modelId="{D3845855-A2C8-4E6B-A47C-2737A3E4A81F}" type="pres">
      <dgm:prSet presAssocID="{C6533F8E-98B1-42A6-ACB8-92DABCFCC2B1}" presName="hierChild4" presStyleCnt="0"/>
      <dgm:spPr/>
    </dgm:pt>
    <dgm:pt modelId="{7B9B0797-CECA-407B-836B-F0F5549EC1E1}" type="pres">
      <dgm:prSet presAssocID="{C6533F8E-98B1-42A6-ACB8-92DABCFCC2B1}" presName="hierChild5" presStyleCnt="0"/>
      <dgm:spPr/>
    </dgm:pt>
    <dgm:pt modelId="{B38BC9B6-3707-4B59-B9AE-0CB7B9905C6C}" type="pres">
      <dgm:prSet presAssocID="{B7C51A84-0A8C-4F40-B5AC-6BE840F08988}" presName="hierChild3" presStyleCnt="0"/>
      <dgm:spPr/>
    </dgm:pt>
  </dgm:ptLst>
  <dgm:cxnLst>
    <dgm:cxn modelId="{4232E805-1165-41CD-8820-8C147DDA08BB}" type="presOf" srcId="{C6533F8E-98B1-42A6-ACB8-92DABCFCC2B1}" destId="{9F05F74F-71DA-47AE-BCD9-8868F98D9A88}" srcOrd="0" destOrd="0" presId="urn:microsoft.com/office/officeart/2005/8/layout/orgChart1"/>
    <dgm:cxn modelId="{7F5CB014-C9C2-4F79-B6F8-DAA64A7F011F}" type="presOf" srcId="{D0F844E8-62E0-4460-9DC2-8CF0EEC23A33}" destId="{C34EB4F4-9103-4F46-A759-6DD05A904226}" srcOrd="1" destOrd="0" presId="urn:microsoft.com/office/officeart/2005/8/layout/orgChart1"/>
    <dgm:cxn modelId="{9768E221-1AEB-42CA-9C5C-2EE9B4425F31}" srcId="{FBED9CC2-1D25-4C33-8401-84C906E03235}" destId="{B7C51A84-0A8C-4F40-B5AC-6BE840F08988}" srcOrd="0" destOrd="0" parTransId="{F6B4BAD0-7052-4706-A6B1-76D09CF6040F}" sibTransId="{2232A2F2-C8C1-4F4D-B53B-82BC608559E2}"/>
    <dgm:cxn modelId="{07ABB85C-C838-44E4-BDEE-C52A6617A43E}" type="presOf" srcId="{0AE68570-0860-48BE-B93A-230E0C69E748}" destId="{078A6DBA-6C58-4182-ACD2-459F537BBCD3}" srcOrd="0" destOrd="0" presId="urn:microsoft.com/office/officeart/2005/8/layout/orgChart1"/>
    <dgm:cxn modelId="{ADCF8D60-31C1-46DA-A522-66698670FF86}" type="presOf" srcId="{FBED9CC2-1D25-4C33-8401-84C906E03235}" destId="{C5F7F396-BAE1-4A0C-9D9D-E63DA982D8C0}" srcOrd="0" destOrd="0" presId="urn:microsoft.com/office/officeart/2005/8/layout/orgChart1"/>
    <dgm:cxn modelId="{0B3E5143-71EB-46E3-9ED9-C9D8A77A79B5}" type="presOf" srcId="{D0F844E8-62E0-4460-9DC2-8CF0EEC23A33}" destId="{53807871-7209-4960-82D1-8D91D6F584B8}" srcOrd="0" destOrd="0" presId="urn:microsoft.com/office/officeart/2005/8/layout/orgChart1"/>
    <dgm:cxn modelId="{22B2B371-C30E-41F1-BF0B-DC1991441EDF}" type="presOf" srcId="{B7C51A84-0A8C-4F40-B5AC-6BE840F08988}" destId="{0A2F8390-BA39-4145-B408-672FB07DEBB8}" srcOrd="0" destOrd="0" presId="urn:microsoft.com/office/officeart/2005/8/layout/orgChart1"/>
    <dgm:cxn modelId="{53985577-59C9-4EC5-9B48-6F50C156A7F7}" type="presOf" srcId="{9872C98F-DD41-45EA-83D1-2A5D6A6F49FD}" destId="{F999360E-1F0F-4947-A671-43013B37E87B}" srcOrd="0" destOrd="0" presId="urn:microsoft.com/office/officeart/2005/8/layout/orgChart1"/>
    <dgm:cxn modelId="{1283D0BB-526B-4FD1-9824-F4A1776C5A62}" type="presOf" srcId="{C6533F8E-98B1-42A6-ACB8-92DABCFCC2B1}" destId="{67208BF1-38A6-49CC-AA9A-0FCD40C5432D}" srcOrd="1" destOrd="0" presId="urn:microsoft.com/office/officeart/2005/8/layout/orgChart1"/>
    <dgm:cxn modelId="{25DA32C0-616E-42AE-B140-6A6B09DF92F6}" srcId="{B7C51A84-0A8C-4F40-B5AC-6BE840F08988}" destId="{C6533F8E-98B1-42A6-ACB8-92DABCFCC2B1}" srcOrd="1" destOrd="0" parTransId="{0AE68570-0860-48BE-B93A-230E0C69E748}" sibTransId="{1F876C12-9005-4FDD-986E-476EE9A01A8F}"/>
    <dgm:cxn modelId="{9502EEC1-0348-4E94-B84B-89C8DA7B08C0}" type="presOf" srcId="{B7C51A84-0A8C-4F40-B5AC-6BE840F08988}" destId="{4097AEE4-C9AD-48D0-A0E7-D3F85E81D4E3}" srcOrd="1" destOrd="0" presId="urn:microsoft.com/office/officeart/2005/8/layout/orgChart1"/>
    <dgm:cxn modelId="{BC2512CF-CBEE-4ED8-8D14-6EA0C73A81B1}" srcId="{B7C51A84-0A8C-4F40-B5AC-6BE840F08988}" destId="{D0F844E8-62E0-4460-9DC2-8CF0EEC23A33}" srcOrd="0" destOrd="0" parTransId="{9872C98F-DD41-45EA-83D1-2A5D6A6F49FD}" sibTransId="{CD08055E-7FC4-45F3-995D-8F4F16EBA503}"/>
    <dgm:cxn modelId="{AD749AF0-9B50-44B1-883E-0A069FC51655}" type="presParOf" srcId="{C5F7F396-BAE1-4A0C-9D9D-E63DA982D8C0}" destId="{B0B222B3-C6BC-41CF-AA70-98AF2EFAED30}" srcOrd="0" destOrd="0" presId="urn:microsoft.com/office/officeart/2005/8/layout/orgChart1"/>
    <dgm:cxn modelId="{10BDA3F0-9FF7-458B-A5C4-29AC6639448D}" type="presParOf" srcId="{B0B222B3-C6BC-41CF-AA70-98AF2EFAED30}" destId="{96A8A48D-87CD-4D86-A6D5-4149A4FEA884}" srcOrd="0" destOrd="0" presId="urn:microsoft.com/office/officeart/2005/8/layout/orgChart1"/>
    <dgm:cxn modelId="{3AD5E576-31BD-4D40-9C1E-8B7B1025353F}" type="presParOf" srcId="{96A8A48D-87CD-4D86-A6D5-4149A4FEA884}" destId="{0A2F8390-BA39-4145-B408-672FB07DEBB8}" srcOrd="0" destOrd="0" presId="urn:microsoft.com/office/officeart/2005/8/layout/orgChart1"/>
    <dgm:cxn modelId="{A65F35BB-9489-47A1-ADB1-91B490553C02}" type="presParOf" srcId="{96A8A48D-87CD-4D86-A6D5-4149A4FEA884}" destId="{4097AEE4-C9AD-48D0-A0E7-D3F85E81D4E3}" srcOrd="1" destOrd="0" presId="urn:microsoft.com/office/officeart/2005/8/layout/orgChart1"/>
    <dgm:cxn modelId="{BEBA629B-4B9B-4E4E-8068-D5FAC956E1D5}" type="presParOf" srcId="{B0B222B3-C6BC-41CF-AA70-98AF2EFAED30}" destId="{9702AA5E-7D87-4340-94FB-401DDF70C402}" srcOrd="1" destOrd="0" presId="urn:microsoft.com/office/officeart/2005/8/layout/orgChart1"/>
    <dgm:cxn modelId="{3111D08E-D9B2-453E-9640-3480D4267AD8}" type="presParOf" srcId="{9702AA5E-7D87-4340-94FB-401DDF70C402}" destId="{F999360E-1F0F-4947-A671-43013B37E87B}" srcOrd="0" destOrd="0" presId="urn:microsoft.com/office/officeart/2005/8/layout/orgChart1"/>
    <dgm:cxn modelId="{9FA73DDC-A926-4F7E-B8D2-E245EB72968D}" type="presParOf" srcId="{9702AA5E-7D87-4340-94FB-401DDF70C402}" destId="{A4D440EB-5A44-41C5-B92F-4E1F00BCBF77}" srcOrd="1" destOrd="0" presId="urn:microsoft.com/office/officeart/2005/8/layout/orgChart1"/>
    <dgm:cxn modelId="{8F5C798E-D8D4-4934-A2A1-9B1A11F8AB11}" type="presParOf" srcId="{A4D440EB-5A44-41C5-B92F-4E1F00BCBF77}" destId="{6A0FF549-16DF-4BF5-B194-4D89D3946F3C}" srcOrd="0" destOrd="0" presId="urn:microsoft.com/office/officeart/2005/8/layout/orgChart1"/>
    <dgm:cxn modelId="{EAC273B4-7FDD-4E3F-AE3C-3B10B7ADFCC4}" type="presParOf" srcId="{6A0FF549-16DF-4BF5-B194-4D89D3946F3C}" destId="{53807871-7209-4960-82D1-8D91D6F584B8}" srcOrd="0" destOrd="0" presId="urn:microsoft.com/office/officeart/2005/8/layout/orgChart1"/>
    <dgm:cxn modelId="{9FF13B2C-7F98-478A-8778-1BBCBA36836F}" type="presParOf" srcId="{6A0FF549-16DF-4BF5-B194-4D89D3946F3C}" destId="{C34EB4F4-9103-4F46-A759-6DD05A904226}" srcOrd="1" destOrd="0" presId="urn:microsoft.com/office/officeart/2005/8/layout/orgChart1"/>
    <dgm:cxn modelId="{FD7AAEC6-EC87-4FAA-A18E-22DD4C8DA8CA}" type="presParOf" srcId="{A4D440EB-5A44-41C5-B92F-4E1F00BCBF77}" destId="{D3519133-E76B-4A49-B53C-D465EA2F1BA1}" srcOrd="1" destOrd="0" presId="urn:microsoft.com/office/officeart/2005/8/layout/orgChart1"/>
    <dgm:cxn modelId="{4F84F8FF-AD97-4E2A-9EA1-3230EBEB54D6}" type="presParOf" srcId="{A4D440EB-5A44-41C5-B92F-4E1F00BCBF77}" destId="{B7902FB6-805B-4A36-B38F-32471060149D}" srcOrd="2" destOrd="0" presId="urn:microsoft.com/office/officeart/2005/8/layout/orgChart1"/>
    <dgm:cxn modelId="{A7208A97-A849-49A6-AA2E-19E10F239D7A}" type="presParOf" srcId="{9702AA5E-7D87-4340-94FB-401DDF70C402}" destId="{078A6DBA-6C58-4182-ACD2-459F537BBCD3}" srcOrd="2" destOrd="0" presId="urn:microsoft.com/office/officeart/2005/8/layout/orgChart1"/>
    <dgm:cxn modelId="{9BB3B642-29C7-491B-8C79-20869577CAAB}" type="presParOf" srcId="{9702AA5E-7D87-4340-94FB-401DDF70C402}" destId="{A3C8BA01-8DF1-4B8D-BEBA-B27B0E6EB479}" srcOrd="3" destOrd="0" presId="urn:microsoft.com/office/officeart/2005/8/layout/orgChart1"/>
    <dgm:cxn modelId="{F5B09D2C-FFA6-49D0-94E5-10814AD09FF1}" type="presParOf" srcId="{A3C8BA01-8DF1-4B8D-BEBA-B27B0E6EB479}" destId="{F0D60E62-0F0E-429C-AD97-D7F235A05D32}" srcOrd="0" destOrd="0" presId="urn:microsoft.com/office/officeart/2005/8/layout/orgChart1"/>
    <dgm:cxn modelId="{8E0B8DB6-F1E9-49DF-8FE8-8AB41A65D3F9}" type="presParOf" srcId="{F0D60E62-0F0E-429C-AD97-D7F235A05D32}" destId="{9F05F74F-71DA-47AE-BCD9-8868F98D9A88}" srcOrd="0" destOrd="0" presId="urn:microsoft.com/office/officeart/2005/8/layout/orgChart1"/>
    <dgm:cxn modelId="{4E8DF064-31F1-4FBA-8D1F-A14D8A078CDB}" type="presParOf" srcId="{F0D60E62-0F0E-429C-AD97-D7F235A05D32}" destId="{67208BF1-38A6-49CC-AA9A-0FCD40C5432D}" srcOrd="1" destOrd="0" presId="urn:microsoft.com/office/officeart/2005/8/layout/orgChart1"/>
    <dgm:cxn modelId="{F524801E-84BA-4EC0-A4D1-E40390D78741}" type="presParOf" srcId="{A3C8BA01-8DF1-4B8D-BEBA-B27B0E6EB479}" destId="{D3845855-A2C8-4E6B-A47C-2737A3E4A81F}" srcOrd="1" destOrd="0" presId="urn:microsoft.com/office/officeart/2005/8/layout/orgChart1"/>
    <dgm:cxn modelId="{3D9CA8D7-9075-443A-A680-8D6430636061}" type="presParOf" srcId="{A3C8BA01-8DF1-4B8D-BEBA-B27B0E6EB479}" destId="{7B9B0797-CECA-407B-836B-F0F5549EC1E1}" srcOrd="2" destOrd="0" presId="urn:microsoft.com/office/officeart/2005/8/layout/orgChart1"/>
    <dgm:cxn modelId="{9BC9B933-8547-43D3-BECE-1EB7E54FFED9}" type="presParOf" srcId="{B0B222B3-C6BC-41CF-AA70-98AF2EFAED30}" destId="{B38BC9B6-3707-4B59-B9AE-0CB7B9905C6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7A1C6-951A-4FE4-AF13-602363D938F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7A7C6469-4F81-4334-9E1D-010FF7E7B269}">
      <dgm:prSet phldrT="[Text]" custT="1"/>
      <dgm:spPr/>
      <dgm:t>
        <a:bodyPr/>
        <a:lstStyle/>
        <a:p>
          <a:r>
            <a:rPr lang="en-US" sz="2800" b="1" dirty="0">
              <a:latin typeface="Arial" panose="020B0604020202020204" pitchFamily="34" charset="0"/>
              <a:cs typeface="Arial" panose="020B0604020202020204" pitchFamily="34" charset="0"/>
            </a:rPr>
            <a:t>FAITHFUL REPRESENTATION</a:t>
          </a:r>
        </a:p>
        <a:p>
          <a:r>
            <a:rPr lang="en-US" sz="2200" dirty="0">
              <a:latin typeface="Arial" panose="020B0604020202020204" pitchFamily="34" charset="0"/>
              <a:cs typeface="Arial" panose="020B0604020202020204" pitchFamily="34" charset="0"/>
            </a:rPr>
            <a:t>(Faithfully represent economic phenomena)</a:t>
          </a:r>
        </a:p>
      </dgm:t>
    </dgm:pt>
    <dgm:pt modelId="{F688C05D-A83B-41FE-A63F-50B73089B4AE}" type="parTrans" cxnId="{77CBC1BF-BC18-4DFB-9C64-823FAA3DC075}">
      <dgm:prSet/>
      <dgm:spPr/>
      <dgm:t>
        <a:bodyPr/>
        <a:lstStyle/>
        <a:p>
          <a:endParaRPr lang="en-US">
            <a:latin typeface="Arial" panose="020B0604020202020204" pitchFamily="34" charset="0"/>
            <a:cs typeface="Arial" panose="020B0604020202020204" pitchFamily="34" charset="0"/>
          </a:endParaRPr>
        </a:p>
      </dgm:t>
    </dgm:pt>
    <dgm:pt modelId="{86AF38AD-9C18-4949-84FD-B593FA4E4709}" type="sibTrans" cxnId="{77CBC1BF-BC18-4DFB-9C64-823FAA3DC075}">
      <dgm:prSet/>
      <dgm:spPr/>
      <dgm:t>
        <a:bodyPr/>
        <a:lstStyle/>
        <a:p>
          <a:endParaRPr lang="en-US">
            <a:latin typeface="Arial" panose="020B0604020202020204" pitchFamily="34" charset="0"/>
            <a:cs typeface="Arial" panose="020B0604020202020204" pitchFamily="34" charset="0"/>
          </a:endParaRPr>
        </a:p>
      </dgm:t>
    </dgm:pt>
    <dgm:pt modelId="{19EC15F5-B3BC-417E-8764-B5AB8573FE3C}">
      <dgm:prSet phldrT="[Text]" custT="1"/>
      <dgm:spPr/>
      <dgm:t>
        <a:bodyPr/>
        <a:lstStyle/>
        <a:p>
          <a:r>
            <a:rPr lang="en-US" sz="3000" dirty="0">
              <a:latin typeface="Arial" panose="020B0604020202020204" pitchFamily="34" charset="0"/>
              <a:cs typeface="Arial" panose="020B0604020202020204" pitchFamily="34" charset="0"/>
            </a:rPr>
            <a:t>Completeness</a:t>
          </a:r>
        </a:p>
        <a:p>
          <a:r>
            <a:rPr lang="en-US" sz="1800" dirty="0">
              <a:latin typeface="Arial" panose="020B0604020202020204" pitchFamily="34" charset="0"/>
              <a:cs typeface="Arial" panose="020B0604020202020204" pitchFamily="34" charset="0"/>
            </a:rPr>
            <a:t>(all necessary info)</a:t>
          </a:r>
        </a:p>
      </dgm:t>
    </dgm:pt>
    <dgm:pt modelId="{956CA3B5-E96D-40FA-BF6F-CB9BA4C570EE}" type="parTrans" cxnId="{8CC3C268-C83D-42F0-BA8E-A48FF84BA7D5}">
      <dgm:prSet/>
      <dgm:spPr/>
      <dgm:t>
        <a:bodyPr/>
        <a:lstStyle/>
        <a:p>
          <a:endParaRPr lang="en-US">
            <a:latin typeface="Arial" panose="020B0604020202020204" pitchFamily="34" charset="0"/>
            <a:cs typeface="Arial" panose="020B0604020202020204" pitchFamily="34" charset="0"/>
          </a:endParaRPr>
        </a:p>
      </dgm:t>
    </dgm:pt>
    <dgm:pt modelId="{F75EB65F-DE1D-4AD2-B9EB-ADF632E00018}" type="sibTrans" cxnId="{8CC3C268-C83D-42F0-BA8E-A48FF84BA7D5}">
      <dgm:prSet/>
      <dgm:spPr/>
      <dgm:t>
        <a:bodyPr/>
        <a:lstStyle/>
        <a:p>
          <a:endParaRPr lang="en-US">
            <a:latin typeface="Arial" panose="020B0604020202020204" pitchFamily="34" charset="0"/>
            <a:cs typeface="Arial" panose="020B0604020202020204" pitchFamily="34" charset="0"/>
          </a:endParaRPr>
        </a:p>
      </dgm:t>
    </dgm:pt>
    <dgm:pt modelId="{7FD319FC-F3B4-4343-9EC2-E844430D3B1F}">
      <dgm:prSet phldrT="[Text]" custT="1"/>
      <dgm:spPr/>
      <dgm:t>
        <a:bodyPr/>
        <a:lstStyle/>
        <a:p>
          <a:r>
            <a:rPr lang="en-US" sz="3000" dirty="0">
              <a:latin typeface="Arial" panose="020B0604020202020204" pitchFamily="34" charset="0"/>
              <a:cs typeface="Arial" panose="020B0604020202020204" pitchFamily="34" charset="0"/>
            </a:rPr>
            <a:t>Neutral</a:t>
          </a:r>
        </a:p>
        <a:p>
          <a:r>
            <a:rPr lang="en-US" sz="1800" dirty="0">
              <a:latin typeface="Arial" panose="020B0604020202020204" pitchFamily="34" charset="0"/>
              <a:cs typeface="Arial" panose="020B0604020202020204" pitchFamily="34" charset="0"/>
            </a:rPr>
            <a:t>(impartial)</a:t>
          </a:r>
        </a:p>
      </dgm:t>
    </dgm:pt>
    <dgm:pt modelId="{9F8A332B-EC53-4E24-986C-53D95971D9AD}" type="parTrans" cxnId="{FF7F145D-25E2-4762-BA4D-0B4C41DC6C2C}">
      <dgm:prSet/>
      <dgm:spPr/>
      <dgm:t>
        <a:bodyPr/>
        <a:lstStyle/>
        <a:p>
          <a:endParaRPr lang="en-US">
            <a:latin typeface="Arial" panose="020B0604020202020204" pitchFamily="34" charset="0"/>
            <a:cs typeface="Arial" panose="020B0604020202020204" pitchFamily="34" charset="0"/>
          </a:endParaRPr>
        </a:p>
      </dgm:t>
    </dgm:pt>
    <dgm:pt modelId="{6B1652F7-0D8B-4DC1-B260-0ADE67AC4495}" type="sibTrans" cxnId="{FF7F145D-25E2-4762-BA4D-0B4C41DC6C2C}">
      <dgm:prSet/>
      <dgm:spPr/>
      <dgm:t>
        <a:bodyPr/>
        <a:lstStyle/>
        <a:p>
          <a:endParaRPr lang="en-US">
            <a:latin typeface="Arial" panose="020B0604020202020204" pitchFamily="34" charset="0"/>
            <a:cs typeface="Arial" panose="020B0604020202020204" pitchFamily="34" charset="0"/>
          </a:endParaRPr>
        </a:p>
      </dgm:t>
    </dgm:pt>
    <dgm:pt modelId="{4E3718D6-5DDE-4A59-8109-BBBD282FF97C}">
      <dgm:prSet phldrT="[Text]" custT="1"/>
      <dgm:spPr/>
      <dgm:t>
        <a:bodyPr/>
        <a:lstStyle/>
        <a:p>
          <a:r>
            <a:rPr lang="en-US" sz="3000" dirty="0">
              <a:latin typeface="Arial" panose="020B0604020202020204" pitchFamily="34" charset="0"/>
              <a:cs typeface="Arial" panose="020B0604020202020204" pitchFamily="34" charset="0"/>
            </a:rPr>
            <a:t>Free from error</a:t>
          </a:r>
        </a:p>
        <a:p>
          <a:r>
            <a:rPr lang="en-US" sz="1800" dirty="0">
              <a:latin typeface="Arial" panose="020B0604020202020204" pitchFamily="34" charset="0"/>
              <a:cs typeface="Arial" panose="020B0604020202020204" pitchFamily="34" charset="0"/>
            </a:rPr>
            <a:t>(description and process to produce info)</a:t>
          </a:r>
        </a:p>
      </dgm:t>
    </dgm:pt>
    <dgm:pt modelId="{C5172B99-384F-444E-AD9C-FC6FF0F490F1}" type="parTrans" cxnId="{F69CECEF-87DE-4933-8F4E-7B2E85740C9E}">
      <dgm:prSet/>
      <dgm:spPr/>
      <dgm:t>
        <a:bodyPr/>
        <a:lstStyle/>
        <a:p>
          <a:endParaRPr lang="en-US">
            <a:latin typeface="Arial" panose="020B0604020202020204" pitchFamily="34" charset="0"/>
            <a:cs typeface="Arial" panose="020B0604020202020204" pitchFamily="34" charset="0"/>
          </a:endParaRPr>
        </a:p>
      </dgm:t>
    </dgm:pt>
    <dgm:pt modelId="{F391C6DD-7A0B-4294-964A-CD9446DB3B88}" type="sibTrans" cxnId="{F69CECEF-87DE-4933-8F4E-7B2E85740C9E}">
      <dgm:prSet/>
      <dgm:spPr/>
      <dgm:t>
        <a:bodyPr/>
        <a:lstStyle/>
        <a:p>
          <a:endParaRPr lang="en-US">
            <a:latin typeface="Arial" panose="020B0604020202020204" pitchFamily="34" charset="0"/>
            <a:cs typeface="Arial" panose="020B0604020202020204" pitchFamily="34" charset="0"/>
          </a:endParaRPr>
        </a:p>
      </dgm:t>
    </dgm:pt>
    <dgm:pt modelId="{89812764-0D51-4EDB-B26F-8F684F60DAFA}" type="pres">
      <dgm:prSet presAssocID="{38F7A1C6-951A-4FE4-AF13-602363D938F8}" presName="hierChild1" presStyleCnt="0">
        <dgm:presLayoutVars>
          <dgm:orgChart val="1"/>
          <dgm:chPref val="1"/>
          <dgm:dir/>
          <dgm:animOne val="branch"/>
          <dgm:animLvl val="lvl"/>
          <dgm:resizeHandles/>
        </dgm:presLayoutVars>
      </dgm:prSet>
      <dgm:spPr/>
    </dgm:pt>
    <dgm:pt modelId="{B2E1BC0B-A238-4C0A-8461-1A5B3348D4D4}" type="pres">
      <dgm:prSet presAssocID="{7A7C6469-4F81-4334-9E1D-010FF7E7B269}" presName="hierRoot1" presStyleCnt="0">
        <dgm:presLayoutVars>
          <dgm:hierBranch val="init"/>
        </dgm:presLayoutVars>
      </dgm:prSet>
      <dgm:spPr/>
    </dgm:pt>
    <dgm:pt modelId="{19A5B571-E2F5-4CCA-B0C1-F5801EA92D3F}" type="pres">
      <dgm:prSet presAssocID="{7A7C6469-4F81-4334-9E1D-010FF7E7B269}" presName="rootComposite1" presStyleCnt="0"/>
      <dgm:spPr/>
    </dgm:pt>
    <dgm:pt modelId="{5AB07B21-B220-4DD1-9557-8D274D3808EB}" type="pres">
      <dgm:prSet presAssocID="{7A7C6469-4F81-4334-9E1D-010FF7E7B269}" presName="rootText1" presStyleLbl="node0" presStyleIdx="0" presStyleCnt="1" custScaleX="126193" custScaleY="143038">
        <dgm:presLayoutVars>
          <dgm:chPref val="3"/>
        </dgm:presLayoutVars>
      </dgm:prSet>
      <dgm:spPr/>
    </dgm:pt>
    <dgm:pt modelId="{EA62A1F9-CA18-417B-BF76-BEDD6698A7B4}" type="pres">
      <dgm:prSet presAssocID="{7A7C6469-4F81-4334-9E1D-010FF7E7B269}" presName="rootConnector1" presStyleLbl="node1" presStyleIdx="0" presStyleCnt="0"/>
      <dgm:spPr/>
    </dgm:pt>
    <dgm:pt modelId="{B6DDC4DA-0A23-4B67-909D-8F65620B04FC}" type="pres">
      <dgm:prSet presAssocID="{7A7C6469-4F81-4334-9E1D-010FF7E7B269}" presName="hierChild2" presStyleCnt="0"/>
      <dgm:spPr/>
    </dgm:pt>
    <dgm:pt modelId="{41C63574-4807-4330-948A-BC8F395C6E16}" type="pres">
      <dgm:prSet presAssocID="{956CA3B5-E96D-40FA-BF6F-CB9BA4C570EE}" presName="Name37" presStyleLbl="parChTrans1D2" presStyleIdx="0" presStyleCnt="3"/>
      <dgm:spPr/>
    </dgm:pt>
    <dgm:pt modelId="{43A8B9F0-EDB5-4ABA-8D65-43D76154A1D3}" type="pres">
      <dgm:prSet presAssocID="{19EC15F5-B3BC-417E-8764-B5AB8573FE3C}" presName="hierRoot2" presStyleCnt="0">
        <dgm:presLayoutVars>
          <dgm:hierBranch val="init"/>
        </dgm:presLayoutVars>
      </dgm:prSet>
      <dgm:spPr/>
    </dgm:pt>
    <dgm:pt modelId="{3964304E-2806-468B-BD84-8A5DC8C030C6}" type="pres">
      <dgm:prSet presAssocID="{19EC15F5-B3BC-417E-8764-B5AB8573FE3C}" presName="rootComposite" presStyleCnt="0"/>
      <dgm:spPr/>
    </dgm:pt>
    <dgm:pt modelId="{E4484F32-0577-4611-BAB2-6E5C71C97BA4}" type="pres">
      <dgm:prSet presAssocID="{19EC15F5-B3BC-417E-8764-B5AB8573FE3C}" presName="rootText" presStyleLbl="node2" presStyleIdx="0" presStyleCnt="3">
        <dgm:presLayoutVars>
          <dgm:chPref val="3"/>
        </dgm:presLayoutVars>
      </dgm:prSet>
      <dgm:spPr/>
    </dgm:pt>
    <dgm:pt modelId="{80263A3F-CCFD-4160-A881-DE15EDC8194C}" type="pres">
      <dgm:prSet presAssocID="{19EC15F5-B3BC-417E-8764-B5AB8573FE3C}" presName="rootConnector" presStyleLbl="node2" presStyleIdx="0" presStyleCnt="3"/>
      <dgm:spPr/>
    </dgm:pt>
    <dgm:pt modelId="{3F9CEA04-4327-47E1-B6A4-E9EC872E1EAA}" type="pres">
      <dgm:prSet presAssocID="{19EC15F5-B3BC-417E-8764-B5AB8573FE3C}" presName="hierChild4" presStyleCnt="0"/>
      <dgm:spPr/>
    </dgm:pt>
    <dgm:pt modelId="{B3BD667B-2311-47AB-8510-6682EDF29DAE}" type="pres">
      <dgm:prSet presAssocID="{19EC15F5-B3BC-417E-8764-B5AB8573FE3C}" presName="hierChild5" presStyleCnt="0"/>
      <dgm:spPr/>
    </dgm:pt>
    <dgm:pt modelId="{62488A62-E568-4283-84EE-A59410C35F22}" type="pres">
      <dgm:prSet presAssocID="{9F8A332B-EC53-4E24-986C-53D95971D9AD}" presName="Name37" presStyleLbl="parChTrans1D2" presStyleIdx="1" presStyleCnt="3"/>
      <dgm:spPr/>
    </dgm:pt>
    <dgm:pt modelId="{D41D3477-46DE-43BB-86E6-7BD9FAD05FE4}" type="pres">
      <dgm:prSet presAssocID="{7FD319FC-F3B4-4343-9EC2-E844430D3B1F}" presName="hierRoot2" presStyleCnt="0">
        <dgm:presLayoutVars>
          <dgm:hierBranch val="init"/>
        </dgm:presLayoutVars>
      </dgm:prSet>
      <dgm:spPr/>
    </dgm:pt>
    <dgm:pt modelId="{FC071D4B-C103-4B14-9505-D7DF184C3A36}" type="pres">
      <dgm:prSet presAssocID="{7FD319FC-F3B4-4343-9EC2-E844430D3B1F}" presName="rootComposite" presStyleCnt="0"/>
      <dgm:spPr/>
    </dgm:pt>
    <dgm:pt modelId="{CE484DAB-4A89-4BB0-A962-0EC4BE58098B}" type="pres">
      <dgm:prSet presAssocID="{7FD319FC-F3B4-4343-9EC2-E844430D3B1F}" presName="rootText" presStyleLbl="node2" presStyleIdx="1" presStyleCnt="3">
        <dgm:presLayoutVars>
          <dgm:chPref val="3"/>
        </dgm:presLayoutVars>
      </dgm:prSet>
      <dgm:spPr/>
    </dgm:pt>
    <dgm:pt modelId="{1C005067-59BD-419E-9E2B-5499F001C145}" type="pres">
      <dgm:prSet presAssocID="{7FD319FC-F3B4-4343-9EC2-E844430D3B1F}" presName="rootConnector" presStyleLbl="node2" presStyleIdx="1" presStyleCnt="3"/>
      <dgm:spPr/>
    </dgm:pt>
    <dgm:pt modelId="{FE293E11-6345-4770-8B91-8C126F8C2960}" type="pres">
      <dgm:prSet presAssocID="{7FD319FC-F3B4-4343-9EC2-E844430D3B1F}" presName="hierChild4" presStyleCnt="0"/>
      <dgm:spPr/>
    </dgm:pt>
    <dgm:pt modelId="{B9F3055C-FE97-4700-BE9C-D71D3A8FB160}" type="pres">
      <dgm:prSet presAssocID="{7FD319FC-F3B4-4343-9EC2-E844430D3B1F}" presName="hierChild5" presStyleCnt="0"/>
      <dgm:spPr/>
    </dgm:pt>
    <dgm:pt modelId="{349C8A8A-0F08-4725-A7F8-8189EA253596}" type="pres">
      <dgm:prSet presAssocID="{C5172B99-384F-444E-AD9C-FC6FF0F490F1}" presName="Name37" presStyleLbl="parChTrans1D2" presStyleIdx="2" presStyleCnt="3"/>
      <dgm:spPr/>
    </dgm:pt>
    <dgm:pt modelId="{62B9A12F-F28A-4CA5-8FAC-F2DC46B7B242}" type="pres">
      <dgm:prSet presAssocID="{4E3718D6-5DDE-4A59-8109-BBBD282FF97C}" presName="hierRoot2" presStyleCnt="0">
        <dgm:presLayoutVars>
          <dgm:hierBranch val="init"/>
        </dgm:presLayoutVars>
      </dgm:prSet>
      <dgm:spPr/>
    </dgm:pt>
    <dgm:pt modelId="{F660D908-7627-402D-90B6-C49ADAB9D217}" type="pres">
      <dgm:prSet presAssocID="{4E3718D6-5DDE-4A59-8109-BBBD282FF97C}" presName="rootComposite" presStyleCnt="0"/>
      <dgm:spPr/>
    </dgm:pt>
    <dgm:pt modelId="{22296AF2-664D-439F-9E52-7009434209D1}" type="pres">
      <dgm:prSet presAssocID="{4E3718D6-5DDE-4A59-8109-BBBD282FF97C}" presName="rootText" presStyleLbl="node2" presStyleIdx="2" presStyleCnt="3" custScaleX="100046">
        <dgm:presLayoutVars>
          <dgm:chPref val="3"/>
        </dgm:presLayoutVars>
      </dgm:prSet>
      <dgm:spPr/>
    </dgm:pt>
    <dgm:pt modelId="{35B1EB5D-A375-4E82-BE57-DB324912B994}" type="pres">
      <dgm:prSet presAssocID="{4E3718D6-5DDE-4A59-8109-BBBD282FF97C}" presName="rootConnector" presStyleLbl="node2" presStyleIdx="2" presStyleCnt="3"/>
      <dgm:spPr/>
    </dgm:pt>
    <dgm:pt modelId="{6C25411B-72F5-4746-B534-C6B594F03759}" type="pres">
      <dgm:prSet presAssocID="{4E3718D6-5DDE-4A59-8109-BBBD282FF97C}" presName="hierChild4" presStyleCnt="0"/>
      <dgm:spPr/>
    </dgm:pt>
    <dgm:pt modelId="{E6237975-F926-435A-BFED-CD5569CDFAED}" type="pres">
      <dgm:prSet presAssocID="{4E3718D6-5DDE-4A59-8109-BBBD282FF97C}" presName="hierChild5" presStyleCnt="0"/>
      <dgm:spPr/>
    </dgm:pt>
    <dgm:pt modelId="{4BE60345-ED5B-48CE-B2AD-98A0855B7628}" type="pres">
      <dgm:prSet presAssocID="{7A7C6469-4F81-4334-9E1D-010FF7E7B269}" presName="hierChild3" presStyleCnt="0"/>
      <dgm:spPr/>
    </dgm:pt>
  </dgm:ptLst>
  <dgm:cxnLst>
    <dgm:cxn modelId="{6697BD17-03F0-46A9-BBEA-19F9041D6EF9}" type="presOf" srcId="{C5172B99-384F-444E-AD9C-FC6FF0F490F1}" destId="{349C8A8A-0F08-4725-A7F8-8189EA253596}" srcOrd="0" destOrd="0" presId="urn:microsoft.com/office/officeart/2005/8/layout/orgChart1"/>
    <dgm:cxn modelId="{7923A82D-6A2E-468B-ADE5-FAD1692DB3D2}" type="presOf" srcId="{19EC15F5-B3BC-417E-8764-B5AB8573FE3C}" destId="{E4484F32-0577-4611-BAB2-6E5C71C97BA4}" srcOrd="0" destOrd="0" presId="urn:microsoft.com/office/officeart/2005/8/layout/orgChart1"/>
    <dgm:cxn modelId="{FF7F145D-25E2-4762-BA4D-0B4C41DC6C2C}" srcId="{7A7C6469-4F81-4334-9E1D-010FF7E7B269}" destId="{7FD319FC-F3B4-4343-9EC2-E844430D3B1F}" srcOrd="1" destOrd="0" parTransId="{9F8A332B-EC53-4E24-986C-53D95971D9AD}" sibTransId="{6B1652F7-0D8B-4DC1-B260-0ADE67AC4495}"/>
    <dgm:cxn modelId="{8906FD62-4EC3-4FDA-8F37-9AACDCF51785}" type="presOf" srcId="{956CA3B5-E96D-40FA-BF6F-CB9BA4C570EE}" destId="{41C63574-4807-4330-948A-BC8F395C6E16}" srcOrd="0" destOrd="0" presId="urn:microsoft.com/office/officeart/2005/8/layout/orgChart1"/>
    <dgm:cxn modelId="{F0FD7365-69C6-4556-9489-6F2329BB317A}" type="presOf" srcId="{7FD319FC-F3B4-4343-9EC2-E844430D3B1F}" destId="{1C005067-59BD-419E-9E2B-5499F001C145}" srcOrd="1" destOrd="0" presId="urn:microsoft.com/office/officeart/2005/8/layout/orgChart1"/>
    <dgm:cxn modelId="{8CC3C268-C83D-42F0-BA8E-A48FF84BA7D5}" srcId="{7A7C6469-4F81-4334-9E1D-010FF7E7B269}" destId="{19EC15F5-B3BC-417E-8764-B5AB8573FE3C}" srcOrd="0" destOrd="0" parTransId="{956CA3B5-E96D-40FA-BF6F-CB9BA4C570EE}" sibTransId="{F75EB65F-DE1D-4AD2-B9EB-ADF632E00018}"/>
    <dgm:cxn modelId="{E3DF836C-DF3C-4F12-8F15-FB6D418FEE61}" type="presOf" srcId="{4E3718D6-5DDE-4A59-8109-BBBD282FF97C}" destId="{22296AF2-664D-439F-9E52-7009434209D1}" srcOrd="0" destOrd="0" presId="urn:microsoft.com/office/officeart/2005/8/layout/orgChart1"/>
    <dgm:cxn modelId="{4C450251-FC00-4366-85B0-6C534049E3B8}" type="presOf" srcId="{9F8A332B-EC53-4E24-986C-53D95971D9AD}" destId="{62488A62-E568-4283-84EE-A59410C35F22}" srcOrd="0" destOrd="0" presId="urn:microsoft.com/office/officeart/2005/8/layout/orgChart1"/>
    <dgm:cxn modelId="{7E4ADF80-A24F-4728-B778-3009117C0A71}" type="presOf" srcId="{7FD319FC-F3B4-4343-9EC2-E844430D3B1F}" destId="{CE484DAB-4A89-4BB0-A962-0EC4BE58098B}" srcOrd="0" destOrd="0" presId="urn:microsoft.com/office/officeart/2005/8/layout/orgChart1"/>
    <dgm:cxn modelId="{DB5F1D84-6601-42DA-8791-F61341C8442A}" type="presOf" srcId="{4E3718D6-5DDE-4A59-8109-BBBD282FF97C}" destId="{35B1EB5D-A375-4E82-BE57-DB324912B994}" srcOrd="1" destOrd="0" presId="urn:microsoft.com/office/officeart/2005/8/layout/orgChart1"/>
    <dgm:cxn modelId="{B15D3F94-4629-456A-A7E1-E7D81E8297C0}" type="presOf" srcId="{38F7A1C6-951A-4FE4-AF13-602363D938F8}" destId="{89812764-0D51-4EDB-B26F-8F684F60DAFA}" srcOrd="0" destOrd="0" presId="urn:microsoft.com/office/officeart/2005/8/layout/orgChart1"/>
    <dgm:cxn modelId="{B5434BA6-0044-4FA5-A221-9508BC701244}" type="presOf" srcId="{7A7C6469-4F81-4334-9E1D-010FF7E7B269}" destId="{5AB07B21-B220-4DD1-9557-8D274D3808EB}" srcOrd="0" destOrd="0" presId="urn:microsoft.com/office/officeart/2005/8/layout/orgChart1"/>
    <dgm:cxn modelId="{FCADB0BE-67CC-40AC-819A-333EDE171302}" type="presOf" srcId="{7A7C6469-4F81-4334-9E1D-010FF7E7B269}" destId="{EA62A1F9-CA18-417B-BF76-BEDD6698A7B4}" srcOrd="1" destOrd="0" presId="urn:microsoft.com/office/officeart/2005/8/layout/orgChart1"/>
    <dgm:cxn modelId="{77CBC1BF-BC18-4DFB-9C64-823FAA3DC075}" srcId="{38F7A1C6-951A-4FE4-AF13-602363D938F8}" destId="{7A7C6469-4F81-4334-9E1D-010FF7E7B269}" srcOrd="0" destOrd="0" parTransId="{F688C05D-A83B-41FE-A63F-50B73089B4AE}" sibTransId="{86AF38AD-9C18-4949-84FD-B593FA4E4709}"/>
    <dgm:cxn modelId="{F69CECEF-87DE-4933-8F4E-7B2E85740C9E}" srcId="{7A7C6469-4F81-4334-9E1D-010FF7E7B269}" destId="{4E3718D6-5DDE-4A59-8109-BBBD282FF97C}" srcOrd="2" destOrd="0" parTransId="{C5172B99-384F-444E-AD9C-FC6FF0F490F1}" sibTransId="{F391C6DD-7A0B-4294-964A-CD9446DB3B88}"/>
    <dgm:cxn modelId="{50F2ADF2-D44B-4C81-8C2A-B08D9767B92D}" type="presOf" srcId="{19EC15F5-B3BC-417E-8764-B5AB8573FE3C}" destId="{80263A3F-CCFD-4160-A881-DE15EDC8194C}" srcOrd="1" destOrd="0" presId="urn:microsoft.com/office/officeart/2005/8/layout/orgChart1"/>
    <dgm:cxn modelId="{E45F84ED-6A3D-4AB0-AC0A-DAF16267FB73}" type="presParOf" srcId="{89812764-0D51-4EDB-B26F-8F684F60DAFA}" destId="{B2E1BC0B-A238-4C0A-8461-1A5B3348D4D4}" srcOrd="0" destOrd="0" presId="urn:microsoft.com/office/officeart/2005/8/layout/orgChart1"/>
    <dgm:cxn modelId="{DC06F15B-ADBD-461F-B818-0FF4BB854BB3}" type="presParOf" srcId="{B2E1BC0B-A238-4C0A-8461-1A5B3348D4D4}" destId="{19A5B571-E2F5-4CCA-B0C1-F5801EA92D3F}" srcOrd="0" destOrd="0" presId="urn:microsoft.com/office/officeart/2005/8/layout/orgChart1"/>
    <dgm:cxn modelId="{A84F9905-50BA-4EB6-A73D-2ACAB32B0FD9}" type="presParOf" srcId="{19A5B571-E2F5-4CCA-B0C1-F5801EA92D3F}" destId="{5AB07B21-B220-4DD1-9557-8D274D3808EB}" srcOrd="0" destOrd="0" presId="urn:microsoft.com/office/officeart/2005/8/layout/orgChart1"/>
    <dgm:cxn modelId="{5BDD4B1A-5BCF-45E4-8B46-6EE721B967B3}" type="presParOf" srcId="{19A5B571-E2F5-4CCA-B0C1-F5801EA92D3F}" destId="{EA62A1F9-CA18-417B-BF76-BEDD6698A7B4}" srcOrd="1" destOrd="0" presId="urn:microsoft.com/office/officeart/2005/8/layout/orgChart1"/>
    <dgm:cxn modelId="{AA511512-7556-44FA-922A-75796FE443EB}" type="presParOf" srcId="{B2E1BC0B-A238-4C0A-8461-1A5B3348D4D4}" destId="{B6DDC4DA-0A23-4B67-909D-8F65620B04FC}" srcOrd="1" destOrd="0" presId="urn:microsoft.com/office/officeart/2005/8/layout/orgChart1"/>
    <dgm:cxn modelId="{019811D3-4A7B-4A82-B45E-0D144941BECD}" type="presParOf" srcId="{B6DDC4DA-0A23-4B67-909D-8F65620B04FC}" destId="{41C63574-4807-4330-948A-BC8F395C6E16}" srcOrd="0" destOrd="0" presId="urn:microsoft.com/office/officeart/2005/8/layout/orgChart1"/>
    <dgm:cxn modelId="{4A7CFCE1-8473-4A53-B8A7-47E8AF7C82E1}" type="presParOf" srcId="{B6DDC4DA-0A23-4B67-909D-8F65620B04FC}" destId="{43A8B9F0-EDB5-4ABA-8D65-43D76154A1D3}" srcOrd="1" destOrd="0" presId="urn:microsoft.com/office/officeart/2005/8/layout/orgChart1"/>
    <dgm:cxn modelId="{EA0CE619-E9D6-43E9-A3B1-529A5FED1FC0}" type="presParOf" srcId="{43A8B9F0-EDB5-4ABA-8D65-43D76154A1D3}" destId="{3964304E-2806-468B-BD84-8A5DC8C030C6}" srcOrd="0" destOrd="0" presId="urn:microsoft.com/office/officeart/2005/8/layout/orgChart1"/>
    <dgm:cxn modelId="{ABDF0F17-1C72-4A50-A264-01CD984B6A29}" type="presParOf" srcId="{3964304E-2806-468B-BD84-8A5DC8C030C6}" destId="{E4484F32-0577-4611-BAB2-6E5C71C97BA4}" srcOrd="0" destOrd="0" presId="urn:microsoft.com/office/officeart/2005/8/layout/orgChart1"/>
    <dgm:cxn modelId="{484BCCD7-2811-48E6-A114-B36A554F74C3}" type="presParOf" srcId="{3964304E-2806-468B-BD84-8A5DC8C030C6}" destId="{80263A3F-CCFD-4160-A881-DE15EDC8194C}" srcOrd="1" destOrd="0" presId="urn:microsoft.com/office/officeart/2005/8/layout/orgChart1"/>
    <dgm:cxn modelId="{5A5D236F-DB9D-46DD-B7AA-E2BD6D376E08}" type="presParOf" srcId="{43A8B9F0-EDB5-4ABA-8D65-43D76154A1D3}" destId="{3F9CEA04-4327-47E1-B6A4-E9EC872E1EAA}" srcOrd="1" destOrd="0" presId="urn:microsoft.com/office/officeart/2005/8/layout/orgChart1"/>
    <dgm:cxn modelId="{ACBC32BD-5214-48F6-82F1-2DA065A8F0FE}" type="presParOf" srcId="{43A8B9F0-EDB5-4ABA-8D65-43D76154A1D3}" destId="{B3BD667B-2311-47AB-8510-6682EDF29DAE}" srcOrd="2" destOrd="0" presId="urn:microsoft.com/office/officeart/2005/8/layout/orgChart1"/>
    <dgm:cxn modelId="{9D6D36D0-F017-4420-812C-43A6E7382967}" type="presParOf" srcId="{B6DDC4DA-0A23-4B67-909D-8F65620B04FC}" destId="{62488A62-E568-4283-84EE-A59410C35F22}" srcOrd="2" destOrd="0" presId="urn:microsoft.com/office/officeart/2005/8/layout/orgChart1"/>
    <dgm:cxn modelId="{438A0FCA-964B-496B-AC73-AEF8FB752011}" type="presParOf" srcId="{B6DDC4DA-0A23-4B67-909D-8F65620B04FC}" destId="{D41D3477-46DE-43BB-86E6-7BD9FAD05FE4}" srcOrd="3" destOrd="0" presId="urn:microsoft.com/office/officeart/2005/8/layout/orgChart1"/>
    <dgm:cxn modelId="{0BFBB975-F556-4BB7-8385-4B9D67F74A87}" type="presParOf" srcId="{D41D3477-46DE-43BB-86E6-7BD9FAD05FE4}" destId="{FC071D4B-C103-4B14-9505-D7DF184C3A36}" srcOrd="0" destOrd="0" presId="urn:microsoft.com/office/officeart/2005/8/layout/orgChart1"/>
    <dgm:cxn modelId="{20BFB21E-2503-4D78-BB01-EE6198168588}" type="presParOf" srcId="{FC071D4B-C103-4B14-9505-D7DF184C3A36}" destId="{CE484DAB-4A89-4BB0-A962-0EC4BE58098B}" srcOrd="0" destOrd="0" presId="urn:microsoft.com/office/officeart/2005/8/layout/orgChart1"/>
    <dgm:cxn modelId="{5A63958E-7C94-499B-84DF-17E3FBD468FD}" type="presParOf" srcId="{FC071D4B-C103-4B14-9505-D7DF184C3A36}" destId="{1C005067-59BD-419E-9E2B-5499F001C145}" srcOrd="1" destOrd="0" presId="urn:microsoft.com/office/officeart/2005/8/layout/orgChart1"/>
    <dgm:cxn modelId="{C88B792A-67D5-42B6-A785-C68E7724B6A3}" type="presParOf" srcId="{D41D3477-46DE-43BB-86E6-7BD9FAD05FE4}" destId="{FE293E11-6345-4770-8B91-8C126F8C2960}" srcOrd="1" destOrd="0" presId="urn:microsoft.com/office/officeart/2005/8/layout/orgChart1"/>
    <dgm:cxn modelId="{9092ECBB-ABFD-46D3-A31E-EB7335FF01D6}" type="presParOf" srcId="{D41D3477-46DE-43BB-86E6-7BD9FAD05FE4}" destId="{B9F3055C-FE97-4700-BE9C-D71D3A8FB160}" srcOrd="2" destOrd="0" presId="urn:microsoft.com/office/officeart/2005/8/layout/orgChart1"/>
    <dgm:cxn modelId="{80D08A15-15EC-46B5-A5CF-CC0EE54F223F}" type="presParOf" srcId="{B6DDC4DA-0A23-4B67-909D-8F65620B04FC}" destId="{349C8A8A-0F08-4725-A7F8-8189EA253596}" srcOrd="4" destOrd="0" presId="urn:microsoft.com/office/officeart/2005/8/layout/orgChart1"/>
    <dgm:cxn modelId="{39F32BCF-F2D9-467C-8605-240338DB5454}" type="presParOf" srcId="{B6DDC4DA-0A23-4B67-909D-8F65620B04FC}" destId="{62B9A12F-F28A-4CA5-8FAC-F2DC46B7B242}" srcOrd="5" destOrd="0" presId="urn:microsoft.com/office/officeart/2005/8/layout/orgChart1"/>
    <dgm:cxn modelId="{AEAFBBE4-53BA-4806-8FFE-8246264B9BE6}" type="presParOf" srcId="{62B9A12F-F28A-4CA5-8FAC-F2DC46B7B242}" destId="{F660D908-7627-402D-90B6-C49ADAB9D217}" srcOrd="0" destOrd="0" presId="urn:microsoft.com/office/officeart/2005/8/layout/orgChart1"/>
    <dgm:cxn modelId="{E0893FEC-6A2F-40C6-B36A-1D5A8DAAB3EF}" type="presParOf" srcId="{F660D908-7627-402D-90B6-C49ADAB9D217}" destId="{22296AF2-664D-439F-9E52-7009434209D1}" srcOrd="0" destOrd="0" presId="urn:microsoft.com/office/officeart/2005/8/layout/orgChart1"/>
    <dgm:cxn modelId="{21C4EC72-B4A4-4E6D-A55C-B2D5E309249C}" type="presParOf" srcId="{F660D908-7627-402D-90B6-C49ADAB9D217}" destId="{35B1EB5D-A375-4E82-BE57-DB324912B994}" srcOrd="1" destOrd="0" presId="urn:microsoft.com/office/officeart/2005/8/layout/orgChart1"/>
    <dgm:cxn modelId="{D8A6D2BE-EE69-48AA-94EB-6CB89C6C2912}" type="presParOf" srcId="{62B9A12F-F28A-4CA5-8FAC-F2DC46B7B242}" destId="{6C25411B-72F5-4746-B534-C6B594F03759}" srcOrd="1" destOrd="0" presId="urn:microsoft.com/office/officeart/2005/8/layout/orgChart1"/>
    <dgm:cxn modelId="{DEF2F669-84F5-4FA2-86E3-548778A656A1}" type="presParOf" srcId="{62B9A12F-F28A-4CA5-8FAC-F2DC46B7B242}" destId="{E6237975-F926-435A-BFED-CD5569CDFAED}" srcOrd="2" destOrd="0" presId="urn:microsoft.com/office/officeart/2005/8/layout/orgChart1"/>
    <dgm:cxn modelId="{DFF6FA74-39B3-4094-AA25-B4D7D5E2D69A}" type="presParOf" srcId="{B2E1BC0B-A238-4C0A-8461-1A5B3348D4D4}" destId="{4BE60345-ED5B-48CE-B2AD-98A0855B7628}"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F838786-E0A7-40A7-A363-5EE4729D7CD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17E2A5B-EBE5-4D75-88DC-567C7DE231FA}">
      <dgm:prSet phldrT="[Text]" custT="1"/>
      <dgm:spPr/>
      <dgm:t>
        <a:bodyPr/>
        <a:lstStyle/>
        <a:p>
          <a:r>
            <a:rPr lang="en-US" sz="3000" b="1" dirty="0">
              <a:latin typeface="Arial" panose="020B0604020202020204" pitchFamily="34" charset="0"/>
              <a:cs typeface="Arial" panose="020B0604020202020204" pitchFamily="34" charset="0"/>
            </a:rPr>
            <a:t>ENHANCING CHARACTERISTICS</a:t>
          </a:r>
        </a:p>
        <a:p>
          <a:r>
            <a:rPr lang="en-US" sz="2000" dirty="0">
              <a:latin typeface="Arial" panose="020B0604020202020204" pitchFamily="34" charset="0"/>
              <a:cs typeface="Arial" panose="020B0604020202020204" pitchFamily="34" charset="0"/>
            </a:rPr>
            <a:t>(Secondary – not primary requirement)</a:t>
          </a:r>
        </a:p>
      </dgm:t>
    </dgm:pt>
    <dgm:pt modelId="{D0807FE2-3A60-4890-85AC-A9273D48440A}" type="parTrans" cxnId="{3C51E9D1-8A65-4729-A163-30DB6736DE9D}">
      <dgm:prSet/>
      <dgm:spPr/>
      <dgm:t>
        <a:bodyPr/>
        <a:lstStyle/>
        <a:p>
          <a:endParaRPr lang="en-US">
            <a:latin typeface="Arial" panose="020B0604020202020204" pitchFamily="34" charset="0"/>
            <a:cs typeface="Arial" panose="020B0604020202020204" pitchFamily="34" charset="0"/>
          </a:endParaRPr>
        </a:p>
      </dgm:t>
    </dgm:pt>
    <dgm:pt modelId="{87D2EF62-1370-4B52-BA5F-D7D26690BA70}" type="sibTrans" cxnId="{3C51E9D1-8A65-4729-A163-30DB6736DE9D}">
      <dgm:prSet/>
      <dgm:spPr/>
      <dgm:t>
        <a:bodyPr/>
        <a:lstStyle/>
        <a:p>
          <a:endParaRPr lang="en-US">
            <a:latin typeface="Arial" panose="020B0604020202020204" pitchFamily="34" charset="0"/>
            <a:cs typeface="Arial" panose="020B0604020202020204" pitchFamily="34" charset="0"/>
          </a:endParaRPr>
        </a:p>
      </dgm:t>
    </dgm:pt>
    <dgm:pt modelId="{B8415043-E642-4BDC-BDB0-9A7F30640E9B}">
      <dgm:prSet phldrT="[Text]"/>
      <dgm:spPr/>
      <dgm:t>
        <a:bodyPr/>
        <a:lstStyle/>
        <a:p>
          <a:r>
            <a:rPr lang="en-US" dirty="0">
              <a:latin typeface="Arial" panose="020B0604020202020204" pitchFamily="34" charset="0"/>
              <a:cs typeface="Arial" panose="020B0604020202020204" pitchFamily="34" charset="0"/>
            </a:rPr>
            <a:t>Comparability</a:t>
          </a:r>
        </a:p>
      </dgm:t>
    </dgm:pt>
    <dgm:pt modelId="{CC0AB91B-A8F1-40B8-88CA-E972226F9BAE}" type="parTrans" cxnId="{1AECB5AC-BEFD-4387-A970-B7C7253C7562}">
      <dgm:prSet/>
      <dgm:spPr/>
      <dgm:t>
        <a:bodyPr/>
        <a:lstStyle/>
        <a:p>
          <a:endParaRPr lang="en-US">
            <a:latin typeface="Arial" panose="020B0604020202020204" pitchFamily="34" charset="0"/>
            <a:cs typeface="Arial" panose="020B0604020202020204" pitchFamily="34" charset="0"/>
          </a:endParaRPr>
        </a:p>
      </dgm:t>
    </dgm:pt>
    <dgm:pt modelId="{6A507549-E55B-47DF-BD79-E2D7A1B33D70}" type="sibTrans" cxnId="{1AECB5AC-BEFD-4387-A970-B7C7253C7562}">
      <dgm:prSet/>
      <dgm:spPr/>
      <dgm:t>
        <a:bodyPr/>
        <a:lstStyle/>
        <a:p>
          <a:endParaRPr lang="en-US">
            <a:latin typeface="Arial" panose="020B0604020202020204" pitchFamily="34" charset="0"/>
            <a:cs typeface="Arial" panose="020B0604020202020204" pitchFamily="34" charset="0"/>
          </a:endParaRPr>
        </a:p>
      </dgm:t>
    </dgm:pt>
    <dgm:pt modelId="{3B45AF37-AA75-41B0-A31C-F42C5B26C463}">
      <dgm:prSet phldrT="[Text]"/>
      <dgm:spPr/>
      <dgm:t>
        <a:bodyPr/>
        <a:lstStyle/>
        <a:p>
          <a:r>
            <a:rPr lang="en-US" dirty="0">
              <a:latin typeface="Arial" panose="020B0604020202020204" pitchFamily="34" charset="0"/>
              <a:cs typeface="Arial" panose="020B0604020202020204" pitchFamily="34" charset="0"/>
            </a:rPr>
            <a:t>Verifiability</a:t>
          </a:r>
        </a:p>
      </dgm:t>
    </dgm:pt>
    <dgm:pt modelId="{79811D7A-8440-4A20-92E9-E00C82DBC4D0}" type="parTrans" cxnId="{8C876E4F-6879-4869-849B-B0F9866C0037}">
      <dgm:prSet/>
      <dgm:spPr/>
      <dgm:t>
        <a:bodyPr/>
        <a:lstStyle/>
        <a:p>
          <a:endParaRPr lang="en-US">
            <a:latin typeface="Arial" panose="020B0604020202020204" pitchFamily="34" charset="0"/>
            <a:cs typeface="Arial" panose="020B0604020202020204" pitchFamily="34" charset="0"/>
          </a:endParaRPr>
        </a:p>
      </dgm:t>
    </dgm:pt>
    <dgm:pt modelId="{FF51AC25-365B-443B-A14D-ECCC4159B089}" type="sibTrans" cxnId="{8C876E4F-6879-4869-849B-B0F9866C0037}">
      <dgm:prSet/>
      <dgm:spPr/>
      <dgm:t>
        <a:bodyPr/>
        <a:lstStyle/>
        <a:p>
          <a:endParaRPr lang="en-US">
            <a:latin typeface="Arial" panose="020B0604020202020204" pitchFamily="34" charset="0"/>
            <a:cs typeface="Arial" panose="020B0604020202020204" pitchFamily="34" charset="0"/>
          </a:endParaRPr>
        </a:p>
      </dgm:t>
    </dgm:pt>
    <dgm:pt modelId="{8CBD5C78-187B-4901-BBF9-A8261B5CBD53}">
      <dgm:prSet phldrT="[Text]"/>
      <dgm:spPr/>
      <dgm:t>
        <a:bodyPr/>
        <a:lstStyle/>
        <a:p>
          <a:r>
            <a:rPr lang="en-US" dirty="0">
              <a:latin typeface="Arial" panose="020B0604020202020204" pitchFamily="34" charset="0"/>
              <a:cs typeface="Arial" panose="020B0604020202020204" pitchFamily="34" charset="0"/>
            </a:rPr>
            <a:t>Timeliness</a:t>
          </a:r>
        </a:p>
      </dgm:t>
    </dgm:pt>
    <dgm:pt modelId="{4092F8E5-D4CB-4B14-990E-32FDB2AFC676}" type="parTrans" cxnId="{C0DABAC9-9D10-4B25-8ED0-AF15836ABB61}">
      <dgm:prSet/>
      <dgm:spPr/>
      <dgm:t>
        <a:bodyPr/>
        <a:lstStyle/>
        <a:p>
          <a:endParaRPr lang="en-US">
            <a:latin typeface="Arial" panose="020B0604020202020204" pitchFamily="34" charset="0"/>
            <a:cs typeface="Arial" panose="020B0604020202020204" pitchFamily="34" charset="0"/>
          </a:endParaRPr>
        </a:p>
      </dgm:t>
    </dgm:pt>
    <dgm:pt modelId="{0DC47E7B-09A8-456D-9660-D0FD2765851D}" type="sibTrans" cxnId="{C0DABAC9-9D10-4B25-8ED0-AF15836ABB61}">
      <dgm:prSet/>
      <dgm:spPr/>
      <dgm:t>
        <a:bodyPr/>
        <a:lstStyle/>
        <a:p>
          <a:endParaRPr lang="en-US">
            <a:latin typeface="Arial" panose="020B0604020202020204" pitchFamily="34" charset="0"/>
            <a:cs typeface="Arial" panose="020B0604020202020204" pitchFamily="34" charset="0"/>
          </a:endParaRPr>
        </a:p>
      </dgm:t>
    </dgm:pt>
    <dgm:pt modelId="{F3AAA0A9-8D53-4D0B-A3AE-17D21B2A2DFC}">
      <dgm:prSet/>
      <dgm:spPr/>
      <dgm:t>
        <a:bodyPr/>
        <a:lstStyle/>
        <a:p>
          <a:r>
            <a:rPr lang="en-US" dirty="0">
              <a:latin typeface="Arial" panose="020B0604020202020204" pitchFamily="34" charset="0"/>
              <a:cs typeface="Arial" panose="020B0604020202020204" pitchFamily="34" charset="0"/>
            </a:rPr>
            <a:t>Understandability</a:t>
          </a:r>
        </a:p>
      </dgm:t>
    </dgm:pt>
    <dgm:pt modelId="{8D84E30C-E2CE-4BAF-A506-4F965519A344}" type="parTrans" cxnId="{A2BF8D66-7DB9-4A4F-84C2-F886096D10E4}">
      <dgm:prSet/>
      <dgm:spPr/>
      <dgm:t>
        <a:bodyPr/>
        <a:lstStyle/>
        <a:p>
          <a:endParaRPr lang="en-US">
            <a:latin typeface="Arial" panose="020B0604020202020204" pitchFamily="34" charset="0"/>
            <a:cs typeface="Arial" panose="020B0604020202020204" pitchFamily="34" charset="0"/>
          </a:endParaRPr>
        </a:p>
      </dgm:t>
    </dgm:pt>
    <dgm:pt modelId="{044B2071-6685-41A6-A33C-9EF0D0FB5566}" type="sibTrans" cxnId="{A2BF8D66-7DB9-4A4F-84C2-F886096D10E4}">
      <dgm:prSet/>
      <dgm:spPr/>
      <dgm:t>
        <a:bodyPr/>
        <a:lstStyle/>
        <a:p>
          <a:endParaRPr lang="en-US">
            <a:latin typeface="Arial" panose="020B0604020202020204" pitchFamily="34" charset="0"/>
            <a:cs typeface="Arial" panose="020B0604020202020204" pitchFamily="34" charset="0"/>
          </a:endParaRPr>
        </a:p>
      </dgm:t>
    </dgm:pt>
    <dgm:pt modelId="{93BFF1F4-935C-499C-A6CA-DBD004020555}" type="pres">
      <dgm:prSet presAssocID="{0F838786-E0A7-40A7-A363-5EE4729D7CD5}" presName="hierChild1" presStyleCnt="0">
        <dgm:presLayoutVars>
          <dgm:orgChart val="1"/>
          <dgm:chPref val="1"/>
          <dgm:dir/>
          <dgm:animOne val="branch"/>
          <dgm:animLvl val="lvl"/>
          <dgm:resizeHandles/>
        </dgm:presLayoutVars>
      </dgm:prSet>
      <dgm:spPr/>
    </dgm:pt>
    <dgm:pt modelId="{234D7572-DB3A-4460-9591-578F40D84FCE}" type="pres">
      <dgm:prSet presAssocID="{117E2A5B-EBE5-4D75-88DC-567C7DE231FA}" presName="hierRoot1" presStyleCnt="0">
        <dgm:presLayoutVars>
          <dgm:hierBranch val="init"/>
        </dgm:presLayoutVars>
      </dgm:prSet>
      <dgm:spPr/>
    </dgm:pt>
    <dgm:pt modelId="{87EC2FD6-E721-454E-B051-4D3A1ED9BBD9}" type="pres">
      <dgm:prSet presAssocID="{117E2A5B-EBE5-4D75-88DC-567C7DE231FA}" presName="rootComposite1" presStyleCnt="0"/>
      <dgm:spPr/>
    </dgm:pt>
    <dgm:pt modelId="{DAA9F0C7-A249-4FC5-8156-9845481E1017}" type="pres">
      <dgm:prSet presAssocID="{117E2A5B-EBE5-4D75-88DC-567C7DE231FA}" presName="rootText1" presStyleLbl="node0" presStyleIdx="0" presStyleCnt="1" custScaleX="264498" custScaleY="164613">
        <dgm:presLayoutVars>
          <dgm:chPref val="3"/>
        </dgm:presLayoutVars>
      </dgm:prSet>
      <dgm:spPr/>
    </dgm:pt>
    <dgm:pt modelId="{C48BAC37-194E-4D1C-8F97-2793C1FE2E18}" type="pres">
      <dgm:prSet presAssocID="{117E2A5B-EBE5-4D75-88DC-567C7DE231FA}" presName="rootConnector1" presStyleLbl="node1" presStyleIdx="0" presStyleCnt="0"/>
      <dgm:spPr/>
    </dgm:pt>
    <dgm:pt modelId="{AE437F80-45E1-4402-8DEA-7026977E3644}" type="pres">
      <dgm:prSet presAssocID="{117E2A5B-EBE5-4D75-88DC-567C7DE231FA}" presName="hierChild2" presStyleCnt="0"/>
      <dgm:spPr/>
    </dgm:pt>
    <dgm:pt modelId="{6E637D4A-D42B-48D2-ABC3-4F506231EBFC}" type="pres">
      <dgm:prSet presAssocID="{CC0AB91B-A8F1-40B8-88CA-E972226F9BAE}" presName="Name37" presStyleLbl="parChTrans1D2" presStyleIdx="0" presStyleCnt="4"/>
      <dgm:spPr/>
    </dgm:pt>
    <dgm:pt modelId="{AE1C641B-7C53-4394-955A-2960C40AE70E}" type="pres">
      <dgm:prSet presAssocID="{B8415043-E642-4BDC-BDB0-9A7F30640E9B}" presName="hierRoot2" presStyleCnt="0">
        <dgm:presLayoutVars>
          <dgm:hierBranch val="init"/>
        </dgm:presLayoutVars>
      </dgm:prSet>
      <dgm:spPr/>
    </dgm:pt>
    <dgm:pt modelId="{D28CF1A1-6647-4EC8-B789-168A3F9E63FA}" type="pres">
      <dgm:prSet presAssocID="{B8415043-E642-4BDC-BDB0-9A7F30640E9B}" presName="rootComposite" presStyleCnt="0"/>
      <dgm:spPr/>
    </dgm:pt>
    <dgm:pt modelId="{CB50A684-99D0-43BA-913A-77CA69123250}" type="pres">
      <dgm:prSet presAssocID="{B8415043-E642-4BDC-BDB0-9A7F30640E9B}" presName="rootText" presStyleLbl="node2" presStyleIdx="0" presStyleCnt="4" custScaleX="108054">
        <dgm:presLayoutVars>
          <dgm:chPref val="3"/>
        </dgm:presLayoutVars>
      </dgm:prSet>
      <dgm:spPr/>
    </dgm:pt>
    <dgm:pt modelId="{01DC75B1-8A6C-453B-A267-DC4EE97A77B9}" type="pres">
      <dgm:prSet presAssocID="{B8415043-E642-4BDC-BDB0-9A7F30640E9B}" presName="rootConnector" presStyleLbl="node2" presStyleIdx="0" presStyleCnt="4"/>
      <dgm:spPr/>
    </dgm:pt>
    <dgm:pt modelId="{D64B3850-C883-4CFA-8056-CA71972193DF}" type="pres">
      <dgm:prSet presAssocID="{B8415043-E642-4BDC-BDB0-9A7F30640E9B}" presName="hierChild4" presStyleCnt="0"/>
      <dgm:spPr/>
    </dgm:pt>
    <dgm:pt modelId="{09B1F8C3-AA6F-41D0-8EBE-B6569A21A1D0}" type="pres">
      <dgm:prSet presAssocID="{B8415043-E642-4BDC-BDB0-9A7F30640E9B}" presName="hierChild5" presStyleCnt="0"/>
      <dgm:spPr/>
    </dgm:pt>
    <dgm:pt modelId="{2B99C873-5A1B-4353-805B-62ADB6CBCAF0}" type="pres">
      <dgm:prSet presAssocID="{79811D7A-8440-4A20-92E9-E00C82DBC4D0}" presName="Name37" presStyleLbl="parChTrans1D2" presStyleIdx="1" presStyleCnt="4"/>
      <dgm:spPr/>
    </dgm:pt>
    <dgm:pt modelId="{DF849D87-A658-458B-B5BE-2938D6653EBF}" type="pres">
      <dgm:prSet presAssocID="{3B45AF37-AA75-41B0-A31C-F42C5B26C463}" presName="hierRoot2" presStyleCnt="0">
        <dgm:presLayoutVars>
          <dgm:hierBranch val="init"/>
        </dgm:presLayoutVars>
      </dgm:prSet>
      <dgm:spPr/>
    </dgm:pt>
    <dgm:pt modelId="{6E2E375B-CA29-42EA-95F7-D82E320F4D1A}" type="pres">
      <dgm:prSet presAssocID="{3B45AF37-AA75-41B0-A31C-F42C5B26C463}" presName="rootComposite" presStyleCnt="0"/>
      <dgm:spPr/>
    </dgm:pt>
    <dgm:pt modelId="{F41D0D8D-5A71-4652-8393-63118630B48D}" type="pres">
      <dgm:prSet presAssocID="{3B45AF37-AA75-41B0-A31C-F42C5B26C463}" presName="rootText" presStyleLbl="node2" presStyleIdx="1" presStyleCnt="4" custScaleX="108054">
        <dgm:presLayoutVars>
          <dgm:chPref val="3"/>
        </dgm:presLayoutVars>
      </dgm:prSet>
      <dgm:spPr/>
    </dgm:pt>
    <dgm:pt modelId="{00CB1637-30BD-4B1E-B7FC-20F4CE85D112}" type="pres">
      <dgm:prSet presAssocID="{3B45AF37-AA75-41B0-A31C-F42C5B26C463}" presName="rootConnector" presStyleLbl="node2" presStyleIdx="1" presStyleCnt="4"/>
      <dgm:spPr/>
    </dgm:pt>
    <dgm:pt modelId="{C11D0307-C06C-4B54-9392-8AF8CC6A2182}" type="pres">
      <dgm:prSet presAssocID="{3B45AF37-AA75-41B0-A31C-F42C5B26C463}" presName="hierChild4" presStyleCnt="0"/>
      <dgm:spPr/>
    </dgm:pt>
    <dgm:pt modelId="{2224B484-DFC8-4B43-899E-AE7E347D998D}" type="pres">
      <dgm:prSet presAssocID="{3B45AF37-AA75-41B0-A31C-F42C5B26C463}" presName="hierChild5" presStyleCnt="0"/>
      <dgm:spPr/>
    </dgm:pt>
    <dgm:pt modelId="{75752C78-EF83-47BC-8980-7E03877FB6A3}" type="pres">
      <dgm:prSet presAssocID="{4092F8E5-D4CB-4B14-990E-32FDB2AFC676}" presName="Name37" presStyleLbl="parChTrans1D2" presStyleIdx="2" presStyleCnt="4"/>
      <dgm:spPr/>
    </dgm:pt>
    <dgm:pt modelId="{9DB9CF58-D131-4850-ABB8-530C0D6DC0A1}" type="pres">
      <dgm:prSet presAssocID="{8CBD5C78-187B-4901-BBF9-A8261B5CBD53}" presName="hierRoot2" presStyleCnt="0">
        <dgm:presLayoutVars>
          <dgm:hierBranch val="init"/>
        </dgm:presLayoutVars>
      </dgm:prSet>
      <dgm:spPr/>
    </dgm:pt>
    <dgm:pt modelId="{A4C312C3-8991-4F20-9066-EA4AA4AF9768}" type="pres">
      <dgm:prSet presAssocID="{8CBD5C78-187B-4901-BBF9-A8261B5CBD53}" presName="rootComposite" presStyleCnt="0"/>
      <dgm:spPr/>
    </dgm:pt>
    <dgm:pt modelId="{E2B527D6-E7E9-4322-8730-207006C0FEEF}" type="pres">
      <dgm:prSet presAssocID="{8CBD5C78-187B-4901-BBF9-A8261B5CBD53}" presName="rootText" presStyleLbl="node2" presStyleIdx="2" presStyleCnt="4" custScaleX="108054">
        <dgm:presLayoutVars>
          <dgm:chPref val="3"/>
        </dgm:presLayoutVars>
      </dgm:prSet>
      <dgm:spPr/>
    </dgm:pt>
    <dgm:pt modelId="{AD0EECA2-556C-4D25-9BEB-8B5F0ADA0F05}" type="pres">
      <dgm:prSet presAssocID="{8CBD5C78-187B-4901-BBF9-A8261B5CBD53}" presName="rootConnector" presStyleLbl="node2" presStyleIdx="2" presStyleCnt="4"/>
      <dgm:spPr/>
    </dgm:pt>
    <dgm:pt modelId="{FA4C7F37-B961-4806-BF1D-343881C10EBE}" type="pres">
      <dgm:prSet presAssocID="{8CBD5C78-187B-4901-BBF9-A8261B5CBD53}" presName="hierChild4" presStyleCnt="0"/>
      <dgm:spPr/>
    </dgm:pt>
    <dgm:pt modelId="{03872CE6-F2E6-4B2D-A6BC-E9649A77C270}" type="pres">
      <dgm:prSet presAssocID="{8CBD5C78-187B-4901-BBF9-A8261B5CBD53}" presName="hierChild5" presStyleCnt="0"/>
      <dgm:spPr/>
    </dgm:pt>
    <dgm:pt modelId="{77DA8506-BD68-4BD1-BA06-592B5C28735E}" type="pres">
      <dgm:prSet presAssocID="{8D84E30C-E2CE-4BAF-A506-4F965519A344}" presName="Name37" presStyleLbl="parChTrans1D2" presStyleIdx="3" presStyleCnt="4"/>
      <dgm:spPr/>
    </dgm:pt>
    <dgm:pt modelId="{AEEC6BD0-D14D-4713-98DF-A51B28A97216}" type="pres">
      <dgm:prSet presAssocID="{F3AAA0A9-8D53-4D0B-A3AE-17D21B2A2DFC}" presName="hierRoot2" presStyleCnt="0">
        <dgm:presLayoutVars>
          <dgm:hierBranch val="init"/>
        </dgm:presLayoutVars>
      </dgm:prSet>
      <dgm:spPr/>
    </dgm:pt>
    <dgm:pt modelId="{749FA8EF-DC10-4A0F-B492-D423F6E1E324}" type="pres">
      <dgm:prSet presAssocID="{F3AAA0A9-8D53-4D0B-A3AE-17D21B2A2DFC}" presName="rootComposite" presStyleCnt="0"/>
      <dgm:spPr/>
    </dgm:pt>
    <dgm:pt modelId="{FEA25DED-6131-48B5-9074-4A395A28A5D7}" type="pres">
      <dgm:prSet presAssocID="{F3AAA0A9-8D53-4D0B-A3AE-17D21B2A2DFC}" presName="rootText" presStyleLbl="node2" presStyleIdx="3" presStyleCnt="4" custScaleX="108054">
        <dgm:presLayoutVars>
          <dgm:chPref val="3"/>
        </dgm:presLayoutVars>
      </dgm:prSet>
      <dgm:spPr/>
    </dgm:pt>
    <dgm:pt modelId="{87E5ED4C-BB16-4CE3-88DF-CB5EFADE51B4}" type="pres">
      <dgm:prSet presAssocID="{F3AAA0A9-8D53-4D0B-A3AE-17D21B2A2DFC}" presName="rootConnector" presStyleLbl="node2" presStyleIdx="3" presStyleCnt="4"/>
      <dgm:spPr/>
    </dgm:pt>
    <dgm:pt modelId="{111F0408-B3BF-4469-8916-660C3F69892D}" type="pres">
      <dgm:prSet presAssocID="{F3AAA0A9-8D53-4D0B-A3AE-17D21B2A2DFC}" presName="hierChild4" presStyleCnt="0"/>
      <dgm:spPr/>
    </dgm:pt>
    <dgm:pt modelId="{99D7C67B-162F-47A0-BB66-3754E9ECEFCF}" type="pres">
      <dgm:prSet presAssocID="{F3AAA0A9-8D53-4D0B-A3AE-17D21B2A2DFC}" presName="hierChild5" presStyleCnt="0"/>
      <dgm:spPr/>
    </dgm:pt>
    <dgm:pt modelId="{FAF3104E-8863-4B29-B433-6895A58251A3}" type="pres">
      <dgm:prSet presAssocID="{117E2A5B-EBE5-4D75-88DC-567C7DE231FA}" presName="hierChild3" presStyleCnt="0"/>
      <dgm:spPr/>
    </dgm:pt>
  </dgm:ptLst>
  <dgm:cxnLst>
    <dgm:cxn modelId="{91C89C2A-DC4F-4756-9BC8-609A30CEED4A}" type="presOf" srcId="{8CBD5C78-187B-4901-BBF9-A8261B5CBD53}" destId="{AD0EECA2-556C-4D25-9BEB-8B5F0ADA0F05}" srcOrd="1" destOrd="0" presId="urn:microsoft.com/office/officeart/2005/8/layout/orgChart1"/>
    <dgm:cxn modelId="{3076BC35-169C-4A3A-99D0-3DD87DD45BDE}" type="presOf" srcId="{117E2A5B-EBE5-4D75-88DC-567C7DE231FA}" destId="{DAA9F0C7-A249-4FC5-8156-9845481E1017}" srcOrd="0" destOrd="0" presId="urn:microsoft.com/office/officeart/2005/8/layout/orgChart1"/>
    <dgm:cxn modelId="{8D11B060-6E36-48B8-B6D8-416D90BE300A}" type="presOf" srcId="{CC0AB91B-A8F1-40B8-88CA-E972226F9BAE}" destId="{6E637D4A-D42B-48D2-ABC3-4F506231EBFC}" srcOrd="0" destOrd="0" presId="urn:microsoft.com/office/officeart/2005/8/layout/orgChart1"/>
    <dgm:cxn modelId="{2E6EA261-C371-4C2E-98F7-4F30A6BF448F}" type="presOf" srcId="{3B45AF37-AA75-41B0-A31C-F42C5B26C463}" destId="{00CB1637-30BD-4B1E-B7FC-20F4CE85D112}" srcOrd="1" destOrd="0" presId="urn:microsoft.com/office/officeart/2005/8/layout/orgChart1"/>
    <dgm:cxn modelId="{A2BF8D66-7DB9-4A4F-84C2-F886096D10E4}" srcId="{117E2A5B-EBE5-4D75-88DC-567C7DE231FA}" destId="{F3AAA0A9-8D53-4D0B-A3AE-17D21B2A2DFC}" srcOrd="3" destOrd="0" parTransId="{8D84E30C-E2CE-4BAF-A506-4F965519A344}" sibTransId="{044B2071-6685-41A6-A33C-9EF0D0FB5566}"/>
    <dgm:cxn modelId="{8C876E4F-6879-4869-849B-B0F9866C0037}" srcId="{117E2A5B-EBE5-4D75-88DC-567C7DE231FA}" destId="{3B45AF37-AA75-41B0-A31C-F42C5B26C463}" srcOrd="1" destOrd="0" parTransId="{79811D7A-8440-4A20-92E9-E00C82DBC4D0}" sibTransId="{FF51AC25-365B-443B-A14D-ECCC4159B089}"/>
    <dgm:cxn modelId="{4EDFE854-9DED-4720-81EC-CA5A3CCE7564}" type="presOf" srcId="{F3AAA0A9-8D53-4D0B-A3AE-17D21B2A2DFC}" destId="{FEA25DED-6131-48B5-9074-4A395A28A5D7}" srcOrd="0" destOrd="0" presId="urn:microsoft.com/office/officeart/2005/8/layout/orgChart1"/>
    <dgm:cxn modelId="{2EACF08A-FBB4-4AA7-B18F-F34380BB63D0}" type="presOf" srcId="{8CBD5C78-187B-4901-BBF9-A8261B5CBD53}" destId="{E2B527D6-E7E9-4322-8730-207006C0FEEF}" srcOrd="0" destOrd="0" presId="urn:microsoft.com/office/officeart/2005/8/layout/orgChart1"/>
    <dgm:cxn modelId="{EFA4B296-3925-4CEC-A871-E71F98FC06E4}" type="presOf" srcId="{79811D7A-8440-4A20-92E9-E00C82DBC4D0}" destId="{2B99C873-5A1B-4353-805B-62ADB6CBCAF0}" srcOrd="0" destOrd="0" presId="urn:microsoft.com/office/officeart/2005/8/layout/orgChart1"/>
    <dgm:cxn modelId="{47EE739A-B0B6-4FE5-8D7C-BA47718A84D1}" type="presOf" srcId="{B8415043-E642-4BDC-BDB0-9A7F30640E9B}" destId="{01DC75B1-8A6C-453B-A267-DC4EE97A77B9}" srcOrd="1" destOrd="0" presId="urn:microsoft.com/office/officeart/2005/8/layout/orgChart1"/>
    <dgm:cxn modelId="{1AECB5AC-BEFD-4387-A970-B7C7253C7562}" srcId="{117E2A5B-EBE5-4D75-88DC-567C7DE231FA}" destId="{B8415043-E642-4BDC-BDB0-9A7F30640E9B}" srcOrd="0" destOrd="0" parTransId="{CC0AB91B-A8F1-40B8-88CA-E972226F9BAE}" sibTransId="{6A507549-E55B-47DF-BD79-E2D7A1B33D70}"/>
    <dgm:cxn modelId="{3A0444B3-D75F-4E13-BC4E-3B88192F8DC8}" type="presOf" srcId="{0F838786-E0A7-40A7-A363-5EE4729D7CD5}" destId="{93BFF1F4-935C-499C-A6CA-DBD004020555}" srcOrd="0" destOrd="0" presId="urn:microsoft.com/office/officeart/2005/8/layout/orgChart1"/>
    <dgm:cxn modelId="{C0DABAC9-9D10-4B25-8ED0-AF15836ABB61}" srcId="{117E2A5B-EBE5-4D75-88DC-567C7DE231FA}" destId="{8CBD5C78-187B-4901-BBF9-A8261B5CBD53}" srcOrd="2" destOrd="0" parTransId="{4092F8E5-D4CB-4B14-990E-32FDB2AFC676}" sibTransId="{0DC47E7B-09A8-456D-9660-D0FD2765851D}"/>
    <dgm:cxn modelId="{F1EAFED0-9165-4F7C-B2A1-A148C7F8D08C}" type="presOf" srcId="{117E2A5B-EBE5-4D75-88DC-567C7DE231FA}" destId="{C48BAC37-194E-4D1C-8F97-2793C1FE2E18}" srcOrd="1" destOrd="0" presId="urn:microsoft.com/office/officeart/2005/8/layout/orgChart1"/>
    <dgm:cxn modelId="{3C51E9D1-8A65-4729-A163-30DB6736DE9D}" srcId="{0F838786-E0A7-40A7-A363-5EE4729D7CD5}" destId="{117E2A5B-EBE5-4D75-88DC-567C7DE231FA}" srcOrd="0" destOrd="0" parTransId="{D0807FE2-3A60-4890-85AC-A9273D48440A}" sibTransId="{87D2EF62-1370-4B52-BA5F-D7D26690BA70}"/>
    <dgm:cxn modelId="{D26099D4-BA13-4156-97BB-E4C311F764C3}" type="presOf" srcId="{B8415043-E642-4BDC-BDB0-9A7F30640E9B}" destId="{CB50A684-99D0-43BA-913A-77CA69123250}" srcOrd="0" destOrd="0" presId="urn:microsoft.com/office/officeart/2005/8/layout/orgChart1"/>
    <dgm:cxn modelId="{D062B3DA-D146-4E97-8F08-7DFCB277B52C}" type="presOf" srcId="{F3AAA0A9-8D53-4D0B-A3AE-17D21B2A2DFC}" destId="{87E5ED4C-BB16-4CE3-88DF-CB5EFADE51B4}" srcOrd="1" destOrd="0" presId="urn:microsoft.com/office/officeart/2005/8/layout/orgChart1"/>
    <dgm:cxn modelId="{16D524E6-CD40-499A-9565-300786CC42B6}" type="presOf" srcId="{3B45AF37-AA75-41B0-A31C-F42C5B26C463}" destId="{F41D0D8D-5A71-4652-8393-63118630B48D}" srcOrd="0" destOrd="0" presId="urn:microsoft.com/office/officeart/2005/8/layout/orgChart1"/>
    <dgm:cxn modelId="{93CEB1EC-859B-424F-8C92-1A76BFC0336D}" type="presOf" srcId="{8D84E30C-E2CE-4BAF-A506-4F965519A344}" destId="{77DA8506-BD68-4BD1-BA06-592B5C28735E}" srcOrd="0" destOrd="0" presId="urn:microsoft.com/office/officeart/2005/8/layout/orgChart1"/>
    <dgm:cxn modelId="{71E078EF-4991-4F3F-AC2A-3504343D14A9}" type="presOf" srcId="{4092F8E5-D4CB-4B14-990E-32FDB2AFC676}" destId="{75752C78-EF83-47BC-8980-7E03877FB6A3}" srcOrd="0" destOrd="0" presId="urn:microsoft.com/office/officeart/2005/8/layout/orgChart1"/>
    <dgm:cxn modelId="{5082623C-8CC9-495C-9346-7FA3517569E5}" type="presParOf" srcId="{93BFF1F4-935C-499C-A6CA-DBD004020555}" destId="{234D7572-DB3A-4460-9591-578F40D84FCE}" srcOrd="0" destOrd="0" presId="urn:microsoft.com/office/officeart/2005/8/layout/orgChart1"/>
    <dgm:cxn modelId="{725F32B7-952F-478B-9EE8-D86E1C28B99A}" type="presParOf" srcId="{234D7572-DB3A-4460-9591-578F40D84FCE}" destId="{87EC2FD6-E721-454E-B051-4D3A1ED9BBD9}" srcOrd="0" destOrd="0" presId="urn:microsoft.com/office/officeart/2005/8/layout/orgChart1"/>
    <dgm:cxn modelId="{168DE336-5850-482C-8B29-008327EF81F9}" type="presParOf" srcId="{87EC2FD6-E721-454E-B051-4D3A1ED9BBD9}" destId="{DAA9F0C7-A249-4FC5-8156-9845481E1017}" srcOrd="0" destOrd="0" presId="urn:microsoft.com/office/officeart/2005/8/layout/orgChart1"/>
    <dgm:cxn modelId="{E19E3A4F-21D2-4274-B4E2-C06E96701665}" type="presParOf" srcId="{87EC2FD6-E721-454E-B051-4D3A1ED9BBD9}" destId="{C48BAC37-194E-4D1C-8F97-2793C1FE2E18}" srcOrd="1" destOrd="0" presId="urn:microsoft.com/office/officeart/2005/8/layout/orgChart1"/>
    <dgm:cxn modelId="{E9C7A730-27BE-40D3-A0C4-75BF58911978}" type="presParOf" srcId="{234D7572-DB3A-4460-9591-578F40D84FCE}" destId="{AE437F80-45E1-4402-8DEA-7026977E3644}" srcOrd="1" destOrd="0" presId="urn:microsoft.com/office/officeart/2005/8/layout/orgChart1"/>
    <dgm:cxn modelId="{4DB95BE3-CACA-4241-B59F-3574CAA8C743}" type="presParOf" srcId="{AE437F80-45E1-4402-8DEA-7026977E3644}" destId="{6E637D4A-D42B-48D2-ABC3-4F506231EBFC}" srcOrd="0" destOrd="0" presId="urn:microsoft.com/office/officeart/2005/8/layout/orgChart1"/>
    <dgm:cxn modelId="{DD78DA4A-8FE4-48F8-85D3-4812F7880661}" type="presParOf" srcId="{AE437F80-45E1-4402-8DEA-7026977E3644}" destId="{AE1C641B-7C53-4394-955A-2960C40AE70E}" srcOrd="1" destOrd="0" presId="urn:microsoft.com/office/officeart/2005/8/layout/orgChart1"/>
    <dgm:cxn modelId="{452D9E51-2537-4DE0-8228-D1A36F768042}" type="presParOf" srcId="{AE1C641B-7C53-4394-955A-2960C40AE70E}" destId="{D28CF1A1-6647-4EC8-B789-168A3F9E63FA}" srcOrd="0" destOrd="0" presId="urn:microsoft.com/office/officeart/2005/8/layout/orgChart1"/>
    <dgm:cxn modelId="{89B26C86-BF55-460E-A00F-864AE1FDA3B9}" type="presParOf" srcId="{D28CF1A1-6647-4EC8-B789-168A3F9E63FA}" destId="{CB50A684-99D0-43BA-913A-77CA69123250}" srcOrd="0" destOrd="0" presId="urn:microsoft.com/office/officeart/2005/8/layout/orgChart1"/>
    <dgm:cxn modelId="{99810134-8F5C-456D-9B55-192091B37069}" type="presParOf" srcId="{D28CF1A1-6647-4EC8-B789-168A3F9E63FA}" destId="{01DC75B1-8A6C-453B-A267-DC4EE97A77B9}" srcOrd="1" destOrd="0" presId="urn:microsoft.com/office/officeart/2005/8/layout/orgChart1"/>
    <dgm:cxn modelId="{2122E70D-6DDE-4694-93BF-49C291AF31A3}" type="presParOf" srcId="{AE1C641B-7C53-4394-955A-2960C40AE70E}" destId="{D64B3850-C883-4CFA-8056-CA71972193DF}" srcOrd="1" destOrd="0" presId="urn:microsoft.com/office/officeart/2005/8/layout/orgChart1"/>
    <dgm:cxn modelId="{FD375B9A-026E-41C6-B1F5-D691449DBBEF}" type="presParOf" srcId="{AE1C641B-7C53-4394-955A-2960C40AE70E}" destId="{09B1F8C3-AA6F-41D0-8EBE-B6569A21A1D0}" srcOrd="2" destOrd="0" presId="urn:microsoft.com/office/officeart/2005/8/layout/orgChart1"/>
    <dgm:cxn modelId="{8A0FCAC0-6FAA-47B6-803A-0E0691903140}" type="presParOf" srcId="{AE437F80-45E1-4402-8DEA-7026977E3644}" destId="{2B99C873-5A1B-4353-805B-62ADB6CBCAF0}" srcOrd="2" destOrd="0" presId="urn:microsoft.com/office/officeart/2005/8/layout/orgChart1"/>
    <dgm:cxn modelId="{2381F2EA-4BA0-4399-B6F4-59E96579116A}" type="presParOf" srcId="{AE437F80-45E1-4402-8DEA-7026977E3644}" destId="{DF849D87-A658-458B-B5BE-2938D6653EBF}" srcOrd="3" destOrd="0" presId="urn:microsoft.com/office/officeart/2005/8/layout/orgChart1"/>
    <dgm:cxn modelId="{B94B6775-59AC-4870-8C3A-8B7AEE4E64C5}" type="presParOf" srcId="{DF849D87-A658-458B-B5BE-2938D6653EBF}" destId="{6E2E375B-CA29-42EA-95F7-D82E320F4D1A}" srcOrd="0" destOrd="0" presId="urn:microsoft.com/office/officeart/2005/8/layout/orgChart1"/>
    <dgm:cxn modelId="{DCCA5F2D-3447-44BA-8E3D-0FD2985907A4}" type="presParOf" srcId="{6E2E375B-CA29-42EA-95F7-D82E320F4D1A}" destId="{F41D0D8D-5A71-4652-8393-63118630B48D}" srcOrd="0" destOrd="0" presId="urn:microsoft.com/office/officeart/2005/8/layout/orgChart1"/>
    <dgm:cxn modelId="{E76B5421-2630-4893-9CAC-42A5E32D7D72}" type="presParOf" srcId="{6E2E375B-CA29-42EA-95F7-D82E320F4D1A}" destId="{00CB1637-30BD-4B1E-B7FC-20F4CE85D112}" srcOrd="1" destOrd="0" presId="urn:microsoft.com/office/officeart/2005/8/layout/orgChart1"/>
    <dgm:cxn modelId="{9396DF96-67A5-4E09-A0F9-97AFF3CFF060}" type="presParOf" srcId="{DF849D87-A658-458B-B5BE-2938D6653EBF}" destId="{C11D0307-C06C-4B54-9392-8AF8CC6A2182}" srcOrd="1" destOrd="0" presId="urn:microsoft.com/office/officeart/2005/8/layout/orgChart1"/>
    <dgm:cxn modelId="{CB959E86-5C40-4890-B06D-A06310625970}" type="presParOf" srcId="{DF849D87-A658-458B-B5BE-2938D6653EBF}" destId="{2224B484-DFC8-4B43-899E-AE7E347D998D}" srcOrd="2" destOrd="0" presId="urn:microsoft.com/office/officeart/2005/8/layout/orgChart1"/>
    <dgm:cxn modelId="{FE8EA60A-2003-400F-B575-E5FE2E61C743}" type="presParOf" srcId="{AE437F80-45E1-4402-8DEA-7026977E3644}" destId="{75752C78-EF83-47BC-8980-7E03877FB6A3}" srcOrd="4" destOrd="0" presId="urn:microsoft.com/office/officeart/2005/8/layout/orgChart1"/>
    <dgm:cxn modelId="{6E72CEFA-01B5-46AF-B134-542480CCDF04}" type="presParOf" srcId="{AE437F80-45E1-4402-8DEA-7026977E3644}" destId="{9DB9CF58-D131-4850-ABB8-530C0D6DC0A1}" srcOrd="5" destOrd="0" presId="urn:microsoft.com/office/officeart/2005/8/layout/orgChart1"/>
    <dgm:cxn modelId="{4D316300-D623-45AA-823B-C5D72B197117}" type="presParOf" srcId="{9DB9CF58-D131-4850-ABB8-530C0D6DC0A1}" destId="{A4C312C3-8991-4F20-9066-EA4AA4AF9768}" srcOrd="0" destOrd="0" presId="urn:microsoft.com/office/officeart/2005/8/layout/orgChart1"/>
    <dgm:cxn modelId="{12E65DE8-841B-4E61-896D-A0F6E8B321A1}" type="presParOf" srcId="{A4C312C3-8991-4F20-9066-EA4AA4AF9768}" destId="{E2B527D6-E7E9-4322-8730-207006C0FEEF}" srcOrd="0" destOrd="0" presId="urn:microsoft.com/office/officeart/2005/8/layout/orgChart1"/>
    <dgm:cxn modelId="{C9C30350-DC94-4972-A5FC-2A2C8961B830}" type="presParOf" srcId="{A4C312C3-8991-4F20-9066-EA4AA4AF9768}" destId="{AD0EECA2-556C-4D25-9BEB-8B5F0ADA0F05}" srcOrd="1" destOrd="0" presId="urn:microsoft.com/office/officeart/2005/8/layout/orgChart1"/>
    <dgm:cxn modelId="{07A37AE1-A578-48B9-93B2-45D0072E157A}" type="presParOf" srcId="{9DB9CF58-D131-4850-ABB8-530C0D6DC0A1}" destId="{FA4C7F37-B961-4806-BF1D-343881C10EBE}" srcOrd="1" destOrd="0" presId="urn:microsoft.com/office/officeart/2005/8/layout/orgChart1"/>
    <dgm:cxn modelId="{B3F7C548-C8E8-4E14-8173-56F733053AD7}" type="presParOf" srcId="{9DB9CF58-D131-4850-ABB8-530C0D6DC0A1}" destId="{03872CE6-F2E6-4B2D-A6BC-E9649A77C270}" srcOrd="2" destOrd="0" presId="urn:microsoft.com/office/officeart/2005/8/layout/orgChart1"/>
    <dgm:cxn modelId="{51683BAD-A106-4445-B3FA-64819F2B0215}" type="presParOf" srcId="{AE437F80-45E1-4402-8DEA-7026977E3644}" destId="{77DA8506-BD68-4BD1-BA06-592B5C28735E}" srcOrd="6" destOrd="0" presId="urn:microsoft.com/office/officeart/2005/8/layout/orgChart1"/>
    <dgm:cxn modelId="{4DD900A8-8A9C-440B-8613-2C6D1B21143A}" type="presParOf" srcId="{AE437F80-45E1-4402-8DEA-7026977E3644}" destId="{AEEC6BD0-D14D-4713-98DF-A51B28A97216}" srcOrd="7" destOrd="0" presId="urn:microsoft.com/office/officeart/2005/8/layout/orgChart1"/>
    <dgm:cxn modelId="{22FAE44D-C243-4B86-A392-75C9B69A6846}" type="presParOf" srcId="{AEEC6BD0-D14D-4713-98DF-A51B28A97216}" destId="{749FA8EF-DC10-4A0F-B492-D423F6E1E324}" srcOrd="0" destOrd="0" presId="urn:microsoft.com/office/officeart/2005/8/layout/orgChart1"/>
    <dgm:cxn modelId="{DFA18EC0-868E-4DFD-BD22-0B02316BF222}" type="presParOf" srcId="{749FA8EF-DC10-4A0F-B492-D423F6E1E324}" destId="{FEA25DED-6131-48B5-9074-4A395A28A5D7}" srcOrd="0" destOrd="0" presId="urn:microsoft.com/office/officeart/2005/8/layout/orgChart1"/>
    <dgm:cxn modelId="{B47EAA8E-1410-4F0F-8ECB-C5EE96057631}" type="presParOf" srcId="{749FA8EF-DC10-4A0F-B492-D423F6E1E324}" destId="{87E5ED4C-BB16-4CE3-88DF-CB5EFADE51B4}" srcOrd="1" destOrd="0" presId="urn:microsoft.com/office/officeart/2005/8/layout/orgChart1"/>
    <dgm:cxn modelId="{137E7224-BC62-46D9-B39A-EA5FDD2FF970}" type="presParOf" srcId="{AEEC6BD0-D14D-4713-98DF-A51B28A97216}" destId="{111F0408-B3BF-4469-8916-660C3F69892D}" srcOrd="1" destOrd="0" presId="urn:microsoft.com/office/officeart/2005/8/layout/orgChart1"/>
    <dgm:cxn modelId="{3AA0B9B9-C050-43B4-80EC-CBE9B5E15C15}" type="presParOf" srcId="{AEEC6BD0-D14D-4713-98DF-A51B28A97216}" destId="{99D7C67B-162F-47A0-BB66-3754E9ECEFCF}" srcOrd="2" destOrd="0" presId="urn:microsoft.com/office/officeart/2005/8/layout/orgChart1"/>
    <dgm:cxn modelId="{B60B117B-8D3D-4541-938B-BCCF93B81006}" type="presParOf" srcId="{234D7572-DB3A-4460-9591-578F40D84FCE}" destId="{FAF3104E-8863-4B29-B433-6895A58251A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C2C4C-BE9D-40A2-B206-FDB8B5D52783}">
      <dsp:nvSpPr>
        <dsp:cNvPr id="0" name=""/>
        <dsp:cNvSpPr/>
      </dsp:nvSpPr>
      <dsp:spPr>
        <a:xfrm>
          <a:off x="3240283" y="659"/>
          <a:ext cx="1407814" cy="1407814"/>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ZA" sz="1000" kern="1200" noProof="0" dirty="0"/>
            <a:t>Assets/Liabilities</a:t>
          </a:r>
        </a:p>
        <a:p>
          <a:pPr marL="0" lvl="0" indent="0" algn="ctr" defTabSz="444500">
            <a:lnSpc>
              <a:spcPct val="90000"/>
            </a:lnSpc>
            <a:spcBef>
              <a:spcPct val="0"/>
            </a:spcBef>
            <a:spcAft>
              <a:spcPct val="35000"/>
            </a:spcAft>
            <a:buNone/>
          </a:pPr>
          <a:r>
            <a:rPr lang="en-ZA" sz="1000" kern="1200" noProof="0" dirty="0"/>
            <a:t>(and equity)</a:t>
          </a:r>
        </a:p>
      </dsp:txBody>
      <dsp:txXfrm>
        <a:off x="3446453" y="206829"/>
        <a:ext cx="995474" cy="995474"/>
      </dsp:txXfrm>
    </dsp:sp>
    <dsp:sp modelId="{C9F75AA9-E7BE-462C-8F91-61DA9DECA04B}">
      <dsp:nvSpPr>
        <dsp:cNvPr id="0" name=""/>
        <dsp:cNvSpPr/>
      </dsp:nvSpPr>
      <dsp:spPr>
        <a:xfrm rot="2700000">
          <a:off x="4497109" y="1207519"/>
          <a:ext cx="375206" cy="475137"/>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ZA" sz="800" kern="1200" noProof="0" dirty="0"/>
        </a:p>
      </dsp:txBody>
      <dsp:txXfrm>
        <a:off x="4513593" y="1262749"/>
        <a:ext cx="262644" cy="285083"/>
      </dsp:txXfrm>
    </dsp:sp>
    <dsp:sp modelId="{E51D197C-2897-4FA7-ADA9-72858BEDF3D5}">
      <dsp:nvSpPr>
        <dsp:cNvPr id="0" name=""/>
        <dsp:cNvSpPr/>
      </dsp:nvSpPr>
      <dsp:spPr>
        <a:xfrm>
          <a:off x="4736345" y="1496720"/>
          <a:ext cx="1407814" cy="1407814"/>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ZA" sz="1000" kern="1200" noProof="0" dirty="0"/>
            <a:t>Income/Expenses</a:t>
          </a:r>
        </a:p>
      </dsp:txBody>
      <dsp:txXfrm>
        <a:off x="4942515" y="1702890"/>
        <a:ext cx="995474" cy="995474"/>
      </dsp:txXfrm>
    </dsp:sp>
    <dsp:sp modelId="{FD1C6AF0-6109-45BF-B550-166012C0FD5B}">
      <dsp:nvSpPr>
        <dsp:cNvPr id="0" name=""/>
        <dsp:cNvSpPr/>
      </dsp:nvSpPr>
      <dsp:spPr>
        <a:xfrm rot="8100000">
          <a:off x="4512126" y="2703581"/>
          <a:ext cx="375206" cy="475137"/>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ZA" sz="800" kern="1200" noProof="0" dirty="0"/>
        </a:p>
      </dsp:txBody>
      <dsp:txXfrm rot="10800000">
        <a:off x="4608204" y="2758811"/>
        <a:ext cx="262644" cy="285083"/>
      </dsp:txXfrm>
    </dsp:sp>
    <dsp:sp modelId="{20D7691F-A1D3-49B4-A73B-ED99DE6353C4}">
      <dsp:nvSpPr>
        <dsp:cNvPr id="0" name=""/>
        <dsp:cNvSpPr/>
      </dsp:nvSpPr>
      <dsp:spPr>
        <a:xfrm>
          <a:off x="3240283" y="2992782"/>
          <a:ext cx="1407814" cy="1407814"/>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ZA" sz="1000" kern="1200" noProof="0" dirty="0"/>
            <a:t>Recognition </a:t>
          </a:r>
        </a:p>
      </dsp:txBody>
      <dsp:txXfrm>
        <a:off x="3446453" y="3198952"/>
        <a:ext cx="995474" cy="995474"/>
      </dsp:txXfrm>
    </dsp:sp>
    <dsp:sp modelId="{20A0913D-DA2D-4FD3-BC56-137B04F3EB42}">
      <dsp:nvSpPr>
        <dsp:cNvPr id="0" name=""/>
        <dsp:cNvSpPr/>
      </dsp:nvSpPr>
      <dsp:spPr>
        <a:xfrm rot="13500000">
          <a:off x="3016065" y="2718599"/>
          <a:ext cx="375206" cy="475137"/>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ZA" sz="800" kern="1200" noProof="0" dirty="0"/>
        </a:p>
      </dsp:txBody>
      <dsp:txXfrm rot="10800000">
        <a:off x="3112143" y="2853423"/>
        <a:ext cx="262644" cy="285083"/>
      </dsp:txXfrm>
    </dsp:sp>
    <dsp:sp modelId="{0A67B68D-1E28-44B4-A390-F54A9ADB331A}">
      <dsp:nvSpPr>
        <dsp:cNvPr id="0" name=""/>
        <dsp:cNvSpPr/>
      </dsp:nvSpPr>
      <dsp:spPr>
        <a:xfrm>
          <a:off x="1744221" y="1496720"/>
          <a:ext cx="1407814" cy="1407814"/>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ZA" sz="1000" kern="1200" noProof="0" dirty="0"/>
            <a:t>Financial statements</a:t>
          </a:r>
        </a:p>
      </dsp:txBody>
      <dsp:txXfrm>
        <a:off x="1950391" y="1702890"/>
        <a:ext cx="995474" cy="995474"/>
      </dsp:txXfrm>
    </dsp:sp>
    <dsp:sp modelId="{26EA146F-BE7F-474F-A007-B662D29AB9CF}">
      <dsp:nvSpPr>
        <dsp:cNvPr id="0" name=""/>
        <dsp:cNvSpPr/>
      </dsp:nvSpPr>
      <dsp:spPr>
        <a:xfrm rot="18900000">
          <a:off x="3001047" y="1222537"/>
          <a:ext cx="375206" cy="475137"/>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ZA" sz="800" kern="1200" noProof="0" dirty="0"/>
        </a:p>
      </dsp:txBody>
      <dsp:txXfrm>
        <a:off x="3017531" y="1357361"/>
        <a:ext cx="262644" cy="2850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291351-930B-4A72-B7DE-F35900CD6F1E}">
      <dsp:nvSpPr>
        <dsp:cNvPr id="0" name=""/>
        <dsp:cNvSpPr/>
      </dsp:nvSpPr>
      <dsp:spPr>
        <a:xfrm rot="5400000">
          <a:off x="4573057" y="-1934203"/>
          <a:ext cx="1267031" cy="513640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latin typeface="Arial" panose="020B0604020202020204" pitchFamily="34" charset="0"/>
              <a:cs typeface="Arial" panose="020B0604020202020204" pitchFamily="34" charset="0"/>
            </a:rPr>
            <a:t>To provide financial information about the reporting entity that it useful to…</a:t>
          </a:r>
        </a:p>
      </dsp:txBody>
      <dsp:txXfrm rot="-5400000">
        <a:off x="2638371" y="62334"/>
        <a:ext cx="5074554" cy="1143329"/>
      </dsp:txXfrm>
    </dsp:sp>
    <dsp:sp modelId="{F83010D4-00F1-4F72-8891-15E83CED7A8D}">
      <dsp:nvSpPr>
        <dsp:cNvPr id="0" name=""/>
        <dsp:cNvSpPr/>
      </dsp:nvSpPr>
      <dsp:spPr>
        <a:xfrm>
          <a:off x="0" y="0"/>
          <a:ext cx="2387513" cy="11014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Objective</a:t>
          </a:r>
          <a:endParaRPr lang="en-US" sz="1600" kern="1200" dirty="0">
            <a:latin typeface="Arial" panose="020B0604020202020204" pitchFamily="34" charset="0"/>
            <a:cs typeface="Arial" panose="020B0604020202020204" pitchFamily="34" charset="0"/>
          </a:endParaRPr>
        </a:p>
      </dsp:txBody>
      <dsp:txXfrm>
        <a:off x="53767" y="53767"/>
        <a:ext cx="2279979" cy="993880"/>
      </dsp:txXfrm>
    </dsp:sp>
    <dsp:sp modelId="{6435857D-1A95-45DD-9226-044182B76524}">
      <dsp:nvSpPr>
        <dsp:cNvPr id="0" name=""/>
        <dsp:cNvSpPr/>
      </dsp:nvSpPr>
      <dsp:spPr>
        <a:xfrm rot="5400000">
          <a:off x="4573057" y="-587982"/>
          <a:ext cx="1267031" cy="513640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latin typeface="Arial" panose="020B0604020202020204" pitchFamily="34" charset="0"/>
              <a:cs typeface="Arial" panose="020B0604020202020204" pitchFamily="34" charset="0"/>
            </a:rPr>
            <a:t>Existing and potential investors,</a:t>
          </a:r>
        </a:p>
        <a:p>
          <a:pPr marL="114300" lvl="1" indent="-114300" algn="l" defTabSz="666750">
            <a:lnSpc>
              <a:spcPct val="90000"/>
            </a:lnSpc>
            <a:spcBef>
              <a:spcPct val="0"/>
            </a:spcBef>
            <a:spcAft>
              <a:spcPct val="15000"/>
            </a:spcAft>
            <a:buChar char="•"/>
          </a:pPr>
          <a:r>
            <a:rPr lang="en-US" sz="1500" kern="1200" dirty="0">
              <a:latin typeface="Arial" panose="020B0604020202020204" pitchFamily="34" charset="0"/>
              <a:cs typeface="Arial" panose="020B0604020202020204" pitchFamily="34" charset="0"/>
            </a:rPr>
            <a:t>Existing and potential lenders, and</a:t>
          </a:r>
        </a:p>
        <a:p>
          <a:pPr marL="114300" lvl="1" indent="-114300" algn="l" defTabSz="666750">
            <a:lnSpc>
              <a:spcPct val="90000"/>
            </a:lnSpc>
            <a:spcBef>
              <a:spcPct val="0"/>
            </a:spcBef>
            <a:spcAft>
              <a:spcPct val="15000"/>
            </a:spcAft>
            <a:buChar char="•"/>
          </a:pPr>
          <a:r>
            <a:rPr lang="en-US" sz="1500" kern="1200" dirty="0">
              <a:latin typeface="Arial" panose="020B0604020202020204" pitchFamily="34" charset="0"/>
              <a:cs typeface="Arial" panose="020B0604020202020204" pitchFamily="34" charset="0"/>
            </a:rPr>
            <a:t>Existing and potential other creditors</a:t>
          </a:r>
        </a:p>
      </dsp:txBody>
      <dsp:txXfrm rot="-5400000">
        <a:off x="2638371" y="1408555"/>
        <a:ext cx="5074554" cy="1143329"/>
      </dsp:txXfrm>
    </dsp:sp>
    <dsp:sp modelId="{103F879D-C17E-46FD-A7AB-0B372895B9AF}">
      <dsp:nvSpPr>
        <dsp:cNvPr id="0" name=""/>
        <dsp:cNvSpPr/>
      </dsp:nvSpPr>
      <dsp:spPr>
        <a:xfrm>
          <a:off x="0" y="1332268"/>
          <a:ext cx="2387513" cy="11014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Primary users</a:t>
          </a:r>
        </a:p>
      </dsp:txBody>
      <dsp:txXfrm>
        <a:off x="53767" y="1386035"/>
        <a:ext cx="2279979" cy="993880"/>
      </dsp:txXfrm>
    </dsp:sp>
    <dsp:sp modelId="{1B27BB89-C7A3-4BDC-8023-88CDB8E22B6F}">
      <dsp:nvSpPr>
        <dsp:cNvPr id="0" name=""/>
        <dsp:cNvSpPr/>
      </dsp:nvSpPr>
      <dsp:spPr>
        <a:xfrm rot="5400000">
          <a:off x="4573057" y="758238"/>
          <a:ext cx="1267031" cy="5136405"/>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ZA" sz="1500" kern="1200" dirty="0">
              <a:latin typeface="Arial" panose="020B0604020202020204" pitchFamily="34" charset="0"/>
              <a:cs typeface="Arial" panose="020B0604020202020204" pitchFamily="34" charset="0"/>
            </a:rPr>
            <a:t>Buying / selling / holding equity and debt instruments</a:t>
          </a:r>
          <a:endParaRPr lang="en-US" sz="1500" kern="1200" dirty="0">
            <a:latin typeface="Arial" panose="020B0604020202020204" pitchFamily="34" charset="0"/>
            <a:cs typeface="Arial" panose="020B0604020202020204" pitchFamily="34" charset="0"/>
          </a:endParaRPr>
        </a:p>
        <a:p>
          <a:pPr marL="114300" lvl="1" indent="-114300" algn="l" defTabSz="666750">
            <a:lnSpc>
              <a:spcPct val="90000"/>
            </a:lnSpc>
            <a:spcBef>
              <a:spcPct val="0"/>
            </a:spcBef>
            <a:spcAft>
              <a:spcPct val="15000"/>
            </a:spcAft>
            <a:buChar char="•"/>
          </a:pPr>
          <a:r>
            <a:rPr lang="en-ZA" sz="1500" kern="1200" dirty="0">
              <a:latin typeface="Arial" panose="020B0604020202020204" pitchFamily="34" charset="0"/>
              <a:cs typeface="Arial" panose="020B0604020202020204" pitchFamily="34" charset="0"/>
            </a:rPr>
            <a:t>Providing / settling loans and other forms of credit</a:t>
          </a:r>
        </a:p>
        <a:p>
          <a:pPr marL="114300" lvl="1" indent="-114300" algn="l" defTabSz="666750">
            <a:lnSpc>
              <a:spcPct val="90000"/>
            </a:lnSpc>
            <a:spcBef>
              <a:spcPct val="0"/>
            </a:spcBef>
            <a:spcAft>
              <a:spcPct val="15000"/>
            </a:spcAft>
            <a:buChar char="•"/>
          </a:pPr>
          <a:r>
            <a:rPr lang="en-US" sz="1500" kern="1200" dirty="0">
              <a:latin typeface="Arial" panose="020B0604020202020204" pitchFamily="34" charset="0"/>
              <a:cs typeface="Arial" panose="020B0604020202020204" pitchFamily="34" charset="0"/>
            </a:rPr>
            <a:t>Exercising rights to vote on, or otherwise influence, management’s actions that affect the use of the entity’s economic resources</a:t>
          </a:r>
          <a:endParaRPr lang="en-ZA" sz="1500" kern="1200" dirty="0">
            <a:latin typeface="Arial" panose="020B0604020202020204" pitchFamily="34" charset="0"/>
            <a:cs typeface="Arial" panose="020B0604020202020204" pitchFamily="34" charset="0"/>
          </a:endParaRPr>
        </a:p>
      </dsp:txBody>
      <dsp:txXfrm rot="-5400000">
        <a:off x="2638371" y="2754776"/>
        <a:ext cx="5074554" cy="1143329"/>
      </dsp:txXfrm>
    </dsp:sp>
    <dsp:sp modelId="{7130ACD7-D171-4C23-9C65-EACB8CBD1FDB}">
      <dsp:nvSpPr>
        <dsp:cNvPr id="0" name=""/>
        <dsp:cNvSpPr/>
      </dsp:nvSpPr>
      <dsp:spPr>
        <a:xfrm>
          <a:off x="0" y="2678488"/>
          <a:ext cx="2387513" cy="11014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Decisions</a:t>
          </a:r>
        </a:p>
      </dsp:txBody>
      <dsp:txXfrm>
        <a:off x="53767" y="2732255"/>
        <a:ext cx="2279979" cy="9938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52F664-6A3D-46E2-BC50-39D0A128B921}">
      <dsp:nvSpPr>
        <dsp:cNvPr id="0" name=""/>
        <dsp:cNvSpPr/>
      </dsp:nvSpPr>
      <dsp:spPr>
        <a:xfrm>
          <a:off x="0" y="29741"/>
          <a:ext cx="8280920" cy="1580302"/>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Information needed to make these assessments in paragraph 1.3 </a:t>
          </a:r>
          <a:r>
            <a:rPr lang="en-US" sz="1600" kern="1200" dirty="0"/>
            <a:t>[1.4]</a:t>
          </a:r>
        </a:p>
      </dsp:txBody>
      <dsp:txXfrm>
        <a:off x="0" y="29741"/>
        <a:ext cx="8280920" cy="1580302"/>
      </dsp:txXfrm>
    </dsp:sp>
    <dsp:sp modelId="{40F05061-E071-41CD-80FA-FF12FB4220B2}">
      <dsp:nvSpPr>
        <dsp:cNvPr id="0" name=""/>
        <dsp:cNvSpPr/>
      </dsp:nvSpPr>
      <dsp:spPr>
        <a:xfrm>
          <a:off x="4043" y="1580302"/>
          <a:ext cx="2757611" cy="33186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itchFamily="34" charset="0"/>
              <a:cs typeface="Arial" pitchFamily="34" charset="0"/>
            </a:rPr>
            <a:t>Economic resources available (Assets)?</a:t>
          </a:r>
          <a:endParaRPr lang="en-US" sz="2400" kern="1200" dirty="0"/>
        </a:p>
      </dsp:txBody>
      <dsp:txXfrm>
        <a:off x="4043" y="1580302"/>
        <a:ext cx="2757611" cy="3318634"/>
      </dsp:txXfrm>
    </dsp:sp>
    <dsp:sp modelId="{D17C6085-9CDF-4C0D-A59B-3BE5ADFE3182}">
      <dsp:nvSpPr>
        <dsp:cNvPr id="0" name=""/>
        <dsp:cNvSpPr/>
      </dsp:nvSpPr>
      <dsp:spPr>
        <a:xfrm>
          <a:off x="2761654" y="1580302"/>
          <a:ext cx="2757611" cy="33186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itchFamily="34" charset="0"/>
              <a:cs typeface="Arial" pitchFamily="34" charset="0"/>
            </a:rPr>
            <a:t>Claims against the entity (Liabilities)?</a:t>
          </a:r>
        </a:p>
      </dsp:txBody>
      <dsp:txXfrm>
        <a:off x="2761654" y="1580302"/>
        <a:ext cx="2757611" cy="3318634"/>
      </dsp:txXfrm>
    </dsp:sp>
    <dsp:sp modelId="{87320B8D-ED09-4DF1-9D73-F018BB3AC8C4}">
      <dsp:nvSpPr>
        <dsp:cNvPr id="0" name=""/>
        <dsp:cNvSpPr/>
      </dsp:nvSpPr>
      <dsp:spPr>
        <a:xfrm>
          <a:off x="5519265" y="1580302"/>
          <a:ext cx="2757611" cy="33186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pitchFamily="34" charset="0"/>
              <a:cs typeface="Arial" pitchFamily="34" charset="0"/>
            </a:rPr>
            <a:t>How efficiently and effectively the entity’s management have discharged their responsibilities to use entity’s economic resources </a:t>
          </a:r>
          <a:endParaRPr lang="en-US" sz="2400" kern="1200" dirty="0"/>
        </a:p>
      </dsp:txBody>
      <dsp:txXfrm>
        <a:off x="5519265" y="1580302"/>
        <a:ext cx="2757611" cy="3318634"/>
      </dsp:txXfrm>
    </dsp:sp>
    <dsp:sp modelId="{833BEFE7-F8E8-46AD-AFCB-E1173917D23D}">
      <dsp:nvSpPr>
        <dsp:cNvPr id="0" name=""/>
        <dsp:cNvSpPr/>
      </dsp:nvSpPr>
      <dsp:spPr>
        <a:xfrm>
          <a:off x="0" y="4898936"/>
          <a:ext cx="8280920" cy="368737"/>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4A95C0-8A4F-4968-BC97-F10874EAD0EE}">
      <dsp:nvSpPr>
        <dsp:cNvPr id="0" name=""/>
        <dsp:cNvSpPr/>
      </dsp:nvSpPr>
      <dsp:spPr>
        <a:xfrm>
          <a:off x="3300941" y="2027757"/>
          <a:ext cx="1541013" cy="626179"/>
        </a:xfrm>
        <a:custGeom>
          <a:avLst/>
          <a:gdLst/>
          <a:ahLst/>
          <a:cxnLst/>
          <a:rect l="0" t="0" r="0" b="0"/>
          <a:pathLst>
            <a:path>
              <a:moveTo>
                <a:pt x="0" y="0"/>
              </a:moveTo>
              <a:lnTo>
                <a:pt x="0" y="313089"/>
              </a:lnTo>
              <a:lnTo>
                <a:pt x="1541013" y="313089"/>
              </a:lnTo>
              <a:lnTo>
                <a:pt x="1541013" y="6261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243003-B7BE-4198-A663-9EEF569B151C}">
      <dsp:nvSpPr>
        <dsp:cNvPr id="0" name=""/>
        <dsp:cNvSpPr/>
      </dsp:nvSpPr>
      <dsp:spPr>
        <a:xfrm>
          <a:off x="1759928" y="2027757"/>
          <a:ext cx="1541013" cy="626179"/>
        </a:xfrm>
        <a:custGeom>
          <a:avLst/>
          <a:gdLst/>
          <a:ahLst/>
          <a:cxnLst/>
          <a:rect l="0" t="0" r="0" b="0"/>
          <a:pathLst>
            <a:path>
              <a:moveTo>
                <a:pt x="1541013" y="0"/>
              </a:moveTo>
              <a:lnTo>
                <a:pt x="1541013" y="313089"/>
              </a:lnTo>
              <a:lnTo>
                <a:pt x="0" y="313089"/>
              </a:lnTo>
              <a:lnTo>
                <a:pt x="0" y="6261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62F443-48E4-4083-944F-584107DC23E2}">
      <dsp:nvSpPr>
        <dsp:cNvPr id="0" name=""/>
        <dsp:cNvSpPr/>
      </dsp:nvSpPr>
      <dsp:spPr>
        <a:xfrm>
          <a:off x="4448" y="256414"/>
          <a:ext cx="6592985" cy="177134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b="1" kern="1200" dirty="0">
              <a:latin typeface="Arial" panose="020B0604020202020204" pitchFamily="34" charset="0"/>
              <a:cs typeface="Arial" panose="020B0604020202020204" pitchFamily="34" charset="0"/>
            </a:rPr>
            <a:t>FUNDAMENTAL CHARACTERISTICS</a:t>
          </a:r>
        </a:p>
        <a:p>
          <a:pPr marL="0" lvl="0" indent="0" algn="ctr" defTabSz="13335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(Primary/minimum requirements for useful information -&gt; </a:t>
          </a:r>
          <a:r>
            <a:rPr lang="en-US" sz="2000" b="1" kern="1200" dirty="0">
              <a:latin typeface="Arial" panose="020B0604020202020204" pitchFamily="34" charset="0"/>
              <a:cs typeface="Arial" panose="020B0604020202020204" pitchFamily="34" charset="0"/>
            </a:rPr>
            <a:t>need to meet both </a:t>
          </a:r>
          <a:r>
            <a:rPr lang="en-US" sz="2000" kern="1200" dirty="0">
              <a:latin typeface="Arial" panose="020B0604020202020204" pitchFamily="34" charset="0"/>
              <a:cs typeface="Arial" panose="020B0604020202020204" pitchFamily="34" charset="0"/>
            </a:rPr>
            <a:t>(2.4)</a:t>
          </a:r>
        </a:p>
      </dsp:txBody>
      <dsp:txXfrm>
        <a:off x="4448" y="256414"/>
        <a:ext cx="6592985" cy="1771342"/>
      </dsp:txXfrm>
    </dsp:sp>
    <dsp:sp modelId="{615A075C-5679-4F17-9C0C-E8CA6C81D258}">
      <dsp:nvSpPr>
        <dsp:cNvPr id="0" name=""/>
        <dsp:cNvSpPr/>
      </dsp:nvSpPr>
      <dsp:spPr>
        <a:xfrm>
          <a:off x="532005" y="2653937"/>
          <a:ext cx="2455846" cy="149090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Arial" panose="020B0604020202020204" pitchFamily="34" charset="0"/>
              <a:cs typeface="Arial" panose="020B0604020202020204" pitchFamily="34" charset="0"/>
            </a:rPr>
            <a:t>Relevant</a:t>
          </a:r>
        </a:p>
      </dsp:txBody>
      <dsp:txXfrm>
        <a:off x="532005" y="2653937"/>
        <a:ext cx="2455846" cy="1490903"/>
      </dsp:txXfrm>
    </dsp:sp>
    <dsp:sp modelId="{09470604-FBED-4348-A919-22CB5EBC2646}">
      <dsp:nvSpPr>
        <dsp:cNvPr id="0" name=""/>
        <dsp:cNvSpPr/>
      </dsp:nvSpPr>
      <dsp:spPr>
        <a:xfrm>
          <a:off x="3614031" y="2653937"/>
          <a:ext cx="2455846" cy="149090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Arial" panose="020B0604020202020204" pitchFamily="34" charset="0"/>
              <a:cs typeface="Arial" panose="020B0604020202020204" pitchFamily="34" charset="0"/>
            </a:rPr>
            <a:t>Faithful representation</a:t>
          </a:r>
        </a:p>
      </dsp:txBody>
      <dsp:txXfrm>
        <a:off x="3614031" y="2653937"/>
        <a:ext cx="2455846" cy="14909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A6DBA-6C58-4182-ACD2-459F537BBCD3}">
      <dsp:nvSpPr>
        <dsp:cNvPr id="0" name=""/>
        <dsp:cNvSpPr/>
      </dsp:nvSpPr>
      <dsp:spPr>
        <a:xfrm>
          <a:off x="3852427" y="1849163"/>
          <a:ext cx="2108230" cy="731782"/>
        </a:xfrm>
        <a:custGeom>
          <a:avLst/>
          <a:gdLst/>
          <a:ahLst/>
          <a:cxnLst/>
          <a:rect l="0" t="0" r="0" b="0"/>
          <a:pathLst>
            <a:path>
              <a:moveTo>
                <a:pt x="0" y="0"/>
              </a:moveTo>
              <a:lnTo>
                <a:pt x="0" y="365891"/>
              </a:lnTo>
              <a:lnTo>
                <a:pt x="2108230" y="365891"/>
              </a:lnTo>
              <a:lnTo>
                <a:pt x="2108230" y="731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99360E-1F0F-4947-A671-43013B37E87B}">
      <dsp:nvSpPr>
        <dsp:cNvPr id="0" name=""/>
        <dsp:cNvSpPr/>
      </dsp:nvSpPr>
      <dsp:spPr>
        <a:xfrm>
          <a:off x="1744196" y="1849163"/>
          <a:ext cx="2108230" cy="731782"/>
        </a:xfrm>
        <a:custGeom>
          <a:avLst/>
          <a:gdLst/>
          <a:ahLst/>
          <a:cxnLst/>
          <a:rect l="0" t="0" r="0" b="0"/>
          <a:pathLst>
            <a:path>
              <a:moveTo>
                <a:pt x="2108230" y="0"/>
              </a:moveTo>
              <a:lnTo>
                <a:pt x="2108230" y="365891"/>
              </a:lnTo>
              <a:lnTo>
                <a:pt x="0" y="365891"/>
              </a:lnTo>
              <a:lnTo>
                <a:pt x="0" y="73178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2F8390-BA39-4145-B408-672FB07DEBB8}">
      <dsp:nvSpPr>
        <dsp:cNvPr id="0" name=""/>
        <dsp:cNvSpPr/>
      </dsp:nvSpPr>
      <dsp:spPr>
        <a:xfrm>
          <a:off x="2110088" y="260585"/>
          <a:ext cx="3484678" cy="1588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US" sz="4000" b="1" kern="1200" dirty="0">
              <a:latin typeface="Arial" panose="020B0604020202020204" pitchFamily="34" charset="0"/>
              <a:cs typeface="Arial" panose="020B0604020202020204" pitchFamily="34" charset="0"/>
            </a:rPr>
            <a:t>RELEVANT</a:t>
          </a:r>
        </a:p>
        <a:p>
          <a:pPr marL="0" lvl="0" indent="0" algn="ctr" defTabSz="1778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(Can influence users’ economic decisions) </a:t>
          </a:r>
        </a:p>
      </dsp:txBody>
      <dsp:txXfrm>
        <a:off x="2110088" y="260585"/>
        <a:ext cx="3484678" cy="1588577"/>
      </dsp:txXfrm>
    </dsp:sp>
    <dsp:sp modelId="{53807871-7209-4960-82D1-8D91D6F584B8}">
      <dsp:nvSpPr>
        <dsp:cNvPr id="0" name=""/>
        <dsp:cNvSpPr/>
      </dsp:nvSpPr>
      <dsp:spPr>
        <a:xfrm>
          <a:off x="1857" y="2580945"/>
          <a:ext cx="3484678" cy="15591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Predictive value</a:t>
          </a:r>
        </a:p>
        <a:p>
          <a:pPr marL="0" lvl="0" indent="0" algn="ctr" defTabSz="13335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t>
          </a:r>
          <a:r>
            <a:rPr lang="en-ZA" sz="1800" kern="1200" dirty="0">
              <a:latin typeface="Arial" panose="020B0604020202020204" pitchFamily="34" charset="0"/>
              <a:cs typeface="Arial" panose="020B0604020202020204" pitchFamily="34" charset="0"/>
            </a:rPr>
            <a:t>can be used as an input to processes employed by users to predict future outcomes)</a:t>
          </a:r>
          <a:endParaRPr lang="en-US" sz="1800" kern="1200" dirty="0">
            <a:latin typeface="Arial" panose="020B0604020202020204" pitchFamily="34" charset="0"/>
            <a:cs typeface="Arial" panose="020B0604020202020204" pitchFamily="34" charset="0"/>
          </a:endParaRPr>
        </a:p>
      </dsp:txBody>
      <dsp:txXfrm>
        <a:off x="1857" y="2580945"/>
        <a:ext cx="3484678" cy="1559132"/>
      </dsp:txXfrm>
    </dsp:sp>
    <dsp:sp modelId="{9F05F74F-71DA-47AE-BCD9-8868F98D9A88}">
      <dsp:nvSpPr>
        <dsp:cNvPr id="0" name=""/>
        <dsp:cNvSpPr/>
      </dsp:nvSpPr>
      <dsp:spPr>
        <a:xfrm>
          <a:off x="4218318" y="2580945"/>
          <a:ext cx="3484678" cy="155972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Confirmatory value</a:t>
          </a:r>
        </a:p>
        <a:p>
          <a:pPr marL="0" lvl="0" indent="0" algn="ctr" defTabSz="13335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t>
          </a:r>
          <a:r>
            <a:rPr lang="en-ZA" sz="1800" kern="1200" dirty="0">
              <a:latin typeface="Arial" panose="020B0604020202020204" pitchFamily="34" charset="0"/>
              <a:cs typeface="Arial" panose="020B0604020202020204" pitchFamily="34" charset="0"/>
            </a:rPr>
            <a:t>provides feedback about (confirms or changes) </a:t>
          </a:r>
          <a:r>
            <a:rPr lang="en-US" sz="1800" kern="1200" dirty="0">
              <a:latin typeface="Arial" panose="020B0604020202020204" pitchFamily="34" charset="0"/>
              <a:cs typeface="Arial" panose="020B0604020202020204" pitchFamily="34" charset="0"/>
            </a:rPr>
            <a:t>previous evaluations)</a:t>
          </a:r>
        </a:p>
      </dsp:txBody>
      <dsp:txXfrm>
        <a:off x="4218318" y="2580945"/>
        <a:ext cx="3484678" cy="15597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C8A8A-0F08-4725-A7F8-8189EA253596}">
      <dsp:nvSpPr>
        <dsp:cNvPr id="0" name=""/>
        <dsp:cNvSpPr/>
      </dsp:nvSpPr>
      <dsp:spPr>
        <a:xfrm>
          <a:off x="4572508" y="3031266"/>
          <a:ext cx="3231705" cy="560874"/>
        </a:xfrm>
        <a:custGeom>
          <a:avLst/>
          <a:gdLst/>
          <a:ahLst/>
          <a:cxnLst/>
          <a:rect l="0" t="0" r="0" b="0"/>
          <a:pathLst>
            <a:path>
              <a:moveTo>
                <a:pt x="0" y="0"/>
              </a:moveTo>
              <a:lnTo>
                <a:pt x="0" y="280437"/>
              </a:lnTo>
              <a:lnTo>
                <a:pt x="3231705" y="280437"/>
              </a:lnTo>
              <a:lnTo>
                <a:pt x="3231705" y="560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488A62-E568-4283-84EE-A59410C35F22}">
      <dsp:nvSpPr>
        <dsp:cNvPr id="0" name=""/>
        <dsp:cNvSpPr/>
      </dsp:nvSpPr>
      <dsp:spPr>
        <a:xfrm>
          <a:off x="4526173" y="3031266"/>
          <a:ext cx="91440" cy="560874"/>
        </a:xfrm>
        <a:custGeom>
          <a:avLst/>
          <a:gdLst/>
          <a:ahLst/>
          <a:cxnLst/>
          <a:rect l="0" t="0" r="0" b="0"/>
          <a:pathLst>
            <a:path>
              <a:moveTo>
                <a:pt x="46334" y="0"/>
              </a:moveTo>
              <a:lnTo>
                <a:pt x="46334" y="280437"/>
              </a:lnTo>
              <a:lnTo>
                <a:pt x="45720" y="280437"/>
              </a:lnTo>
              <a:lnTo>
                <a:pt x="45720" y="560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C63574-4807-4330-948A-BC8F395C6E16}">
      <dsp:nvSpPr>
        <dsp:cNvPr id="0" name=""/>
        <dsp:cNvSpPr/>
      </dsp:nvSpPr>
      <dsp:spPr>
        <a:xfrm>
          <a:off x="1340187" y="3031266"/>
          <a:ext cx="3232320" cy="560874"/>
        </a:xfrm>
        <a:custGeom>
          <a:avLst/>
          <a:gdLst/>
          <a:ahLst/>
          <a:cxnLst/>
          <a:rect l="0" t="0" r="0" b="0"/>
          <a:pathLst>
            <a:path>
              <a:moveTo>
                <a:pt x="3232320" y="0"/>
              </a:moveTo>
              <a:lnTo>
                <a:pt x="3232320" y="280437"/>
              </a:lnTo>
              <a:lnTo>
                <a:pt x="0" y="280437"/>
              </a:lnTo>
              <a:lnTo>
                <a:pt x="0" y="560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B07B21-B220-4DD1-9557-8D274D3808EB}">
      <dsp:nvSpPr>
        <dsp:cNvPr id="0" name=""/>
        <dsp:cNvSpPr/>
      </dsp:nvSpPr>
      <dsp:spPr>
        <a:xfrm>
          <a:off x="2887306" y="1121114"/>
          <a:ext cx="3370402" cy="191015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Arial" panose="020B0604020202020204" pitchFamily="34" charset="0"/>
              <a:cs typeface="Arial" panose="020B0604020202020204" pitchFamily="34" charset="0"/>
            </a:rPr>
            <a:t>FAITHFUL REPRESENTATION</a:t>
          </a:r>
        </a:p>
        <a:p>
          <a:pPr marL="0" lvl="0" indent="0" algn="ctr" defTabSz="1244600">
            <a:lnSpc>
              <a:spcPct val="90000"/>
            </a:lnSpc>
            <a:spcBef>
              <a:spcPct val="0"/>
            </a:spcBef>
            <a:spcAft>
              <a:spcPct val="35000"/>
            </a:spcAft>
            <a:buNone/>
          </a:pPr>
          <a:r>
            <a:rPr lang="en-US" sz="2200" kern="1200" dirty="0">
              <a:latin typeface="Arial" panose="020B0604020202020204" pitchFamily="34" charset="0"/>
              <a:cs typeface="Arial" panose="020B0604020202020204" pitchFamily="34" charset="0"/>
            </a:rPr>
            <a:t>(Faithfully represent economic phenomena)</a:t>
          </a:r>
        </a:p>
      </dsp:txBody>
      <dsp:txXfrm>
        <a:off x="2887306" y="1121114"/>
        <a:ext cx="3370402" cy="1910151"/>
      </dsp:txXfrm>
    </dsp:sp>
    <dsp:sp modelId="{E4484F32-0577-4611-BAB2-6E5C71C97BA4}">
      <dsp:nvSpPr>
        <dsp:cNvPr id="0" name=""/>
        <dsp:cNvSpPr/>
      </dsp:nvSpPr>
      <dsp:spPr>
        <a:xfrm>
          <a:off x="4772" y="3592141"/>
          <a:ext cx="2670831" cy="13354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Completeness</a:t>
          </a:r>
        </a:p>
        <a:p>
          <a:pPr marL="0" lvl="0" indent="0" algn="ctr" defTabSz="13335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(all necessary info)</a:t>
          </a:r>
        </a:p>
      </dsp:txBody>
      <dsp:txXfrm>
        <a:off x="4772" y="3592141"/>
        <a:ext cx="2670831" cy="1335415"/>
      </dsp:txXfrm>
    </dsp:sp>
    <dsp:sp modelId="{CE484DAB-4A89-4BB0-A962-0EC4BE58098B}">
      <dsp:nvSpPr>
        <dsp:cNvPr id="0" name=""/>
        <dsp:cNvSpPr/>
      </dsp:nvSpPr>
      <dsp:spPr>
        <a:xfrm>
          <a:off x="3236478" y="3592141"/>
          <a:ext cx="2670831" cy="13354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Neutral</a:t>
          </a:r>
        </a:p>
        <a:p>
          <a:pPr marL="0" lvl="0" indent="0" algn="ctr" defTabSz="13335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(impartial)</a:t>
          </a:r>
        </a:p>
      </dsp:txBody>
      <dsp:txXfrm>
        <a:off x="3236478" y="3592141"/>
        <a:ext cx="2670831" cy="1335415"/>
      </dsp:txXfrm>
    </dsp:sp>
    <dsp:sp modelId="{22296AF2-664D-439F-9E52-7009434209D1}">
      <dsp:nvSpPr>
        <dsp:cNvPr id="0" name=""/>
        <dsp:cNvSpPr/>
      </dsp:nvSpPr>
      <dsp:spPr>
        <a:xfrm>
          <a:off x="6468183" y="3592141"/>
          <a:ext cx="2672059" cy="13354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Free from error</a:t>
          </a:r>
        </a:p>
        <a:p>
          <a:pPr marL="0" lvl="0" indent="0" algn="ctr" defTabSz="13335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(description and process to produce info)</a:t>
          </a:r>
        </a:p>
      </dsp:txBody>
      <dsp:txXfrm>
        <a:off x="6468183" y="3592141"/>
        <a:ext cx="2672059" cy="13354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A8506-BD68-4BD1-BA06-592B5C28735E}">
      <dsp:nvSpPr>
        <dsp:cNvPr id="0" name=""/>
        <dsp:cNvSpPr/>
      </dsp:nvSpPr>
      <dsp:spPr>
        <a:xfrm>
          <a:off x="4707954" y="3298041"/>
          <a:ext cx="3676854" cy="398871"/>
        </a:xfrm>
        <a:custGeom>
          <a:avLst/>
          <a:gdLst/>
          <a:ahLst/>
          <a:cxnLst/>
          <a:rect l="0" t="0" r="0" b="0"/>
          <a:pathLst>
            <a:path>
              <a:moveTo>
                <a:pt x="0" y="0"/>
              </a:moveTo>
              <a:lnTo>
                <a:pt x="0" y="199435"/>
              </a:lnTo>
              <a:lnTo>
                <a:pt x="3676854" y="199435"/>
              </a:lnTo>
              <a:lnTo>
                <a:pt x="3676854" y="3988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52C78-EF83-47BC-8980-7E03877FB6A3}">
      <dsp:nvSpPr>
        <dsp:cNvPr id="0" name=""/>
        <dsp:cNvSpPr/>
      </dsp:nvSpPr>
      <dsp:spPr>
        <a:xfrm>
          <a:off x="4707954" y="3298041"/>
          <a:ext cx="1225618" cy="398871"/>
        </a:xfrm>
        <a:custGeom>
          <a:avLst/>
          <a:gdLst/>
          <a:ahLst/>
          <a:cxnLst/>
          <a:rect l="0" t="0" r="0" b="0"/>
          <a:pathLst>
            <a:path>
              <a:moveTo>
                <a:pt x="0" y="0"/>
              </a:moveTo>
              <a:lnTo>
                <a:pt x="0" y="199435"/>
              </a:lnTo>
              <a:lnTo>
                <a:pt x="1225618" y="199435"/>
              </a:lnTo>
              <a:lnTo>
                <a:pt x="1225618" y="3988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99C873-5A1B-4353-805B-62ADB6CBCAF0}">
      <dsp:nvSpPr>
        <dsp:cNvPr id="0" name=""/>
        <dsp:cNvSpPr/>
      </dsp:nvSpPr>
      <dsp:spPr>
        <a:xfrm>
          <a:off x="3482335" y="3298041"/>
          <a:ext cx="1225618" cy="398871"/>
        </a:xfrm>
        <a:custGeom>
          <a:avLst/>
          <a:gdLst/>
          <a:ahLst/>
          <a:cxnLst/>
          <a:rect l="0" t="0" r="0" b="0"/>
          <a:pathLst>
            <a:path>
              <a:moveTo>
                <a:pt x="1225618" y="0"/>
              </a:moveTo>
              <a:lnTo>
                <a:pt x="1225618" y="199435"/>
              </a:lnTo>
              <a:lnTo>
                <a:pt x="0" y="199435"/>
              </a:lnTo>
              <a:lnTo>
                <a:pt x="0" y="3988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637D4A-D42B-48D2-ABC3-4F506231EBFC}">
      <dsp:nvSpPr>
        <dsp:cNvPr id="0" name=""/>
        <dsp:cNvSpPr/>
      </dsp:nvSpPr>
      <dsp:spPr>
        <a:xfrm>
          <a:off x="1031099" y="3298041"/>
          <a:ext cx="3676854" cy="398871"/>
        </a:xfrm>
        <a:custGeom>
          <a:avLst/>
          <a:gdLst/>
          <a:ahLst/>
          <a:cxnLst/>
          <a:rect l="0" t="0" r="0" b="0"/>
          <a:pathLst>
            <a:path>
              <a:moveTo>
                <a:pt x="3676854" y="0"/>
              </a:moveTo>
              <a:lnTo>
                <a:pt x="3676854" y="199435"/>
              </a:lnTo>
              <a:lnTo>
                <a:pt x="0" y="199435"/>
              </a:lnTo>
              <a:lnTo>
                <a:pt x="0" y="39887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9F0C7-A249-4FC5-8156-9845481E1017}">
      <dsp:nvSpPr>
        <dsp:cNvPr id="0" name=""/>
        <dsp:cNvSpPr/>
      </dsp:nvSpPr>
      <dsp:spPr>
        <a:xfrm>
          <a:off x="2196032" y="1734721"/>
          <a:ext cx="5023843" cy="15633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b="1" kern="1200" dirty="0">
              <a:latin typeface="Arial" panose="020B0604020202020204" pitchFamily="34" charset="0"/>
              <a:cs typeface="Arial" panose="020B0604020202020204" pitchFamily="34" charset="0"/>
            </a:rPr>
            <a:t>ENHANCING CHARACTERISTICS</a:t>
          </a:r>
        </a:p>
        <a:p>
          <a:pPr marL="0" lvl="0" indent="0" algn="ctr" defTabSz="13335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(Secondary – not primary requirement)</a:t>
          </a:r>
        </a:p>
      </dsp:txBody>
      <dsp:txXfrm>
        <a:off x="2196032" y="1734721"/>
        <a:ext cx="5023843" cy="1563319"/>
      </dsp:txXfrm>
    </dsp:sp>
    <dsp:sp modelId="{CB50A684-99D0-43BA-913A-77CA69123250}">
      <dsp:nvSpPr>
        <dsp:cNvPr id="0" name=""/>
        <dsp:cNvSpPr/>
      </dsp:nvSpPr>
      <dsp:spPr>
        <a:xfrm>
          <a:off x="4916" y="3696912"/>
          <a:ext cx="2052364" cy="949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Comparability</a:t>
          </a:r>
        </a:p>
      </dsp:txBody>
      <dsp:txXfrm>
        <a:off x="4916" y="3696912"/>
        <a:ext cx="2052364" cy="949694"/>
      </dsp:txXfrm>
    </dsp:sp>
    <dsp:sp modelId="{F41D0D8D-5A71-4652-8393-63118630B48D}">
      <dsp:nvSpPr>
        <dsp:cNvPr id="0" name=""/>
        <dsp:cNvSpPr/>
      </dsp:nvSpPr>
      <dsp:spPr>
        <a:xfrm>
          <a:off x="2456153" y="3696912"/>
          <a:ext cx="2052364" cy="949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Verifiability</a:t>
          </a:r>
        </a:p>
      </dsp:txBody>
      <dsp:txXfrm>
        <a:off x="2456153" y="3696912"/>
        <a:ext cx="2052364" cy="949694"/>
      </dsp:txXfrm>
    </dsp:sp>
    <dsp:sp modelId="{E2B527D6-E7E9-4322-8730-207006C0FEEF}">
      <dsp:nvSpPr>
        <dsp:cNvPr id="0" name=""/>
        <dsp:cNvSpPr/>
      </dsp:nvSpPr>
      <dsp:spPr>
        <a:xfrm>
          <a:off x="4907389" y="3696912"/>
          <a:ext cx="2052364" cy="949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Timeliness</a:t>
          </a:r>
        </a:p>
      </dsp:txBody>
      <dsp:txXfrm>
        <a:off x="4907389" y="3696912"/>
        <a:ext cx="2052364" cy="949694"/>
      </dsp:txXfrm>
    </dsp:sp>
    <dsp:sp modelId="{FEA25DED-6131-48B5-9074-4A395A28A5D7}">
      <dsp:nvSpPr>
        <dsp:cNvPr id="0" name=""/>
        <dsp:cNvSpPr/>
      </dsp:nvSpPr>
      <dsp:spPr>
        <a:xfrm>
          <a:off x="7358626" y="3696912"/>
          <a:ext cx="2052364" cy="94969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Understandability</a:t>
          </a:r>
        </a:p>
      </dsp:txBody>
      <dsp:txXfrm>
        <a:off x="7358626" y="3696912"/>
        <a:ext cx="2052364" cy="94969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3" y="0"/>
            <a:ext cx="2945341" cy="496968"/>
          </a:xfrm>
          <a:prstGeom prst="rect">
            <a:avLst/>
          </a:prstGeom>
          <a:noFill/>
          <a:ln w="9525">
            <a:noFill/>
            <a:miter lim="800000"/>
            <a:headEnd/>
            <a:tailEnd/>
          </a:ln>
          <a:effectLst/>
        </p:spPr>
        <p:txBody>
          <a:bodyPr vert="horz" wrap="square" lIns="92638" tIns="46318" rIns="92638" bIns="46318" numCol="1" anchor="t" anchorCtr="0" compatLnSpc="1">
            <a:prstTxWarp prst="textNoShape">
              <a:avLst/>
            </a:prstTxWarp>
          </a:bodyPr>
          <a:lstStyle>
            <a:lvl1pPr defTabSz="927100">
              <a:defRPr sz="1200"/>
            </a:lvl1pPr>
          </a:lstStyle>
          <a:p>
            <a:pPr>
              <a:defRPr/>
            </a:pPr>
            <a:endParaRPr lang="en-US"/>
          </a:p>
        </p:txBody>
      </p:sp>
      <p:sp>
        <p:nvSpPr>
          <p:cNvPr id="4099" name="Rectangle 1027"/>
          <p:cNvSpPr>
            <a:spLocks noGrp="1" noChangeArrowheads="1"/>
          </p:cNvSpPr>
          <p:nvPr>
            <p:ph type="dt" sz="quarter" idx="1"/>
          </p:nvPr>
        </p:nvSpPr>
        <p:spPr bwMode="auto">
          <a:xfrm>
            <a:off x="3852335" y="0"/>
            <a:ext cx="2945340" cy="496968"/>
          </a:xfrm>
          <a:prstGeom prst="rect">
            <a:avLst/>
          </a:prstGeom>
          <a:noFill/>
          <a:ln w="9525">
            <a:noFill/>
            <a:miter lim="800000"/>
            <a:headEnd/>
            <a:tailEnd/>
          </a:ln>
          <a:effectLst/>
        </p:spPr>
        <p:txBody>
          <a:bodyPr vert="horz" wrap="square" lIns="92638" tIns="46318" rIns="92638" bIns="46318" numCol="1" anchor="t" anchorCtr="0" compatLnSpc="1">
            <a:prstTxWarp prst="textNoShape">
              <a:avLst/>
            </a:prstTxWarp>
          </a:bodyPr>
          <a:lstStyle>
            <a:lvl1pPr algn="r" defTabSz="927100">
              <a:defRPr sz="1200"/>
            </a:lvl1pPr>
          </a:lstStyle>
          <a:p>
            <a:pPr>
              <a:defRPr/>
            </a:pPr>
            <a:endParaRPr lang="en-US"/>
          </a:p>
        </p:txBody>
      </p:sp>
      <p:sp>
        <p:nvSpPr>
          <p:cNvPr id="4100" name="Rectangle 1028"/>
          <p:cNvSpPr>
            <a:spLocks noGrp="1" noChangeArrowheads="1"/>
          </p:cNvSpPr>
          <p:nvPr>
            <p:ph type="ftr" sz="quarter" idx="2"/>
          </p:nvPr>
        </p:nvSpPr>
        <p:spPr bwMode="auto">
          <a:xfrm>
            <a:off x="3" y="9431258"/>
            <a:ext cx="2945341" cy="496968"/>
          </a:xfrm>
          <a:prstGeom prst="rect">
            <a:avLst/>
          </a:prstGeom>
          <a:noFill/>
          <a:ln w="9525">
            <a:noFill/>
            <a:miter lim="800000"/>
            <a:headEnd/>
            <a:tailEnd/>
          </a:ln>
          <a:effectLst/>
        </p:spPr>
        <p:txBody>
          <a:bodyPr vert="horz" wrap="square" lIns="92638" tIns="46318" rIns="92638" bIns="46318" numCol="1" anchor="b" anchorCtr="0" compatLnSpc="1">
            <a:prstTxWarp prst="textNoShape">
              <a:avLst/>
            </a:prstTxWarp>
          </a:bodyPr>
          <a:lstStyle>
            <a:lvl1pPr defTabSz="927100">
              <a:defRPr sz="1200"/>
            </a:lvl1pPr>
          </a:lstStyle>
          <a:p>
            <a:pPr>
              <a:defRPr/>
            </a:pPr>
            <a:endParaRPr lang="en-US"/>
          </a:p>
        </p:txBody>
      </p:sp>
      <p:sp>
        <p:nvSpPr>
          <p:cNvPr id="4101" name="Rectangle 1029"/>
          <p:cNvSpPr>
            <a:spLocks noGrp="1" noChangeArrowheads="1"/>
          </p:cNvSpPr>
          <p:nvPr>
            <p:ph type="sldNum" sz="quarter" idx="3"/>
          </p:nvPr>
        </p:nvSpPr>
        <p:spPr bwMode="auto">
          <a:xfrm>
            <a:off x="3852335" y="9431258"/>
            <a:ext cx="2945340" cy="496968"/>
          </a:xfrm>
          <a:prstGeom prst="rect">
            <a:avLst/>
          </a:prstGeom>
          <a:noFill/>
          <a:ln w="9525">
            <a:noFill/>
            <a:miter lim="800000"/>
            <a:headEnd/>
            <a:tailEnd/>
          </a:ln>
          <a:effectLst/>
        </p:spPr>
        <p:txBody>
          <a:bodyPr vert="horz" wrap="square" lIns="92638" tIns="46318" rIns="92638" bIns="46318" numCol="1" anchor="b" anchorCtr="0" compatLnSpc="1">
            <a:prstTxWarp prst="textNoShape">
              <a:avLst/>
            </a:prstTxWarp>
          </a:bodyPr>
          <a:lstStyle>
            <a:lvl1pPr algn="r" defTabSz="927100">
              <a:defRPr sz="1200"/>
            </a:lvl1pPr>
          </a:lstStyle>
          <a:p>
            <a:pPr>
              <a:defRPr/>
            </a:pPr>
            <a:fld id="{9E1D0EDA-5A7F-46EC-B2C2-A89782F2E936}" type="slidenum">
              <a:rPr lang="en-US"/>
              <a:pPr>
                <a:defRPr/>
              </a:pPr>
              <a:t>‹#›</a:t>
            </a:fld>
            <a:endParaRPr lang="en-US"/>
          </a:p>
        </p:txBody>
      </p:sp>
    </p:spTree>
    <p:extLst>
      <p:ext uri="{BB962C8B-B14F-4D97-AF65-F5344CB8AC3E}">
        <p14:creationId xmlns:p14="http://schemas.microsoft.com/office/powerpoint/2010/main" val="3880655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1" y="1"/>
            <a:ext cx="2951706" cy="462037"/>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lvl1pPr defTabSz="927100">
              <a:defRPr sz="1200"/>
            </a:lvl1pPr>
          </a:lstStyle>
          <a:p>
            <a:pPr>
              <a:defRPr/>
            </a:pPr>
            <a:endParaRPr lang="en-GB"/>
          </a:p>
        </p:txBody>
      </p:sp>
      <p:sp>
        <p:nvSpPr>
          <p:cNvPr id="53251" name="Rectangle 3"/>
          <p:cNvSpPr>
            <a:spLocks noGrp="1" noChangeArrowheads="1"/>
          </p:cNvSpPr>
          <p:nvPr>
            <p:ph type="dt" idx="1"/>
          </p:nvPr>
        </p:nvSpPr>
        <p:spPr bwMode="auto">
          <a:xfrm>
            <a:off x="3884161" y="1"/>
            <a:ext cx="2950115" cy="462037"/>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lvl1pPr algn="r" defTabSz="927100">
              <a:defRPr sz="1200"/>
            </a:lvl1pPr>
          </a:lstStyle>
          <a:p>
            <a:pPr>
              <a:defRPr/>
            </a:pPr>
            <a:endParaRPr lang="en-GB"/>
          </a:p>
        </p:txBody>
      </p:sp>
      <p:sp>
        <p:nvSpPr>
          <p:cNvPr id="63492" name="Rectangle 4"/>
          <p:cNvSpPr>
            <a:spLocks noGrp="1" noRot="1" noChangeAspect="1" noChangeArrowheads="1" noTextEdit="1"/>
          </p:cNvSpPr>
          <p:nvPr>
            <p:ph type="sldImg" idx="2"/>
          </p:nvPr>
        </p:nvSpPr>
        <p:spPr bwMode="auto">
          <a:xfrm>
            <a:off x="747713" y="769938"/>
            <a:ext cx="5338762" cy="36972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32455" y="4699754"/>
            <a:ext cx="4970959" cy="4467939"/>
          </a:xfrm>
          <a:prstGeom prst="rect">
            <a:avLst/>
          </a:prstGeom>
          <a:noFill/>
          <a:ln w="9525">
            <a:noFill/>
            <a:miter lim="800000"/>
            <a:headEnd/>
            <a:tailEnd/>
          </a:ln>
          <a:effectLst/>
        </p:spPr>
        <p:txBody>
          <a:bodyPr vert="horz" wrap="square" lIns="92647" tIns="46324" rIns="92647" bIns="46324"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3254" name="Rectangle 6"/>
          <p:cNvSpPr>
            <a:spLocks noGrp="1" noChangeArrowheads="1"/>
          </p:cNvSpPr>
          <p:nvPr>
            <p:ph type="ftr" sz="quarter" idx="4"/>
          </p:nvPr>
        </p:nvSpPr>
        <p:spPr bwMode="auto">
          <a:xfrm>
            <a:off x="1" y="9397917"/>
            <a:ext cx="2951706" cy="539836"/>
          </a:xfrm>
          <a:prstGeom prst="rect">
            <a:avLst/>
          </a:prstGeom>
          <a:noFill/>
          <a:ln w="9525">
            <a:noFill/>
            <a:miter lim="800000"/>
            <a:headEnd/>
            <a:tailEnd/>
          </a:ln>
          <a:effectLst/>
        </p:spPr>
        <p:txBody>
          <a:bodyPr vert="horz" wrap="square" lIns="92647" tIns="46324" rIns="92647" bIns="46324" numCol="1" anchor="b" anchorCtr="0" compatLnSpc="1">
            <a:prstTxWarp prst="textNoShape">
              <a:avLst/>
            </a:prstTxWarp>
          </a:bodyPr>
          <a:lstStyle>
            <a:lvl1pPr defTabSz="927100">
              <a:defRPr sz="1200"/>
            </a:lvl1pPr>
          </a:lstStyle>
          <a:p>
            <a:pPr>
              <a:defRPr/>
            </a:pPr>
            <a:endParaRPr lang="en-GB"/>
          </a:p>
        </p:txBody>
      </p:sp>
      <p:sp>
        <p:nvSpPr>
          <p:cNvPr id="53255" name="Rectangle 7"/>
          <p:cNvSpPr>
            <a:spLocks noGrp="1" noChangeArrowheads="1"/>
          </p:cNvSpPr>
          <p:nvPr>
            <p:ph type="sldNum" sz="quarter" idx="5"/>
          </p:nvPr>
        </p:nvSpPr>
        <p:spPr bwMode="auto">
          <a:xfrm>
            <a:off x="3884161" y="9397917"/>
            <a:ext cx="2950115" cy="539836"/>
          </a:xfrm>
          <a:prstGeom prst="rect">
            <a:avLst/>
          </a:prstGeom>
          <a:noFill/>
          <a:ln w="9525">
            <a:noFill/>
            <a:miter lim="800000"/>
            <a:headEnd/>
            <a:tailEnd/>
          </a:ln>
          <a:effectLst/>
        </p:spPr>
        <p:txBody>
          <a:bodyPr vert="horz" wrap="square" lIns="92647" tIns="46324" rIns="92647" bIns="46324" numCol="1" anchor="b" anchorCtr="0" compatLnSpc="1">
            <a:prstTxWarp prst="textNoShape">
              <a:avLst/>
            </a:prstTxWarp>
          </a:bodyPr>
          <a:lstStyle>
            <a:lvl1pPr algn="r" defTabSz="927100">
              <a:defRPr sz="1200"/>
            </a:lvl1pPr>
          </a:lstStyle>
          <a:p>
            <a:pPr>
              <a:defRPr/>
            </a:pPr>
            <a:fld id="{EA70B383-460E-4786-96F8-FE6AC5AFF8F7}" type="slidenum">
              <a:rPr lang="en-GB"/>
              <a:pPr>
                <a:defRPr/>
              </a:pPr>
              <a:t>‹#›</a:t>
            </a:fld>
            <a:endParaRPr lang="en-GB"/>
          </a:p>
        </p:txBody>
      </p:sp>
    </p:spTree>
    <p:extLst>
      <p:ext uri="{BB962C8B-B14F-4D97-AF65-F5344CB8AC3E}">
        <p14:creationId xmlns:p14="http://schemas.microsoft.com/office/powerpoint/2010/main" val="10098023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eaLnBrk="0" hangingPunct="0">
              <a:defRPr sz="2400">
                <a:solidFill>
                  <a:schemeClr val="tx1"/>
                </a:solidFill>
                <a:latin typeface="Times New Roman" pitchFamily="18" charset="0"/>
              </a:defRPr>
            </a:lvl1pPr>
            <a:lvl2pPr marL="742950" indent="-285750" defTabSz="927100" eaLnBrk="0" hangingPunct="0">
              <a:defRPr sz="2400">
                <a:solidFill>
                  <a:schemeClr val="tx1"/>
                </a:solidFill>
                <a:latin typeface="Times New Roman" pitchFamily="18" charset="0"/>
              </a:defRPr>
            </a:lvl2pPr>
            <a:lvl3pPr marL="1143000" indent="-228600" defTabSz="927100" eaLnBrk="0" hangingPunct="0">
              <a:defRPr sz="2400">
                <a:solidFill>
                  <a:schemeClr val="tx1"/>
                </a:solidFill>
                <a:latin typeface="Times New Roman" pitchFamily="18" charset="0"/>
              </a:defRPr>
            </a:lvl3pPr>
            <a:lvl4pPr marL="1600200" indent="-228600" defTabSz="927100" eaLnBrk="0" hangingPunct="0">
              <a:defRPr sz="2400">
                <a:solidFill>
                  <a:schemeClr val="tx1"/>
                </a:solidFill>
                <a:latin typeface="Times New Roman" pitchFamily="18" charset="0"/>
              </a:defRPr>
            </a:lvl4pPr>
            <a:lvl5pPr marL="2057400" indent="-228600" defTabSz="927100" eaLnBrk="0" hangingPunct="0">
              <a:defRPr sz="2400">
                <a:solidFill>
                  <a:schemeClr val="tx1"/>
                </a:solidFill>
                <a:latin typeface="Times New Roman" pitchFamily="18" charset="0"/>
              </a:defRPr>
            </a:lvl5pPr>
            <a:lvl6pPr marL="2514600" indent="-228600" defTabSz="927100" eaLnBrk="0" fontAlgn="base" hangingPunct="0">
              <a:spcBef>
                <a:spcPct val="0"/>
              </a:spcBef>
              <a:spcAft>
                <a:spcPct val="0"/>
              </a:spcAft>
              <a:defRPr sz="2400">
                <a:solidFill>
                  <a:schemeClr val="tx1"/>
                </a:solidFill>
                <a:latin typeface="Times New Roman" pitchFamily="18" charset="0"/>
              </a:defRPr>
            </a:lvl6pPr>
            <a:lvl7pPr marL="2971800" indent="-228600" defTabSz="927100" eaLnBrk="0" fontAlgn="base" hangingPunct="0">
              <a:spcBef>
                <a:spcPct val="0"/>
              </a:spcBef>
              <a:spcAft>
                <a:spcPct val="0"/>
              </a:spcAft>
              <a:defRPr sz="2400">
                <a:solidFill>
                  <a:schemeClr val="tx1"/>
                </a:solidFill>
                <a:latin typeface="Times New Roman" pitchFamily="18" charset="0"/>
              </a:defRPr>
            </a:lvl7pPr>
            <a:lvl8pPr marL="3429000" indent="-228600" defTabSz="927100" eaLnBrk="0" fontAlgn="base" hangingPunct="0">
              <a:spcBef>
                <a:spcPct val="0"/>
              </a:spcBef>
              <a:spcAft>
                <a:spcPct val="0"/>
              </a:spcAft>
              <a:defRPr sz="2400">
                <a:solidFill>
                  <a:schemeClr val="tx1"/>
                </a:solidFill>
                <a:latin typeface="Times New Roman" pitchFamily="18" charset="0"/>
              </a:defRPr>
            </a:lvl8pPr>
            <a:lvl9pPr marL="3886200" indent="-228600" defTabSz="927100" eaLnBrk="0" fontAlgn="base" hangingPunct="0">
              <a:spcBef>
                <a:spcPct val="0"/>
              </a:spcBef>
              <a:spcAft>
                <a:spcPct val="0"/>
              </a:spcAft>
              <a:defRPr sz="2400">
                <a:solidFill>
                  <a:schemeClr val="tx1"/>
                </a:solidFill>
                <a:latin typeface="Times New Roman" pitchFamily="18" charset="0"/>
              </a:defRPr>
            </a:lvl9pPr>
          </a:lstStyle>
          <a:p>
            <a:pPr eaLnBrk="1" hangingPunct="1"/>
            <a:fld id="{4682176F-A4B0-441D-AE7C-AA7CFB1FA542}" type="slidenum">
              <a:rPr lang="en-GB" sz="1200" smtClean="0"/>
              <a:pPr eaLnBrk="1" hangingPunct="1"/>
              <a:t>3</a:t>
            </a:fld>
            <a:endParaRPr lang="en-GB" sz="1200"/>
          </a:p>
        </p:txBody>
      </p:sp>
      <p:sp>
        <p:nvSpPr>
          <p:cNvPr id="64515" name="Rectangle 2"/>
          <p:cNvSpPr>
            <a:spLocks noGrp="1" noRot="1" noChangeAspect="1" noChangeArrowheads="1" noTextEdit="1"/>
          </p:cNvSpPr>
          <p:nvPr>
            <p:ph type="sldImg"/>
          </p:nvPr>
        </p:nvSpPr>
        <p:spPr>
          <a:xfrm>
            <a:off x="747713" y="769938"/>
            <a:ext cx="5338762" cy="3697287"/>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88652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a:defRPr/>
            </a:pPr>
            <a:fld id="{EA70B383-460E-4786-96F8-FE6AC5AFF8F7}" type="slidenum">
              <a:rPr lang="en-GB" smtClean="0"/>
              <a:pPr>
                <a:defRPr/>
              </a:pPr>
              <a:t>16</a:t>
            </a:fld>
            <a:endParaRPr lang="en-GB"/>
          </a:p>
        </p:txBody>
      </p:sp>
    </p:spTree>
    <p:extLst>
      <p:ext uri="{BB962C8B-B14F-4D97-AF65-F5344CB8AC3E}">
        <p14:creationId xmlns:p14="http://schemas.microsoft.com/office/powerpoint/2010/main" val="4258653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a:defRPr/>
            </a:pPr>
            <a:fld id="{EA70B383-460E-4786-96F8-FE6AC5AFF8F7}" type="slidenum">
              <a:rPr lang="en-GB" smtClean="0"/>
              <a:pPr>
                <a:defRPr/>
              </a:pPr>
              <a:t>39</a:t>
            </a:fld>
            <a:endParaRPr lang="en-GB"/>
          </a:p>
        </p:txBody>
      </p:sp>
    </p:spTree>
    <p:extLst>
      <p:ext uri="{BB962C8B-B14F-4D97-AF65-F5344CB8AC3E}">
        <p14:creationId xmlns:p14="http://schemas.microsoft.com/office/powerpoint/2010/main" val="2762105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5.wdp"/><Relationship Id="rId7" Type="http://schemas.openxmlformats.org/officeDocument/2006/relationships/image" Target="../media/image11.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amp; End Slide Option">
    <p:bg>
      <p:bgPr>
        <a:solidFill>
          <a:schemeClr val="bg1"/>
        </a:solidFill>
        <a:effectLst/>
      </p:bgPr>
    </p:bg>
    <p:spTree>
      <p:nvGrpSpPr>
        <p:cNvPr id="1" name=""/>
        <p:cNvGrpSpPr/>
        <p:nvPr/>
      </p:nvGrpSpPr>
      <p:grpSpPr>
        <a:xfrm>
          <a:off x="0" y="0"/>
          <a:ext cx="0" cy="0"/>
          <a:chOff x="0" y="0"/>
          <a:chExt cx="0" cy="0"/>
        </a:xfrm>
      </p:grpSpPr>
      <p:pic>
        <p:nvPicPr>
          <p:cNvPr id="4" name="Supergraphic">
            <a:extLst>
              <a:ext uri="{FF2B5EF4-FFF2-40B4-BE49-F238E27FC236}">
                <a16:creationId xmlns:a16="http://schemas.microsoft.com/office/drawing/2014/main" id="{5B248510-4BC7-9345-88FC-2E0C971BA7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46786" y="1341440"/>
            <a:ext cx="972226" cy="1837209"/>
          </a:xfrm>
          <a:prstGeom prst="rect">
            <a:avLst/>
          </a:prstGeom>
        </p:spPr>
      </p:pic>
      <p:cxnSp>
        <p:nvCxnSpPr>
          <p:cNvPr id="5" name="Gold H Line">
            <a:extLst>
              <a:ext uri="{FF2B5EF4-FFF2-40B4-BE49-F238E27FC236}">
                <a16:creationId xmlns:a16="http://schemas.microsoft.com/office/drawing/2014/main" id="{D2E91EF0-985A-D444-B885-44EABE549784}"/>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9" name="Title">
            <a:extLst>
              <a:ext uri="{FF2B5EF4-FFF2-40B4-BE49-F238E27FC236}">
                <a16:creationId xmlns:a16="http://schemas.microsoft.com/office/drawing/2014/main" id="{62CE03E8-B1C3-CC40-B8F9-5DD639D93B94}"/>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172313222"/>
      </p:ext>
    </p:extLst>
  </p:cSld>
  <p:clrMapOvr>
    <a:masterClrMapping/>
  </p:clrMapOvr>
  <p:extLst>
    <p:ext uri="{DCECCB84-F9BA-43D5-87BE-67443E8EF086}">
      <p15:sldGuideLst xmlns:p15="http://schemas.microsoft.com/office/powerpoint/2012/main">
        <p15:guide id="1" pos="69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ub-heading + Content on White Bg">
    <p:spTree>
      <p:nvGrpSpPr>
        <p:cNvPr id="1" name=""/>
        <p:cNvGrpSpPr/>
        <p:nvPr/>
      </p:nvGrpSpPr>
      <p:grpSpPr>
        <a:xfrm>
          <a:off x="0" y="0"/>
          <a:ext cx="0" cy="0"/>
          <a:chOff x="0" y="0"/>
          <a:chExt cx="0" cy="0"/>
        </a:xfrm>
      </p:grpSpPr>
      <p:cxnSp>
        <p:nvCxnSpPr>
          <p:cNvPr id="6" name="Gold H Line">
            <a:extLst>
              <a:ext uri="{FF2B5EF4-FFF2-40B4-BE49-F238E27FC236}">
                <a16:creationId xmlns:a16="http://schemas.microsoft.com/office/drawing/2014/main" id="{14D6B201-F64D-A747-B121-C05B2A976FDB}"/>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8408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cxnSp>
        <p:nvCxnSpPr>
          <p:cNvPr id="3" name="Gold H Line">
            <a:extLst>
              <a:ext uri="{FF2B5EF4-FFF2-40B4-BE49-F238E27FC236}">
                <a16:creationId xmlns:a16="http://schemas.microsoft.com/office/drawing/2014/main" id="{2C3ECBBE-4FE6-B966-D9A5-77B32703B43C}"/>
              </a:ext>
            </a:extLst>
          </p:cNvPr>
          <p:cNvCxnSpPr/>
          <p:nvPr userDrawn="1"/>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17297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heading + Content on Pattern White Bg">
    <p:bg>
      <p:bgPr>
        <a:solidFill>
          <a:schemeClr val="bg1"/>
        </a:solidFill>
        <a:effectLst/>
      </p:bgPr>
    </p:bg>
    <p:spTree>
      <p:nvGrpSpPr>
        <p:cNvPr id="1" name=""/>
        <p:cNvGrpSpPr/>
        <p:nvPr/>
      </p:nvGrpSpPr>
      <p:grpSpPr>
        <a:xfrm>
          <a:off x="0" y="0"/>
          <a:ext cx="0" cy="0"/>
          <a:chOff x="0" y="0"/>
          <a:chExt cx="0" cy="0"/>
        </a:xfrm>
      </p:grpSpPr>
      <p:pic>
        <p:nvPicPr>
          <p:cNvPr id="9" name="Pattern">
            <a:extLst>
              <a:ext uri="{FF2B5EF4-FFF2-40B4-BE49-F238E27FC236}">
                <a16:creationId xmlns:a16="http://schemas.microsoft.com/office/drawing/2014/main" id="{92A5C720-0429-4541-B977-B6E1AE463E85}"/>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4" cy="5256000"/>
          </a:xfrm>
          <a:prstGeom prst="rect">
            <a:avLst/>
          </a:prstGeom>
        </p:spPr>
      </p:pic>
      <p:grpSp>
        <p:nvGrpSpPr>
          <p:cNvPr id="11" name="Bottom Corner Cover Ups">
            <a:extLst>
              <a:ext uri="{FF2B5EF4-FFF2-40B4-BE49-F238E27FC236}">
                <a16:creationId xmlns:a16="http://schemas.microsoft.com/office/drawing/2014/main" id="{6B263B2D-D558-B84C-9022-34F07C2522D9}"/>
              </a:ext>
            </a:extLst>
          </p:cNvPr>
          <p:cNvGrpSpPr/>
          <p:nvPr/>
        </p:nvGrpSpPr>
        <p:grpSpPr>
          <a:xfrm>
            <a:off x="0" y="5911729"/>
            <a:ext cx="9902847" cy="949000"/>
            <a:chOff x="0" y="5911729"/>
            <a:chExt cx="12192027" cy="949000"/>
          </a:xfrm>
        </p:grpSpPr>
        <p:pic>
          <p:nvPicPr>
            <p:cNvPr id="12" name="SU.Footer.Shape.White.Cover.R">
              <a:extLst>
                <a:ext uri="{FF2B5EF4-FFF2-40B4-BE49-F238E27FC236}">
                  <a16:creationId xmlns:a16="http://schemas.microsoft.com/office/drawing/2014/main" id="{A42B02D9-6BCD-3B46-A57F-212570E5235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3" name="SU.Footer.Shape.White.Cover.L">
              <a:extLst>
                <a:ext uri="{FF2B5EF4-FFF2-40B4-BE49-F238E27FC236}">
                  <a16:creationId xmlns:a16="http://schemas.microsoft.com/office/drawing/2014/main" id="{7BE51404-5FBA-E747-9F0C-F3B96BD7237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490728132"/>
      </p:ext>
    </p:extLst>
  </p:cSld>
  <p:clrMapOvr>
    <a:masterClrMapping/>
  </p:clrMapOvr>
  <p:extLst>
    <p:ext uri="{DCECCB84-F9BA-43D5-87BE-67443E8EF086}">
      <p15:sldGuideLst xmlns:p15="http://schemas.microsoft.com/office/powerpoint/2012/main">
        <p15:guide id="1" orient="horz" pos="845">
          <p15:clr>
            <a:srgbClr val="FBAE40"/>
          </p15:clr>
        </p15:guide>
        <p15:guide id="2" orient="horz" pos="86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heading + Content on Pattern Panel White 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4232ACA5-F913-4C40-9156-9574AC847B0D}"/>
              </a:ext>
            </a:extLst>
          </p:cNvPr>
          <p:cNvPicPr>
            <a:picLocks noChangeAspect="1"/>
          </p:cNvPicPr>
          <p:nvPr/>
        </p:nvPicPr>
        <p:blipFill rotWithShape="1">
          <a:blip r:embed="rId2" cstate="screen">
            <a:duotone>
              <a:schemeClr val="accent2">
                <a:shade val="45000"/>
                <a:satMod val="135000"/>
              </a:schemeClr>
              <a:prstClr val="white"/>
            </a:duotone>
            <a:alphaModFix amt="40000"/>
            <a:extLst>
              <a:ext uri="{BEBA8EAE-BF5A-486C-A8C5-ECC9F3942E4B}">
                <a14:imgProps xmlns:a14="http://schemas.microsoft.com/office/drawing/2010/main">
                  <a14:imgLayer r:embed="rId3">
                    <a14:imgEffect>
                      <a14:sharpenSoften amount="50000"/>
                    </a14:imgEffect>
                    <a14:imgEffect>
                      <a14:colorTemperature colorTemp="115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0" y="1342422"/>
            <a:ext cx="3283059" cy="5256000"/>
          </a:xfrm>
          <a:prstGeom prst="rect">
            <a:avLst/>
          </a:prstGeom>
        </p:spPr>
      </p:pic>
      <p:grpSp>
        <p:nvGrpSpPr>
          <p:cNvPr id="15" name="Bottom Corner Cover Ups">
            <a:extLst>
              <a:ext uri="{FF2B5EF4-FFF2-40B4-BE49-F238E27FC236}">
                <a16:creationId xmlns:a16="http://schemas.microsoft.com/office/drawing/2014/main" id="{F2814333-1BF5-E849-A0FE-9AA7C7404101}"/>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03FDF139-728B-024E-9703-C432EBC41B1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29002AAF-104D-E541-A418-B45D06E37CA1}"/>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13" name="Content Placeholder ">
            <a:extLst>
              <a:ext uri="{FF2B5EF4-FFF2-40B4-BE49-F238E27FC236}">
                <a16:creationId xmlns:a16="http://schemas.microsoft.com/office/drawing/2014/main" id="{297102B3-ABBC-8342-9686-98DDA2B5DFAF}"/>
              </a:ext>
            </a:extLst>
          </p:cNvPr>
          <p:cNvSpPr>
            <a:spLocks noGrp="1"/>
          </p:cNvSpPr>
          <p:nvPr>
            <p:ph idx="1" hasCustomPrompt="1"/>
          </p:nvPr>
        </p:nvSpPr>
        <p:spPr>
          <a:xfrm>
            <a:off x="3491417" y="1439056"/>
            <a:ext cx="5963976" cy="5059180"/>
          </a:xfrm>
        </p:spPr>
        <p:txBody>
          <a:bodyPr>
            <a:normAutofit lnSpcReduction="10000"/>
          </a:bodyPr>
          <a:lstStyle/>
          <a:p>
            <a:r>
              <a:rPr lang="en-GB" dirty="0"/>
              <a:t>Content placeholder</a:t>
            </a:r>
          </a:p>
        </p:txBody>
      </p:sp>
      <p:sp>
        <p:nvSpPr>
          <p:cNvPr id="14" name="Sub-heading">
            <a:extLst>
              <a:ext uri="{FF2B5EF4-FFF2-40B4-BE49-F238E27FC236}">
                <a16:creationId xmlns:a16="http://schemas.microsoft.com/office/drawing/2014/main" id="{F0A305C8-DF3E-DB45-9F64-CF839254AACB}"/>
              </a:ext>
            </a:extLst>
          </p:cNvPr>
          <p:cNvSpPr>
            <a:spLocks noGrp="1"/>
          </p:cNvSpPr>
          <p:nvPr>
            <p:ph type="body" sz="quarter" idx="10" hasCustomPrompt="1"/>
          </p:nvPr>
        </p:nvSpPr>
        <p:spPr>
          <a:xfrm>
            <a:off x="421283" y="1439056"/>
            <a:ext cx="2862897" cy="505917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85639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ual Layout Slide on White 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948D6589-07BC-504A-9A95-293D1FAB3969}"/>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0" name="Gold H Line">
            <a:extLst>
              <a:ext uri="{FF2B5EF4-FFF2-40B4-BE49-F238E27FC236}">
                <a16:creationId xmlns:a16="http://schemas.microsoft.com/office/drawing/2014/main" id="{BCBE8D15-217A-AD4B-B1B6-A4A4464A9778}"/>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8" name="Content Placeholder  2">
            <a:extLst>
              <a:ext uri="{FF2B5EF4-FFF2-40B4-BE49-F238E27FC236}">
                <a16:creationId xmlns:a16="http://schemas.microsoft.com/office/drawing/2014/main" id="{2FCD4CF8-0C12-EA43-B791-77B95BE3B8A1}"/>
              </a:ext>
            </a:extLst>
          </p:cNvPr>
          <p:cNvSpPr>
            <a:spLocks noGrp="1"/>
          </p:cNvSpPr>
          <p:nvPr>
            <p:ph idx="12" hasCustomPrompt="1"/>
          </p:nvPr>
        </p:nvSpPr>
        <p:spPr>
          <a:xfrm>
            <a:off x="5121619" y="2093513"/>
            <a:ext cx="4333774"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9" name="Sub-heading 2">
            <a:extLst>
              <a:ext uri="{FF2B5EF4-FFF2-40B4-BE49-F238E27FC236}">
                <a16:creationId xmlns:a16="http://schemas.microsoft.com/office/drawing/2014/main" id="{EFD6BD00-14FA-0C44-936C-18A58C6AEAF6}"/>
              </a:ext>
            </a:extLst>
          </p:cNvPr>
          <p:cNvSpPr>
            <a:spLocks noGrp="1"/>
          </p:cNvSpPr>
          <p:nvPr>
            <p:ph type="body" sz="quarter" idx="13" hasCustomPrompt="1"/>
          </p:nvPr>
        </p:nvSpPr>
        <p:spPr>
          <a:xfrm>
            <a:off x="5121619" y="1374651"/>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 name="Title 2">
            <a:extLst>
              <a:ext uri="{FF2B5EF4-FFF2-40B4-BE49-F238E27FC236}">
                <a16:creationId xmlns:a16="http://schemas.microsoft.com/office/drawing/2014/main" id="{3A21EA00-5D4A-874F-9DE9-2C510BCA999D}"/>
              </a:ext>
            </a:extLst>
          </p:cNvPr>
          <p:cNvSpPr>
            <a:spLocks noGrp="1"/>
          </p:cNvSpPr>
          <p:nvPr>
            <p:ph type="body" sz="quarter" idx="14" hasCustomPrompt="1"/>
          </p:nvPr>
        </p:nvSpPr>
        <p:spPr>
          <a:xfrm>
            <a:off x="5121618" y="234094"/>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5" name="Content Placeholder 1">
            <a:extLst>
              <a:ext uri="{FF2B5EF4-FFF2-40B4-BE49-F238E27FC236}">
                <a16:creationId xmlns:a16="http://schemas.microsoft.com/office/drawing/2014/main" id="{711302C3-77CD-E045-AC17-217A8FF65206}"/>
              </a:ext>
            </a:extLst>
          </p:cNvPr>
          <p:cNvSpPr>
            <a:spLocks noGrp="1"/>
          </p:cNvSpPr>
          <p:nvPr>
            <p:ph idx="1" hasCustomPrompt="1"/>
          </p:nvPr>
        </p:nvSpPr>
        <p:spPr>
          <a:xfrm>
            <a:off x="421283" y="2098627"/>
            <a:ext cx="4359925"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tx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1">
            <a:extLst>
              <a:ext uri="{FF2B5EF4-FFF2-40B4-BE49-F238E27FC236}">
                <a16:creationId xmlns:a16="http://schemas.microsoft.com/office/drawing/2014/main" id="{C672C517-E44C-5541-8903-0803B60C387D}"/>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1">
            <a:extLst>
              <a:ext uri="{FF2B5EF4-FFF2-40B4-BE49-F238E27FC236}">
                <a16:creationId xmlns:a16="http://schemas.microsoft.com/office/drawing/2014/main" id="{AD74D22F-7C30-804B-B618-3432E30FA7B0}"/>
              </a:ext>
            </a:extLst>
          </p:cNvPr>
          <p:cNvSpPr>
            <a:spLocks noGrp="1"/>
          </p:cNvSpPr>
          <p:nvPr>
            <p:ph type="title" hasCustomPrompt="1"/>
          </p:nvPr>
        </p:nvSpPr>
        <p:spPr>
          <a:xfrm>
            <a:off x="421284" y="234094"/>
            <a:ext cx="4359925" cy="1019176"/>
          </a:xfrm>
          <a:prstGeom prst="rect">
            <a:avLst/>
          </a:prstGeom>
        </p:spPr>
        <p:txBody>
          <a:bodyPr/>
          <a:lstStyle>
            <a:lvl1pPr>
              <a:lnSpc>
                <a:spcPct val="100000"/>
              </a:lnSpc>
              <a:defRPr/>
            </a:lvl1pPr>
          </a:lstStyle>
          <a:p>
            <a:r>
              <a:rPr lang="en-GB" dirty="0"/>
              <a:t>CLICK TO EDIT TITLE</a:t>
            </a:r>
            <a:endParaRPr lang="en-US" dirty="0"/>
          </a:p>
        </p:txBody>
      </p:sp>
    </p:spTree>
    <p:extLst>
      <p:ext uri="{BB962C8B-B14F-4D97-AF65-F5344CB8AC3E}">
        <p14:creationId xmlns:p14="http://schemas.microsoft.com/office/powerpoint/2010/main" val="361332162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xColumns Slide on White Bg">
    <p:spTree>
      <p:nvGrpSpPr>
        <p:cNvPr id="1" name=""/>
        <p:cNvGrpSpPr/>
        <p:nvPr/>
      </p:nvGrpSpPr>
      <p:grpSpPr>
        <a:xfrm>
          <a:off x="0" y="0"/>
          <a:ext cx="0" cy="0"/>
          <a:chOff x="0" y="0"/>
          <a:chExt cx="0" cy="0"/>
        </a:xfrm>
      </p:grpSpPr>
      <p:sp>
        <p:nvSpPr>
          <p:cNvPr id="19" name="White Rectangle">
            <a:extLst>
              <a:ext uri="{FF2B5EF4-FFF2-40B4-BE49-F238E27FC236}">
                <a16:creationId xmlns:a16="http://schemas.microsoft.com/office/drawing/2014/main" id="{AF7E239E-9757-3248-A127-4F42F0637408}"/>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cxnSp>
        <p:nvCxnSpPr>
          <p:cNvPr id="18" name="Gold H Line">
            <a:extLst>
              <a:ext uri="{FF2B5EF4-FFF2-40B4-BE49-F238E27FC236}">
                <a16:creationId xmlns:a16="http://schemas.microsoft.com/office/drawing/2014/main" id="{FF14821C-DD56-5047-8DDF-2CED2D6B409A}"/>
              </a:ext>
            </a:extLst>
          </p:cNvPr>
          <p:cNvCxnSpPr/>
          <p:nvPr/>
        </p:nvCxnSpPr>
        <p:spPr>
          <a:xfrm>
            <a:off x="0" y="1341438"/>
            <a:ext cx="9902825" cy="0"/>
          </a:xfrm>
          <a:prstGeom prst="line">
            <a:avLst/>
          </a:prstGeom>
          <a:ln>
            <a:solidFill>
              <a:schemeClr val="accent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1" name="Content Placeholder 3">
            <a:extLst>
              <a:ext uri="{FF2B5EF4-FFF2-40B4-BE49-F238E27FC236}">
                <a16:creationId xmlns:a16="http://schemas.microsoft.com/office/drawing/2014/main" id="{2B59F022-8EBD-944D-810D-855A24D6A260}"/>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3">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5" name="Title 3">
            <a:extLst>
              <a:ext uri="{FF2B5EF4-FFF2-40B4-BE49-F238E27FC236}">
                <a16:creationId xmlns:a16="http://schemas.microsoft.com/office/drawing/2014/main" id="{46C5C79B-1FC7-684E-8098-DD6B7E0A0122}"/>
              </a:ext>
            </a:extLst>
          </p:cNvPr>
          <p:cNvSpPr>
            <a:spLocks noGrp="1"/>
          </p:cNvSpPr>
          <p:nvPr>
            <p:ph type="body" sz="quarter" idx="14" hasCustomPrompt="1"/>
          </p:nvPr>
        </p:nvSpPr>
        <p:spPr>
          <a:xfrm>
            <a:off x="6531330" y="230573"/>
            <a:ext cx="2924063" cy="106730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4" name="Content Placeholder  2">
            <a:extLst>
              <a:ext uri="{FF2B5EF4-FFF2-40B4-BE49-F238E27FC236}">
                <a16:creationId xmlns:a16="http://schemas.microsoft.com/office/drawing/2014/main" id="{4BF8A05F-FD1D-CD48-A3CF-DE8AF43F6977}"/>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5" name="Sub-heading 2">
            <a:extLst>
              <a:ext uri="{FF2B5EF4-FFF2-40B4-BE49-F238E27FC236}">
                <a16:creationId xmlns:a16="http://schemas.microsoft.com/office/drawing/2014/main" id="{EB65077B-EB16-BF45-A1FD-89A294FE27D1}"/>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5BE914C9-9E29-9D45-8E51-BE422FBBE2C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6" name="Title 1">
            <a:extLst>
              <a:ext uri="{FF2B5EF4-FFF2-40B4-BE49-F238E27FC236}">
                <a16:creationId xmlns:a16="http://schemas.microsoft.com/office/drawing/2014/main" id="{0A2B4331-7730-C944-82F4-41B3F12BA696}"/>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188814946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Divider Slide on White Bg ">
    <p:bg>
      <p:bgPr>
        <a:solidFill>
          <a:schemeClr val="bg1">
            <a:alpha val="0"/>
          </a:schemeClr>
        </a:solidFill>
        <a:effectLst/>
      </p:bgPr>
    </p:bg>
    <p:spTree>
      <p:nvGrpSpPr>
        <p:cNvPr id="1" name=""/>
        <p:cNvGrpSpPr/>
        <p:nvPr/>
      </p:nvGrpSpPr>
      <p:grpSpPr>
        <a:xfrm>
          <a:off x="0" y="0"/>
          <a:ext cx="0" cy="0"/>
          <a:chOff x="0" y="0"/>
          <a:chExt cx="0" cy="0"/>
        </a:xfrm>
      </p:grpSpPr>
      <p:pic>
        <p:nvPicPr>
          <p:cNvPr id="9" name="Pattern Sand Bottom">
            <a:extLst>
              <a:ext uri="{FF2B5EF4-FFF2-40B4-BE49-F238E27FC236}">
                <a16:creationId xmlns:a16="http://schemas.microsoft.com/office/drawing/2014/main" id="{7E41FF7E-0642-ED43-BF36-6F4C4C4A2BE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11" name="Pattern Top">
            <a:extLst>
              <a:ext uri="{FF2B5EF4-FFF2-40B4-BE49-F238E27FC236}">
                <a16:creationId xmlns:a16="http://schemas.microsoft.com/office/drawing/2014/main" id="{6124DACD-3877-F440-9547-FC58D4D8F1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271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1810161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heading + Content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369629"/>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94054"/>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3474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heading + Content on Patter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238EDFC1-EE9A-8048-86A1-2E5C9233E777}"/>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13" name="Bottom Corner Cover Ups">
            <a:extLst>
              <a:ext uri="{FF2B5EF4-FFF2-40B4-BE49-F238E27FC236}">
                <a16:creationId xmlns:a16="http://schemas.microsoft.com/office/drawing/2014/main" id="{93D46E69-FB5E-344A-A7B7-752C7C6ECCDD}"/>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C3DAB37C-2D70-5C41-B708-179C820942F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73C9FD76-564E-0348-A31C-D0132A5B66BC}"/>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6"/>
            <a:ext cx="9034110" cy="4414600"/>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14181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1" name="Pattern">
            <a:extLst>
              <a:ext uri="{FF2B5EF4-FFF2-40B4-BE49-F238E27FC236}">
                <a16:creationId xmlns:a16="http://schemas.microsoft.com/office/drawing/2014/main" id="{D1F2E50E-95E6-FC4E-962F-EC9D3C8E6FB6}"/>
              </a:ext>
            </a:extLst>
          </p:cNvPr>
          <p:cNvPicPr>
            <a:picLocks noChangeAspect="1"/>
          </p:cNvPicPr>
          <p:nvPr/>
        </p:nvPicPr>
        <p:blipFill rotWithShape="1">
          <a:blip r:embed="rId2" cstate="screen">
            <a:duotone>
              <a:schemeClr val="accent2">
                <a:shade val="45000"/>
                <a:satMod val="135000"/>
              </a:schemeClr>
              <a:prstClr val="white"/>
            </a:duotone>
            <a:alphaModFix amt="6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13" name="Bottom Corner Cover Ups">
            <a:extLst>
              <a:ext uri="{FF2B5EF4-FFF2-40B4-BE49-F238E27FC236}">
                <a16:creationId xmlns:a16="http://schemas.microsoft.com/office/drawing/2014/main" id="{B3C7A21B-1B7F-7C48-A146-B42CAF24A16C}"/>
              </a:ext>
            </a:extLst>
          </p:cNvPr>
          <p:cNvGrpSpPr/>
          <p:nvPr/>
        </p:nvGrpSpPr>
        <p:grpSpPr>
          <a:xfrm>
            <a:off x="0" y="5911729"/>
            <a:ext cx="9902847" cy="949000"/>
            <a:chOff x="0" y="5911729"/>
            <a:chExt cx="12192027" cy="949000"/>
          </a:xfrm>
        </p:grpSpPr>
        <p:pic>
          <p:nvPicPr>
            <p:cNvPr id="14" name="SU.Footer.Shape.White.Cover.R">
              <a:extLst>
                <a:ext uri="{FF2B5EF4-FFF2-40B4-BE49-F238E27FC236}">
                  <a16:creationId xmlns:a16="http://schemas.microsoft.com/office/drawing/2014/main" id="{4E7E269D-C46B-D74D-ADD3-C0B4C411F72A}"/>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15" name="SU.Footer.Shape.White.Cover.L">
              <a:extLst>
                <a:ext uri="{FF2B5EF4-FFF2-40B4-BE49-F238E27FC236}">
                  <a16:creationId xmlns:a16="http://schemas.microsoft.com/office/drawing/2014/main" id="{643164C7-3D42-2F47-9B4F-124EA0300755}"/>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46552"/>
            <a:ext cx="5963976" cy="5066675"/>
          </a:xfrm>
        </p:spPr>
        <p:txBody>
          <a:bodyPr>
            <a:normAutofit lnSpcReduction="10000"/>
          </a:body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46551"/>
            <a:ext cx="2862897" cy="5066674"/>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851212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ual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8" name="White Rectangle">
            <a:extLst>
              <a:ext uri="{FF2B5EF4-FFF2-40B4-BE49-F238E27FC236}">
                <a16:creationId xmlns:a16="http://schemas.microsoft.com/office/drawing/2014/main" id="{16180752-C10C-8440-9EE3-94FE745DE7CB}"/>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3DFF6234-ED27-674E-B499-43815E04B1F3}"/>
              </a:ext>
            </a:extLst>
          </p:cNvPr>
          <p:cNvSpPr>
            <a:spLocks noGrp="1"/>
          </p:cNvSpPr>
          <p:nvPr>
            <p:ph idx="12" hasCustomPrompt="1"/>
          </p:nvPr>
        </p:nvSpPr>
        <p:spPr>
          <a:xfrm>
            <a:off x="5121619" y="2093513"/>
            <a:ext cx="4333774" cy="442720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2">
            <a:extLst>
              <a:ext uri="{FF2B5EF4-FFF2-40B4-BE49-F238E27FC236}">
                <a16:creationId xmlns:a16="http://schemas.microsoft.com/office/drawing/2014/main" id="{566B889E-5E19-884B-A6F6-A481CC7DE2E3}"/>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F6537FBF-A738-EB4D-9E99-BDECCAA2CE51}"/>
              </a:ext>
            </a:extLst>
          </p:cNvPr>
          <p:cNvSpPr>
            <a:spLocks noGrp="1"/>
          </p:cNvSpPr>
          <p:nvPr>
            <p:ph type="body" sz="quarter" idx="14" hasCustomPrompt="1"/>
          </p:nvPr>
        </p:nvSpPr>
        <p:spPr>
          <a:xfrm>
            <a:off x="5121618" y="234093"/>
            <a:ext cx="4333775" cy="1019176"/>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1F49F80C-ACC3-A44A-8CC6-3C5EDE180965}"/>
              </a:ext>
            </a:extLst>
          </p:cNvPr>
          <p:cNvSpPr>
            <a:spLocks noGrp="1"/>
          </p:cNvSpPr>
          <p:nvPr>
            <p:ph idx="1" hasCustomPrompt="1"/>
          </p:nvPr>
        </p:nvSpPr>
        <p:spPr>
          <a:xfrm>
            <a:off x="421283" y="2098627"/>
            <a:ext cx="4359925"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rgbClr val="4D5356"/>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B3F930F9-C039-AF47-823C-5530804EC881}"/>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9EDA3B2F-BE8B-BF42-ABB3-E31B7ECCE836}"/>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709999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xColumns Layout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1" name="White Rectangle">
            <a:extLst>
              <a:ext uri="{FF2B5EF4-FFF2-40B4-BE49-F238E27FC236}">
                <a16:creationId xmlns:a16="http://schemas.microsoft.com/office/drawing/2014/main" id="{257E3393-912E-0B49-AEEE-D6B9ACB96FDA}"/>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3" name="Content Placeholder 3">
            <a:extLst>
              <a:ext uri="{FF2B5EF4-FFF2-40B4-BE49-F238E27FC236}">
                <a16:creationId xmlns:a16="http://schemas.microsoft.com/office/drawing/2014/main" id="{7D3B1D8D-243B-DA40-B75D-A969A88B2F8F}"/>
              </a:ext>
            </a:extLst>
          </p:cNvPr>
          <p:cNvSpPr>
            <a:spLocks noGrp="1"/>
          </p:cNvSpPr>
          <p:nvPr>
            <p:ph idx="12" hasCustomPrompt="1"/>
          </p:nvPr>
        </p:nvSpPr>
        <p:spPr>
          <a:xfrm>
            <a:off x="6531330"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6" name="Sub-heading 3">
            <a:extLst>
              <a:ext uri="{FF2B5EF4-FFF2-40B4-BE49-F238E27FC236}">
                <a16:creationId xmlns:a16="http://schemas.microsoft.com/office/drawing/2014/main" id="{651902F8-552C-7C40-AA8D-2CE4C4E180B0}"/>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3">
            <a:extLst>
              <a:ext uri="{FF2B5EF4-FFF2-40B4-BE49-F238E27FC236}">
                <a16:creationId xmlns:a16="http://schemas.microsoft.com/office/drawing/2014/main" id="{D70127F6-1B72-C84F-9735-3D0725E985F3}"/>
              </a:ext>
            </a:extLst>
          </p:cNvPr>
          <p:cNvSpPr>
            <a:spLocks noGrp="1"/>
          </p:cNvSpPr>
          <p:nvPr>
            <p:ph type="body" sz="quarter" idx="14" hasCustomPrompt="1"/>
          </p:nvPr>
        </p:nvSpPr>
        <p:spPr>
          <a:xfrm>
            <a:off x="6531326"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6" name="Content Placeholder  2">
            <a:extLst>
              <a:ext uri="{FF2B5EF4-FFF2-40B4-BE49-F238E27FC236}">
                <a16:creationId xmlns:a16="http://schemas.microsoft.com/office/drawing/2014/main" id="{26B27DB4-949B-464F-A1EF-C46A3C3631C1}"/>
              </a:ext>
            </a:extLst>
          </p:cNvPr>
          <p:cNvSpPr>
            <a:spLocks noGrp="1"/>
          </p:cNvSpPr>
          <p:nvPr>
            <p:ph idx="15" hasCustomPrompt="1"/>
          </p:nvPr>
        </p:nvSpPr>
        <p:spPr>
          <a:xfrm>
            <a:off x="3476306" y="2093513"/>
            <a:ext cx="2924061"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7" name="Sub-heading 2">
            <a:extLst>
              <a:ext uri="{FF2B5EF4-FFF2-40B4-BE49-F238E27FC236}">
                <a16:creationId xmlns:a16="http://schemas.microsoft.com/office/drawing/2014/main" id="{26C885C7-ECC4-4F47-8909-3F2435E1935F}"/>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8" name="Title 2">
            <a:extLst>
              <a:ext uri="{FF2B5EF4-FFF2-40B4-BE49-F238E27FC236}">
                <a16:creationId xmlns:a16="http://schemas.microsoft.com/office/drawing/2014/main" id="{58332A8F-EAE9-F94C-83E3-1D8BA1D91921}"/>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9" name="Content Placeholder 1">
            <a:extLst>
              <a:ext uri="{FF2B5EF4-FFF2-40B4-BE49-F238E27FC236}">
                <a16:creationId xmlns:a16="http://schemas.microsoft.com/office/drawing/2014/main" id="{F2D4C76D-E14A-6D42-98D9-5AB41C4534F2}"/>
              </a:ext>
            </a:extLst>
          </p:cNvPr>
          <p:cNvSpPr>
            <a:spLocks noGrp="1"/>
          </p:cNvSpPr>
          <p:nvPr>
            <p:ph idx="1" hasCustomPrompt="1"/>
          </p:nvPr>
        </p:nvSpPr>
        <p:spPr>
          <a:xfrm>
            <a:off x="421282" y="2093513"/>
            <a:ext cx="2924063" cy="440472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0" name="Sub-heading 1">
            <a:extLst>
              <a:ext uri="{FF2B5EF4-FFF2-40B4-BE49-F238E27FC236}">
                <a16:creationId xmlns:a16="http://schemas.microsoft.com/office/drawing/2014/main" id="{E5ACC0B6-8927-2744-B7D5-8F74BBD9FF40}"/>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1" name="Title 1">
            <a:extLst>
              <a:ext uri="{FF2B5EF4-FFF2-40B4-BE49-F238E27FC236}">
                <a16:creationId xmlns:a16="http://schemas.microsoft.com/office/drawing/2014/main" id="{92EB4B94-2979-2E4C-BC92-09558809B4B0}"/>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32971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Divider Slide on Sand Bg">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pic>
        <p:nvPicPr>
          <p:cNvPr id="17" name="Pattern Sand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8954"/>
            <a:ext cx="3886792" cy="2148599"/>
          </a:xfrm>
          <a:prstGeom prst="rect">
            <a:avLst/>
          </a:prstGeom>
        </p:spPr>
      </p:pic>
      <p:pic>
        <p:nvPicPr>
          <p:cNvPr id="8" name="Pattern Top">
            <a:extLst>
              <a:ext uri="{FF2B5EF4-FFF2-40B4-BE49-F238E27FC236}">
                <a16:creationId xmlns:a16="http://schemas.microsoft.com/office/drawing/2014/main" id="{2C99B27B-2E8D-C04F-BC82-C62BE787095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flipV="1">
            <a:off x="152149" y="-43952"/>
            <a:ext cx="3886792" cy="2148599"/>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7153"/>
            <a:ext cx="5081645" cy="441607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4865"/>
            <a:ext cx="5081646" cy="631312"/>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5943" y="2943724"/>
            <a:ext cx="3612998" cy="1019176"/>
          </a:xfrm>
          <a:prstGeom prst="rect">
            <a:avLst/>
          </a:prstGeom>
        </p:spPr>
        <p:txBody>
          <a:bodyPr/>
          <a:lstStyle>
            <a:lvl1pPr>
              <a:defRPr>
                <a:solidFill>
                  <a:schemeClr val="accent1"/>
                </a:solidFill>
              </a:defRPr>
            </a:lvl1pPr>
          </a:lstStyle>
          <a:p>
            <a:r>
              <a:rPr lang="en-GB" dirty="0"/>
              <a:t>CLICK TO EDIT TITLE</a:t>
            </a:r>
            <a:endParaRPr lang="en-US" dirty="0"/>
          </a:p>
        </p:txBody>
      </p:sp>
    </p:spTree>
    <p:extLst>
      <p:ext uri="{BB962C8B-B14F-4D97-AF65-F5344CB8AC3E}">
        <p14:creationId xmlns:p14="http://schemas.microsoft.com/office/powerpoint/2010/main" val="3478778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heading + Content on Maroon Bg">
    <p:bg>
      <p:bgPr>
        <a:solidFill>
          <a:schemeClr val="accent1"/>
        </a:solidFill>
        <a:effectLst/>
      </p:bgPr>
    </p:bg>
    <p:spTree>
      <p:nvGrpSpPr>
        <p:cNvPr id="1" name=""/>
        <p:cNvGrpSpPr/>
        <p:nvPr/>
      </p:nvGrpSpPr>
      <p:grpSpPr>
        <a:xfrm>
          <a:off x="0" y="0"/>
          <a:ext cx="0" cy="0"/>
          <a:chOff x="0" y="0"/>
          <a:chExt cx="0" cy="0"/>
        </a:xfrm>
      </p:grpSpPr>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7"/>
            <a:ext cx="9034110" cy="4407105"/>
          </a:xfrm>
        </p:spPr>
        <p:txBody>
          <a:bodyPr>
            <a:normAutofit lnSpcReduction="10000"/>
          </a:bodyPr>
          <a:lstStyle>
            <a:lvl1pPr>
              <a:defRPr>
                <a:solidFill>
                  <a:schemeClr val="bg2"/>
                </a:solidFill>
              </a:defRPr>
            </a:lvl1pPr>
          </a:lstStyle>
          <a:p>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9034110" cy="644993"/>
          </a:xfrm>
          <a:noFill/>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312485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heading + Content on Pattern Maroon Bg">
    <p:bg>
      <p:bgPr>
        <a:solidFill>
          <a:schemeClr val="accent1"/>
        </a:solidFill>
        <a:effectLst/>
      </p:bgPr>
    </p:bg>
    <p:spTree>
      <p:nvGrpSpPr>
        <p:cNvPr id="1" name=""/>
        <p:cNvGrpSpPr/>
        <p:nvPr/>
      </p:nvGrpSpPr>
      <p:grpSpPr>
        <a:xfrm>
          <a:off x="0" y="0"/>
          <a:ext cx="0" cy="0"/>
          <a:chOff x="0" y="0"/>
          <a:chExt cx="0" cy="0"/>
        </a:xfrm>
      </p:grpSpPr>
      <p:pic>
        <p:nvPicPr>
          <p:cNvPr id="25" name="Pattern">
            <a:extLst>
              <a:ext uri="{FF2B5EF4-FFF2-40B4-BE49-F238E27FC236}">
                <a16:creationId xmlns:a16="http://schemas.microsoft.com/office/drawing/2014/main" id="{4226EFA1-497F-5A4F-8521-91A0CFCC6FAD}"/>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26" name="Bottom Corner Cover Ups">
            <a:extLst>
              <a:ext uri="{FF2B5EF4-FFF2-40B4-BE49-F238E27FC236}">
                <a16:creationId xmlns:a16="http://schemas.microsoft.com/office/drawing/2014/main" id="{12DF9248-7DA5-8141-89FC-ECD244595B6B}"/>
              </a:ext>
            </a:extLst>
          </p:cNvPr>
          <p:cNvGrpSpPr/>
          <p:nvPr/>
        </p:nvGrpSpPr>
        <p:grpSpPr>
          <a:xfrm>
            <a:off x="0" y="5911729"/>
            <a:ext cx="9902847" cy="949000"/>
            <a:chOff x="0" y="5911729"/>
            <a:chExt cx="12192027" cy="949000"/>
          </a:xfrm>
        </p:grpSpPr>
        <p:pic>
          <p:nvPicPr>
            <p:cNvPr id="27" name="SU.Footer.Shape.White.Cover.R">
              <a:extLst>
                <a:ext uri="{FF2B5EF4-FFF2-40B4-BE49-F238E27FC236}">
                  <a16:creationId xmlns:a16="http://schemas.microsoft.com/office/drawing/2014/main" id="{44528E5A-08AB-2F40-85F7-9CF023074800}"/>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95482" b="18185"/>
            <a:stretch/>
          </p:blipFill>
          <p:spPr>
            <a:xfrm>
              <a:off x="11641165" y="5911729"/>
              <a:ext cx="550862" cy="949000"/>
            </a:xfrm>
            <a:prstGeom prst="rect">
              <a:avLst/>
            </a:prstGeom>
          </p:spPr>
        </p:pic>
        <p:pic>
          <p:nvPicPr>
            <p:cNvPr id="28" name="SU.Footer.Shape.White.Cover.L">
              <a:extLst>
                <a:ext uri="{FF2B5EF4-FFF2-40B4-BE49-F238E27FC236}">
                  <a16:creationId xmlns:a16="http://schemas.microsoft.com/office/drawing/2014/main" id="{D874E491-8EBD-0144-BAB4-4A1A86F2BCF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203786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heading + Content on Pattern Panel Maroon Bg">
    <p:bg>
      <p:bgPr>
        <a:solidFill>
          <a:schemeClr val="accent1"/>
        </a:solidFill>
        <a:effectLst/>
      </p:bgPr>
    </p:bg>
    <p:spTree>
      <p:nvGrpSpPr>
        <p:cNvPr id="1" name=""/>
        <p:cNvGrpSpPr/>
        <p:nvPr/>
      </p:nvGrpSpPr>
      <p:grpSpPr>
        <a:xfrm>
          <a:off x="0" y="0"/>
          <a:ext cx="0" cy="0"/>
          <a:chOff x="0" y="0"/>
          <a:chExt cx="0" cy="0"/>
        </a:xfrm>
      </p:grpSpPr>
      <p:pic>
        <p:nvPicPr>
          <p:cNvPr id="20" name="Pattern">
            <a:extLst>
              <a:ext uri="{FF2B5EF4-FFF2-40B4-BE49-F238E27FC236}">
                <a16:creationId xmlns:a16="http://schemas.microsoft.com/office/drawing/2014/main" id="{4A2374C0-3B03-8F48-9525-7E36392B29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7065"/>
          <a:stretch/>
        </p:blipFill>
        <p:spPr>
          <a:xfrm>
            <a:off x="1121" y="1342422"/>
            <a:ext cx="3283059" cy="5256000"/>
          </a:xfrm>
          <a:prstGeom prst="rect">
            <a:avLst/>
          </a:prstGeom>
        </p:spPr>
      </p:pic>
      <p:grpSp>
        <p:nvGrpSpPr>
          <p:cNvPr id="21" name="Bottom Corner Cover Ups">
            <a:extLst>
              <a:ext uri="{FF2B5EF4-FFF2-40B4-BE49-F238E27FC236}">
                <a16:creationId xmlns:a16="http://schemas.microsoft.com/office/drawing/2014/main" id="{27B58CE0-B94F-A74F-AF83-E7C43D629945}"/>
              </a:ext>
            </a:extLst>
          </p:cNvPr>
          <p:cNvGrpSpPr/>
          <p:nvPr/>
        </p:nvGrpSpPr>
        <p:grpSpPr>
          <a:xfrm>
            <a:off x="0" y="5911729"/>
            <a:ext cx="9902847" cy="949000"/>
            <a:chOff x="0" y="5911729"/>
            <a:chExt cx="12192027" cy="949000"/>
          </a:xfrm>
        </p:grpSpPr>
        <p:pic>
          <p:nvPicPr>
            <p:cNvPr id="22" name="SU.Footer.Shape.White.Cover.R">
              <a:extLst>
                <a:ext uri="{FF2B5EF4-FFF2-40B4-BE49-F238E27FC236}">
                  <a16:creationId xmlns:a16="http://schemas.microsoft.com/office/drawing/2014/main" id="{96365ED4-3E98-AF49-A700-D172265237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23" name="SU.Footer.Shape.White.Cover.L">
              <a:extLst>
                <a:ext uri="{FF2B5EF4-FFF2-40B4-BE49-F238E27FC236}">
                  <a16:creationId xmlns:a16="http://schemas.microsoft.com/office/drawing/2014/main" id="{D3178EAC-4321-104D-9E00-9ED1994E171E}"/>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3491417" y="1439056"/>
            <a:ext cx="5963976" cy="5074170"/>
          </a:xfrm>
        </p:spPr>
        <p:txBody>
          <a:bodyPr>
            <a:normAutofit lnSpcReduction="10000"/>
          </a:bodyPr>
          <a:lstStyle>
            <a:lvl1pPr>
              <a:defRPr>
                <a:solidFill>
                  <a:schemeClr val="bg2"/>
                </a:solidFill>
              </a:defRPr>
            </a:lvl1pPr>
          </a:lstStyle>
          <a:p>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438310"/>
            <a:ext cx="2862897" cy="5074939"/>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13258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ual Layout Slide on Maroon Bg">
    <p:bg>
      <p:bgPr>
        <a:solidFill>
          <a:schemeClr val="accent1"/>
        </a:solidFill>
        <a:effectLst/>
      </p:bgPr>
    </p:bg>
    <p:spTree>
      <p:nvGrpSpPr>
        <p:cNvPr id="1" name=""/>
        <p:cNvGrpSpPr/>
        <p:nvPr/>
      </p:nvGrpSpPr>
      <p:grpSpPr>
        <a:xfrm>
          <a:off x="0" y="0"/>
          <a:ext cx="0" cy="0"/>
          <a:chOff x="0" y="0"/>
          <a:chExt cx="0" cy="0"/>
        </a:xfrm>
      </p:grpSpPr>
      <p:sp>
        <p:nvSpPr>
          <p:cNvPr id="3" name="White Rectangle">
            <a:extLst>
              <a:ext uri="{FF2B5EF4-FFF2-40B4-BE49-F238E27FC236}">
                <a16:creationId xmlns:a16="http://schemas.microsoft.com/office/drawing/2014/main" id="{D2611FE4-4CE8-7644-A6FD-ABFB5B5B8D60}"/>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4" name="Content Placeholder  2">
            <a:extLst>
              <a:ext uri="{FF2B5EF4-FFF2-40B4-BE49-F238E27FC236}">
                <a16:creationId xmlns:a16="http://schemas.microsoft.com/office/drawing/2014/main" id="{5BA92924-BA89-854C-8409-64B301FD09C2}"/>
              </a:ext>
            </a:extLst>
          </p:cNvPr>
          <p:cNvSpPr>
            <a:spLocks noGrp="1"/>
          </p:cNvSpPr>
          <p:nvPr>
            <p:ph idx="12" hasCustomPrompt="1"/>
          </p:nvPr>
        </p:nvSpPr>
        <p:spPr>
          <a:xfrm>
            <a:off x="5121619" y="2093513"/>
            <a:ext cx="4333774"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7" name="Sub-heading 2">
            <a:extLst>
              <a:ext uri="{FF2B5EF4-FFF2-40B4-BE49-F238E27FC236}">
                <a16:creationId xmlns:a16="http://schemas.microsoft.com/office/drawing/2014/main" id="{90BCFF40-F87E-ED46-9480-AC27B8F7C8FD}"/>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2" name="Title 2">
            <a:extLst>
              <a:ext uri="{FF2B5EF4-FFF2-40B4-BE49-F238E27FC236}">
                <a16:creationId xmlns:a16="http://schemas.microsoft.com/office/drawing/2014/main" id="{24773FA7-6E41-CA4A-B944-CFB56DE6214C}"/>
              </a:ext>
            </a:extLst>
          </p:cNvPr>
          <p:cNvSpPr>
            <a:spLocks noGrp="1"/>
          </p:cNvSpPr>
          <p:nvPr>
            <p:ph type="body" sz="quarter" idx="14" hasCustomPrompt="1"/>
          </p:nvPr>
        </p:nvSpPr>
        <p:spPr>
          <a:xfrm>
            <a:off x="5121618" y="234093"/>
            <a:ext cx="4333775" cy="1071642"/>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9" name="Content Placeholder 1">
            <a:extLst>
              <a:ext uri="{FF2B5EF4-FFF2-40B4-BE49-F238E27FC236}">
                <a16:creationId xmlns:a16="http://schemas.microsoft.com/office/drawing/2014/main" id="{EDE1645F-7F5E-DF4A-92A3-FB3C5E5CD282}"/>
              </a:ext>
            </a:extLst>
          </p:cNvPr>
          <p:cNvSpPr>
            <a:spLocks noGrp="1"/>
          </p:cNvSpPr>
          <p:nvPr>
            <p:ph idx="1" hasCustomPrompt="1"/>
          </p:nvPr>
        </p:nvSpPr>
        <p:spPr>
          <a:xfrm>
            <a:off x="421283" y="2098627"/>
            <a:ext cx="4359925" cy="439722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0" name="Sub-heading 1">
            <a:extLst>
              <a:ext uri="{FF2B5EF4-FFF2-40B4-BE49-F238E27FC236}">
                <a16:creationId xmlns:a16="http://schemas.microsoft.com/office/drawing/2014/main" id="{D7D43BA8-224C-6246-ABDE-468543E9DE18}"/>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1" name="Title 1">
            <a:extLst>
              <a:ext uri="{FF2B5EF4-FFF2-40B4-BE49-F238E27FC236}">
                <a16:creationId xmlns:a16="http://schemas.microsoft.com/office/drawing/2014/main" id="{8A004F2E-DDA4-A340-97A9-41B223F5D4A9}"/>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858177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xColumns Layout Slide on Maroon Bg">
    <p:bg>
      <p:bgPr>
        <a:solidFill>
          <a:schemeClr val="accent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1A1C789A-0612-3644-A79B-9492F3528D52}"/>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5" name="Content Placeholder 3">
            <a:extLst>
              <a:ext uri="{FF2B5EF4-FFF2-40B4-BE49-F238E27FC236}">
                <a16:creationId xmlns:a16="http://schemas.microsoft.com/office/drawing/2014/main" id="{B63BC844-4DA9-DB4A-A3AA-E8A8209E0994}"/>
              </a:ext>
            </a:extLst>
          </p:cNvPr>
          <p:cNvSpPr>
            <a:spLocks noGrp="1"/>
          </p:cNvSpPr>
          <p:nvPr>
            <p:ph idx="12" hasCustomPrompt="1"/>
          </p:nvPr>
        </p:nvSpPr>
        <p:spPr>
          <a:xfrm>
            <a:off x="6531330"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5" name="Sub-heading 3">
            <a:extLst>
              <a:ext uri="{FF2B5EF4-FFF2-40B4-BE49-F238E27FC236}">
                <a16:creationId xmlns:a16="http://schemas.microsoft.com/office/drawing/2014/main" id="{D8F5F88C-07A7-2147-A0EA-3CBC0139E676}"/>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6" name="Title 3">
            <a:extLst>
              <a:ext uri="{FF2B5EF4-FFF2-40B4-BE49-F238E27FC236}">
                <a16:creationId xmlns:a16="http://schemas.microsoft.com/office/drawing/2014/main" id="{29E07662-F181-D847-979F-68604D400655}"/>
              </a:ext>
            </a:extLst>
          </p:cNvPr>
          <p:cNvSpPr>
            <a:spLocks noGrp="1"/>
          </p:cNvSpPr>
          <p:nvPr>
            <p:ph type="body" sz="quarter" idx="14" hasCustomPrompt="1"/>
          </p:nvPr>
        </p:nvSpPr>
        <p:spPr>
          <a:xfrm>
            <a:off x="6531330" y="23057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27" name="Content Placeholder  2">
            <a:extLst>
              <a:ext uri="{FF2B5EF4-FFF2-40B4-BE49-F238E27FC236}">
                <a16:creationId xmlns:a16="http://schemas.microsoft.com/office/drawing/2014/main" id="{81BE3FB5-7628-A44F-8346-A0EAD26BDE0D}"/>
              </a:ext>
            </a:extLst>
          </p:cNvPr>
          <p:cNvSpPr>
            <a:spLocks noGrp="1"/>
          </p:cNvSpPr>
          <p:nvPr>
            <p:ph idx="15" hasCustomPrompt="1"/>
          </p:nvPr>
        </p:nvSpPr>
        <p:spPr>
          <a:xfrm>
            <a:off x="3476306" y="2093513"/>
            <a:ext cx="2924061"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28" name="Sub-heading 2">
            <a:extLst>
              <a:ext uri="{FF2B5EF4-FFF2-40B4-BE49-F238E27FC236}">
                <a16:creationId xmlns:a16="http://schemas.microsoft.com/office/drawing/2014/main" id="{733D04FF-BCA2-1642-A192-144D8BEEF295}"/>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9" name="Title 2">
            <a:extLst>
              <a:ext uri="{FF2B5EF4-FFF2-40B4-BE49-F238E27FC236}">
                <a16:creationId xmlns:a16="http://schemas.microsoft.com/office/drawing/2014/main" id="{FC4B0CEE-DA4A-3244-81A8-3C23508A14A6}"/>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0" name="Content Placeholder 1">
            <a:extLst>
              <a:ext uri="{FF2B5EF4-FFF2-40B4-BE49-F238E27FC236}">
                <a16:creationId xmlns:a16="http://schemas.microsoft.com/office/drawing/2014/main" id="{86AEBDB5-8697-1944-A7CB-0C142AFA549A}"/>
              </a:ext>
            </a:extLst>
          </p:cNvPr>
          <p:cNvSpPr>
            <a:spLocks noGrp="1"/>
          </p:cNvSpPr>
          <p:nvPr>
            <p:ph idx="1" hasCustomPrompt="1"/>
          </p:nvPr>
        </p:nvSpPr>
        <p:spPr>
          <a:xfrm>
            <a:off x="421282" y="2093513"/>
            <a:ext cx="2924063" cy="4419714"/>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1" name="Sub-heading 1">
            <a:extLst>
              <a:ext uri="{FF2B5EF4-FFF2-40B4-BE49-F238E27FC236}">
                <a16:creationId xmlns:a16="http://schemas.microsoft.com/office/drawing/2014/main" id="{609BD0E6-9034-2C40-A3D4-10BA44739DF5}"/>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2" name="Title 1">
            <a:extLst>
              <a:ext uri="{FF2B5EF4-FFF2-40B4-BE49-F238E27FC236}">
                <a16:creationId xmlns:a16="http://schemas.microsoft.com/office/drawing/2014/main" id="{BAE43938-8335-A749-BAE2-E305CF007394}"/>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1377646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Divider Slide on Maroon Bg">
    <p:bg>
      <p:bgPr>
        <a:solidFill>
          <a:schemeClr val="accent1"/>
        </a:solidFill>
        <a:effectLst/>
      </p:bgPr>
    </p:bg>
    <p:spTree>
      <p:nvGrpSpPr>
        <p:cNvPr id="1" name=""/>
        <p:cNvGrpSpPr/>
        <p:nvPr/>
      </p:nvGrpSpPr>
      <p:grpSpPr>
        <a:xfrm>
          <a:off x="0" y="0"/>
          <a:ext cx="0" cy="0"/>
          <a:chOff x="0" y="0"/>
          <a:chExt cx="0" cy="0"/>
        </a:xfrm>
      </p:grpSpPr>
      <p:pic>
        <p:nvPicPr>
          <p:cNvPr id="17" name="Pattern Maroon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Maroon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41306"/>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5"/>
            <a:ext cx="3886792" cy="1376863"/>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101463"/>
            <a:ext cx="5081645" cy="4419258"/>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76839"/>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2721006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heading + Content on Steel Grey Bg">
    <p:bg>
      <p:bgPr>
        <a:solidFill>
          <a:schemeClr val="tx1"/>
        </a:solidFill>
        <a:effectLst/>
      </p:bgPr>
    </p:bg>
    <p:spTree>
      <p:nvGrpSpPr>
        <p:cNvPr id="1" name=""/>
        <p:cNvGrpSpPr/>
        <p:nvPr/>
      </p:nvGrpSpPr>
      <p:grpSpPr>
        <a:xfrm>
          <a:off x="0" y="0"/>
          <a:ext cx="0" cy="0"/>
          <a:chOff x="0" y="0"/>
          <a:chExt cx="0" cy="0"/>
        </a:xfrm>
      </p:grpSpPr>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22095"/>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3213"/>
            <a:ext cx="6764790" cy="1052880"/>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244440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heading + Content on Pattern Steel Grey Bg">
    <p:bg>
      <p:bgPr>
        <a:solidFill>
          <a:schemeClr val="tx1"/>
        </a:solidFill>
        <a:effectLst/>
      </p:bgPr>
    </p:bg>
    <p:spTree>
      <p:nvGrpSpPr>
        <p:cNvPr id="1" name=""/>
        <p:cNvGrpSpPr/>
        <p:nvPr/>
      </p:nvGrpSpPr>
      <p:grpSpPr>
        <a:xfrm>
          <a:off x="0" y="0"/>
          <a:ext cx="0" cy="0"/>
          <a:chOff x="0" y="0"/>
          <a:chExt cx="0" cy="0"/>
        </a:xfrm>
      </p:grpSpPr>
      <p:pic>
        <p:nvPicPr>
          <p:cNvPr id="15" name="Pattern">
            <a:extLst>
              <a:ext uri="{FF2B5EF4-FFF2-40B4-BE49-F238E27FC236}">
                <a16:creationId xmlns:a16="http://schemas.microsoft.com/office/drawing/2014/main" id="{C0EE66DB-533C-E64C-B3D1-64CA280079A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68"/>
          <a:stretch/>
        </p:blipFill>
        <p:spPr>
          <a:xfrm>
            <a:off x="1120" y="1342422"/>
            <a:ext cx="9901705" cy="5256000"/>
          </a:xfrm>
          <a:prstGeom prst="rect">
            <a:avLst/>
          </a:prstGeom>
        </p:spPr>
      </p:pic>
      <p:grpSp>
        <p:nvGrpSpPr>
          <p:cNvPr id="3" name="Bottom Corner Cover Ups">
            <a:extLst>
              <a:ext uri="{FF2B5EF4-FFF2-40B4-BE49-F238E27FC236}">
                <a16:creationId xmlns:a16="http://schemas.microsoft.com/office/drawing/2014/main" id="{5005E7C9-6600-A544-AFA5-371577BEB73F}"/>
              </a:ext>
            </a:extLst>
          </p:cNvPr>
          <p:cNvGrpSpPr/>
          <p:nvPr/>
        </p:nvGrpSpPr>
        <p:grpSpPr>
          <a:xfrm>
            <a:off x="0" y="5911729"/>
            <a:ext cx="9902847" cy="949000"/>
            <a:chOff x="0" y="5911729"/>
            <a:chExt cx="12192027" cy="949000"/>
          </a:xfrm>
        </p:grpSpPr>
        <p:pic>
          <p:nvPicPr>
            <p:cNvPr id="9" name="SU.Footer.Shape.White.Cover.R">
              <a:extLst>
                <a:ext uri="{FF2B5EF4-FFF2-40B4-BE49-F238E27FC236}">
                  <a16:creationId xmlns:a16="http://schemas.microsoft.com/office/drawing/2014/main" id="{1D0C4382-EBF0-994D-87EB-841AE6F0FD2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0" name="SU.Footer.Shape.White.Cover.L">
              <a:extLst>
                <a:ext uri="{FF2B5EF4-FFF2-40B4-BE49-F238E27FC236}">
                  <a16:creationId xmlns:a16="http://schemas.microsoft.com/office/drawing/2014/main" id="{A9785C11-D389-7D4F-9474-E4C97B9273D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4" name="Content Placeholder ">
            <a:extLst>
              <a:ext uri="{FF2B5EF4-FFF2-40B4-BE49-F238E27FC236}">
                <a16:creationId xmlns:a16="http://schemas.microsoft.com/office/drawing/2014/main" id="{4A0A04E6-82A6-6342-BC69-1852DDFBABAB}"/>
              </a:ext>
            </a:extLst>
          </p:cNvPr>
          <p:cNvSpPr>
            <a:spLocks noGrp="1"/>
          </p:cNvSpPr>
          <p:nvPr>
            <p:ph idx="1" hasCustomPrompt="1"/>
          </p:nvPr>
        </p:nvSpPr>
        <p:spPr>
          <a:xfrm>
            <a:off x="421283" y="2098627"/>
            <a:ext cx="9034110"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5" name="Sub-heading">
            <a:extLst>
              <a:ext uri="{FF2B5EF4-FFF2-40B4-BE49-F238E27FC236}">
                <a16:creationId xmlns:a16="http://schemas.microsoft.com/office/drawing/2014/main" id="{75341AAE-B2DE-0D44-A2FA-007F38E94867}"/>
              </a:ext>
            </a:extLst>
          </p:cNvPr>
          <p:cNvSpPr>
            <a:spLocks noGrp="1"/>
          </p:cNvSpPr>
          <p:nvPr>
            <p:ph type="body" sz="quarter" idx="10" hasCustomPrompt="1"/>
          </p:nvPr>
        </p:nvSpPr>
        <p:spPr>
          <a:xfrm>
            <a:off x="421283" y="1379765"/>
            <a:ext cx="9034110" cy="644993"/>
          </a:xfrm>
        </p:spPr>
        <p:txBody>
          <a:bodyPr anchor="ctr">
            <a:normAutofit/>
          </a:bodyPr>
          <a:lstStyle>
            <a:lvl1pPr marL="0" indent="0" algn="l" defTabSz="742676" rtl="0" eaLnBrk="1" latinLnBrk="0" hangingPunct="1">
              <a:lnSpc>
                <a:spcPct val="100000"/>
              </a:lnSpc>
              <a:spcBef>
                <a:spcPts val="812"/>
              </a:spcBef>
              <a:buClr>
                <a:schemeClr val="accent2"/>
              </a:buClr>
              <a:buFontTx/>
              <a:buNone/>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995484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heading + Content on Pattern Panel Steel Grey Bg">
    <p:bg>
      <p:bgPr>
        <a:solidFill>
          <a:schemeClr val="tx1"/>
        </a:solidFill>
        <a:effectLst/>
      </p:bgPr>
    </p:bg>
    <p:spTree>
      <p:nvGrpSpPr>
        <p:cNvPr id="1" name=""/>
        <p:cNvGrpSpPr/>
        <p:nvPr/>
      </p:nvGrpSpPr>
      <p:grpSpPr>
        <a:xfrm>
          <a:off x="0" y="0"/>
          <a:ext cx="0" cy="0"/>
          <a:chOff x="0" y="0"/>
          <a:chExt cx="0" cy="0"/>
        </a:xfrm>
      </p:grpSpPr>
      <p:pic>
        <p:nvPicPr>
          <p:cNvPr id="12" name="Pattern">
            <a:extLst>
              <a:ext uri="{FF2B5EF4-FFF2-40B4-BE49-F238E27FC236}">
                <a16:creationId xmlns:a16="http://schemas.microsoft.com/office/drawing/2014/main" id="{D5786CBE-E2DA-F242-8EF3-D86AFD7773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69167"/>
          <a:stretch/>
        </p:blipFill>
        <p:spPr>
          <a:xfrm>
            <a:off x="1121" y="1342422"/>
            <a:ext cx="3073547" cy="5256000"/>
          </a:xfrm>
          <a:prstGeom prst="rect">
            <a:avLst/>
          </a:prstGeom>
        </p:spPr>
      </p:pic>
      <p:grpSp>
        <p:nvGrpSpPr>
          <p:cNvPr id="15" name="Bottom Corner Cover Ups">
            <a:extLst>
              <a:ext uri="{FF2B5EF4-FFF2-40B4-BE49-F238E27FC236}">
                <a16:creationId xmlns:a16="http://schemas.microsoft.com/office/drawing/2014/main" id="{F6742E16-A430-8D49-8E48-2E7C539F8975}"/>
              </a:ext>
            </a:extLst>
          </p:cNvPr>
          <p:cNvGrpSpPr/>
          <p:nvPr/>
        </p:nvGrpSpPr>
        <p:grpSpPr>
          <a:xfrm>
            <a:off x="0" y="5911729"/>
            <a:ext cx="9902847" cy="949000"/>
            <a:chOff x="0" y="5911729"/>
            <a:chExt cx="12192027" cy="949000"/>
          </a:xfrm>
        </p:grpSpPr>
        <p:pic>
          <p:nvPicPr>
            <p:cNvPr id="16" name="SU.Footer.Shape.White.Cover.R">
              <a:extLst>
                <a:ext uri="{FF2B5EF4-FFF2-40B4-BE49-F238E27FC236}">
                  <a16:creationId xmlns:a16="http://schemas.microsoft.com/office/drawing/2014/main" id="{36D2AD46-C46A-354E-BEB5-538F821ABE2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5482" b="18185"/>
            <a:stretch/>
          </p:blipFill>
          <p:spPr>
            <a:xfrm>
              <a:off x="11641165" y="5911729"/>
              <a:ext cx="550862" cy="949000"/>
            </a:xfrm>
            <a:prstGeom prst="rect">
              <a:avLst/>
            </a:prstGeom>
          </p:spPr>
        </p:pic>
        <p:pic>
          <p:nvPicPr>
            <p:cNvPr id="17" name="SU.Footer.Shape.White.Cover.L">
              <a:extLst>
                <a:ext uri="{FF2B5EF4-FFF2-40B4-BE49-F238E27FC236}">
                  <a16:creationId xmlns:a16="http://schemas.microsoft.com/office/drawing/2014/main" id="{FCFD9C81-5F69-5644-80F4-B4957DB6B590}"/>
                </a:ext>
              </a:extLst>
            </p:cNvPr>
            <p:cNvPicPr>
              <a:picLocks noChangeAspect="1"/>
            </p:cNvPicPr>
            <p:nvPr userDrawn="1"/>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r="95768" b="18185"/>
            <a:stretch/>
          </p:blipFill>
          <p:spPr>
            <a:xfrm>
              <a:off x="0" y="5911729"/>
              <a:ext cx="515938" cy="949000"/>
            </a:xfrm>
            <a:prstGeom prst="rect">
              <a:avLst/>
            </a:prstGeom>
          </p:spPr>
        </p:pic>
      </p:grpSp>
      <p:sp>
        <p:nvSpPr>
          <p:cNvPr id="14" name="Content Placeholder ">
            <a:extLst>
              <a:ext uri="{FF2B5EF4-FFF2-40B4-BE49-F238E27FC236}">
                <a16:creationId xmlns:a16="http://schemas.microsoft.com/office/drawing/2014/main" id="{D0E9C235-E1AC-4547-A3F0-A9434CA86FFA}"/>
              </a:ext>
            </a:extLst>
          </p:cNvPr>
          <p:cNvSpPr>
            <a:spLocks noGrp="1"/>
          </p:cNvSpPr>
          <p:nvPr>
            <p:ph idx="12" hasCustomPrompt="1"/>
          </p:nvPr>
        </p:nvSpPr>
        <p:spPr>
          <a:xfrm>
            <a:off x="3284181" y="1439056"/>
            <a:ext cx="6347115" cy="5074170"/>
          </a:xfrm>
        </p:spPr>
        <p:txBody>
          <a:bodyPr>
            <a:normAutofit lnSpcReduction="10000"/>
          </a:bodyPr>
          <a:lstStyle>
            <a:lvl1pPr>
              <a:defRPr>
                <a:solidFill>
                  <a:schemeClr val="bg1"/>
                </a:solidFill>
              </a:defRPr>
            </a:lvl1pPr>
          </a:lstStyle>
          <a:p>
            <a:r>
              <a:rPr lang="en-GB" dirty="0"/>
              <a:t>Content placeholder</a:t>
            </a:r>
          </a:p>
        </p:txBody>
      </p:sp>
      <p:sp>
        <p:nvSpPr>
          <p:cNvPr id="13" name="Sub-heading">
            <a:extLst>
              <a:ext uri="{FF2B5EF4-FFF2-40B4-BE49-F238E27FC236}">
                <a16:creationId xmlns:a16="http://schemas.microsoft.com/office/drawing/2014/main" id="{4F600B9D-C6D1-B541-84C3-79F974E4691D}"/>
              </a:ext>
            </a:extLst>
          </p:cNvPr>
          <p:cNvSpPr>
            <a:spLocks noGrp="1"/>
          </p:cNvSpPr>
          <p:nvPr>
            <p:ph type="body" sz="quarter" idx="10" hasCustomPrompt="1"/>
          </p:nvPr>
        </p:nvSpPr>
        <p:spPr>
          <a:xfrm>
            <a:off x="421283" y="1437745"/>
            <a:ext cx="2653384" cy="5075482"/>
          </a:xfrm>
        </p:spPr>
        <p:txBody>
          <a:bodyPr anchor="t">
            <a:normAutofit/>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lang="en-GB" sz="2274" b="0" i="0" kern="120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3" y="286559"/>
            <a:ext cx="6764790"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3458616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ual Layout Slide on Steel Grey Bg">
    <p:bg>
      <p:bgPr>
        <a:solidFill>
          <a:schemeClr val="tx1"/>
        </a:solidFill>
        <a:effectLst/>
      </p:bgPr>
    </p:bg>
    <p:spTree>
      <p:nvGrpSpPr>
        <p:cNvPr id="1" name=""/>
        <p:cNvGrpSpPr/>
        <p:nvPr/>
      </p:nvGrpSpPr>
      <p:grpSpPr>
        <a:xfrm>
          <a:off x="0" y="0"/>
          <a:ext cx="0" cy="0"/>
          <a:chOff x="0" y="0"/>
          <a:chExt cx="0" cy="0"/>
        </a:xfrm>
      </p:grpSpPr>
      <p:sp>
        <p:nvSpPr>
          <p:cNvPr id="9" name="White Rectangle">
            <a:extLst>
              <a:ext uri="{FF2B5EF4-FFF2-40B4-BE49-F238E27FC236}">
                <a16:creationId xmlns:a16="http://schemas.microsoft.com/office/drawing/2014/main" id="{E092BD89-6351-F14F-99A1-F9ED46FD8A3D}"/>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11" name="Content Placeholder  2">
            <a:extLst>
              <a:ext uri="{FF2B5EF4-FFF2-40B4-BE49-F238E27FC236}">
                <a16:creationId xmlns:a16="http://schemas.microsoft.com/office/drawing/2014/main" id="{2B59F022-8EBD-944D-810D-855A24D6A260}"/>
              </a:ext>
            </a:extLst>
          </p:cNvPr>
          <p:cNvSpPr>
            <a:spLocks noGrp="1"/>
          </p:cNvSpPr>
          <p:nvPr>
            <p:ph idx="12" hasCustomPrompt="1"/>
          </p:nvPr>
        </p:nvSpPr>
        <p:spPr>
          <a:xfrm>
            <a:off x="5121619" y="2093512"/>
            <a:ext cx="4333774"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1">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3" name="Sub-heading 2">
            <a:extLst>
              <a:ext uri="{FF2B5EF4-FFF2-40B4-BE49-F238E27FC236}">
                <a16:creationId xmlns:a16="http://schemas.microsoft.com/office/drawing/2014/main" id="{DBCB0F0E-2CA6-9B47-B078-4D0CBA22AA46}"/>
              </a:ext>
            </a:extLst>
          </p:cNvPr>
          <p:cNvSpPr>
            <a:spLocks noGrp="1"/>
          </p:cNvSpPr>
          <p:nvPr>
            <p:ph type="body" sz="quarter" idx="13" hasCustomPrompt="1"/>
          </p:nvPr>
        </p:nvSpPr>
        <p:spPr>
          <a:xfrm>
            <a:off x="5121619" y="1382146"/>
            <a:ext cx="4333774"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1"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17" name="Title 2">
            <a:extLst>
              <a:ext uri="{FF2B5EF4-FFF2-40B4-BE49-F238E27FC236}">
                <a16:creationId xmlns:a16="http://schemas.microsoft.com/office/drawing/2014/main" id="{EB87052C-3318-B443-ACEB-EB3464C7D937}"/>
              </a:ext>
            </a:extLst>
          </p:cNvPr>
          <p:cNvSpPr>
            <a:spLocks noGrp="1"/>
          </p:cNvSpPr>
          <p:nvPr>
            <p:ph type="body" sz="quarter" idx="14" hasCustomPrompt="1"/>
          </p:nvPr>
        </p:nvSpPr>
        <p:spPr>
          <a:xfrm>
            <a:off x="5121618" y="234094"/>
            <a:ext cx="4333775" cy="1071641"/>
          </a:xfrm>
        </p:spPr>
        <p:txBody>
          <a:bodyPr/>
          <a:lstStyle>
            <a:lvl1pPr marL="0" indent="0">
              <a:buFontTx/>
              <a:buNone/>
              <a:defRPr lang="en-GB" sz="2599" b="1" i="1" kern="1200" dirty="0" smtClean="0">
                <a:solidFill>
                  <a:schemeClr val="accent1"/>
                </a:solidFill>
                <a:latin typeface="Trebuchet MS" panose="020B0703020202090204" pitchFamily="34" charset="0"/>
                <a:ea typeface="+mj-ea"/>
                <a:cs typeface="+mj-cs"/>
              </a:defRPr>
            </a:lvl1pPr>
            <a:lvl2pPr marL="371338" indent="0">
              <a:buFontTx/>
              <a:buNone/>
              <a:defRPr/>
            </a:lvl2pPr>
            <a:lvl3pPr marL="742676" indent="0">
              <a:buFontTx/>
              <a:buNone/>
              <a:defRPr/>
            </a:lvl3pPr>
            <a:lvl4pPr marL="1114014" indent="0">
              <a:buFontTx/>
              <a:buNone/>
              <a:defRPr/>
            </a:lvl4pPr>
            <a:lvl5pPr marL="1485351" indent="0">
              <a:buFontTx/>
              <a:buNone/>
              <a:defRPr/>
            </a:lvl5pPr>
          </a:lstStyle>
          <a:p>
            <a:pPr lvl="0"/>
            <a:r>
              <a:rPr lang="en-GB" dirty="0"/>
              <a:t>CLICK TO EDIT TITLE</a:t>
            </a:r>
          </a:p>
        </p:txBody>
      </p:sp>
      <p:sp>
        <p:nvSpPr>
          <p:cNvPr id="10" name="Content Placeholder 1">
            <a:extLst>
              <a:ext uri="{FF2B5EF4-FFF2-40B4-BE49-F238E27FC236}">
                <a16:creationId xmlns:a16="http://schemas.microsoft.com/office/drawing/2014/main" id="{1E5D113C-3036-C842-BC1F-5B0180C05F49}"/>
              </a:ext>
            </a:extLst>
          </p:cNvPr>
          <p:cNvSpPr>
            <a:spLocks noGrp="1"/>
          </p:cNvSpPr>
          <p:nvPr>
            <p:ph idx="1" hasCustomPrompt="1"/>
          </p:nvPr>
        </p:nvSpPr>
        <p:spPr>
          <a:xfrm>
            <a:off x="421283" y="2098626"/>
            <a:ext cx="4359925" cy="4414600"/>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2"/>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1">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21283" y="1379765"/>
            <a:ext cx="4359925"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1">
            <a:extLst>
              <a:ext uri="{FF2B5EF4-FFF2-40B4-BE49-F238E27FC236}">
                <a16:creationId xmlns:a16="http://schemas.microsoft.com/office/drawing/2014/main" id="{4F38FE0C-DEEE-374F-87A7-4115B8F04250}"/>
              </a:ext>
            </a:extLst>
          </p:cNvPr>
          <p:cNvSpPr>
            <a:spLocks noGrp="1"/>
          </p:cNvSpPr>
          <p:nvPr>
            <p:ph type="title" hasCustomPrompt="1"/>
          </p:nvPr>
        </p:nvSpPr>
        <p:spPr>
          <a:xfrm>
            <a:off x="421284" y="286559"/>
            <a:ext cx="4359925" cy="1019176"/>
          </a:xfrm>
          <a:prstGeom prst="rect">
            <a:avLst/>
          </a:prstGeom>
        </p:spPr>
        <p:txBody>
          <a:bodyPr/>
          <a:lstStyle/>
          <a:p>
            <a:r>
              <a:rPr lang="en-GB" dirty="0"/>
              <a:t>CLICK TO EDIT TITLE</a:t>
            </a:r>
            <a:endParaRPr lang="en-US" dirty="0"/>
          </a:p>
        </p:txBody>
      </p:sp>
    </p:spTree>
    <p:extLst>
      <p:ext uri="{BB962C8B-B14F-4D97-AF65-F5344CB8AC3E}">
        <p14:creationId xmlns:p14="http://schemas.microsoft.com/office/powerpoint/2010/main" val="1350085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xColumns Layout Slide on Steel Grey Bg">
    <p:bg>
      <p:bgPr>
        <a:solidFill>
          <a:schemeClr val="tx1"/>
        </a:solidFill>
        <a:effectLst/>
      </p:bgPr>
    </p:bg>
    <p:spTree>
      <p:nvGrpSpPr>
        <p:cNvPr id="1" name=""/>
        <p:cNvGrpSpPr/>
        <p:nvPr/>
      </p:nvGrpSpPr>
      <p:grpSpPr>
        <a:xfrm>
          <a:off x="0" y="0"/>
          <a:ext cx="0" cy="0"/>
          <a:chOff x="0" y="0"/>
          <a:chExt cx="0" cy="0"/>
        </a:xfrm>
      </p:grpSpPr>
      <p:sp>
        <p:nvSpPr>
          <p:cNvPr id="12" name="White Rectangle">
            <a:extLst>
              <a:ext uri="{FF2B5EF4-FFF2-40B4-BE49-F238E27FC236}">
                <a16:creationId xmlns:a16="http://schemas.microsoft.com/office/drawing/2014/main" id="{F91E8B35-3A4B-C141-A1D0-4589A2506ABF}"/>
              </a:ext>
            </a:extLst>
          </p:cNvPr>
          <p:cNvSpPr/>
          <p:nvPr/>
        </p:nvSpPr>
        <p:spPr>
          <a:xfrm>
            <a:off x="0" y="1"/>
            <a:ext cx="9902825" cy="1338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sp>
        <p:nvSpPr>
          <p:cNvPr id="33" name="Content Placeholder 3">
            <a:extLst>
              <a:ext uri="{FF2B5EF4-FFF2-40B4-BE49-F238E27FC236}">
                <a16:creationId xmlns:a16="http://schemas.microsoft.com/office/drawing/2014/main" id="{BBB9A18E-F7B6-1241-9C63-76045CF56253}"/>
              </a:ext>
            </a:extLst>
          </p:cNvPr>
          <p:cNvSpPr>
            <a:spLocks noGrp="1"/>
          </p:cNvSpPr>
          <p:nvPr>
            <p:ph idx="12" hasCustomPrompt="1"/>
          </p:nvPr>
        </p:nvSpPr>
        <p:spPr>
          <a:xfrm>
            <a:off x="6531330"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4" name="Sub-heading 3">
            <a:extLst>
              <a:ext uri="{FF2B5EF4-FFF2-40B4-BE49-F238E27FC236}">
                <a16:creationId xmlns:a16="http://schemas.microsoft.com/office/drawing/2014/main" id="{73E54803-8D9E-3F45-B6AB-224557321092}"/>
              </a:ext>
            </a:extLst>
          </p:cNvPr>
          <p:cNvSpPr>
            <a:spLocks noGrp="1"/>
          </p:cNvSpPr>
          <p:nvPr>
            <p:ph type="body" sz="quarter" idx="13" hasCustomPrompt="1"/>
          </p:nvPr>
        </p:nvSpPr>
        <p:spPr>
          <a:xfrm>
            <a:off x="6531330"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5" name="Title 3">
            <a:extLst>
              <a:ext uri="{FF2B5EF4-FFF2-40B4-BE49-F238E27FC236}">
                <a16:creationId xmlns:a16="http://schemas.microsoft.com/office/drawing/2014/main" id="{16F8BEA3-5345-1748-AA80-5B585F793FE9}"/>
              </a:ext>
            </a:extLst>
          </p:cNvPr>
          <p:cNvSpPr>
            <a:spLocks noGrp="1"/>
          </p:cNvSpPr>
          <p:nvPr>
            <p:ph type="body" sz="quarter" idx="14" hasCustomPrompt="1"/>
          </p:nvPr>
        </p:nvSpPr>
        <p:spPr>
          <a:xfrm>
            <a:off x="6531330" y="229952"/>
            <a:ext cx="2924063" cy="1053551"/>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6" name="Content Placeholder  2">
            <a:extLst>
              <a:ext uri="{FF2B5EF4-FFF2-40B4-BE49-F238E27FC236}">
                <a16:creationId xmlns:a16="http://schemas.microsoft.com/office/drawing/2014/main" id="{88B2884D-0365-B541-8F3C-C51C6A73AE24}"/>
              </a:ext>
            </a:extLst>
          </p:cNvPr>
          <p:cNvSpPr>
            <a:spLocks noGrp="1"/>
          </p:cNvSpPr>
          <p:nvPr>
            <p:ph idx="15" hasCustomPrompt="1"/>
          </p:nvPr>
        </p:nvSpPr>
        <p:spPr>
          <a:xfrm>
            <a:off x="3476306" y="2093513"/>
            <a:ext cx="2924061"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i="0">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37" name="Sub-heading 2">
            <a:extLst>
              <a:ext uri="{FF2B5EF4-FFF2-40B4-BE49-F238E27FC236}">
                <a16:creationId xmlns:a16="http://schemas.microsoft.com/office/drawing/2014/main" id="{6D580DE4-7F66-D04D-B514-60DB430392E6}"/>
              </a:ext>
            </a:extLst>
          </p:cNvPr>
          <p:cNvSpPr>
            <a:spLocks noGrp="1"/>
          </p:cNvSpPr>
          <p:nvPr>
            <p:ph type="body" sz="quarter" idx="16" hasCustomPrompt="1"/>
          </p:nvPr>
        </p:nvSpPr>
        <p:spPr>
          <a:xfrm>
            <a:off x="3476306" y="1382146"/>
            <a:ext cx="2924061"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38" name="Title 2">
            <a:extLst>
              <a:ext uri="{FF2B5EF4-FFF2-40B4-BE49-F238E27FC236}">
                <a16:creationId xmlns:a16="http://schemas.microsoft.com/office/drawing/2014/main" id="{A6F7933B-A88D-C34B-BD54-79381E7FAA12}"/>
              </a:ext>
            </a:extLst>
          </p:cNvPr>
          <p:cNvSpPr>
            <a:spLocks noGrp="1"/>
          </p:cNvSpPr>
          <p:nvPr>
            <p:ph type="body" sz="quarter" idx="17" hasCustomPrompt="1"/>
          </p:nvPr>
        </p:nvSpPr>
        <p:spPr>
          <a:xfrm>
            <a:off x="3476304"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
        <p:nvSpPr>
          <p:cNvPr id="39" name="Content Placeholder 1">
            <a:extLst>
              <a:ext uri="{FF2B5EF4-FFF2-40B4-BE49-F238E27FC236}">
                <a16:creationId xmlns:a16="http://schemas.microsoft.com/office/drawing/2014/main" id="{2A0A52AC-CBA4-EA46-BD1B-323F4DB40054}"/>
              </a:ext>
            </a:extLst>
          </p:cNvPr>
          <p:cNvSpPr>
            <a:spLocks noGrp="1"/>
          </p:cNvSpPr>
          <p:nvPr>
            <p:ph idx="1" hasCustomPrompt="1"/>
          </p:nvPr>
        </p:nvSpPr>
        <p:spPr>
          <a:xfrm>
            <a:off x="421282" y="2093513"/>
            <a:ext cx="2924063" cy="4412219"/>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40" name="Sub-heading 1">
            <a:extLst>
              <a:ext uri="{FF2B5EF4-FFF2-40B4-BE49-F238E27FC236}">
                <a16:creationId xmlns:a16="http://schemas.microsoft.com/office/drawing/2014/main" id="{CA2CC1C2-E7EE-0648-820D-BC18F6B33876}"/>
              </a:ext>
            </a:extLst>
          </p:cNvPr>
          <p:cNvSpPr>
            <a:spLocks noGrp="1"/>
          </p:cNvSpPr>
          <p:nvPr>
            <p:ph type="body" sz="quarter" idx="10" hasCustomPrompt="1"/>
          </p:nvPr>
        </p:nvSpPr>
        <p:spPr>
          <a:xfrm>
            <a:off x="421282" y="1382146"/>
            <a:ext cx="2924063"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41" name="Title 1">
            <a:extLst>
              <a:ext uri="{FF2B5EF4-FFF2-40B4-BE49-F238E27FC236}">
                <a16:creationId xmlns:a16="http://schemas.microsoft.com/office/drawing/2014/main" id="{60F85EF3-BC19-7441-B388-C54874512683}"/>
              </a:ext>
            </a:extLst>
          </p:cNvPr>
          <p:cNvSpPr>
            <a:spLocks noGrp="1"/>
          </p:cNvSpPr>
          <p:nvPr>
            <p:ph type="body" sz="quarter" idx="18" hasCustomPrompt="1"/>
          </p:nvPr>
        </p:nvSpPr>
        <p:spPr>
          <a:xfrm>
            <a:off x="421282" y="229952"/>
            <a:ext cx="2924063" cy="1060426"/>
          </a:xfrm>
        </p:spPr>
        <p:txBody>
          <a:bodyPr anchor="t">
            <a:normAutofit/>
          </a:bodyPr>
          <a:lstStyle>
            <a:lvl1pPr marL="0" indent="0">
              <a:buFontTx/>
              <a:buNone/>
              <a:defRPr sz="2599" b="1" i="0">
                <a:solidFill>
                  <a:schemeClr val="accent1"/>
                </a:solidFill>
                <a:latin typeface="Trebuchet MS" panose="020B0703020202090204" pitchFamily="34" charset="0"/>
              </a:defRPr>
            </a:lvl1pPr>
            <a:lvl2pPr marL="371338" indent="0">
              <a:buFontTx/>
              <a:buNone/>
              <a:defRPr b="1" i="1">
                <a:solidFill>
                  <a:schemeClr val="accent1"/>
                </a:solidFill>
                <a:latin typeface="Trebuchet MS" panose="020B0703020202090204" pitchFamily="34" charset="0"/>
              </a:defRPr>
            </a:lvl2pPr>
            <a:lvl3pPr marL="742676" indent="0">
              <a:buFontTx/>
              <a:buNone/>
              <a:defRPr b="1" i="1">
                <a:solidFill>
                  <a:schemeClr val="accent1"/>
                </a:solidFill>
                <a:latin typeface="Trebuchet MS" panose="020B0703020202090204" pitchFamily="34" charset="0"/>
              </a:defRPr>
            </a:lvl3pPr>
            <a:lvl4pPr marL="1114014" indent="0">
              <a:buFontTx/>
              <a:buNone/>
              <a:defRPr b="1" i="1">
                <a:solidFill>
                  <a:schemeClr val="accent1"/>
                </a:solidFill>
                <a:latin typeface="Trebuchet MS" panose="020B0703020202090204" pitchFamily="34" charset="0"/>
              </a:defRPr>
            </a:lvl4pPr>
            <a:lvl5pPr marL="1485351" indent="0" algn="l">
              <a:buFontTx/>
              <a:buNone/>
              <a:defRPr sz="2599" i="1">
                <a:solidFill>
                  <a:schemeClr val="accent1"/>
                </a:solidFill>
                <a:latin typeface="Trebuchet MS" panose="020B0703020202090204" pitchFamily="34" charset="0"/>
              </a:defRPr>
            </a:lvl5pPr>
          </a:lstStyle>
          <a:p>
            <a:pPr lvl="0"/>
            <a:r>
              <a:rPr lang="en-GB" dirty="0"/>
              <a:t>CLICK TO EDIT TITLE </a:t>
            </a:r>
          </a:p>
        </p:txBody>
      </p:sp>
    </p:spTree>
    <p:extLst>
      <p:ext uri="{BB962C8B-B14F-4D97-AF65-F5344CB8AC3E}">
        <p14:creationId xmlns:p14="http://schemas.microsoft.com/office/powerpoint/2010/main" val="3550919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Slide on Steel Grey Bg">
    <p:bg>
      <p:bgPr>
        <a:solidFill>
          <a:schemeClr val="tx1"/>
        </a:solidFill>
        <a:effectLst/>
      </p:bgPr>
    </p:bg>
    <p:spTree>
      <p:nvGrpSpPr>
        <p:cNvPr id="1" name=""/>
        <p:cNvGrpSpPr/>
        <p:nvPr/>
      </p:nvGrpSpPr>
      <p:grpSpPr>
        <a:xfrm>
          <a:off x="0" y="0"/>
          <a:ext cx="0" cy="0"/>
          <a:chOff x="0" y="0"/>
          <a:chExt cx="0" cy="0"/>
        </a:xfrm>
      </p:grpSpPr>
      <p:pic>
        <p:nvPicPr>
          <p:cNvPr id="17" name="Pattern Grey Bottom">
            <a:extLst>
              <a:ext uri="{FF2B5EF4-FFF2-40B4-BE49-F238E27FC236}">
                <a16:creationId xmlns:a16="http://schemas.microsoft.com/office/drawing/2014/main" id="{5F8180FE-41B2-8F47-AF2E-24E5C9A6174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71220"/>
          <a:stretch/>
        </p:blipFill>
        <p:spPr>
          <a:xfrm>
            <a:off x="160310" y="4471003"/>
            <a:ext cx="3886792" cy="2148599"/>
          </a:xfrm>
          <a:prstGeom prst="rect">
            <a:avLst/>
          </a:prstGeom>
        </p:spPr>
      </p:pic>
      <p:pic>
        <p:nvPicPr>
          <p:cNvPr id="19" name="Pattern Grey Top">
            <a:extLst>
              <a:ext uri="{FF2B5EF4-FFF2-40B4-BE49-F238E27FC236}">
                <a16:creationId xmlns:a16="http://schemas.microsoft.com/office/drawing/2014/main" id="{DA8894CA-8492-9F40-AA7E-A17D05BCB38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5866" t="5503" r="48528" b="85515"/>
          <a:stretch/>
        </p:blipFill>
        <p:spPr>
          <a:xfrm rot="10800000">
            <a:off x="183521" y="1334681"/>
            <a:ext cx="3886792" cy="829101"/>
          </a:xfrm>
          <a:prstGeom prst="rect">
            <a:avLst/>
          </a:prstGeom>
        </p:spPr>
      </p:pic>
      <p:pic>
        <p:nvPicPr>
          <p:cNvPr id="18" name="Pattern Sand Top">
            <a:extLst>
              <a:ext uri="{FF2B5EF4-FFF2-40B4-BE49-F238E27FC236}">
                <a16:creationId xmlns:a16="http://schemas.microsoft.com/office/drawing/2014/main" id="{3962A34F-1D66-A649-83D7-69B392B6F66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866" t="14321" r="48528" b="71220"/>
          <a:stretch/>
        </p:blipFill>
        <p:spPr>
          <a:xfrm rot="10800000">
            <a:off x="184582" y="-42183"/>
            <a:ext cx="3886792" cy="137686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hasCustomPrompt="1"/>
          </p:nvPr>
        </p:nvSpPr>
        <p:spPr>
          <a:xfrm>
            <a:off x="4373748" y="2096646"/>
            <a:ext cx="5081645" cy="4416581"/>
          </a:xfrm>
        </p:spPr>
        <p:txBody>
          <a:bodyPr>
            <a:normAutofit lnSpcReduction="10000"/>
          </a:bodyPr>
          <a:lstStyle>
            <a:lvl1pPr marL="0" marR="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solidFill>
                  <a:schemeClr val="bg1"/>
                </a:solidFill>
              </a:defRPr>
            </a:lvl1pPr>
          </a:lstStyle>
          <a:p>
            <a:pPr marL="185669" marR="0" lvl="0" indent="-185669"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Char char="•"/>
              <a:tabLst/>
              <a:defRPr/>
            </a:pPr>
            <a:r>
              <a:rPr lang="en-GB" dirty="0"/>
              <a:t>Content placeholder</a:t>
            </a:r>
          </a:p>
        </p:txBody>
      </p:sp>
      <p:sp>
        <p:nvSpPr>
          <p:cNvPr id="12" name="Sub-heading">
            <a:extLst>
              <a:ext uri="{FF2B5EF4-FFF2-40B4-BE49-F238E27FC236}">
                <a16:creationId xmlns:a16="http://schemas.microsoft.com/office/drawing/2014/main" id="{F247DAB5-9184-904C-8ADA-EB59774A98DA}"/>
              </a:ext>
            </a:extLst>
          </p:cNvPr>
          <p:cNvSpPr>
            <a:spLocks noGrp="1"/>
          </p:cNvSpPr>
          <p:nvPr>
            <p:ph type="body" sz="quarter" idx="10" hasCustomPrompt="1"/>
          </p:nvPr>
        </p:nvSpPr>
        <p:spPr>
          <a:xfrm>
            <a:off x="4373747" y="1381174"/>
            <a:ext cx="5081646" cy="644993"/>
          </a:xfrm>
        </p:spPr>
        <p:txBody>
          <a:bodyPr anchor="ctr">
            <a:normAutofit/>
          </a:bodyPr>
          <a:lstStyle>
            <a:lvl1pPr marL="0" marR="0" indent="0" algn="l" defTabSz="742676" rtl="0" eaLnBrk="1" fontAlgn="auto" latinLnBrk="0" hangingPunct="1">
              <a:lnSpc>
                <a:spcPct val="100000"/>
              </a:lnSpc>
              <a:spcBef>
                <a:spcPts val="812"/>
              </a:spcBef>
              <a:spcAft>
                <a:spcPts val="0"/>
              </a:spcAft>
              <a:buClr>
                <a:schemeClr val="accent2"/>
              </a:buClr>
              <a:buSzTx/>
              <a:buFontTx/>
              <a:buNone/>
              <a:tabLst/>
              <a:defRPr lang="en-GB" sz="2274" b="0" i="0" kern="1200" dirty="0">
                <a:solidFill>
                  <a:schemeClr val="accent2"/>
                </a:solidFill>
                <a:latin typeface="Trebuchet MS" panose="020B0703020202090204" pitchFamily="34" charset="0"/>
                <a:ea typeface="+mn-ea"/>
                <a:cs typeface="+mn-cs"/>
              </a:defRPr>
            </a:lvl1pPr>
          </a:lstStyle>
          <a:p>
            <a:pPr marL="0" marR="0" lvl="0" indent="0" algn="l" defTabSz="742676" rtl="0" eaLnBrk="1" fontAlgn="auto" latinLnBrk="0" hangingPunct="1">
              <a:lnSpc>
                <a:spcPct val="100000"/>
              </a:lnSpc>
              <a:spcBef>
                <a:spcPts val="812"/>
              </a:spcBef>
              <a:spcAft>
                <a:spcPts val="0"/>
              </a:spcAft>
              <a:buClr>
                <a:schemeClr val="accent2"/>
              </a:buClr>
              <a:buSzTx/>
              <a:buFont typeface="Arial" panose="020B0604020202020204" pitchFamily="34" charset="0"/>
              <a:buNone/>
              <a:tabLst/>
              <a:defRPr/>
            </a:pPr>
            <a:r>
              <a:rPr lang="en-GB" dirty="0">
                <a:cs typeface="+mn-cs"/>
              </a:rPr>
              <a:t>Sub-heading</a:t>
            </a:r>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419065" y="2943724"/>
            <a:ext cx="3617065" cy="1019176"/>
          </a:xfrm>
          <a:prstGeom prst="rect">
            <a:avLst/>
          </a:prstGeom>
        </p:spPr>
        <p:txBody>
          <a:bodyPr/>
          <a:lstStyle>
            <a:lvl1pPr>
              <a:defRPr>
                <a:solidFill>
                  <a:schemeClr val="bg2"/>
                </a:solidFill>
              </a:defRPr>
            </a:lvl1pPr>
          </a:lstStyle>
          <a:p>
            <a:r>
              <a:rPr lang="en-GB" dirty="0"/>
              <a:t>CLICK TO EDIT TITLE</a:t>
            </a:r>
            <a:endParaRPr lang="en-US" dirty="0"/>
          </a:p>
        </p:txBody>
      </p:sp>
    </p:spTree>
    <p:extLst>
      <p:ext uri="{BB962C8B-B14F-4D97-AF65-F5344CB8AC3E}">
        <p14:creationId xmlns:p14="http://schemas.microsoft.com/office/powerpoint/2010/main" val="33565698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22242" y="1300787"/>
            <a:ext cx="705834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422242" y="3886202"/>
            <a:ext cx="705834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0E92FC79-2E6C-4C8B-B2F2-C6CB485ADFBB}" type="slidenum">
              <a:rPr lang="en-GB" smtClean="0"/>
              <a:pPr>
                <a:defRPr/>
              </a:pPr>
              <a:t>‹#›</a:t>
            </a:fld>
            <a:endParaRPr lang="en-GB"/>
          </a:p>
        </p:txBody>
      </p:sp>
    </p:spTree>
    <p:extLst>
      <p:ext uri="{BB962C8B-B14F-4D97-AF65-F5344CB8AC3E}">
        <p14:creationId xmlns:p14="http://schemas.microsoft.com/office/powerpoint/2010/main" val="4001788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srgbClr val="000000"/>
              </a:solidFill>
              <a:latin typeface="Arial" charset="0"/>
            </a:endParaRPr>
          </a:p>
        </p:txBody>
      </p:sp>
      <p:sp>
        <p:nvSpPr>
          <p:cNvPr id="8" name="Footer Placeholder 7"/>
          <p:cNvSpPr>
            <a:spLocks noGrp="1"/>
          </p:cNvSpPr>
          <p:nvPr>
            <p:ph type="ftr" sz="quarter" idx="11"/>
          </p:nvPr>
        </p:nvSpPr>
        <p:spPr/>
        <p:txBody>
          <a:bodyPr/>
          <a:lstStyle/>
          <a:p>
            <a:pPr algn="ctr">
              <a:defRPr/>
            </a:pPr>
            <a:endParaRPr lang="en-US">
              <a:solidFill>
                <a:srgbClr val="000000"/>
              </a:solidFill>
              <a:latin typeface="Arial" charset="0"/>
            </a:endParaRPr>
          </a:p>
        </p:txBody>
      </p:sp>
      <p:sp>
        <p:nvSpPr>
          <p:cNvPr id="9" name="Slide Number Placeholder 8"/>
          <p:cNvSpPr>
            <a:spLocks noGrp="1"/>
          </p:cNvSpPr>
          <p:nvPr>
            <p:ph type="sldNum" sz="quarter" idx="12"/>
          </p:nvPr>
        </p:nvSpPr>
        <p:spPr/>
        <p:txBody>
          <a:bodyPr/>
          <a:lstStyle/>
          <a:p>
            <a:pPr>
              <a:defRPr/>
            </a:pPr>
            <a:fld id="{5D766D98-2CAF-46DD-ABD8-894F8298A357}" type="slidenum">
              <a:rPr lang="en-US" smtClean="0">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30605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4.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White.Banner.Top">
            <a:extLst>
              <a:ext uri="{FF2B5EF4-FFF2-40B4-BE49-F238E27FC236}">
                <a16:creationId xmlns:a16="http://schemas.microsoft.com/office/drawing/2014/main" id="{D70D17EB-87E2-EC45-B0B0-B16E5C2558F6}"/>
              </a:ext>
            </a:extLst>
          </p:cNvPr>
          <p:cNvSpPr/>
          <p:nvPr/>
        </p:nvSpPr>
        <p:spPr>
          <a:xfrm>
            <a:off x="0" y="0"/>
            <a:ext cx="9902825" cy="1341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49"/>
          </a:p>
        </p:txBody>
      </p:sp>
      <p:pic>
        <p:nvPicPr>
          <p:cNvPr id="16" name="SU.Footer.Shape.White">
            <a:extLst>
              <a:ext uri="{FF2B5EF4-FFF2-40B4-BE49-F238E27FC236}">
                <a16:creationId xmlns:a16="http://schemas.microsoft.com/office/drawing/2014/main" id="{C2021710-E914-7244-8A47-3745EFB08A9D}"/>
              </a:ext>
            </a:extLst>
          </p:cNvPr>
          <p:cNvPicPr>
            <a:picLocks noChangeAspect="1"/>
          </p:cNvPicPr>
          <p:nvPr/>
        </p:nvPicPr>
        <p:blipFill rotWithShape="1">
          <a:blip r:embed="rId29"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b="18185"/>
          <a:stretch/>
        </p:blipFill>
        <p:spPr>
          <a:xfrm>
            <a:off x="0" y="5909002"/>
            <a:ext cx="9902825" cy="948999"/>
          </a:xfrm>
          <a:prstGeom prst="rect">
            <a:avLst/>
          </a:prstGeom>
        </p:spPr>
      </p:pic>
      <p:sp>
        <p:nvSpPr>
          <p:cNvPr id="9" name="Footer">
            <a:extLst>
              <a:ext uri="{FF2B5EF4-FFF2-40B4-BE49-F238E27FC236}">
                <a16:creationId xmlns:a16="http://schemas.microsoft.com/office/drawing/2014/main" id="{5DE18A1C-E612-604E-AA9F-9A73E465BA68}"/>
              </a:ext>
            </a:extLst>
          </p:cNvPr>
          <p:cNvSpPr txBox="1">
            <a:spLocks/>
          </p:cNvSpPr>
          <p:nvPr/>
        </p:nvSpPr>
        <p:spPr>
          <a:xfrm>
            <a:off x="419065" y="6597651"/>
            <a:ext cx="9036328" cy="266492"/>
          </a:xfrm>
          <a:prstGeom prst="rect">
            <a:avLst/>
          </a:prstGeom>
        </p:spPr>
        <p:txBody>
          <a:bodyPr anchor="t">
            <a:noAutofit/>
          </a:bodyPr>
          <a:lstStyle>
            <a:lvl1pPr marL="0" indent="0" algn="l" defTabSz="914400" rtl="0" eaLnBrk="1" latinLnBrk="0" hangingPunct="1">
              <a:lnSpc>
                <a:spcPct val="100000"/>
              </a:lnSpc>
              <a:spcBef>
                <a:spcPts val="1000"/>
              </a:spcBef>
              <a:buClr>
                <a:schemeClr val="accent2"/>
              </a:buClr>
              <a:buFontTx/>
              <a:buNone/>
              <a:defRPr lang="en-GB" sz="1000" b="1" i="0" kern="1200" dirty="0">
                <a:solidFill>
                  <a:schemeClr val="accent1"/>
                </a:solidFill>
                <a:latin typeface="Trebuchet MS" panose="020B0703020202090204" pitchFamily="34" charset="0"/>
                <a:ea typeface="+mn-ea"/>
                <a:cs typeface="Calibri Light" panose="020F0302020204030204" pitchFamily="34" charset="0"/>
              </a:defRPr>
            </a:lvl1pPr>
            <a:lvl2pPr marL="685800" indent="-228600" algn="l" defTabSz="914400" rtl="0" eaLnBrk="1" latinLnBrk="0" hangingPunct="1">
              <a:lnSpc>
                <a:spcPct val="100000"/>
              </a:lnSpc>
              <a:spcBef>
                <a:spcPts val="500"/>
              </a:spcBef>
              <a:buClr>
                <a:schemeClr val="accent2"/>
              </a:buClr>
              <a:buFont typeface="Arial" panose="020B0604020202020204" pitchFamily="34" charset="0"/>
              <a:buChar char="•"/>
              <a:defRPr sz="2200" b="0" i="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100000"/>
              </a:lnSpc>
              <a:spcBef>
                <a:spcPts val="500"/>
              </a:spcBef>
              <a:buClr>
                <a:schemeClr val="accent2"/>
              </a:buClr>
              <a:buFont typeface="Arial" panose="020B0604020202020204" pitchFamily="34" charset="0"/>
              <a:buChar char="•"/>
              <a:defRPr sz="2000" b="0" i="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100000"/>
              </a:lnSpc>
              <a:spcBef>
                <a:spcPts val="500"/>
              </a:spcBef>
              <a:buClr>
                <a:schemeClr val="accent2"/>
              </a:buClr>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GB" sz="812" b="0" i="0" dirty="0">
                <a:solidFill>
                  <a:schemeClr val="accent3"/>
                </a:solidFill>
                <a:latin typeface="Trebuchet MS" panose="020B0703020202090204" pitchFamily="34" charset="0"/>
              </a:rPr>
              <a:t>Economic and Management Sciences | </a:t>
            </a:r>
            <a:r>
              <a:rPr lang="en-GB" sz="812" b="0" i="0" dirty="0" err="1">
                <a:solidFill>
                  <a:schemeClr val="accent3"/>
                </a:solidFill>
                <a:latin typeface="Trebuchet MS" panose="020B0703020202090204" pitchFamily="34" charset="0"/>
              </a:rPr>
              <a:t>EyeNzululwazi</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ngoQoqosho</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noLawulo</a:t>
            </a:r>
            <a:r>
              <a:rPr lang="en-GB" sz="812" b="0" i="0" dirty="0">
                <a:solidFill>
                  <a:schemeClr val="accent3"/>
                </a:solidFill>
                <a:latin typeface="Trebuchet MS" panose="020B0703020202090204" pitchFamily="34" charset="0"/>
              </a:rPr>
              <a:t> | </a:t>
            </a:r>
            <a:r>
              <a:rPr lang="en-GB" sz="812" b="0" i="0" dirty="0" err="1">
                <a:solidFill>
                  <a:schemeClr val="accent3"/>
                </a:solidFill>
                <a:latin typeface="Trebuchet MS" panose="020B0703020202090204" pitchFamily="34" charset="0"/>
              </a:rPr>
              <a:t>Ekonomiese</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en</a:t>
            </a:r>
            <a:r>
              <a:rPr lang="en-GB" sz="812" b="0" i="0" dirty="0">
                <a:solidFill>
                  <a:schemeClr val="accent3"/>
                </a:solidFill>
                <a:latin typeface="Trebuchet MS" panose="020B0703020202090204" pitchFamily="34" charset="0"/>
              </a:rPr>
              <a:t> </a:t>
            </a:r>
            <a:r>
              <a:rPr lang="en-GB" sz="812" b="0" i="0" dirty="0" err="1">
                <a:solidFill>
                  <a:schemeClr val="accent3"/>
                </a:solidFill>
                <a:latin typeface="Trebuchet MS" panose="020B0703020202090204" pitchFamily="34" charset="0"/>
              </a:rPr>
              <a:t>Bestuurswetenskappe</a:t>
            </a:r>
            <a:endParaRPr lang="en-GB" sz="812" b="0" i="0" dirty="0">
              <a:solidFill>
                <a:schemeClr val="accent3"/>
              </a:solidFill>
              <a:latin typeface="Trebuchet MS" panose="020B0703020202090204" pitchFamily="34" charset="0"/>
            </a:endParaRPr>
          </a:p>
        </p:txBody>
      </p:sp>
      <p:sp>
        <p:nvSpPr>
          <p:cNvPr id="15" name="SU.Shape" hidden="1">
            <a:extLst>
              <a:ext uri="{FF2B5EF4-FFF2-40B4-BE49-F238E27FC236}">
                <a16:creationId xmlns:a16="http://schemas.microsoft.com/office/drawing/2014/main" id="{050DDAF9-8F3A-0B48-82E1-6040CBB5F5D1}"/>
              </a:ext>
            </a:extLst>
          </p:cNvPr>
          <p:cNvSpPr/>
          <p:nvPr/>
        </p:nvSpPr>
        <p:spPr>
          <a:xfrm>
            <a:off x="0" y="1339540"/>
            <a:ext cx="9902825" cy="5259988"/>
          </a:xfrm>
          <a:custGeom>
            <a:avLst/>
            <a:gdLst>
              <a:gd name="connsiteX0" fmla="*/ 76801 w 3455263"/>
              <a:gd name="connsiteY0" fmla="*/ 1812227 h 1812226"/>
              <a:gd name="connsiteX1" fmla="*/ 0 w 3455263"/>
              <a:gd name="connsiteY1" fmla="*/ 1735169 h 1812226"/>
              <a:gd name="connsiteX2" fmla="*/ 0 w 3455263"/>
              <a:gd name="connsiteY2" fmla="*/ 0 h 1812226"/>
              <a:gd name="connsiteX3" fmla="*/ 3455263 w 3455263"/>
              <a:gd name="connsiteY3" fmla="*/ 0 h 1812226"/>
              <a:gd name="connsiteX4" fmla="*/ 3455263 w 3455263"/>
              <a:gd name="connsiteY4" fmla="*/ 1581150 h 1812226"/>
              <a:gd name="connsiteX5" fmla="*/ 3224766 w 3455263"/>
              <a:gd name="connsiteY5" fmla="*/ 1811750 h 181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263" h="1812226">
                <a:moveTo>
                  <a:pt x="76801" y="1812227"/>
                </a:moveTo>
                <a:cubicBezTo>
                  <a:pt x="76801" y="1812227"/>
                  <a:pt x="0" y="1812227"/>
                  <a:pt x="0" y="1735169"/>
                </a:cubicBezTo>
                <a:lnTo>
                  <a:pt x="0" y="0"/>
                </a:lnTo>
                <a:lnTo>
                  <a:pt x="3455263" y="0"/>
                </a:lnTo>
                <a:lnTo>
                  <a:pt x="3455263" y="1581150"/>
                </a:lnTo>
                <a:cubicBezTo>
                  <a:pt x="3455263" y="1581150"/>
                  <a:pt x="3455263" y="1811750"/>
                  <a:pt x="3224766" y="1811750"/>
                </a:cubicBezTo>
                <a:close/>
              </a:path>
            </a:pathLst>
          </a:custGeom>
          <a:noFill/>
          <a:ln w="12700" cap="flat">
            <a:noFill/>
            <a:prstDash val="solid"/>
            <a:miter/>
          </a:ln>
        </p:spPr>
        <p:txBody>
          <a:bodyPr rtlCol="0" anchor="ctr"/>
          <a:lstStyle/>
          <a:p>
            <a:endParaRPr lang="en-GB" sz="1949"/>
          </a:p>
        </p:txBody>
      </p:sp>
      <p:sp>
        <p:nvSpPr>
          <p:cNvPr id="3" name="Content placeholder">
            <a:extLst>
              <a:ext uri="{FF2B5EF4-FFF2-40B4-BE49-F238E27FC236}">
                <a16:creationId xmlns:a16="http://schemas.microsoft.com/office/drawing/2014/main" id="{301AC438-5C4B-A74B-973C-02E8105BD4BD}"/>
              </a:ext>
            </a:extLst>
          </p:cNvPr>
          <p:cNvSpPr>
            <a:spLocks noGrp="1"/>
          </p:cNvSpPr>
          <p:nvPr>
            <p:ph type="body" idx="1"/>
          </p:nvPr>
        </p:nvSpPr>
        <p:spPr>
          <a:xfrm>
            <a:off x="419066" y="1426437"/>
            <a:ext cx="9036325" cy="515561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a:extLst>
              <a:ext uri="{FF2B5EF4-FFF2-40B4-BE49-F238E27FC236}">
                <a16:creationId xmlns:a16="http://schemas.microsoft.com/office/drawing/2014/main" id="{EC044E2A-3062-F245-818F-F465A0481FCB}"/>
              </a:ext>
            </a:extLst>
          </p:cNvPr>
          <p:cNvSpPr>
            <a:spLocks noGrp="1"/>
          </p:cNvSpPr>
          <p:nvPr>
            <p:ph type="title"/>
          </p:nvPr>
        </p:nvSpPr>
        <p:spPr>
          <a:xfrm>
            <a:off x="419065" y="285324"/>
            <a:ext cx="6916737" cy="1052900"/>
          </a:xfrm>
          <a:prstGeom prst="rect">
            <a:avLst/>
          </a:prstGeom>
        </p:spPr>
        <p:txBody>
          <a:bodyPr vert="horz" lIns="91440" tIns="45720" rIns="91440" bIns="45720" rtlCol="0" anchor="t">
            <a:normAutofit/>
          </a:bodyPr>
          <a:lstStyle/>
          <a:p>
            <a:r>
              <a:rPr lang="en-GB" dirty="0"/>
              <a:t>CLICK TO EDIT MASTER TITLE STYLE</a:t>
            </a:r>
            <a:endParaRPr lang="en-US" dirty="0"/>
          </a:p>
        </p:txBody>
      </p:sp>
      <p:pic>
        <p:nvPicPr>
          <p:cNvPr id="8" name="SU Logo">
            <a:extLst>
              <a:ext uri="{FF2B5EF4-FFF2-40B4-BE49-F238E27FC236}">
                <a16:creationId xmlns:a16="http://schemas.microsoft.com/office/drawing/2014/main" id="{4BCB2B4B-739F-974A-8938-B9DE97032C44}"/>
              </a:ext>
            </a:extLst>
          </p:cNvPr>
          <p:cNvPicPr>
            <a:picLocks noChangeAspect="1"/>
          </p:cNvPicPr>
          <p:nvPr/>
        </p:nvPicPr>
        <p:blipFill>
          <a:blip r:embed="rId31">
            <a:extLst>
              <a:ext uri="{96DAC541-7B7A-43D3-8B79-37D633B846F1}">
                <asvg:svgBlip xmlns:asvg="http://schemas.microsoft.com/office/drawing/2016/SVG/main" r:embed="rId32"/>
              </a:ext>
            </a:extLst>
          </a:blip>
          <a:srcRect/>
          <a:stretch/>
        </p:blipFill>
        <p:spPr>
          <a:xfrm>
            <a:off x="7423027" y="130470"/>
            <a:ext cx="2479798" cy="1037250"/>
          </a:xfrm>
          <a:prstGeom prst="rect">
            <a:avLst/>
          </a:prstGeom>
        </p:spPr>
      </p:pic>
    </p:spTree>
    <p:extLst>
      <p:ext uri="{BB962C8B-B14F-4D97-AF65-F5344CB8AC3E}">
        <p14:creationId xmlns:p14="http://schemas.microsoft.com/office/powerpoint/2010/main" val="2510322196"/>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5" r:id="rId13"/>
    <p:sldLayoutId id="2147484046" r:id="rId14"/>
    <p:sldLayoutId id="2147484047" r:id="rId15"/>
    <p:sldLayoutId id="2147484048" r:id="rId16"/>
    <p:sldLayoutId id="2147484049" r:id="rId17"/>
    <p:sldLayoutId id="2147484050" r:id="rId18"/>
    <p:sldLayoutId id="2147484051" r:id="rId19"/>
    <p:sldLayoutId id="2147484052" r:id="rId20"/>
    <p:sldLayoutId id="2147484053" r:id="rId21"/>
    <p:sldLayoutId id="2147484054" r:id="rId22"/>
    <p:sldLayoutId id="2147484055" r:id="rId23"/>
    <p:sldLayoutId id="2147484056" r:id="rId24"/>
    <p:sldLayoutId id="2147484057" r:id="rId25"/>
    <p:sldLayoutId id="2147484058" r:id="rId26"/>
    <p:sldLayoutId id="2147484059" r:id="rId27"/>
  </p:sldLayoutIdLst>
  <p:hf sldNum="0" hdr="0" ftr="0" dt="0"/>
  <p:txStyles>
    <p:titleStyle>
      <a:lvl1pPr algn="l" defTabSz="742676" rtl="0" eaLnBrk="1" latinLnBrk="0" hangingPunct="1">
        <a:lnSpc>
          <a:spcPct val="90000"/>
        </a:lnSpc>
        <a:spcBef>
          <a:spcPct val="0"/>
        </a:spcBef>
        <a:buNone/>
        <a:defRPr sz="2599" b="1" i="0" kern="1200">
          <a:solidFill>
            <a:schemeClr val="accent1"/>
          </a:solidFill>
          <a:latin typeface="Trebuchet MS" panose="020B0703020202090204" pitchFamily="34" charset="0"/>
          <a:ea typeface="+mj-ea"/>
          <a:cs typeface="+mj-cs"/>
        </a:defRPr>
      </a:lvl1pPr>
    </p:titleStyle>
    <p:bodyStyle>
      <a:lvl1pPr marL="185669" indent="-185669" algn="l" defTabSz="742676" rtl="0" eaLnBrk="1" latinLnBrk="0" hangingPunct="1">
        <a:lnSpc>
          <a:spcPct val="100000"/>
        </a:lnSpc>
        <a:spcBef>
          <a:spcPts val="812"/>
        </a:spcBef>
        <a:buClr>
          <a:schemeClr val="accent2"/>
        </a:buClr>
        <a:buFont typeface="Arial" panose="020B0604020202020204" pitchFamily="34" charset="0"/>
        <a:buChar char="•"/>
        <a:defRPr sz="1949" b="0" i="0" kern="1200">
          <a:solidFill>
            <a:schemeClr val="tx1"/>
          </a:solidFill>
          <a:latin typeface="Calibri Light" panose="020F0302020204030204" pitchFamily="34" charset="0"/>
          <a:ea typeface="+mn-ea"/>
          <a:cs typeface="Calibri Light" panose="020F0302020204030204" pitchFamily="34" charset="0"/>
        </a:defRPr>
      </a:lvl1pPr>
      <a:lvl2pPr marL="557007" indent="-185669" algn="l" defTabSz="742676" rtl="0" eaLnBrk="1" latinLnBrk="0" hangingPunct="1">
        <a:lnSpc>
          <a:spcPct val="100000"/>
        </a:lnSpc>
        <a:spcBef>
          <a:spcPts val="406"/>
        </a:spcBef>
        <a:buClr>
          <a:schemeClr val="accent2"/>
        </a:buClr>
        <a:buFont typeface="Arial" panose="020B0604020202020204" pitchFamily="34" charset="0"/>
        <a:buChar char="•"/>
        <a:defRPr sz="1787" b="0" i="0" kern="1200">
          <a:solidFill>
            <a:schemeClr val="tx1"/>
          </a:solidFill>
          <a:latin typeface="Calibri Light" panose="020F0302020204030204" pitchFamily="34" charset="0"/>
          <a:ea typeface="+mn-ea"/>
          <a:cs typeface="Calibri Light" panose="020F0302020204030204" pitchFamily="34" charset="0"/>
        </a:defRPr>
      </a:lvl2pPr>
      <a:lvl3pPr marL="928345" indent="-185669" algn="l" defTabSz="742676" rtl="0" eaLnBrk="1" latinLnBrk="0" hangingPunct="1">
        <a:lnSpc>
          <a:spcPct val="100000"/>
        </a:lnSpc>
        <a:spcBef>
          <a:spcPts val="406"/>
        </a:spcBef>
        <a:buClr>
          <a:schemeClr val="accent2"/>
        </a:buClr>
        <a:buFont typeface="Arial" panose="020B0604020202020204" pitchFamily="34" charset="0"/>
        <a:buChar char="•"/>
        <a:defRPr sz="1624" b="0" i="0" kern="1200">
          <a:solidFill>
            <a:schemeClr val="tx1"/>
          </a:solidFill>
          <a:latin typeface="Calibri Light" panose="020F0302020204030204" pitchFamily="34" charset="0"/>
          <a:ea typeface="+mn-ea"/>
          <a:cs typeface="Calibri Light" panose="020F0302020204030204" pitchFamily="34" charset="0"/>
        </a:defRPr>
      </a:lvl3pPr>
      <a:lvl4pPr marL="1299682"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4pPr>
      <a:lvl5pPr marL="1671020" indent="-185669" algn="l" defTabSz="742676" rtl="0" eaLnBrk="1" latinLnBrk="0" hangingPunct="1">
        <a:lnSpc>
          <a:spcPct val="100000"/>
        </a:lnSpc>
        <a:spcBef>
          <a:spcPts val="406"/>
        </a:spcBef>
        <a:buClr>
          <a:schemeClr val="accent2"/>
        </a:buClr>
        <a:buFont typeface="Arial" panose="020B0604020202020204" pitchFamily="34" charset="0"/>
        <a:buChar char="•"/>
        <a:defRPr sz="1462" b="0" i="0" kern="1200">
          <a:solidFill>
            <a:schemeClr val="tx1"/>
          </a:solidFill>
          <a:latin typeface="Calibri Light" panose="020F0302020204030204" pitchFamily="34" charset="0"/>
          <a:ea typeface="+mn-ea"/>
          <a:cs typeface="Calibri Light" panose="020F0302020204030204" pitchFamily="34" charset="0"/>
        </a:defRPr>
      </a:lvl5pPr>
      <a:lvl6pPr marL="2042358"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6pPr>
      <a:lvl7pPr marL="2413696"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7pPr>
      <a:lvl8pPr marL="2785034"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8pPr>
      <a:lvl9pPr marL="3156372" indent="-185669" algn="l" defTabSz="742676" rtl="0" eaLnBrk="1" latinLnBrk="0" hangingPunct="1">
        <a:lnSpc>
          <a:spcPct val="90000"/>
        </a:lnSpc>
        <a:spcBef>
          <a:spcPts val="406"/>
        </a:spcBef>
        <a:buFont typeface="Arial" panose="020B0604020202020204" pitchFamily="34" charset="0"/>
        <a:buChar char="•"/>
        <a:defRPr sz="1462" kern="1200">
          <a:solidFill>
            <a:schemeClr val="tx1"/>
          </a:solidFill>
          <a:latin typeface="+mn-lt"/>
          <a:ea typeface="+mn-ea"/>
          <a:cs typeface="+mn-cs"/>
        </a:defRPr>
      </a:lvl9pPr>
    </p:bodyStyle>
    <p:otherStyle>
      <a:defPPr>
        <a:defRPr lang="en-US"/>
      </a:defPPr>
      <a:lvl1pPr marL="0" algn="l" defTabSz="742676" rtl="0" eaLnBrk="1" latinLnBrk="0" hangingPunct="1">
        <a:defRPr sz="1462" kern="1200">
          <a:solidFill>
            <a:schemeClr val="tx1"/>
          </a:solidFill>
          <a:latin typeface="+mn-lt"/>
          <a:ea typeface="+mn-ea"/>
          <a:cs typeface="+mn-cs"/>
        </a:defRPr>
      </a:lvl1pPr>
      <a:lvl2pPr marL="371338" algn="l" defTabSz="742676" rtl="0" eaLnBrk="1" latinLnBrk="0" hangingPunct="1">
        <a:defRPr sz="1462" kern="1200">
          <a:solidFill>
            <a:schemeClr val="tx1"/>
          </a:solidFill>
          <a:latin typeface="+mn-lt"/>
          <a:ea typeface="+mn-ea"/>
          <a:cs typeface="+mn-cs"/>
        </a:defRPr>
      </a:lvl2pPr>
      <a:lvl3pPr marL="742676" algn="l" defTabSz="742676" rtl="0" eaLnBrk="1" latinLnBrk="0" hangingPunct="1">
        <a:defRPr sz="1462" kern="1200">
          <a:solidFill>
            <a:schemeClr val="tx1"/>
          </a:solidFill>
          <a:latin typeface="+mn-lt"/>
          <a:ea typeface="+mn-ea"/>
          <a:cs typeface="+mn-cs"/>
        </a:defRPr>
      </a:lvl3pPr>
      <a:lvl4pPr marL="1114014" algn="l" defTabSz="742676" rtl="0" eaLnBrk="1" latinLnBrk="0" hangingPunct="1">
        <a:defRPr sz="1462" kern="1200">
          <a:solidFill>
            <a:schemeClr val="tx1"/>
          </a:solidFill>
          <a:latin typeface="+mn-lt"/>
          <a:ea typeface="+mn-ea"/>
          <a:cs typeface="+mn-cs"/>
        </a:defRPr>
      </a:lvl4pPr>
      <a:lvl5pPr marL="1485351" algn="l" defTabSz="742676" rtl="0" eaLnBrk="1" latinLnBrk="0" hangingPunct="1">
        <a:defRPr sz="1462" kern="1200">
          <a:solidFill>
            <a:schemeClr val="tx1"/>
          </a:solidFill>
          <a:latin typeface="+mn-lt"/>
          <a:ea typeface="+mn-ea"/>
          <a:cs typeface="+mn-cs"/>
        </a:defRPr>
      </a:lvl5pPr>
      <a:lvl6pPr marL="1856689" algn="l" defTabSz="742676" rtl="0" eaLnBrk="1" latinLnBrk="0" hangingPunct="1">
        <a:defRPr sz="1462" kern="1200">
          <a:solidFill>
            <a:schemeClr val="tx1"/>
          </a:solidFill>
          <a:latin typeface="+mn-lt"/>
          <a:ea typeface="+mn-ea"/>
          <a:cs typeface="+mn-cs"/>
        </a:defRPr>
      </a:lvl6pPr>
      <a:lvl7pPr marL="2228027" algn="l" defTabSz="742676" rtl="0" eaLnBrk="1" latinLnBrk="0" hangingPunct="1">
        <a:defRPr sz="1462" kern="1200">
          <a:solidFill>
            <a:schemeClr val="tx1"/>
          </a:solidFill>
          <a:latin typeface="+mn-lt"/>
          <a:ea typeface="+mn-ea"/>
          <a:cs typeface="+mn-cs"/>
        </a:defRPr>
      </a:lvl7pPr>
      <a:lvl8pPr marL="2599365" algn="l" defTabSz="742676" rtl="0" eaLnBrk="1" latinLnBrk="0" hangingPunct="1">
        <a:defRPr sz="1462" kern="1200">
          <a:solidFill>
            <a:schemeClr val="tx1"/>
          </a:solidFill>
          <a:latin typeface="+mn-lt"/>
          <a:ea typeface="+mn-ea"/>
          <a:cs typeface="+mn-cs"/>
        </a:defRPr>
      </a:lvl8pPr>
      <a:lvl9pPr marL="2970703" algn="l" defTabSz="742676" rtl="0" eaLnBrk="1" latinLnBrk="0" hangingPunct="1">
        <a:defRPr sz="14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95">
          <p15:clr>
            <a:srgbClr val="F26B43"/>
          </p15:clr>
        </p15:guide>
        <p15:guide id="2" pos="325">
          <p15:clr>
            <a:srgbClr val="F26B43"/>
          </p15:clr>
        </p15:guide>
        <p15:guide id="3" pos="166">
          <p15:clr>
            <a:srgbClr val="F26B43"/>
          </p15:clr>
        </p15:guide>
        <p15:guide id="4" pos="7514">
          <p15:clr>
            <a:srgbClr val="F26B43"/>
          </p15:clr>
        </p15:guide>
        <p15:guide id="5" pos="7333">
          <p15:clr>
            <a:srgbClr val="F26B43"/>
          </p15:clr>
        </p15:guide>
        <p15:guide id="6" orient="horz" pos="4156">
          <p15:clr>
            <a:srgbClr val="F26B43"/>
          </p15:clr>
        </p15:guide>
        <p15:guide id="7" orient="horz" pos="232">
          <p15:clr>
            <a:srgbClr val="F26B43"/>
          </p15:clr>
        </p15:guide>
        <p15:guide id="8" pos="3840">
          <p15:clr>
            <a:srgbClr val="F26B43"/>
          </p15:clr>
        </p15:guide>
        <p15:guide id="9" orient="horz" pos="86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27.xml"/><Relationship Id="rId1" Type="http://schemas.openxmlformats.org/officeDocument/2006/relationships/themeOverride" Target="../theme/themeOverride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27.xml"/><Relationship Id="rId1" Type="http://schemas.openxmlformats.org/officeDocument/2006/relationships/themeOverride" Target="../theme/themeOverride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7.xml"/><Relationship Id="rId1" Type="http://schemas.openxmlformats.org/officeDocument/2006/relationships/themeOverride" Target="../theme/themeOverride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7.xml"/><Relationship Id="rId1" Type="http://schemas.openxmlformats.org/officeDocument/2006/relationships/themeOverride" Target="../theme/themeOverride2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27.xml"/><Relationship Id="rId1" Type="http://schemas.openxmlformats.org/officeDocument/2006/relationships/themeOverride" Target="../theme/themeOverride2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slideLayout" Target="../slideLayouts/slideLayout27.xml"/><Relationship Id="rId1" Type="http://schemas.openxmlformats.org/officeDocument/2006/relationships/themeOverride" Target="../theme/themeOverride2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slideLayout" Target="../slideLayouts/slideLayout27.xml"/><Relationship Id="rId1" Type="http://schemas.openxmlformats.org/officeDocument/2006/relationships/themeOverride" Target="../theme/themeOverride2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2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slideLayout" Target="../slideLayouts/slideLayout27.xml"/><Relationship Id="rId1" Type="http://schemas.openxmlformats.org/officeDocument/2006/relationships/themeOverride" Target="../theme/themeOverride3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3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3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3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themeOverride" Target="../theme/themeOverride3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4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6.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7.xml"/><Relationship Id="rId1" Type="http://schemas.openxmlformats.org/officeDocument/2006/relationships/themeOverride" Target="../theme/themeOverride4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48.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7.xml"/><Relationship Id="rId1" Type="http://schemas.openxmlformats.org/officeDocument/2006/relationships/themeOverride" Target="../theme/themeOverride49.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7.xml"/><Relationship Id="rId1" Type="http://schemas.openxmlformats.org/officeDocument/2006/relationships/themeOverride" Target="../theme/themeOverride50.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51.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5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58.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7.xml"/><Relationship Id="rId1" Type="http://schemas.openxmlformats.org/officeDocument/2006/relationships/themeOverride" Target="../theme/themeOverride59.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60.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6.xml"/><Relationship Id="rId1" Type="http://schemas.openxmlformats.org/officeDocument/2006/relationships/themeOverride" Target="../theme/themeOverride6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6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6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hemeOverride" Target="../theme/themeOverride6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0C3128E-6965-DA44-B6A8-1C2E027189F4}"/>
              </a:ext>
            </a:extLst>
          </p:cNvPr>
          <p:cNvSpPr>
            <a:spLocks noGrp="1"/>
          </p:cNvSpPr>
          <p:nvPr>
            <p:ph type="title"/>
          </p:nvPr>
        </p:nvSpPr>
        <p:spPr/>
        <p:txBody>
          <a:bodyPr/>
          <a:lstStyle/>
          <a:p>
            <a:r>
              <a:rPr lang="en-US" sz="2800" b="1" dirty="0">
                <a:latin typeface="Arial" pitchFamily="34" charset="0"/>
                <a:cs typeface="Arial" pitchFamily="34" charset="0"/>
              </a:rPr>
              <a:t>Conceptual Framework For Financial Reporting 2018</a:t>
            </a:r>
            <a:endParaRPr lang="en-GB" dirty="0"/>
          </a:p>
        </p:txBody>
      </p:sp>
      <p:graphicFrame>
        <p:nvGraphicFramePr>
          <p:cNvPr id="4" name="Diagram 3">
            <a:extLst>
              <a:ext uri="{FF2B5EF4-FFF2-40B4-BE49-F238E27FC236}">
                <a16:creationId xmlns:a16="http://schemas.microsoft.com/office/drawing/2014/main" id="{6956FA49-1826-81B8-BEE8-CC6AE74C4B37}"/>
              </a:ext>
            </a:extLst>
          </p:cNvPr>
          <p:cNvGraphicFramePr/>
          <p:nvPr>
            <p:extLst>
              <p:ext uri="{D42A27DB-BD31-4B8C-83A1-F6EECF244321}">
                <p14:modId xmlns:p14="http://schemas.microsoft.com/office/powerpoint/2010/main" val="4037673196"/>
              </p:ext>
            </p:extLst>
          </p:nvPr>
        </p:nvGraphicFramePr>
        <p:xfrm>
          <a:off x="617623" y="1601803"/>
          <a:ext cx="7888381" cy="4401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036123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4908" y="116632"/>
            <a:ext cx="9073007" cy="4536504"/>
          </a:xfrm>
        </p:spPr>
        <p:txBody>
          <a:bodyPr>
            <a:normAutofit/>
          </a:bodyPr>
          <a:lstStyle/>
          <a:p>
            <a:r>
              <a:rPr lang="en-ZA" dirty="0">
                <a:latin typeface="Arial" panose="020B0604020202020204" pitchFamily="34" charset="0"/>
                <a:cs typeface="Arial" panose="020B0604020202020204" pitchFamily="34" charset="0"/>
              </a:rPr>
              <a:t>International Financial Reporting Standards</a:t>
            </a:r>
            <a:br>
              <a:rPr lang="en-ZA" dirty="0">
                <a:latin typeface="Arial" panose="020B0604020202020204" pitchFamily="34" charset="0"/>
                <a:cs typeface="Arial" panose="020B0604020202020204" pitchFamily="34" charset="0"/>
              </a:rPr>
            </a:br>
            <a:r>
              <a:rPr lang="en-ZA" dirty="0">
                <a:latin typeface="Arial" panose="020B0604020202020204" pitchFamily="34" charset="0"/>
                <a:cs typeface="Arial" panose="020B0604020202020204" pitchFamily="34" charset="0"/>
              </a:rPr>
              <a:t>(IFRS)</a:t>
            </a:r>
          </a:p>
        </p:txBody>
      </p:sp>
    </p:spTree>
    <p:extLst>
      <p:ext uri="{BB962C8B-B14F-4D97-AF65-F5344CB8AC3E}">
        <p14:creationId xmlns:p14="http://schemas.microsoft.com/office/powerpoint/2010/main" val="26637639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414907" y="260648"/>
            <a:ext cx="9073008" cy="1213727"/>
          </a:xfrm>
        </p:spPr>
        <p:txBody>
          <a:bodyPr>
            <a:noAutofit/>
          </a:bodyPr>
          <a:lstStyle/>
          <a:p>
            <a:r>
              <a:rPr lang="en-US" sz="3000" b="1" dirty="0">
                <a:latin typeface="Arial" pitchFamily="34" charset="0"/>
                <a:cs typeface="Arial" pitchFamily="34" charset="0"/>
              </a:rPr>
              <a:t>Background to</a:t>
            </a:r>
            <a:r>
              <a:rPr lang="en-US" sz="3000" b="0" dirty="0">
                <a:latin typeface="Arial" pitchFamily="34" charset="0"/>
                <a:cs typeface="Arial" pitchFamily="34" charset="0"/>
              </a:rPr>
              <a:t> </a:t>
            </a:r>
            <a:r>
              <a:rPr lang="en-US" sz="3000" b="1" dirty="0">
                <a:latin typeface="Arial" pitchFamily="34" charset="0"/>
                <a:cs typeface="Arial" pitchFamily="34" charset="0"/>
              </a:rPr>
              <a:t>Accounting Standards</a:t>
            </a:r>
            <a:br>
              <a:rPr lang="en-US" sz="3200" b="1" dirty="0">
                <a:latin typeface="Arial" pitchFamily="34" charset="0"/>
                <a:cs typeface="Arial" pitchFamily="34" charset="0"/>
              </a:rPr>
            </a:br>
            <a:endParaRPr lang="en-US" sz="3200" b="1" i="1" dirty="0">
              <a:solidFill>
                <a:schemeClr val="accent2"/>
              </a:solidFill>
              <a:latin typeface="Arial" pitchFamily="34" charset="0"/>
              <a:cs typeface="Arial" pitchFamily="34" charset="0"/>
            </a:endParaRPr>
          </a:p>
        </p:txBody>
      </p:sp>
      <p:sp>
        <p:nvSpPr>
          <p:cNvPr id="2" name="Rectangle 3"/>
          <p:cNvSpPr>
            <a:spLocks noGrp="1" noChangeArrowheads="1"/>
          </p:cNvSpPr>
          <p:nvPr>
            <p:ph idx="1"/>
          </p:nvPr>
        </p:nvSpPr>
        <p:spPr>
          <a:xfrm>
            <a:off x="16050" y="1474375"/>
            <a:ext cx="9902823" cy="5544616"/>
          </a:xfrm>
        </p:spPr>
        <p:txBody>
          <a:bodyPr>
            <a:normAutofit/>
          </a:bodyPr>
          <a:lstStyle/>
          <a:p>
            <a:pPr>
              <a:lnSpc>
                <a:spcPct val="90000"/>
              </a:lnSpc>
            </a:pPr>
            <a:r>
              <a:rPr lang="en-US" sz="2000" dirty="0">
                <a:latin typeface="Arial" pitchFamily="34" charset="0"/>
                <a:cs typeface="Arial" pitchFamily="34" charset="0"/>
              </a:rPr>
              <a:t>Fin </a:t>
            </a:r>
            <a:r>
              <a:rPr lang="en-US" sz="2000" dirty="0" err="1">
                <a:latin typeface="Arial" pitchFamily="34" charset="0"/>
                <a:cs typeface="Arial" pitchFamily="34" charset="0"/>
              </a:rPr>
              <a:t>Acc</a:t>
            </a:r>
            <a:r>
              <a:rPr lang="en-US" sz="2000" dirty="0">
                <a:latin typeface="Arial" pitchFamily="34" charset="0"/>
                <a:cs typeface="Arial" pitchFamily="34" charset="0"/>
              </a:rPr>
              <a:t> 178 – introduction to IFRS statements</a:t>
            </a:r>
          </a:p>
          <a:p>
            <a:pPr>
              <a:lnSpc>
                <a:spcPct val="90000"/>
              </a:lnSpc>
            </a:pPr>
            <a:r>
              <a:rPr lang="en-US" sz="2000" dirty="0">
                <a:latin typeface="Arial" pitchFamily="34" charset="0"/>
                <a:cs typeface="Arial" pitchFamily="34" charset="0"/>
              </a:rPr>
              <a:t>Layout</a:t>
            </a:r>
            <a:endParaRPr lang="en-US" sz="2000" i="1" dirty="0">
              <a:solidFill>
                <a:schemeClr val="accent2"/>
              </a:solidFill>
              <a:latin typeface="Arial" pitchFamily="34" charset="0"/>
              <a:cs typeface="Arial" pitchFamily="34" charset="0"/>
            </a:endParaRPr>
          </a:p>
          <a:p>
            <a:pPr lvl="1">
              <a:lnSpc>
                <a:spcPct val="170000"/>
              </a:lnSpc>
            </a:pPr>
            <a:r>
              <a:rPr lang="en-US" sz="2000" dirty="0">
                <a:latin typeface="Arial" pitchFamily="34" charset="0"/>
                <a:cs typeface="Arial" pitchFamily="34" charset="0"/>
              </a:rPr>
              <a:t>IFRS series: </a:t>
            </a:r>
            <a:r>
              <a:rPr lang="en-US" sz="2000" i="1" dirty="0">
                <a:solidFill>
                  <a:schemeClr val="accent2"/>
                </a:solidFill>
                <a:latin typeface="Arial" pitchFamily="34" charset="0"/>
                <a:cs typeface="Arial" pitchFamily="34" charset="0"/>
              </a:rPr>
              <a:t>International Financial Reporting Standards</a:t>
            </a:r>
          </a:p>
          <a:p>
            <a:pPr lvl="1">
              <a:lnSpc>
                <a:spcPct val="170000"/>
              </a:lnSpc>
            </a:pPr>
            <a:r>
              <a:rPr lang="en-US" sz="2000" dirty="0">
                <a:latin typeface="Arial" pitchFamily="34" charset="0"/>
                <a:cs typeface="Arial" pitchFamily="34" charset="0"/>
              </a:rPr>
              <a:t>IAS series: </a:t>
            </a:r>
            <a:r>
              <a:rPr lang="en-US" sz="2000" i="1" dirty="0">
                <a:solidFill>
                  <a:schemeClr val="accent2"/>
                </a:solidFill>
                <a:latin typeface="Arial" pitchFamily="34" charset="0"/>
                <a:cs typeface="Arial" pitchFamily="34" charset="0"/>
              </a:rPr>
              <a:t>International accounting standards</a:t>
            </a:r>
          </a:p>
          <a:p>
            <a:pPr lvl="1">
              <a:lnSpc>
                <a:spcPct val="170000"/>
              </a:lnSpc>
            </a:pPr>
            <a:r>
              <a:rPr lang="en-US" sz="2000" dirty="0">
                <a:latin typeface="Arial" pitchFamily="34" charset="0"/>
                <a:cs typeface="Arial" pitchFamily="34" charset="0"/>
              </a:rPr>
              <a:t>SIC: </a:t>
            </a:r>
            <a:r>
              <a:rPr lang="en-US" sz="2000" i="1" dirty="0">
                <a:solidFill>
                  <a:schemeClr val="accent2"/>
                </a:solidFill>
                <a:latin typeface="Arial" pitchFamily="34" charset="0"/>
                <a:cs typeface="Arial" pitchFamily="34" charset="0"/>
              </a:rPr>
              <a:t>Standards Interpretations Committee            </a:t>
            </a:r>
          </a:p>
          <a:p>
            <a:pPr lvl="1">
              <a:lnSpc>
                <a:spcPct val="170000"/>
              </a:lnSpc>
            </a:pPr>
            <a:r>
              <a:rPr lang="en-US" sz="2000" dirty="0">
                <a:latin typeface="Arial" pitchFamily="34" charset="0"/>
                <a:cs typeface="Arial" pitchFamily="34" charset="0"/>
              </a:rPr>
              <a:t>IFRIC: </a:t>
            </a:r>
            <a:r>
              <a:rPr lang="en-US" sz="2000" i="1" dirty="0">
                <a:solidFill>
                  <a:schemeClr val="accent2"/>
                </a:solidFill>
                <a:latin typeface="Arial" pitchFamily="34" charset="0"/>
                <a:cs typeface="Arial" pitchFamily="34" charset="0"/>
              </a:rPr>
              <a:t>International Financial Reporting Interpretations Committee  </a:t>
            </a:r>
          </a:p>
          <a:p>
            <a:pPr lvl="1">
              <a:lnSpc>
                <a:spcPct val="170000"/>
              </a:lnSpc>
            </a:pPr>
            <a:r>
              <a:rPr lang="en-US" sz="2000" dirty="0">
                <a:latin typeface="Arial" pitchFamily="34" charset="0"/>
                <a:cs typeface="Arial" pitchFamily="34" charset="0"/>
              </a:rPr>
              <a:t>AC500 series: South African interpretations (VAT, BEE)</a:t>
            </a:r>
            <a:r>
              <a:rPr lang="en-US" sz="2000" dirty="0">
                <a:solidFill>
                  <a:schemeClr val="accent2"/>
                </a:solidFill>
                <a:latin typeface="Arial" pitchFamily="34" charset="0"/>
                <a:cs typeface="Arial" pitchFamily="34" charset="0"/>
              </a:rPr>
              <a:t>                 </a:t>
            </a:r>
          </a:p>
          <a:p>
            <a:pPr lvl="1">
              <a:lnSpc>
                <a:spcPct val="170000"/>
              </a:lnSpc>
            </a:pPr>
            <a:r>
              <a:rPr lang="en-US" sz="2000" dirty="0">
                <a:latin typeface="Arial" pitchFamily="34" charset="0"/>
                <a:cs typeface="Arial" pitchFamily="34" charset="0"/>
              </a:rPr>
              <a:t>ED’s: </a:t>
            </a:r>
            <a:r>
              <a:rPr lang="en-US" sz="2000" i="1" dirty="0">
                <a:solidFill>
                  <a:schemeClr val="accent2"/>
                </a:solidFill>
                <a:latin typeface="Arial" pitchFamily="34" charset="0"/>
                <a:cs typeface="Arial" pitchFamily="34" charset="0"/>
              </a:rPr>
              <a:t>exposure drafts</a:t>
            </a:r>
          </a:p>
          <a:p>
            <a:pPr eaLnBrk="1" hangingPunct="1">
              <a:lnSpc>
                <a:spcPct val="170000"/>
              </a:lnSpc>
              <a:spcBef>
                <a:spcPts val="0"/>
              </a:spcBef>
              <a:buFont typeface="Wingdings" pitchFamily="2" charset="2"/>
              <a:buNone/>
            </a:pP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265088" y="1687462"/>
            <a:ext cx="9219925" cy="5170435"/>
          </a:xfrm>
        </p:spPr>
        <p:txBody>
          <a:bodyPr>
            <a:normAutofit/>
          </a:bodyPr>
          <a:lstStyle/>
          <a:p>
            <a:pPr>
              <a:lnSpc>
                <a:spcPct val="90000"/>
              </a:lnSpc>
            </a:pPr>
            <a:r>
              <a:rPr lang="en-ZA" sz="2000" b="1" dirty="0">
                <a:latin typeface="Arial" pitchFamily="34" charset="0"/>
                <a:cs typeface="Arial" pitchFamily="34" charset="0"/>
              </a:rPr>
              <a:t>Since 2005:</a:t>
            </a:r>
          </a:p>
          <a:p>
            <a:pPr lvl="1">
              <a:lnSpc>
                <a:spcPct val="90000"/>
              </a:lnSpc>
            </a:pPr>
            <a:r>
              <a:rPr lang="en-ZA" sz="2000" dirty="0">
                <a:latin typeface="Arial" pitchFamily="34" charset="0"/>
                <a:cs typeface="Arial" pitchFamily="34" charset="0"/>
              </a:rPr>
              <a:t>Compulsory for all SA listed companies to comply with IFRS</a:t>
            </a:r>
          </a:p>
          <a:p>
            <a:pPr lvl="1">
              <a:lnSpc>
                <a:spcPct val="90000"/>
              </a:lnSpc>
            </a:pPr>
            <a:endParaRPr lang="en-ZA" sz="2000" i="1" dirty="0">
              <a:latin typeface="Arial" pitchFamily="34" charset="0"/>
              <a:cs typeface="Arial" pitchFamily="34" charset="0"/>
            </a:endParaRPr>
          </a:p>
          <a:p>
            <a:pPr marL="457200" lvl="1" indent="0">
              <a:lnSpc>
                <a:spcPct val="90000"/>
              </a:lnSpc>
              <a:buNone/>
            </a:pPr>
            <a:endParaRPr lang="en-ZA" sz="2000" dirty="0">
              <a:latin typeface="Arial" pitchFamily="34" charset="0"/>
              <a:cs typeface="Arial" pitchFamily="34" charset="0"/>
            </a:endParaRPr>
          </a:p>
          <a:p>
            <a:pPr lvl="0">
              <a:lnSpc>
                <a:spcPct val="90000"/>
              </a:lnSpc>
            </a:pPr>
            <a:r>
              <a:rPr lang="en-ZA" sz="2000" b="1" dirty="0">
                <a:latin typeface="Arial" pitchFamily="34" charset="0"/>
                <a:cs typeface="Arial" pitchFamily="34" charset="0"/>
              </a:rPr>
              <a:t>Since 2012:</a:t>
            </a:r>
          </a:p>
          <a:p>
            <a:pPr lvl="1">
              <a:lnSpc>
                <a:spcPct val="90000"/>
              </a:lnSpc>
            </a:pPr>
            <a:r>
              <a:rPr lang="en-ZA" sz="2000" dirty="0">
                <a:latin typeface="Arial" pitchFamily="34" charset="0"/>
                <a:cs typeface="Arial" pitchFamily="34" charset="0"/>
              </a:rPr>
              <a:t>No South African standards any more, only IFRS</a:t>
            </a:r>
          </a:p>
          <a:p>
            <a:pPr lvl="1" eaLnBrk="1" hangingPunct="1">
              <a:lnSpc>
                <a:spcPct val="90000"/>
              </a:lnSpc>
            </a:pPr>
            <a:endParaRPr lang="en-ZA" sz="2000" dirty="0">
              <a:latin typeface="Arial" pitchFamily="34" charset="0"/>
              <a:cs typeface="Arial" pitchFamily="34" charset="0"/>
            </a:endParaRPr>
          </a:p>
        </p:txBody>
      </p:sp>
      <p:sp>
        <p:nvSpPr>
          <p:cNvPr id="2" name="Rectangle 2">
            <a:extLst>
              <a:ext uri="{FF2B5EF4-FFF2-40B4-BE49-F238E27FC236}">
                <a16:creationId xmlns:a16="http://schemas.microsoft.com/office/drawing/2014/main" id="{7067E790-01AC-6DA6-0DF2-DC53B8246318}"/>
              </a:ext>
            </a:extLst>
          </p:cNvPr>
          <p:cNvSpPr>
            <a:spLocks noGrp="1" noChangeArrowheads="1"/>
          </p:cNvSpPr>
          <p:nvPr>
            <p:ph type="title"/>
          </p:nvPr>
        </p:nvSpPr>
        <p:spPr>
          <a:xfrm>
            <a:off x="417812" y="703105"/>
            <a:ext cx="9073008" cy="1213727"/>
          </a:xfrm>
        </p:spPr>
        <p:txBody>
          <a:bodyPr>
            <a:noAutofit/>
          </a:bodyPr>
          <a:lstStyle/>
          <a:p>
            <a:r>
              <a:rPr lang="en-US" sz="3000" b="1" dirty="0">
                <a:latin typeface="Arial" pitchFamily="34" charset="0"/>
                <a:cs typeface="Arial" pitchFamily="34" charset="0"/>
              </a:rPr>
              <a:t>Background to</a:t>
            </a:r>
            <a:r>
              <a:rPr lang="en-US" sz="3000" b="0" dirty="0">
                <a:latin typeface="Arial" pitchFamily="34" charset="0"/>
                <a:cs typeface="Arial" pitchFamily="34" charset="0"/>
              </a:rPr>
              <a:t> </a:t>
            </a:r>
            <a:r>
              <a:rPr lang="en-US" sz="3000" b="1" dirty="0">
                <a:latin typeface="Arial" pitchFamily="34" charset="0"/>
                <a:cs typeface="Arial" pitchFamily="34" charset="0"/>
              </a:rPr>
              <a:t>Accounting Standards</a:t>
            </a:r>
            <a:br>
              <a:rPr lang="en-US" sz="3200" b="1" dirty="0">
                <a:latin typeface="Arial" pitchFamily="34" charset="0"/>
                <a:cs typeface="Arial" pitchFamily="34" charset="0"/>
              </a:rPr>
            </a:br>
            <a:endParaRPr lang="en-US" sz="3200" b="1" i="1" dirty="0">
              <a:solidFill>
                <a:schemeClr val="accent2"/>
              </a:solidFill>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153507" y="1268760"/>
            <a:ext cx="9361040" cy="5143942"/>
          </a:xfrm>
        </p:spPr>
        <p:txBody>
          <a:bodyPr>
            <a:noAutofit/>
          </a:bodyPr>
          <a:lstStyle/>
          <a:p>
            <a:r>
              <a:rPr lang="en-US" sz="2000" b="1" dirty="0">
                <a:latin typeface="Arial" pitchFamily="34" charset="0"/>
                <a:cs typeface="Arial" pitchFamily="34" charset="0"/>
              </a:rPr>
              <a:t>Format of standards </a:t>
            </a:r>
            <a:endParaRPr lang="en-US" sz="2000" b="1" dirty="0">
              <a:solidFill>
                <a:srgbClr val="FF3300"/>
              </a:solidFill>
              <a:latin typeface="Arial" pitchFamily="34" charset="0"/>
              <a:cs typeface="Arial" pitchFamily="34" charset="0"/>
            </a:endParaRPr>
          </a:p>
          <a:p>
            <a:pPr lvl="1"/>
            <a:r>
              <a:rPr lang="en-US" sz="2000" dirty="0">
                <a:latin typeface="Arial" pitchFamily="34" charset="0"/>
                <a:cs typeface="Arial" pitchFamily="34" charset="0"/>
              </a:rPr>
              <a:t>Objective</a:t>
            </a:r>
          </a:p>
          <a:p>
            <a:pPr lvl="1"/>
            <a:r>
              <a:rPr lang="en-US" sz="2000" dirty="0">
                <a:latin typeface="Arial" pitchFamily="34" charset="0"/>
                <a:cs typeface="Arial" pitchFamily="34" charset="0"/>
              </a:rPr>
              <a:t>Scope</a:t>
            </a:r>
          </a:p>
          <a:p>
            <a:pPr lvl="1"/>
            <a:r>
              <a:rPr lang="en-US" sz="2000" dirty="0">
                <a:latin typeface="Arial" pitchFamily="34" charset="0"/>
                <a:cs typeface="Arial" pitchFamily="34" charset="0"/>
              </a:rPr>
              <a:t>Definitions</a:t>
            </a:r>
          </a:p>
          <a:p>
            <a:pPr lvl="1"/>
            <a:r>
              <a:rPr lang="en-US" sz="2000" dirty="0">
                <a:latin typeface="Arial" pitchFamily="34" charset="0"/>
                <a:cs typeface="Arial" pitchFamily="34" charset="0"/>
              </a:rPr>
              <a:t>Contents of the standard</a:t>
            </a:r>
          </a:p>
          <a:p>
            <a:pPr lvl="1"/>
            <a:r>
              <a:rPr lang="en-US" sz="2000" dirty="0">
                <a:latin typeface="Arial" pitchFamily="34" charset="0"/>
                <a:cs typeface="Arial" pitchFamily="34" charset="0"/>
              </a:rPr>
              <a:t>Disclosure</a:t>
            </a:r>
          </a:p>
          <a:p>
            <a:pPr lvl="1"/>
            <a:r>
              <a:rPr lang="en-US" sz="2000" dirty="0">
                <a:latin typeface="Arial" pitchFamily="34" charset="0"/>
                <a:cs typeface="Arial" pitchFamily="34" charset="0"/>
              </a:rPr>
              <a:t>Transitional provision </a:t>
            </a:r>
          </a:p>
          <a:p>
            <a:pPr lvl="1"/>
            <a:r>
              <a:rPr lang="en-US" sz="2000" dirty="0">
                <a:latin typeface="Arial" pitchFamily="34" charset="0"/>
                <a:cs typeface="Arial" pitchFamily="34" charset="0"/>
              </a:rPr>
              <a:t>Effective date</a:t>
            </a:r>
          </a:p>
          <a:p>
            <a:pPr lvl="1"/>
            <a:r>
              <a:rPr lang="en-US" sz="2000" dirty="0">
                <a:latin typeface="Arial" pitchFamily="34" charset="0"/>
                <a:cs typeface="Arial" pitchFamily="34" charset="0"/>
              </a:rPr>
              <a:t>Statements superseded</a:t>
            </a:r>
          </a:p>
          <a:p>
            <a:pPr lvl="1"/>
            <a:r>
              <a:rPr lang="en-US" sz="2000" dirty="0">
                <a:latin typeface="Arial" pitchFamily="34" charset="0"/>
                <a:cs typeface="Arial" pitchFamily="34" charset="0"/>
              </a:rPr>
              <a:t>Amendments to current statement</a:t>
            </a:r>
          </a:p>
          <a:p>
            <a:pPr lvl="1"/>
            <a:r>
              <a:rPr lang="en-US" sz="2000" dirty="0">
                <a:latin typeface="Arial" pitchFamily="34" charset="0"/>
                <a:cs typeface="Arial" pitchFamily="34" charset="0"/>
              </a:rPr>
              <a:t>Appendices</a:t>
            </a:r>
          </a:p>
          <a:p>
            <a:pPr lvl="2">
              <a:buFont typeface="Wingdings" pitchFamily="2" charset="2"/>
              <a:buChar char="Ø"/>
            </a:pPr>
            <a:r>
              <a:rPr lang="en-US" sz="1800" dirty="0">
                <a:latin typeface="Arial" pitchFamily="34" charset="0"/>
                <a:cs typeface="Arial" pitchFamily="34" charset="0"/>
              </a:rPr>
              <a:t>Basis for conclusion</a:t>
            </a:r>
          </a:p>
          <a:p>
            <a:pPr lvl="2">
              <a:buFont typeface="Wingdings" pitchFamily="2" charset="2"/>
              <a:buChar char="Ø"/>
            </a:pPr>
            <a:r>
              <a:rPr lang="en-US" sz="1800" dirty="0">
                <a:latin typeface="Arial" pitchFamily="34" charset="0"/>
                <a:cs typeface="Arial" pitchFamily="34" charset="0"/>
              </a:rPr>
              <a:t>Implementation guidance</a:t>
            </a:r>
          </a:p>
          <a:p>
            <a:r>
              <a:rPr lang="en-US" sz="2000" b="1" dirty="0">
                <a:latin typeface="Arial" pitchFamily="34" charset="0"/>
                <a:cs typeface="Arial" pitchFamily="34" charset="0"/>
              </a:rPr>
              <a:t>Bold print</a:t>
            </a:r>
            <a:r>
              <a:rPr lang="en-US" sz="2000" dirty="0">
                <a:latin typeface="Arial" pitchFamily="34" charset="0"/>
                <a:cs typeface="Arial" pitchFamily="34" charset="0"/>
              </a:rPr>
              <a:t> </a:t>
            </a:r>
          </a:p>
          <a:p>
            <a:pPr lvl="1">
              <a:buNone/>
            </a:pPr>
            <a:r>
              <a:rPr lang="en-US" sz="2000" i="1" dirty="0">
                <a:latin typeface="Arial" pitchFamily="34" charset="0"/>
                <a:cs typeface="Arial" pitchFamily="34" charset="0"/>
              </a:rPr>
              <a:t>–  </a:t>
            </a:r>
            <a:r>
              <a:rPr lang="en-US" sz="2000" dirty="0">
                <a:latin typeface="Arial" pitchFamily="34" charset="0"/>
                <a:cs typeface="Arial" pitchFamily="34" charset="0"/>
              </a:rPr>
              <a:t>most important sections indicating rules and guidelines</a:t>
            </a:r>
            <a:endParaRPr lang="en-GB" sz="2000" dirty="0">
              <a:latin typeface="Arial" pitchFamily="34" charset="0"/>
              <a:cs typeface="Arial" pitchFamily="34" charset="0"/>
            </a:endParaRPr>
          </a:p>
          <a:p>
            <a:pPr eaLnBrk="1" hangingPunct="1"/>
            <a:endParaRPr lang="en-GB" sz="2000" dirty="0">
              <a:latin typeface="Arial" pitchFamily="34" charset="0"/>
              <a:cs typeface="Arial" pitchFamily="34" charset="0"/>
            </a:endParaRPr>
          </a:p>
        </p:txBody>
      </p:sp>
      <p:sp>
        <p:nvSpPr>
          <p:cNvPr id="2" name="Rectangle 2">
            <a:extLst>
              <a:ext uri="{FF2B5EF4-FFF2-40B4-BE49-F238E27FC236}">
                <a16:creationId xmlns:a16="http://schemas.microsoft.com/office/drawing/2014/main" id="{2FFF2320-DE98-BEC2-1DB2-B16F1924B4F5}"/>
              </a:ext>
            </a:extLst>
          </p:cNvPr>
          <p:cNvSpPr>
            <a:spLocks noGrp="1" noChangeArrowheads="1"/>
          </p:cNvSpPr>
          <p:nvPr>
            <p:ph type="title"/>
          </p:nvPr>
        </p:nvSpPr>
        <p:spPr>
          <a:xfrm>
            <a:off x="297523" y="486506"/>
            <a:ext cx="9073008" cy="1213727"/>
          </a:xfrm>
        </p:spPr>
        <p:txBody>
          <a:bodyPr>
            <a:noAutofit/>
          </a:bodyPr>
          <a:lstStyle/>
          <a:p>
            <a:r>
              <a:rPr lang="en-US" sz="3000" b="1" dirty="0">
                <a:latin typeface="Arial" pitchFamily="34" charset="0"/>
                <a:cs typeface="Arial" pitchFamily="34" charset="0"/>
              </a:rPr>
              <a:t>Background to</a:t>
            </a:r>
            <a:r>
              <a:rPr lang="en-US" sz="3000" b="0" dirty="0">
                <a:latin typeface="Arial" pitchFamily="34" charset="0"/>
                <a:cs typeface="Arial" pitchFamily="34" charset="0"/>
              </a:rPr>
              <a:t> </a:t>
            </a:r>
            <a:r>
              <a:rPr lang="en-US" sz="3000" b="1" dirty="0">
                <a:latin typeface="Arial" pitchFamily="34" charset="0"/>
                <a:cs typeface="Arial" pitchFamily="34" charset="0"/>
              </a:rPr>
              <a:t>Accounting Standards</a:t>
            </a:r>
            <a:br>
              <a:rPr lang="en-US" sz="3200" b="1" dirty="0">
                <a:latin typeface="Arial" pitchFamily="34" charset="0"/>
                <a:cs typeface="Arial" pitchFamily="34" charset="0"/>
              </a:rPr>
            </a:br>
            <a:endParaRPr lang="en-US" sz="3200" b="1" i="1" dirty="0">
              <a:solidFill>
                <a:schemeClr val="accent2"/>
              </a:solidFill>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716378" y="188640"/>
            <a:ext cx="7867244" cy="947675"/>
          </a:xfrm>
        </p:spPr>
        <p:txBody>
          <a:bodyPr>
            <a:noAutofit/>
          </a:bodyPr>
          <a:lstStyle/>
          <a:p>
            <a:pPr eaLnBrk="1" hangingPunct="1"/>
            <a:r>
              <a:rPr lang="en-US" sz="3200" b="1" dirty="0">
                <a:latin typeface="Arial" pitchFamily="34" charset="0"/>
                <a:cs typeface="Arial" pitchFamily="34" charset="0"/>
              </a:rPr>
              <a:t>Preface to International Financial Reporting Standards</a:t>
            </a:r>
          </a:p>
        </p:txBody>
      </p:sp>
      <p:sp>
        <p:nvSpPr>
          <p:cNvPr id="30723" name="Rectangle 3"/>
          <p:cNvSpPr>
            <a:spLocks noGrp="1" noChangeArrowheads="1"/>
          </p:cNvSpPr>
          <p:nvPr>
            <p:ph idx="1"/>
          </p:nvPr>
        </p:nvSpPr>
        <p:spPr>
          <a:xfrm>
            <a:off x="348137" y="1412776"/>
            <a:ext cx="8850649" cy="4968552"/>
          </a:xfrm>
        </p:spPr>
        <p:txBody>
          <a:bodyPr>
            <a:noAutofit/>
          </a:bodyPr>
          <a:lstStyle/>
          <a:p>
            <a:pPr>
              <a:lnSpc>
                <a:spcPct val="80000"/>
              </a:lnSpc>
            </a:pPr>
            <a:r>
              <a:rPr lang="en-US" sz="2000" dirty="0">
                <a:latin typeface="Arial" pitchFamily="34" charset="0"/>
                <a:cs typeface="Arial" pitchFamily="34" charset="0"/>
              </a:rPr>
              <a:t>Preface to statements</a:t>
            </a:r>
          </a:p>
          <a:p>
            <a:pPr lvl="1">
              <a:lnSpc>
                <a:spcPct val="80000"/>
              </a:lnSpc>
            </a:pPr>
            <a:r>
              <a:rPr lang="en-US" sz="2000" dirty="0">
                <a:latin typeface="Arial" pitchFamily="34" charset="0"/>
                <a:cs typeface="Arial" pitchFamily="34" charset="0"/>
              </a:rPr>
              <a:t>Explains the authority held by IFRS &amp; IASB </a:t>
            </a:r>
          </a:p>
          <a:p>
            <a:pPr lvl="1">
              <a:lnSpc>
                <a:spcPct val="80000"/>
              </a:lnSpc>
            </a:pPr>
            <a:r>
              <a:rPr lang="en-US" sz="2000" dirty="0">
                <a:latin typeface="Arial" pitchFamily="34" charset="0"/>
                <a:cs typeface="Arial" pitchFamily="34" charset="0"/>
              </a:rPr>
              <a:t>Approval of IFRS</a:t>
            </a:r>
          </a:p>
          <a:p>
            <a:pPr lvl="1">
              <a:lnSpc>
                <a:spcPct val="80000"/>
              </a:lnSpc>
            </a:pPr>
            <a:endParaRPr lang="en-US" sz="2000" dirty="0">
              <a:latin typeface="Arial" pitchFamily="34" charset="0"/>
              <a:cs typeface="Arial" pitchFamily="34" charset="0"/>
            </a:endParaRPr>
          </a:p>
          <a:p>
            <a:pPr>
              <a:lnSpc>
                <a:spcPct val="80000"/>
              </a:lnSpc>
            </a:pPr>
            <a:r>
              <a:rPr lang="en-US" sz="2000" dirty="0">
                <a:latin typeface="Arial" pitchFamily="34" charset="0"/>
                <a:cs typeface="Arial" pitchFamily="34" charset="0"/>
              </a:rPr>
              <a:t>Objective of IASB:</a:t>
            </a:r>
          </a:p>
          <a:p>
            <a:pPr lvl="1">
              <a:lnSpc>
                <a:spcPct val="80000"/>
              </a:lnSpc>
            </a:pPr>
            <a:r>
              <a:rPr lang="en-US" sz="2000" dirty="0">
                <a:latin typeface="Arial" pitchFamily="34" charset="0"/>
                <a:cs typeface="Arial" pitchFamily="34" charset="0"/>
              </a:rPr>
              <a:t>develop a single set of high quality, understandable standards </a:t>
            </a:r>
          </a:p>
          <a:p>
            <a:endParaRPr lang="en-US" sz="2000" dirty="0">
              <a:latin typeface="Arial" pitchFamily="34" charset="0"/>
              <a:cs typeface="Arial" pitchFamily="34" charset="0"/>
            </a:endParaRPr>
          </a:p>
          <a:p>
            <a:r>
              <a:rPr lang="en-US" sz="2000" dirty="0">
                <a:latin typeface="Arial" pitchFamily="34" charset="0"/>
                <a:cs typeface="Arial" pitchFamily="34" charset="0"/>
              </a:rPr>
              <a:t>Language</a:t>
            </a:r>
          </a:p>
          <a:p>
            <a:pPr lvl="1"/>
            <a:r>
              <a:rPr lang="en-US" sz="2000" dirty="0">
                <a:latin typeface="Arial" pitchFamily="34" charset="0"/>
                <a:cs typeface="Arial" pitchFamily="34" charset="0"/>
              </a:rPr>
              <a:t>The approved text of IFRS = English</a:t>
            </a:r>
          </a:p>
          <a:p>
            <a:pPr>
              <a:lnSpc>
                <a:spcPct val="80000"/>
              </a:lnSpc>
            </a:pPr>
            <a:endParaRPr lang="en-US" sz="2000" dirty="0">
              <a:latin typeface="Arial" pitchFamily="34" charset="0"/>
              <a:cs typeface="Arial" pitchFamily="34" charset="0"/>
            </a:endParaRPr>
          </a:p>
          <a:p>
            <a:pPr>
              <a:lnSpc>
                <a:spcPct val="80000"/>
              </a:lnSpc>
            </a:pPr>
            <a:r>
              <a:rPr lang="en-US" sz="2000" dirty="0">
                <a:latin typeface="Arial" pitchFamily="34" charset="0"/>
                <a:cs typeface="Arial" pitchFamily="34" charset="0"/>
              </a:rPr>
              <a:t>Not examinable</a:t>
            </a:r>
          </a:p>
          <a:p>
            <a:pPr lvl="1">
              <a:lnSpc>
                <a:spcPct val="80000"/>
              </a:lnSpc>
            </a:pP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42900" y="2708920"/>
            <a:ext cx="9073007" cy="1008112"/>
          </a:xfrm>
        </p:spPr>
        <p:txBody>
          <a:bodyPr>
            <a:normAutofit/>
          </a:bodyPr>
          <a:lstStyle/>
          <a:p>
            <a:r>
              <a:rPr lang="en-ZA" dirty="0">
                <a:latin typeface="Arial" panose="020B0604020202020204" pitchFamily="34" charset="0"/>
                <a:cs typeface="Arial" panose="020B0604020202020204" pitchFamily="34" charset="0"/>
              </a:rPr>
              <a:t>CONCEPTUAL FRAMEWORK</a:t>
            </a:r>
          </a:p>
        </p:txBody>
      </p:sp>
    </p:spTree>
    <p:extLst>
      <p:ext uri="{BB962C8B-B14F-4D97-AF65-F5344CB8AC3E}">
        <p14:creationId xmlns:p14="http://schemas.microsoft.com/office/powerpoint/2010/main" val="238094375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295418" y="332656"/>
            <a:ext cx="8797926" cy="738791"/>
          </a:xfrm>
        </p:spPr>
        <p:txBody>
          <a:bodyPr>
            <a:noAutofit/>
          </a:bodyPr>
          <a:lstStyle/>
          <a:p>
            <a:pPr eaLnBrk="1" hangingPunct="1"/>
            <a:r>
              <a:rPr lang="en-US" sz="3200" b="1" dirty="0">
                <a:latin typeface="Arial" pitchFamily="34" charset="0"/>
                <a:cs typeface="Arial" pitchFamily="34" charset="0"/>
              </a:rPr>
              <a:t>Conceptual Framework For Financial Reporting 2018</a:t>
            </a:r>
          </a:p>
        </p:txBody>
      </p:sp>
      <p:sp>
        <p:nvSpPr>
          <p:cNvPr id="8195" name="Rectangle 3"/>
          <p:cNvSpPr>
            <a:spLocks noGrp="1" noChangeArrowheads="1"/>
          </p:cNvSpPr>
          <p:nvPr>
            <p:ph idx="1"/>
          </p:nvPr>
        </p:nvSpPr>
        <p:spPr>
          <a:xfrm>
            <a:off x="198884" y="1489597"/>
            <a:ext cx="9505056" cy="5082505"/>
          </a:xfrm>
        </p:spPr>
        <p:txBody>
          <a:bodyPr>
            <a:normAutofit/>
          </a:bodyPr>
          <a:lstStyle/>
          <a:p>
            <a:pPr>
              <a:lnSpc>
                <a:spcPct val="80000"/>
              </a:lnSpc>
            </a:pPr>
            <a:r>
              <a:rPr lang="en-US" sz="2000" b="1" dirty="0">
                <a:latin typeface="Arial" pitchFamily="34" charset="0"/>
                <a:cs typeface="Arial" pitchFamily="34" charset="0"/>
              </a:rPr>
              <a:t>Status and Purpose</a:t>
            </a:r>
          </a:p>
          <a:p>
            <a:pPr lvl="1">
              <a:lnSpc>
                <a:spcPct val="100000"/>
              </a:lnSpc>
              <a:spcAft>
                <a:spcPts val="600"/>
              </a:spcAft>
            </a:pPr>
            <a:r>
              <a:rPr lang="en-US" sz="2000" dirty="0">
                <a:latin typeface="Arial" pitchFamily="34" charset="0"/>
                <a:cs typeface="Arial" pitchFamily="34" charset="0"/>
              </a:rPr>
              <a:t>The Conceptual Framework describes the objective of, and the concepts for, general purpose financial reporting.</a:t>
            </a:r>
          </a:p>
          <a:p>
            <a:pPr lvl="1">
              <a:lnSpc>
                <a:spcPct val="100000"/>
              </a:lnSpc>
              <a:spcAft>
                <a:spcPts val="600"/>
              </a:spcAft>
            </a:pPr>
            <a:endParaRPr lang="en-US" sz="2000" dirty="0">
              <a:latin typeface="Arial" pitchFamily="34" charset="0"/>
              <a:cs typeface="Arial" pitchFamily="34" charset="0"/>
            </a:endParaRPr>
          </a:p>
          <a:p>
            <a:pPr lvl="1">
              <a:lnSpc>
                <a:spcPct val="100000"/>
              </a:lnSpc>
              <a:spcAft>
                <a:spcPts val="600"/>
              </a:spcAft>
            </a:pPr>
            <a:r>
              <a:rPr lang="en-US" sz="2000" dirty="0">
                <a:latin typeface="Arial" pitchFamily="34" charset="0"/>
                <a:cs typeface="Arial" pitchFamily="34" charset="0"/>
              </a:rPr>
              <a:t>Conceptual Framework is not a Standard.  It does not override Standards or any requirement in a Standard.</a:t>
            </a:r>
          </a:p>
          <a:p>
            <a:pPr lvl="1">
              <a:lnSpc>
                <a:spcPct val="100000"/>
              </a:lnSpc>
              <a:spcAft>
                <a:spcPts val="600"/>
              </a:spcAft>
            </a:pPr>
            <a:endParaRPr lang="en-US" sz="2000" dirty="0">
              <a:latin typeface="Arial" pitchFamily="34" charset="0"/>
              <a:cs typeface="Arial" pitchFamily="34" charset="0"/>
            </a:endParaRPr>
          </a:p>
          <a:p>
            <a:pPr lvl="1">
              <a:lnSpc>
                <a:spcPct val="100000"/>
              </a:lnSpc>
              <a:spcAft>
                <a:spcPts val="600"/>
              </a:spcAft>
            </a:pPr>
            <a:r>
              <a:rPr lang="en-US" sz="2000" dirty="0">
                <a:latin typeface="Arial" pitchFamily="34" charset="0"/>
                <a:cs typeface="Arial" pitchFamily="34" charset="0"/>
              </a:rPr>
              <a:t>Mission of Conceptual Framework is to develop Standards that bring transparency, accountability and efficiency to financial markets around the world.</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84548" y="260648"/>
            <a:ext cx="8797926" cy="738791"/>
          </a:xfrm>
        </p:spPr>
        <p:txBody>
          <a:bodyPr>
            <a:noAutofit/>
          </a:bodyPr>
          <a:lstStyle/>
          <a:p>
            <a:pPr eaLnBrk="1" hangingPunct="1"/>
            <a:r>
              <a:rPr lang="en-US" sz="3200" b="1" dirty="0">
                <a:latin typeface="Arial" pitchFamily="34" charset="0"/>
                <a:cs typeface="Arial" pitchFamily="34" charset="0"/>
              </a:rPr>
              <a:t>SCOPE of the framework</a:t>
            </a:r>
          </a:p>
        </p:txBody>
      </p:sp>
      <p:sp>
        <p:nvSpPr>
          <p:cNvPr id="48131" name="Rectangle 3"/>
          <p:cNvSpPr>
            <a:spLocks noGrp="1" noChangeArrowheads="1"/>
          </p:cNvSpPr>
          <p:nvPr>
            <p:ph idx="1"/>
          </p:nvPr>
        </p:nvSpPr>
        <p:spPr>
          <a:xfrm>
            <a:off x="107739" y="1502487"/>
            <a:ext cx="9687346" cy="4302777"/>
          </a:xfrm>
        </p:spPr>
        <p:txBody>
          <a:bodyPr>
            <a:normAutofit/>
          </a:bodyPr>
          <a:lstStyle/>
          <a:p>
            <a:pPr lvl="1">
              <a:lnSpc>
                <a:spcPct val="120000"/>
              </a:lnSpc>
              <a:spcBef>
                <a:spcPts val="600"/>
              </a:spcBef>
              <a:spcAft>
                <a:spcPts val="600"/>
              </a:spcAft>
            </a:pPr>
            <a:r>
              <a:rPr lang="en-ZA" sz="2000" dirty="0">
                <a:latin typeface="Arial" pitchFamily="34" charset="0"/>
                <a:cs typeface="Arial" pitchFamily="34" charset="0"/>
              </a:rPr>
              <a:t>The objective of general purpose financial reporting </a:t>
            </a:r>
            <a:r>
              <a:rPr lang="en-ZA" sz="2000" dirty="0">
                <a:solidFill>
                  <a:schemeClr val="accent5">
                    <a:lumMod val="75000"/>
                  </a:schemeClr>
                </a:solidFill>
                <a:latin typeface="Arial" pitchFamily="34" charset="0"/>
                <a:cs typeface="Arial" pitchFamily="34" charset="0"/>
              </a:rPr>
              <a:t>[chap 1]</a:t>
            </a:r>
          </a:p>
          <a:p>
            <a:pPr lvl="1">
              <a:lnSpc>
                <a:spcPct val="120000"/>
              </a:lnSpc>
              <a:spcBef>
                <a:spcPts val="600"/>
              </a:spcBef>
              <a:spcAft>
                <a:spcPts val="600"/>
              </a:spcAft>
            </a:pPr>
            <a:r>
              <a:rPr lang="en-ZA" sz="2000" dirty="0">
                <a:latin typeface="Arial" pitchFamily="34" charset="0"/>
                <a:cs typeface="Arial" pitchFamily="34" charset="0"/>
              </a:rPr>
              <a:t>Qualitative characteristics of useful financial information </a:t>
            </a:r>
            <a:r>
              <a:rPr lang="en-ZA" sz="2000" dirty="0">
                <a:solidFill>
                  <a:schemeClr val="accent5">
                    <a:lumMod val="75000"/>
                  </a:schemeClr>
                </a:solidFill>
                <a:latin typeface="Arial" pitchFamily="34" charset="0"/>
                <a:cs typeface="Arial" pitchFamily="34" charset="0"/>
              </a:rPr>
              <a:t>[chap 2]</a:t>
            </a:r>
          </a:p>
          <a:p>
            <a:pPr lvl="1">
              <a:lnSpc>
                <a:spcPct val="120000"/>
              </a:lnSpc>
              <a:spcBef>
                <a:spcPts val="600"/>
              </a:spcBef>
              <a:spcAft>
                <a:spcPts val="600"/>
              </a:spcAft>
            </a:pPr>
            <a:r>
              <a:rPr lang="en-ZA" sz="2000" dirty="0">
                <a:latin typeface="Arial" pitchFamily="34" charset="0"/>
                <a:cs typeface="Arial" pitchFamily="34" charset="0"/>
              </a:rPr>
              <a:t>Financial statements and the reporting entity </a:t>
            </a:r>
            <a:r>
              <a:rPr lang="en-ZA" sz="2000" dirty="0">
                <a:solidFill>
                  <a:schemeClr val="accent5">
                    <a:lumMod val="75000"/>
                  </a:schemeClr>
                </a:solidFill>
                <a:latin typeface="Arial" pitchFamily="34" charset="0"/>
                <a:cs typeface="Arial" pitchFamily="34" charset="0"/>
              </a:rPr>
              <a:t>[chap 3]</a:t>
            </a:r>
          </a:p>
          <a:p>
            <a:pPr lvl="1">
              <a:lnSpc>
                <a:spcPct val="120000"/>
              </a:lnSpc>
              <a:spcBef>
                <a:spcPts val="600"/>
              </a:spcBef>
              <a:spcAft>
                <a:spcPts val="600"/>
              </a:spcAft>
            </a:pPr>
            <a:r>
              <a:rPr lang="en-ZA" sz="2000" dirty="0">
                <a:latin typeface="Arial" pitchFamily="34" charset="0"/>
                <a:cs typeface="Arial" pitchFamily="34" charset="0"/>
              </a:rPr>
              <a:t>The elements of financial statements </a:t>
            </a:r>
            <a:r>
              <a:rPr lang="en-ZA" sz="2000" dirty="0">
                <a:solidFill>
                  <a:schemeClr val="accent5">
                    <a:lumMod val="75000"/>
                  </a:schemeClr>
                </a:solidFill>
                <a:latin typeface="Arial" pitchFamily="34" charset="0"/>
                <a:cs typeface="Arial" pitchFamily="34" charset="0"/>
              </a:rPr>
              <a:t>[chap 4]</a:t>
            </a:r>
          </a:p>
          <a:p>
            <a:pPr lvl="1">
              <a:lnSpc>
                <a:spcPct val="120000"/>
              </a:lnSpc>
              <a:spcBef>
                <a:spcPts val="600"/>
              </a:spcBef>
              <a:spcAft>
                <a:spcPts val="600"/>
              </a:spcAft>
            </a:pPr>
            <a:r>
              <a:rPr lang="en-ZA" sz="2000" dirty="0">
                <a:latin typeface="Arial" pitchFamily="34" charset="0"/>
                <a:cs typeface="Arial" pitchFamily="34" charset="0"/>
              </a:rPr>
              <a:t>Recognition and derecognition </a:t>
            </a:r>
            <a:r>
              <a:rPr lang="en-ZA" sz="2000" dirty="0">
                <a:solidFill>
                  <a:schemeClr val="accent5">
                    <a:lumMod val="75000"/>
                  </a:schemeClr>
                </a:solidFill>
                <a:latin typeface="Arial" pitchFamily="34" charset="0"/>
                <a:cs typeface="Arial" pitchFamily="34" charset="0"/>
              </a:rPr>
              <a:t>[chap 5]</a:t>
            </a:r>
          </a:p>
          <a:p>
            <a:pPr lvl="1">
              <a:lnSpc>
                <a:spcPct val="120000"/>
              </a:lnSpc>
              <a:spcBef>
                <a:spcPts val="600"/>
              </a:spcBef>
              <a:spcAft>
                <a:spcPts val="600"/>
              </a:spcAft>
            </a:pPr>
            <a:r>
              <a:rPr lang="en-ZA" sz="2000" dirty="0">
                <a:latin typeface="Arial" pitchFamily="34" charset="0"/>
                <a:cs typeface="Arial" pitchFamily="34" charset="0"/>
              </a:rPr>
              <a:t>Measurement </a:t>
            </a:r>
            <a:r>
              <a:rPr lang="en-ZA" sz="2000" dirty="0">
                <a:solidFill>
                  <a:schemeClr val="accent5">
                    <a:lumMod val="75000"/>
                  </a:schemeClr>
                </a:solidFill>
                <a:latin typeface="Arial" pitchFamily="34" charset="0"/>
                <a:cs typeface="Arial" pitchFamily="34" charset="0"/>
              </a:rPr>
              <a:t>[chap 6]</a:t>
            </a:r>
          </a:p>
          <a:p>
            <a:pPr lvl="1">
              <a:lnSpc>
                <a:spcPct val="120000"/>
              </a:lnSpc>
              <a:spcBef>
                <a:spcPts val="600"/>
              </a:spcBef>
              <a:spcAft>
                <a:spcPts val="600"/>
              </a:spcAft>
            </a:pPr>
            <a:r>
              <a:rPr lang="en-ZA" sz="2000" dirty="0">
                <a:latin typeface="Arial" pitchFamily="34" charset="0"/>
                <a:cs typeface="Arial" pitchFamily="34" charset="0"/>
              </a:rPr>
              <a:t>Presentation and disclosure </a:t>
            </a:r>
            <a:r>
              <a:rPr lang="en-ZA" sz="2000" dirty="0">
                <a:solidFill>
                  <a:schemeClr val="accent5">
                    <a:lumMod val="75000"/>
                  </a:schemeClr>
                </a:solidFill>
                <a:latin typeface="Arial" pitchFamily="34" charset="0"/>
                <a:cs typeface="Arial" pitchFamily="34" charset="0"/>
              </a:rPr>
              <a:t>[chap 7]</a:t>
            </a:r>
          </a:p>
          <a:p>
            <a:pPr lvl="1">
              <a:lnSpc>
                <a:spcPct val="120000"/>
              </a:lnSpc>
              <a:spcBef>
                <a:spcPts val="600"/>
              </a:spcBef>
              <a:spcAft>
                <a:spcPts val="600"/>
              </a:spcAft>
            </a:pPr>
            <a:r>
              <a:rPr lang="en-ZA" sz="2000" dirty="0">
                <a:latin typeface="Arial" pitchFamily="34" charset="0"/>
                <a:cs typeface="Arial" pitchFamily="34" charset="0"/>
              </a:rPr>
              <a:t>Concepts of capital and capital maintenance </a:t>
            </a:r>
            <a:r>
              <a:rPr lang="en-ZA" sz="2000" dirty="0">
                <a:solidFill>
                  <a:schemeClr val="accent5">
                    <a:lumMod val="75000"/>
                  </a:schemeClr>
                </a:solidFill>
                <a:latin typeface="Arial" pitchFamily="34" charset="0"/>
                <a:cs typeface="Arial" pitchFamily="34" charset="0"/>
              </a:rPr>
              <a:t>[chap 8]</a:t>
            </a:r>
          </a:p>
          <a:p>
            <a:pPr lvl="1" eaLnBrk="1" hangingPunct="1">
              <a:lnSpc>
                <a:spcPct val="120000"/>
              </a:lnSpc>
              <a:spcBef>
                <a:spcPts val="600"/>
              </a:spcBef>
              <a:spcAft>
                <a:spcPts val="600"/>
              </a:spcAft>
            </a:pPr>
            <a:endParaRPr lang="en-GB" sz="2000" u="sng"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Objective of general purpose financial reporting</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1</a:t>
            </a:r>
          </a:p>
        </p:txBody>
      </p:sp>
    </p:spTree>
    <p:extLst>
      <p:ext uri="{BB962C8B-B14F-4D97-AF65-F5344CB8AC3E}">
        <p14:creationId xmlns:p14="http://schemas.microsoft.com/office/powerpoint/2010/main" val="185659943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1100314" y="114341"/>
            <a:ext cx="8059799" cy="526609"/>
          </a:xfrm>
        </p:spPr>
        <p:txBody>
          <a:bodyPr>
            <a:noAutofit/>
          </a:bodyPr>
          <a:lstStyle/>
          <a:p>
            <a:r>
              <a:rPr lang="en-US" sz="2800" b="1" dirty="0">
                <a:latin typeface="Arial" pitchFamily="34" charset="0"/>
                <a:cs typeface="Arial" pitchFamily="34" charset="0"/>
              </a:rPr>
              <a:t>Chapter 1: Introduction [1.1]</a:t>
            </a:r>
            <a:endParaRPr lang="en-GB" sz="2800" b="1" dirty="0">
              <a:latin typeface="Arial" pitchFamily="34" charset="0"/>
              <a:cs typeface="Arial" pitchFamily="34" charset="0"/>
            </a:endParaRPr>
          </a:p>
        </p:txBody>
      </p:sp>
      <p:sp>
        <p:nvSpPr>
          <p:cNvPr id="10243" name="Rectangle 3"/>
          <p:cNvSpPr>
            <a:spLocks noGrp="1" noChangeArrowheads="1"/>
          </p:cNvSpPr>
          <p:nvPr>
            <p:ph idx="1"/>
          </p:nvPr>
        </p:nvSpPr>
        <p:spPr>
          <a:xfrm>
            <a:off x="342900" y="1556792"/>
            <a:ext cx="8699357" cy="4741702"/>
          </a:xfrm>
        </p:spPr>
        <p:txBody>
          <a:bodyPr>
            <a:normAutofit/>
          </a:bodyPr>
          <a:lstStyle/>
          <a:p>
            <a:r>
              <a:rPr lang="en-US" sz="2000" dirty="0">
                <a:latin typeface="Arial" pitchFamily="34" charset="0"/>
                <a:cs typeface="Arial" pitchFamily="34" charset="0"/>
              </a:rPr>
              <a:t>The objective of general purpose financial reporting forms the foundation of the Conceptual Framework.</a:t>
            </a:r>
          </a:p>
          <a:p>
            <a:endParaRPr lang="en-US" sz="2000" dirty="0">
              <a:latin typeface="Arial" pitchFamily="34" charset="0"/>
              <a:cs typeface="Arial" pitchFamily="34" charset="0"/>
            </a:endParaRPr>
          </a:p>
          <a:p>
            <a:r>
              <a:rPr lang="en-US" sz="2000" dirty="0">
                <a:latin typeface="Arial" pitchFamily="34" charset="0"/>
                <a:cs typeface="Arial" pitchFamily="34" charset="0"/>
              </a:rPr>
              <a:t>Other aspects logically flow from the objective:</a:t>
            </a:r>
          </a:p>
          <a:p>
            <a:pPr lvl="1"/>
            <a:r>
              <a:rPr lang="en-US" sz="2000" dirty="0">
                <a:latin typeface="Arial" pitchFamily="34" charset="0"/>
                <a:cs typeface="Arial" pitchFamily="34" charset="0"/>
              </a:rPr>
              <a:t>Reporting entity concept</a:t>
            </a:r>
          </a:p>
          <a:p>
            <a:pPr lvl="1"/>
            <a:r>
              <a:rPr lang="en-US" sz="2000" dirty="0">
                <a:latin typeface="Arial" pitchFamily="34" charset="0"/>
                <a:cs typeface="Arial" pitchFamily="34" charset="0"/>
              </a:rPr>
              <a:t>Qualitative characteristics and cost constraints of useful financial information</a:t>
            </a:r>
          </a:p>
          <a:p>
            <a:pPr lvl="1"/>
            <a:r>
              <a:rPr lang="en-US" sz="2000" dirty="0">
                <a:latin typeface="Arial" pitchFamily="34" charset="0"/>
                <a:cs typeface="Arial" pitchFamily="34" charset="0"/>
              </a:rPr>
              <a:t>Elements of financial statements</a:t>
            </a:r>
          </a:p>
          <a:p>
            <a:pPr lvl="1"/>
            <a:r>
              <a:rPr lang="en-US" sz="2000" dirty="0">
                <a:latin typeface="Arial" pitchFamily="34" charset="0"/>
                <a:cs typeface="Arial" pitchFamily="34" charset="0"/>
              </a:rPr>
              <a:t>Recognition and </a:t>
            </a:r>
            <a:r>
              <a:rPr lang="en-US" sz="2000" dirty="0" err="1">
                <a:latin typeface="Arial" pitchFamily="34" charset="0"/>
                <a:cs typeface="Arial" pitchFamily="34" charset="0"/>
              </a:rPr>
              <a:t>derecognition</a:t>
            </a:r>
            <a:r>
              <a:rPr lang="en-US" sz="2000" dirty="0">
                <a:latin typeface="Arial" pitchFamily="34" charset="0"/>
                <a:cs typeface="Arial" pitchFamily="34" charset="0"/>
              </a:rPr>
              <a:t>, measurement, presentation and disclosure</a:t>
            </a:r>
          </a:p>
          <a:p>
            <a:pPr eaLnBrk="1" hangingPunct="1"/>
            <a:endParaRPr lang="en-US" sz="2000" dirty="0">
              <a:latin typeface="Arial" pitchFamily="34" charset="0"/>
              <a:cs typeface="Arial" pitchFamily="34" charset="0"/>
            </a:endParaRPr>
          </a:p>
          <a:p>
            <a:pPr eaLnBrk="1" hangingPunct="1">
              <a:buFont typeface="Wingdings" pitchFamily="2" charset="2"/>
              <a:buNone/>
            </a:pP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793146" y="186897"/>
            <a:ext cx="8687895" cy="896004"/>
          </a:xfrm>
        </p:spPr>
        <p:txBody>
          <a:bodyPr>
            <a:normAutofit/>
          </a:bodyPr>
          <a:lstStyle/>
          <a:p>
            <a:r>
              <a:rPr lang="en-US" sz="2800" b="1" dirty="0">
                <a:latin typeface="Arial" pitchFamily="34" charset="0"/>
                <a:cs typeface="Arial" pitchFamily="34" charset="0"/>
              </a:rPr>
              <a:t>Chapter 1: Objective, usefulness and limitations (1.2–1.11)</a:t>
            </a:r>
            <a:endParaRPr lang="en-US" sz="2800" b="1" dirty="0">
              <a:solidFill>
                <a:schemeClr val="accent5">
                  <a:lumMod val="75000"/>
                </a:schemeClr>
              </a:solidFill>
              <a:latin typeface="Arial" pitchFamily="34" charset="0"/>
              <a:cs typeface="Arial" pitchFamily="34" charset="0"/>
            </a:endParaRPr>
          </a:p>
        </p:txBody>
      </p:sp>
      <p:graphicFrame>
        <p:nvGraphicFramePr>
          <p:cNvPr id="3" name="Diagram 2"/>
          <p:cNvGraphicFramePr/>
          <p:nvPr>
            <p:extLst>
              <p:ext uri="{D42A27DB-BD31-4B8C-83A1-F6EECF244321}">
                <p14:modId xmlns:p14="http://schemas.microsoft.com/office/powerpoint/2010/main" val="1653130105"/>
              </p:ext>
            </p:extLst>
          </p:nvPr>
        </p:nvGraphicFramePr>
        <p:xfrm>
          <a:off x="990972" y="2492896"/>
          <a:ext cx="8025633"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ounded Rectangle 4"/>
          <p:cNvSpPr/>
          <p:nvPr/>
        </p:nvSpPr>
        <p:spPr>
          <a:xfrm>
            <a:off x="1809248" y="1556792"/>
            <a:ext cx="6389080" cy="7619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500" b="1" dirty="0"/>
              <a:t>OBJECTIVE</a:t>
            </a:r>
            <a:r>
              <a:rPr lang="en-US" sz="5000" b="1" dirty="0"/>
              <a:t> </a:t>
            </a:r>
            <a:r>
              <a:rPr lang="en-US" dirty="0"/>
              <a:t>[1.2]</a:t>
            </a:r>
            <a:endParaRPr lang="en-ZA" dirty="0"/>
          </a:p>
        </p:txBody>
      </p:sp>
    </p:spTree>
    <p:extLst>
      <p:ext uri="{BB962C8B-B14F-4D97-AF65-F5344CB8AC3E}">
        <p14:creationId xmlns:p14="http://schemas.microsoft.com/office/powerpoint/2010/main" val="70150152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607465" y="188640"/>
            <a:ext cx="7224268" cy="896004"/>
          </a:xfrm>
        </p:spPr>
        <p:txBody>
          <a:bodyPr>
            <a:normAutofit/>
          </a:bodyPr>
          <a:lstStyle/>
          <a:p>
            <a:r>
              <a:rPr lang="en-US" sz="2400" b="1" dirty="0">
                <a:latin typeface="Arial" pitchFamily="34" charset="0"/>
                <a:cs typeface="Arial" pitchFamily="34" charset="0"/>
              </a:rPr>
              <a:t> </a:t>
            </a:r>
            <a:r>
              <a:rPr lang="en-US" sz="2800" b="1" dirty="0">
                <a:latin typeface="Arial" pitchFamily="34" charset="0"/>
                <a:cs typeface="Arial" pitchFamily="34" charset="0"/>
              </a:rPr>
              <a:t>Chapter 1: Objective, usefulness and limitations (1.2–1.11)</a:t>
            </a:r>
          </a:p>
        </p:txBody>
      </p:sp>
      <p:sp>
        <p:nvSpPr>
          <p:cNvPr id="14340" name="Rectangle 3"/>
          <p:cNvSpPr>
            <a:spLocks noGrp="1" noChangeArrowheads="1"/>
          </p:cNvSpPr>
          <p:nvPr>
            <p:ph idx="1"/>
          </p:nvPr>
        </p:nvSpPr>
        <p:spPr>
          <a:xfrm>
            <a:off x="324381" y="1524855"/>
            <a:ext cx="9254061" cy="4136393"/>
          </a:xfrm>
        </p:spPr>
        <p:txBody>
          <a:bodyPr>
            <a:normAutofit/>
          </a:bodyPr>
          <a:lstStyle/>
          <a:p>
            <a:pPr>
              <a:spcAft>
                <a:spcPts val="600"/>
              </a:spcAft>
              <a:buFont typeface="Wingdings" pitchFamily="2" charset="2"/>
              <a:buNone/>
            </a:pPr>
            <a:r>
              <a:rPr lang="en-ZA" sz="2000" b="1" dirty="0">
                <a:latin typeface="Arial" pitchFamily="34" charset="0"/>
                <a:cs typeface="Arial" pitchFamily="34" charset="0"/>
              </a:rPr>
              <a:t>The decisions Depend on expected returns:</a:t>
            </a:r>
          </a:p>
          <a:p>
            <a:pPr lvl="1">
              <a:spcAft>
                <a:spcPts val="600"/>
              </a:spcAft>
              <a:buFontTx/>
              <a:buChar char="-"/>
            </a:pPr>
            <a:r>
              <a:rPr lang="en-ZA" sz="2000" dirty="0">
                <a:latin typeface="Arial" pitchFamily="34" charset="0"/>
                <a:cs typeface="Arial" pitchFamily="34" charset="0"/>
              </a:rPr>
              <a:t>Dividends</a:t>
            </a:r>
          </a:p>
          <a:p>
            <a:pPr lvl="1">
              <a:spcAft>
                <a:spcPts val="600"/>
              </a:spcAft>
              <a:buFontTx/>
              <a:buChar char="-"/>
            </a:pPr>
            <a:r>
              <a:rPr lang="en-US" sz="2000" dirty="0">
                <a:latin typeface="Arial" pitchFamily="34" charset="0"/>
                <a:cs typeface="Arial" pitchFamily="34" charset="0"/>
              </a:rPr>
              <a:t>Principle and interest payments</a:t>
            </a:r>
            <a:endParaRPr lang="en-ZA" sz="2000" dirty="0">
              <a:latin typeface="Arial" pitchFamily="34" charset="0"/>
              <a:cs typeface="Arial" pitchFamily="34" charset="0"/>
            </a:endParaRPr>
          </a:p>
          <a:p>
            <a:pPr lvl="1">
              <a:spcAft>
                <a:spcPts val="600"/>
              </a:spcAft>
              <a:buFontTx/>
              <a:buChar char="-"/>
            </a:pPr>
            <a:r>
              <a:rPr lang="en-ZA" sz="2000" dirty="0">
                <a:latin typeface="Arial" pitchFamily="34" charset="0"/>
                <a:cs typeface="Arial" pitchFamily="34" charset="0"/>
              </a:rPr>
              <a:t>Market price </a:t>
            </a:r>
          </a:p>
          <a:p>
            <a:pPr lvl="1">
              <a:spcAft>
                <a:spcPts val="600"/>
              </a:spcAft>
              <a:buFontTx/>
              <a:buChar char="-"/>
            </a:pPr>
            <a:r>
              <a:rPr lang="en-ZA" sz="2000" dirty="0">
                <a:latin typeface="Arial" pitchFamily="34" charset="0"/>
                <a:cs typeface="Arial" pitchFamily="34" charset="0"/>
              </a:rPr>
              <a:t>providing or settling loans / interest receive/payable </a:t>
            </a:r>
            <a:r>
              <a:rPr lang="en-ZA" sz="2000" dirty="0">
                <a:solidFill>
                  <a:schemeClr val="accent5">
                    <a:lumMod val="75000"/>
                  </a:schemeClr>
                </a:solidFill>
                <a:latin typeface="Arial" pitchFamily="34" charset="0"/>
                <a:cs typeface="Arial" pitchFamily="34" charset="0"/>
              </a:rPr>
              <a:t>[1.3]</a:t>
            </a:r>
          </a:p>
          <a:p>
            <a:pPr>
              <a:spcAft>
                <a:spcPts val="600"/>
              </a:spcAft>
            </a:pPr>
            <a:r>
              <a:rPr lang="en-ZA" sz="2000" dirty="0">
                <a:latin typeface="Arial" pitchFamily="34" charset="0"/>
                <a:cs typeface="Arial" pitchFamily="34" charset="0"/>
              </a:rPr>
              <a:t>Expected returns depend on assessment of the </a:t>
            </a:r>
            <a:r>
              <a:rPr lang="en-ZA" sz="2000" b="1" dirty="0">
                <a:latin typeface="Arial" pitchFamily="34" charset="0"/>
                <a:cs typeface="Arial" pitchFamily="34" charset="0"/>
              </a:rPr>
              <a:t>amount, timing and uncertainty </a:t>
            </a:r>
            <a:r>
              <a:rPr lang="en-ZA" sz="2000" dirty="0">
                <a:latin typeface="Arial" pitchFamily="34" charset="0"/>
                <a:cs typeface="Arial" pitchFamily="34" charset="0"/>
              </a:rPr>
              <a:t>of future net cash inflows </a:t>
            </a:r>
            <a:r>
              <a:rPr lang="en-ZA" sz="2000" dirty="0">
                <a:solidFill>
                  <a:schemeClr val="accent5">
                    <a:lumMod val="75000"/>
                  </a:schemeClr>
                </a:solidFill>
                <a:latin typeface="Arial" pitchFamily="34" charset="0"/>
                <a:cs typeface="Arial" pitchFamily="34" charset="0"/>
              </a:rPr>
              <a:t>[1.3]</a:t>
            </a:r>
            <a:endParaRPr lang="en-ZA" sz="2000" dirty="0">
              <a:latin typeface="Arial" pitchFamily="34" charset="0"/>
              <a:cs typeface="Arial" pitchFamily="34" charset="0"/>
            </a:endParaRPr>
          </a:p>
          <a:p>
            <a:pPr>
              <a:spcAft>
                <a:spcPts val="600"/>
              </a:spcAft>
            </a:pPr>
            <a:r>
              <a:rPr lang="en-ZA" sz="2000" dirty="0">
                <a:latin typeface="Arial" pitchFamily="34" charset="0"/>
                <a:cs typeface="Arial" pitchFamily="34" charset="0"/>
              </a:rPr>
              <a:t>Assess management stewardship of entity’s economic resources </a:t>
            </a:r>
            <a:r>
              <a:rPr lang="en-ZA" sz="2000" dirty="0">
                <a:solidFill>
                  <a:schemeClr val="accent5">
                    <a:lumMod val="75000"/>
                  </a:schemeClr>
                </a:solidFill>
                <a:latin typeface="Arial" pitchFamily="34" charset="0"/>
                <a:cs typeface="Arial" pitchFamily="34" charset="0"/>
              </a:rPr>
              <a:t>[1.3]</a:t>
            </a:r>
          </a:p>
          <a:p>
            <a:pPr>
              <a:spcAft>
                <a:spcPts val="600"/>
              </a:spcAft>
            </a:pPr>
            <a:endParaRPr lang="en-US" sz="2000" dirty="0">
              <a:solidFill>
                <a:schemeClr val="accent5">
                  <a:lumMod val="75000"/>
                </a:schemeClr>
              </a:solidFill>
              <a:latin typeface="Arial" pitchFamily="34" charset="0"/>
              <a:cs typeface="Arial" pitchFamily="34" charset="0"/>
            </a:endParaRPr>
          </a:p>
          <a:p>
            <a:pPr lvl="1">
              <a:lnSpc>
                <a:spcPct val="80000"/>
              </a:lnSpc>
              <a:spcAft>
                <a:spcPts val="600"/>
              </a:spcAft>
            </a:pPr>
            <a:endParaRPr lang="en-US" sz="2000" dirty="0">
              <a:latin typeface="Arial" pitchFamily="34" charset="0"/>
              <a:cs typeface="Arial" pitchFamily="34" charset="0"/>
            </a:endParaRPr>
          </a:p>
          <a:p>
            <a:pPr>
              <a:lnSpc>
                <a:spcPct val="80000"/>
              </a:lnSpc>
              <a:spcAft>
                <a:spcPts val="600"/>
              </a:spcAft>
            </a:pPr>
            <a:endParaRPr lang="en-US" sz="2000" dirty="0">
              <a:latin typeface="Arial" pitchFamily="34" charset="0"/>
              <a:cs typeface="Arial" pitchFamily="34" charset="0"/>
            </a:endParaRPr>
          </a:p>
          <a:p>
            <a:pPr lvl="1">
              <a:lnSpc>
                <a:spcPct val="80000"/>
              </a:lnSpc>
              <a:spcAft>
                <a:spcPts val="600"/>
              </a:spcAft>
            </a:pPr>
            <a:endParaRPr lang="en-US" sz="2000" dirty="0">
              <a:latin typeface="Arial" pitchFamily="34" charset="0"/>
              <a:cs typeface="Arial" pitchFamily="34" charset="0"/>
            </a:endParaRPr>
          </a:p>
        </p:txBody>
      </p:sp>
    </p:spTree>
    <p:extLst>
      <p:ext uri="{BB962C8B-B14F-4D97-AF65-F5344CB8AC3E}">
        <p14:creationId xmlns:p14="http://schemas.microsoft.com/office/powerpoint/2010/main" val="160630794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793147" y="186897"/>
            <a:ext cx="6246498" cy="896004"/>
          </a:xfrm>
        </p:spPr>
        <p:txBody>
          <a:bodyPr>
            <a:normAutofit/>
          </a:bodyPr>
          <a:lstStyle/>
          <a:p>
            <a:r>
              <a:rPr lang="en-US" sz="2800" b="1" dirty="0">
                <a:latin typeface="Arial" pitchFamily="34" charset="0"/>
                <a:cs typeface="Arial" pitchFamily="34" charset="0"/>
              </a:rPr>
              <a:t> Chapter 1: Objective, usefulness and limitations (1.2–1.11)</a:t>
            </a:r>
          </a:p>
        </p:txBody>
      </p:sp>
      <p:sp>
        <p:nvSpPr>
          <p:cNvPr id="14340" name="Rectangle 3"/>
          <p:cNvSpPr>
            <a:spLocks noGrp="1" noChangeArrowheads="1"/>
          </p:cNvSpPr>
          <p:nvPr>
            <p:ph idx="1"/>
          </p:nvPr>
        </p:nvSpPr>
        <p:spPr>
          <a:xfrm>
            <a:off x="126876" y="1337958"/>
            <a:ext cx="9254061" cy="5333145"/>
          </a:xfrm>
        </p:spPr>
        <p:txBody>
          <a:bodyPr>
            <a:normAutofit/>
          </a:bodyPr>
          <a:lstStyle/>
          <a:p>
            <a:pPr lvl="1">
              <a:lnSpc>
                <a:spcPct val="80000"/>
              </a:lnSpc>
            </a:pPr>
            <a:endParaRPr lang="en-US" sz="2400" dirty="0">
              <a:latin typeface="Arial" pitchFamily="34" charset="0"/>
              <a:cs typeface="Arial" pitchFamily="34" charset="0"/>
            </a:endParaRPr>
          </a:p>
          <a:p>
            <a:pPr>
              <a:lnSpc>
                <a:spcPct val="80000"/>
              </a:lnSpc>
            </a:pPr>
            <a:endParaRPr lang="en-US" sz="2800" dirty="0">
              <a:latin typeface="Arial" pitchFamily="34" charset="0"/>
              <a:cs typeface="Arial" pitchFamily="34" charset="0"/>
            </a:endParaRPr>
          </a:p>
          <a:p>
            <a:pPr lvl="1">
              <a:lnSpc>
                <a:spcPct val="80000"/>
              </a:lnSpc>
            </a:pPr>
            <a:endParaRPr lang="en-US" sz="2400" dirty="0">
              <a:latin typeface="Arial" pitchFamily="34" charset="0"/>
              <a:cs typeface="Arial" pitchFamily="34" charset="0"/>
            </a:endParaRPr>
          </a:p>
        </p:txBody>
      </p:sp>
      <p:graphicFrame>
        <p:nvGraphicFramePr>
          <p:cNvPr id="2" name="Diagram 1"/>
          <p:cNvGraphicFramePr/>
          <p:nvPr>
            <p:extLst>
              <p:ext uri="{D42A27DB-BD31-4B8C-83A1-F6EECF244321}">
                <p14:modId xmlns:p14="http://schemas.microsoft.com/office/powerpoint/2010/main" val="4091413340"/>
              </p:ext>
            </p:extLst>
          </p:nvPr>
        </p:nvGraphicFramePr>
        <p:xfrm>
          <a:off x="808191" y="1082901"/>
          <a:ext cx="8280920" cy="5267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7349185"/>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630933" y="186900"/>
            <a:ext cx="6984776" cy="999347"/>
          </a:xfrm>
        </p:spPr>
        <p:txBody>
          <a:bodyPr>
            <a:normAutofit/>
          </a:bodyPr>
          <a:lstStyle/>
          <a:p>
            <a:r>
              <a:rPr lang="en-US" sz="2800" b="1" dirty="0">
                <a:latin typeface="Arial" pitchFamily="34" charset="0"/>
                <a:cs typeface="Arial" pitchFamily="34" charset="0"/>
              </a:rPr>
              <a:t>Chapter 1: Objective, usefulness and limitations (1.2–1.11)</a:t>
            </a:r>
          </a:p>
        </p:txBody>
      </p:sp>
      <p:sp>
        <p:nvSpPr>
          <p:cNvPr id="15364" name="Rectangle 3"/>
          <p:cNvSpPr>
            <a:spLocks noGrp="1" noChangeArrowheads="1"/>
          </p:cNvSpPr>
          <p:nvPr>
            <p:ph idx="1"/>
          </p:nvPr>
        </p:nvSpPr>
        <p:spPr>
          <a:xfrm>
            <a:off x="271854" y="1516096"/>
            <a:ext cx="9359115" cy="5086882"/>
          </a:xfrm>
        </p:spPr>
        <p:txBody>
          <a:bodyPr>
            <a:normAutofit/>
          </a:bodyPr>
          <a:lstStyle/>
          <a:p>
            <a:r>
              <a:rPr lang="en-ZA" sz="2000" dirty="0">
                <a:latin typeface="Arial" pitchFamily="34" charset="0"/>
                <a:cs typeface="Arial" pitchFamily="34" charset="0"/>
              </a:rPr>
              <a:t>Primary users (financial reports are directed to):</a:t>
            </a:r>
          </a:p>
          <a:p>
            <a:pPr>
              <a:buFontTx/>
              <a:buChar char="-"/>
            </a:pPr>
            <a:r>
              <a:rPr lang="en-ZA" sz="2000" dirty="0">
                <a:latin typeface="Arial" pitchFamily="34" charset="0"/>
                <a:cs typeface="Arial" pitchFamily="34" charset="0"/>
              </a:rPr>
              <a:t>  existing and potential investors,</a:t>
            </a:r>
          </a:p>
          <a:p>
            <a:pPr marL="342900" lvl="1" indent="-342900">
              <a:buFontTx/>
              <a:buChar char="-"/>
            </a:pPr>
            <a:r>
              <a:rPr lang="en-ZA" sz="2000" dirty="0">
                <a:latin typeface="Arial" pitchFamily="34" charset="0"/>
                <a:cs typeface="Arial" pitchFamily="34" charset="0"/>
              </a:rPr>
              <a:t>lenders and other creditors </a:t>
            </a:r>
            <a:r>
              <a:rPr lang="en-US" sz="2000" dirty="0">
                <a:solidFill>
                  <a:schemeClr val="accent5">
                    <a:lumMod val="75000"/>
                  </a:schemeClr>
                </a:solidFill>
                <a:latin typeface="Arial" pitchFamily="34" charset="0"/>
                <a:cs typeface="Arial" pitchFamily="34" charset="0"/>
              </a:rPr>
              <a:t>[1.5]</a:t>
            </a:r>
            <a:endParaRPr lang="en-ZA" sz="2000" dirty="0">
              <a:solidFill>
                <a:schemeClr val="accent5">
                  <a:lumMod val="75000"/>
                </a:schemeClr>
              </a:solidFill>
              <a:latin typeface="Arial" pitchFamily="34" charset="0"/>
              <a:cs typeface="Arial" pitchFamily="34" charset="0"/>
            </a:endParaRPr>
          </a:p>
          <a:p>
            <a:endParaRPr lang="en-ZA" sz="2000" dirty="0">
              <a:latin typeface="Arial" pitchFamily="34" charset="0"/>
              <a:cs typeface="Arial" pitchFamily="34" charset="0"/>
            </a:endParaRPr>
          </a:p>
          <a:p>
            <a:r>
              <a:rPr lang="en-ZA" sz="2000" dirty="0">
                <a:latin typeface="Arial" pitchFamily="34" charset="0"/>
                <a:cs typeface="Arial" pitchFamily="34" charset="0"/>
              </a:rPr>
              <a:t>general purpose financial reports do not and cannot provide all the information that users need. Consider:</a:t>
            </a:r>
          </a:p>
          <a:p>
            <a:pPr marL="0" indent="0">
              <a:buNone/>
            </a:pPr>
            <a:r>
              <a:rPr lang="en-ZA" sz="2000" dirty="0">
                <a:latin typeface="Arial" pitchFamily="34" charset="0"/>
                <a:cs typeface="Arial" pitchFamily="34" charset="0"/>
              </a:rPr>
              <a:t>-  general economic conditions and expectations, </a:t>
            </a:r>
          </a:p>
          <a:p>
            <a:pPr>
              <a:buFontTx/>
              <a:buChar char="-"/>
            </a:pPr>
            <a:r>
              <a:rPr lang="en-ZA" sz="2000" dirty="0">
                <a:latin typeface="Arial" pitchFamily="34" charset="0"/>
                <a:cs typeface="Arial" pitchFamily="34" charset="0"/>
              </a:rPr>
              <a:t>political events and political climate, </a:t>
            </a:r>
          </a:p>
          <a:p>
            <a:pPr>
              <a:buFontTx/>
              <a:buChar char="-"/>
            </a:pPr>
            <a:r>
              <a:rPr lang="en-ZA" sz="2000" dirty="0">
                <a:latin typeface="Arial" pitchFamily="34" charset="0"/>
                <a:cs typeface="Arial" pitchFamily="34" charset="0"/>
              </a:rPr>
              <a:t>Industry outlooks</a:t>
            </a:r>
          </a:p>
          <a:p>
            <a:pPr>
              <a:buFontTx/>
              <a:buChar char="-"/>
            </a:pPr>
            <a:r>
              <a:rPr lang="en-ZA" sz="2000" dirty="0">
                <a:latin typeface="Arial" pitchFamily="34" charset="0"/>
                <a:cs typeface="Arial" pitchFamily="34" charset="0"/>
              </a:rPr>
              <a:t>company outlooks </a:t>
            </a:r>
            <a:r>
              <a:rPr lang="en-US" sz="2000" dirty="0">
                <a:solidFill>
                  <a:schemeClr val="accent5">
                    <a:lumMod val="75000"/>
                  </a:schemeClr>
                </a:solidFill>
                <a:latin typeface="Arial" pitchFamily="34" charset="0"/>
                <a:cs typeface="Arial" pitchFamily="34" charset="0"/>
              </a:rPr>
              <a:t>[1.6]</a:t>
            </a:r>
          </a:p>
          <a:p>
            <a:pPr>
              <a:buFontTx/>
              <a:buChar char="-"/>
            </a:pPr>
            <a:endParaRPr lang="en-US" sz="2000" dirty="0">
              <a:solidFill>
                <a:schemeClr val="accent5">
                  <a:lumMod val="75000"/>
                </a:schemeClr>
              </a:solidFill>
              <a:latin typeface="Arial" pitchFamily="34" charset="0"/>
              <a:cs typeface="Arial" pitchFamily="34" charset="0"/>
            </a:endParaRPr>
          </a:p>
          <a:p>
            <a:r>
              <a:rPr lang="en-US" sz="2000" dirty="0">
                <a:latin typeface="Arial" pitchFamily="34" charset="0"/>
                <a:cs typeface="Arial" pitchFamily="34" charset="0"/>
              </a:rPr>
              <a:t>IASB</a:t>
            </a:r>
            <a:r>
              <a:rPr lang="en-ZA" sz="2000" dirty="0">
                <a:latin typeface="Arial" pitchFamily="34" charset="0"/>
                <a:cs typeface="Arial" pitchFamily="34" charset="0"/>
              </a:rPr>
              <a:t> seeks to provide the information set that will meet the needs of the maximum number of primary users. </a:t>
            </a:r>
            <a:r>
              <a:rPr lang="en-US" sz="2000" dirty="0">
                <a:solidFill>
                  <a:schemeClr val="accent5">
                    <a:lumMod val="75000"/>
                  </a:schemeClr>
                </a:solidFill>
                <a:latin typeface="Arial" pitchFamily="34" charset="0"/>
                <a:cs typeface="Arial" pitchFamily="34" charset="0"/>
              </a:rPr>
              <a:t>[1.8]</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630933" y="186900"/>
            <a:ext cx="7416824" cy="999347"/>
          </a:xfrm>
        </p:spPr>
        <p:txBody>
          <a:bodyPr>
            <a:normAutofit/>
          </a:bodyPr>
          <a:lstStyle/>
          <a:p>
            <a:r>
              <a:rPr lang="en-US" sz="2800" b="1" dirty="0">
                <a:latin typeface="Arial" pitchFamily="34" charset="0"/>
                <a:cs typeface="Arial" pitchFamily="34" charset="0"/>
              </a:rPr>
              <a:t>Chapter 1: Objective, usefulness and limitations (1.2–1.11)</a:t>
            </a:r>
          </a:p>
        </p:txBody>
      </p:sp>
      <p:sp>
        <p:nvSpPr>
          <p:cNvPr id="16388" name="Rectangle 3"/>
          <p:cNvSpPr>
            <a:spLocks noGrp="1" noChangeArrowheads="1"/>
          </p:cNvSpPr>
          <p:nvPr>
            <p:ph idx="1"/>
          </p:nvPr>
        </p:nvSpPr>
        <p:spPr>
          <a:xfrm>
            <a:off x="126876" y="1405035"/>
            <a:ext cx="9433048" cy="3968181"/>
          </a:xfrm>
        </p:spPr>
        <p:txBody>
          <a:bodyPr>
            <a:normAutofit/>
          </a:bodyPr>
          <a:lstStyle/>
          <a:p>
            <a:r>
              <a:rPr lang="en-ZA" sz="2000" dirty="0">
                <a:latin typeface="Arial" pitchFamily="34" charset="0"/>
                <a:cs typeface="Arial" pitchFamily="34" charset="0"/>
              </a:rPr>
              <a:t>General purpose financial reports not designed to show the value of a reporting entity; they provide information to </a:t>
            </a:r>
            <a:r>
              <a:rPr lang="en-ZA" sz="2000" b="1" dirty="0">
                <a:latin typeface="Arial" pitchFamily="34" charset="0"/>
                <a:cs typeface="Arial" pitchFamily="34" charset="0"/>
              </a:rPr>
              <a:t>help estimate </a:t>
            </a:r>
            <a:r>
              <a:rPr lang="en-ZA" sz="2000" dirty="0">
                <a:latin typeface="Arial" pitchFamily="34" charset="0"/>
                <a:cs typeface="Arial" pitchFamily="34" charset="0"/>
              </a:rPr>
              <a:t>the value of the reporting entity. </a:t>
            </a:r>
            <a:r>
              <a:rPr lang="en-ZA" sz="2000" dirty="0">
                <a:solidFill>
                  <a:schemeClr val="accent5">
                    <a:lumMod val="75000"/>
                  </a:schemeClr>
                </a:solidFill>
                <a:latin typeface="Arial" pitchFamily="34" charset="0"/>
                <a:cs typeface="Arial" pitchFamily="34" charset="0"/>
              </a:rPr>
              <a:t>[1.7]</a:t>
            </a:r>
          </a:p>
          <a:p>
            <a:endParaRPr lang="en-ZA" sz="2000" dirty="0">
              <a:solidFill>
                <a:schemeClr val="accent5">
                  <a:lumMod val="75000"/>
                </a:schemeClr>
              </a:solidFill>
              <a:latin typeface="Arial" pitchFamily="34" charset="0"/>
              <a:cs typeface="Arial" pitchFamily="34" charset="0"/>
            </a:endParaRPr>
          </a:p>
          <a:p>
            <a:r>
              <a:rPr lang="en-ZA" sz="2000" dirty="0">
                <a:latin typeface="Arial" pitchFamily="34" charset="0"/>
                <a:cs typeface="Arial" pitchFamily="34" charset="0"/>
              </a:rPr>
              <a:t>Management can use general purpose financial reports .However, </a:t>
            </a:r>
            <a:r>
              <a:rPr lang="en-ZA" sz="2000" b="1" dirty="0">
                <a:latin typeface="Arial" pitchFamily="34" charset="0"/>
                <a:cs typeface="Arial" pitchFamily="34" charset="0"/>
              </a:rPr>
              <a:t>management need not rely </a:t>
            </a:r>
            <a:r>
              <a:rPr lang="en-ZA" sz="2000" dirty="0">
                <a:latin typeface="Arial" pitchFamily="34" charset="0"/>
                <a:cs typeface="Arial" pitchFamily="34" charset="0"/>
              </a:rPr>
              <a:t>on general purpose financial reports because it is able to obtain the financial information it needs internally. </a:t>
            </a:r>
            <a:r>
              <a:rPr lang="en-ZA" sz="2000" dirty="0">
                <a:solidFill>
                  <a:schemeClr val="accent5">
                    <a:lumMod val="75000"/>
                  </a:schemeClr>
                </a:solidFill>
                <a:latin typeface="Arial" pitchFamily="34" charset="0"/>
                <a:cs typeface="Arial" pitchFamily="34" charset="0"/>
              </a:rPr>
              <a:t>[1.9]</a:t>
            </a:r>
          </a:p>
          <a:p>
            <a:endParaRPr lang="en-ZA" sz="2000" dirty="0">
              <a:solidFill>
                <a:schemeClr val="accent5">
                  <a:lumMod val="75000"/>
                </a:schemeClr>
              </a:solidFill>
              <a:latin typeface="Arial" pitchFamily="34" charset="0"/>
              <a:cs typeface="Arial" pitchFamily="34" charset="0"/>
            </a:endParaRPr>
          </a:p>
          <a:p>
            <a:r>
              <a:rPr lang="en-ZA" sz="2000" dirty="0">
                <a:latin typeface="Arial" pitchFamily="34" charset="0"/>
                <a:cs typeface="Arial" pitchFamily="34" charset="0"/>
              </a:rPr>
              <a:t>General purpose financial reports are not directed at regulators and members of the public – but they may also find it useful. </a:t>
            </a:r>
            <a:r>
              <a:rPr lang="en-ZA" sz="2000" dirty="0">
                <a:solidFill>
                  <a:schemeClr val="accent5">
                    <a:lumMod val="75000"/>
                  </a:schemeClr>
                </a:solidFill>
                <a:latin typeface="Arial" pitchFamily="34" charset="0"/>
                <a:cs typeface="Arial" pitchFamily="34" charset="0"/>
              </a:rPr>
              <a:t>[1.10]</a:t>
            </a:r>
          </a:p>
        </p:txBody>
      </p:sp>
    </p:spTree>
    <p:extLst>
      <p:ext uri="{BB962C8B-B14F-4D97-AF65-F5344CB8AC3E}">
        <p14:creationId xmlns:p14="http://schemas.microsoft.com/office/powerpoint/2010/main" val="101372101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414909" y="186900"/>
            <a:ext cx="7848872" cy="999347"/>
          </a:xfrm>
        </p:spPr>
        <p:txBody>
          <a:bodyPr>
            <a:normAutofit/>
          </a:bodyPr>
          <a:lstStyle/>
          <a:p>
            <a:r>
              <a:rPr lang="en-US" sz="2800" b="1" dirty="0">
                <a:latin typeface="Arial" pitchFamily="34" charset="0"/>
                <a:cs typeface="Arial" pitchFamily="34" charset="0"/>
              </a:rPr>
              <a:t>Chapter 1: Objective, usefulness and limitations (1.2–1.11)</a:t>
            </a:r>
          </a:p>
        </p:txBody>
      </p:sp>
      <p:sp>
        <p:nvSpPr>
          <p:cNvPr id="16388" name="Rectangle 3"/>
          <p:cNvSpPr>
            <a:spLocks noGrp="1" noChangeArrowheads="1"/>
          </p:cNvSpPr>
          <p:nvPr>
            <p:ph idx="1"/>
          </p:nvPr>
        </p:nvSpPr>
        <p:spPr>
          <a:xfrm>
            <a:off x="198884" y="1700808"/>
            <a:ext cx="9426572" cy="1584176"/>
          </a:xfrm>
        </p:spPr>
        <p:txBody>
          <a:bodyPr>
            <a:normAutofit/>
          </a:bodyPr>
          <a:lstStyle/>
          <a:p>
            <a:r>
              <a:rPr lang="en-ZA" sz="2000" dirty="0">
                <a:latin typeface="Arial" pitchFamily="34" charset="0"/>
                <a:cs typeface="Arial" pitchFamily="34" charset="0"/>
              </a:rPr>
              <a:t>To a large extent, financial reports are based on </a:t>
            </a:r>
            <a:r>
              <a:rPr lang="en-ZA" sz="2000" dirty="0">
                <a:solidFill>
                  <a:srgbClr val="FF0000"/>
                </a:solidFill>
                <a:latin typeface="Arial" pitchFamily="34" charset="0"/>
                <a:cs typeface="Arial" pitchFamily="34" charset="0"/>
              </a:rPr>
              <a:t>estimates, judgements and models rather than exact depictions.</a:t>
            </a:r>
            <a:r>
              <a:rPr lang="en-ZA" sz="2000" dirty="0">
                <a:latin typeface="Arial" pitchFamily="34" charset="0"/>
                <a:cs typeface="Arial" pitchFamily="34" charset="0"/>
              </a:rPr>
              <a:t> The Conceptual Framework establishes the concepts that underlie those estimates, judgements and models. </a:t>
            </a:r>
            <a:r>
              <a:rPr lang="en-ZA" sz="2000" dirty="0">
                <a:solidFill>
                  <a:schemeClr val="accent5">
                    <a:lumMod val="75000"/>
                  </a:schemeClr>
                </a:solidFill>
                <a:latin typeface="Arial" pitchFamily="34" charset="0"/>
                <a:cs typeface="Arial" pitchFamily="34" charset="0"/>
              </a:rPr>
              <a:t>[1.11]</a:t>
            </a:r>
          </a:p>
        </p:txBody>
      </p:sp>
    </p:spTree>
    <p:extLst>
      <p:ext uri="{BB962C8B-B14F-4D97-AF65-F5344CB8AC3E}">
        <p14:creationId xmlns:p14="http://schemas.microsoft.com/office/powerpoint/2010/main" val="164333335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70893" y="386987"/>
            <a:ext cx="7632847" cy="976259"/>
          </a:xfrm>
        </p:spPr>
        <p:txBody>
          <a:bodyPr>
            <a:normAutofit fontScale="90000"/>
          </a:bodyPr>
          <a:lstStyle/>
          <a:p>
            <a:r>
              <a:rPr lang="en-US" sz="2800" b="1" dirty="0">
                <a:latin typeface="Arial" pitchFamily="34" charset="0"/>
                <a:cs typeface="Arial" pitchFamily="34" charset="0"/>
              </a:rPr>
              <a:t>Chapter 1: Economic resources</a:t>
            </a:r>
            <a:r>
              <a:rPr lang="en-ZA" sz="2800" b="1" dirty="0">
                <a:latin typeface="Arial" pitchFamily="34" charset="0"/>
                <a:cs typeface="Arial" pitchFamily="34" charset="0"/>
              </a:rPr>
              <a:t>, claims, and changes in resources </a:t>
            </a:r>
            <a:r>
              <a:rPr lang="en-US" sz="2800" b="1" dirty="0">
                <a:latin typeface="Arial" pitchFamily="34" charset="0"/>
                <a:cs typeface="Arial" pitchFamily="34" charset="0"/>
              </a:rPr>
              <a:t>and claims (1.12-1.21)</a:t>
            </a:r>
          </a:p>
        </p:txBody>
      </p:sp>
      <p:sp>
        <p:nvSpPr>
          <p:cNvPr id="82947" name="Rectangle 3"/>
          <p:cNvSpPr>
            <a:spLocks noGrp="1" noChangeArrowheads="1"/>
          </p:cNvSpPr>
          <p:nvPr>
            <p:ph idx="1"/>
          </p:nvPr>
        </p:nvSpPr>
        <p:spPr>
          <a:xfrm>
            <a:off x="486918" y="1533651"/>
            <a:ext cx="9200431" cy="4562472"/>
          </a:xfrm>
        </p:spPr>
        <p:txBody>
          <a:bodyPr>
            <a:normAutofit/>
          </a:bodyPr>
          <a:lstStyle/>
          <a:p>
            <a:r>
              <a:rPr lang="en-ZA" sz="2000" dirty="0">
                <a:latin typeface="Arial" pitchFamily="34" charset="0"/>
                <a:cs typeface="Arial" pitchFamily="34" charset="0"/>
              </a:rPr>
              <a:t>General purpose financial reports provide information about the financial position: </a:t>
            </a:r>
          </a:p>
          <a:p>
            <a:pPr>
              <a:buFontTx/>
              <a:buChar char="-"/>
            </a:pPr>
            <a:r>
              <a:rPr lang="en-ZA" sz="2000" dirty="0">
                <a:latin typeface="Arial" pitchFamily="34" charset="0"/>
                <a:cs typeface="Arial" pitchFamily="34" charset="0"/>
              </a:rPr>
              <a:t>economic resources and the claims against the reporting entity and</a:t>
            </a:r>
          </a:p>
          <a:p>
            <a:pPr>
              <a:buFontTx/>
              <a:buChar char="-"/>
            </a:pPr>
            <a:endParaRPr lang="en-ZA" sz="2000" dirty="0">
              <a:latin typeface="Arial" pitchFamily="34" charset="0"/>
              <a:cs typeface="Arial" pitchFamily="34" charset="0"/>
            </a:endParaRPr>
          </a:p>
          <a:p>
            <a:pPr>
              <a:buFontTx/>
              <a:buChar char="-"/>
            </a:pPr>
            <a:endParaRPr lang="en-ZA" sz="2000" dirty="0">
              <a:latin typeface="Arial" pitchFamily="34" charset="0"/>
              <a:cs typeface="Arial" pitchFamily="34" charset="0"/>
            </a:endParaRPr>
          </a:p>
          <a:p>
            <a:pPr>
              <a:buFontTx/>
              <a:buChar char="-"/>
            </a:pPr>
            <a:r>
              <a:rPr lang="en-ZA" sz="2000" dirty="0">
                <a:latin typeface="Arial" pitchFamily="34" charset="0"/>
                <a:cs typeface="Arial" pitchFamily="34" charset="0"/>
              </a:rPr>
              <a:t>effects of transactions and events that change a reporting entity’s economic resources and claims </a:t>
            </a:r>
            <a:r>
              <a:rPr lang="en-US" sz="2000" dirty="0">
                <a:solidFill>
                  <a:schemeClr val="accent5">
                    <a:lumMod val="75000"/>
                  </a:schemeClr>
                </a:solidFill>
                <a:latin typeface="Arial" pitchFamily="34" charset="0"/>
                <a:cs typeface="Arial" pitchFamily="34" charset="0"/>
              </a:rPr>
              <a:t>[1.12]</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270893" y="386987"/>
            <a:ext cx="7416823" cy="976259"/>
          </a:xfrm>
        </p:spPr>
        <p:txBody>
          <a:bodyPr>
            <a:normAutofit fontScale="90000"/>
          </a:bodyPr>
          <a:lstStyle/>
          <a:p>
            <a:r>
              <a:rPr lang="en-US" sz="2800" b="1" dirty="0">
                <a:latin typeface="Arial" pitchFamily="34" charset="0"/>
                <a:cs typeface="Arial" pitchFamily="34" charset="0"/>
              </a:rPr>
              <a:t>Chapter 1: Economic resources</a:t>
            </a:r>
            <a:r>
              <a:rPr lang="en-ZA" sz="2800" b="1" dirty="0">
                <a:latin typeface="Arial" pitchFamily="34" charset="0"/>
                <a:cs typeface="Arial" pitchFamily="34" charset="0"/>
              </a:rPr>
              <a:t>, claims, and changes in resources </a:t>
            </a:r>
            <a:r>
              <a:rPr lang="en-US" sz="2800" b="1" dirty="0">
                <a:latin typeface="Arial" pitchFamily="34" charset="0"/>
                <a:cs typeface="Arial" pitchFamily="34" charset="0"/>
              </a:rPr>
              <a:t>and claims (1.12-1.21)</a:t>
            </a:r>
          </a:p>
        </p:txBody>
      </p:sp>
      <p:sp>
        <p:nvSpPr>
          <p:cNvPr id="82947" name="Rectangle 3"/>
          <p:cNvSpPr>
            <a:spLocks noGrp="1" noChangeArrowheads="1"/>
          </p:cNvSpPr>
          <p:nvPr>
            <p:ph idx="1"/>
          </p:nvPr>
        </p:nvSpPr>
        <p:spPr>
          <a:xfrm>
            <a:off x="414908" y="1556792"/>
            <a:ext cx="8582448" cy="4562472"/>
          </a:xfrm>
        </p:spPr>
        <p:txBody>
          <a:bodyPr>
            <a:normAutofit/>
          </a:bodyPr>
          <a:lstStyle/>
          <a:p>
            <a:r>
              <a:rPr lang="en-ZA" sz="2000" dirty="0">
                <a:latin typeface="Arial" pitchFamily="34" charset="0"/>
                <a:cs typeface="Arial" pitchFamily="34" charset="0"/>
              </a:rPr>
              <a:t>Information about the nature and amounts of a reporting entity’s economic resources and claims can help identify the strengths and weaknesses. </a:t>
            </a:r>
          </a:p>
          <a:p>
            <a:pPr lvl="1"/>
            <a:r>
              <a:rPr lang="en-ZA" sz="2000" dirty="0">
                <a:latin typeface="Arial" pitchFamily="34" charset="0"/>
                <a:cs typeface="Arial" pitchFamily="34" charset="0"/>
              </a:rPr>
              <a:t>help users to assess the reporting entity’s liquidity and solvency, its needs for additional financing and how successful it is likely to be in obtaining that financing </a:t>
            </a:r>
            <a:r>
              <a:rPr lang="en-US" sz="2000" dirty="0">
                <a:solidFill>
                  <a:schemeClr val="accent5">
                    <a:lumMod val="75000"/>
                  </a:schemeClr>
                </a:solidFill>
                <a:latin typeface="Arial" pitchFamily="34" charset="0"/>
                <a:cs typeface="Arial" pitchFamily="34" charset="0"/>
              </a:rPr>
              <a:t>[1.13]</a:t>
            </a:r>
          </a:p>
        </p:txBody>
      </p:sp>
    </p:spTree>
    <p:extLst>
      <p:ext uri="{BB962C8B-B14F-4D97-AF65-F5344CB8AC3E}">
        <p14:creationId xmlns:p14="http://schemas.microsoft.com/office/powerpoint/2010/main" val="1452962019"/>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126877" y="274638"/>
            <a:ext cx="7488832" cy="1143000"/>
          </a:xfrm>
        </p:spPr>
        <p:txBody>
          <a:bodyPr>
            <a:noAutofit/>
          </a:bodyPr>
          <a:lstStyle/>
          <a:p>
            <a:r>
              <a:rPr lang="en-US" sz="2800" b="1" dirty="0">
                <a:latin typeface="Arial" pitchFamily="34" charset="0"/>
                <a:cs typeface="Arial" pitchFamily="34" charset="0"/>
              </a:rPr>
              <a:t>Chapter 1: Economic resources</a:t>
            </a:r>
            <a:r>
              <a:rPr lang="en-ZA" sz="2800" b="1" dirty="0">
                <a:latin typeface="Arial" pitchFamily="34" charset="0"/>
                <a:cs typeface="Arial" pitchFamily="34" charset="0"/>
              </a:rPr>
              <a:t>, claims, and changes in resources </a:t>
            </a:r>
            <a:r>
              <a:rPr lang="en-US" sz="2800" b="1" dirty="0">
                <a:latin typeface="Arial" pitchFamily="34" charset="0"/>
                <a:cs typeface="Arial" pitchFamily="34" charset="0"/>
              </a:rPr>
              <a:t>and claims (1.12-1.21)</a:t>
            </a:r>
          </a:p>
        </p:txBody>
      </p:sp>
      <p:sp>
        <p:nvSpPr>
          <p:cNvPr id="83971" name="Rectangle 3"/>
          <p:cNvSpPr>
            <a:spLocks noGrp="1" noChangeArrowheads="1"/>
          </p:cNvSpPr>
          <p:nvPr>
            <p:ph idx="1"/>
          </p:nvPr>
        </p:nvSpPr>
        <p:spPr>
          <a:xfrm>
            <a:off x="270892" y="1686818"/>
            <a:ext cx="9289032" cy="2894310"/>
          </a:xfrm>
        </p:spPr>
        <p:txBody>
          <a:bodyPr>
            <a:normAutofit/>
          </a:bodyPr>
          <a:lstStyle/>
          <a:p>
            <a:r>
              <a:rPr lang="en-ZA" sz="2000" dirty="0">
                <a:latin typeface="Arial" pitchFamily="34" charset="0"/>
                <a:cs typeface="Arial" pitchFamily="34" charset="0"/>
              </a:rPr>
              <a:t>Changes in economic resources and claims result from that entity’s financial performance and from other events or transactions </a:t>
            </a:r>
            <a:r>
              <a:rPr lang="en-US" sz="2000" dirty="0">
                <a:solidFill>
                  <a:schemeClr val="accent5">
                    <a:lumMod val="75000"/>
                  </a:schemeClr>
                </a:solidFill>
                <a:latin typeface="Arial" pitchFamily="34" charset="0"/>
                <a:cs typeface="Arial" pitchFamily="34" charset="0"/>
              </a:rPr>
              <a:t>[1.15]</a:t>
            </a:r>
          </a:p>
          <a:p>
            <a:pPr>
              <a:lnSpc>
                <a:spcPct val="90000"/>
              </a:lnSpc>
            </a:pPr>
            <a:endParaRPr lang="en-US" sz="2000" dirty="0">
              <a:latin typeface="Arial" pitchFamily="34" charset="0"/>
              <a:cs typeface="Arial" pitchFamily="34" charset="0"/>
            </a:endParaRPr>
          </a:p>
          <a:p>
            <a:r>
              <a:rPr lang="en-ZA" sz="2000" dirty="0">
                <a:latin typeface="Arial" pitchFamily="34" charset="0"/>
                <a:cs typeface="Arial" pitchFamily="34" charset="0"/>
              </a:rPr>
              <a:t>Information about financial performance helps users to understand the return on economic resources, provides an indication of </a:t>
            </a:r>
            <a:r>
              <a:rPr lang="en-ZA" sz="2000" dirty="0">
                <a:solidFill>
                  <a:srgbClr val="FF0000"/>
                </a:solidFill>
                <a:latin typeface="Arial" pitchFamily="34" charset="0"/>
                <a:cs typeface="Arial" pitchFamily="34" charset="0"/>
              </a:rPr>
              <a:t>how well management used resources </a:t>
            </a:r>
            <a:r>
              <a:rPr lang="en-ZA" sz="2000" dirty="0">
                <a:latin typeface="Arial" pitchFamily="34" charset="0"/>
                <a:cs typeface="Arial" pitchFamily="34" charset="0"/>
              </a:rPr>
              <a:t>in predicting the entity’s future returns</a:t>
            </a:r>
            <a:r>
              <a:rPr lang="en-US" sz="2000" dirty="0">
                <a:latin typeface="Arial" pitchFamily="34" charset="0"/>
                <a:cs typeface="Arial" pitchFamily="34" charset="0"/>
              </a:rPr>
              <a:t> </a:t>
            </a:r>
            <a:r>
              <a:rPr lang="en-US" sz="2000" dirty="0">
                <a:solidFill>
                  <a:schemeClr val="accent5">
                    <a:lumMod val="75000"/>
                  </a:schemeClr>
                </a:solidFill>
                <a:latin typeface="Arial" pitchFamily="34" charset="0"/>
                <a:cs typeface="Arial" pitchFamily="34" charset="0"/>
              </a:rPr>
              <a:t>[1.16]</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26877" y="274638"/>
            <a:ext cx="7488831" cy="1143000"/>
          </a:xfrm>
        </p:spPr>
        <p:txBody>
          <a:bodyPr>
            <a:noAutofit/>
          </a:bodyPr>
          <a:lstStyle/>
          <a:p>
            <a:r>
              <a:rPr lang="en-US" sz="2800" b="1" dirty="0">
                <a:latin typeface="Arial" pitchFamily="34" charset="0"/>
                <a:cs typeface="Arial" pitchFamily="34" charset="0"/>
              </a:rPr>
              <a:t>Chapter 1: Economic resources</a:t>
            </a:r>
            <a:r>
              <a:rPr lang="en-ZA" sz="2800" b="1" dirty="0">
                <a:latin typeface="Arial" pitchFamily="34" charset="0"/>
                <a:cs typeface="Arial" pitchFamily="34" charset="0"/>
              </a:rPr>
              <a:t>, claims, and changes in resources </a:t>
            </a:r>
            <a:r>
              <a:rPr lang="en-US" sz="2800" b="1" dirty="0">
                <a:latin typeface="Arial" pitchFamily="34" charset="0"/>
                <a:cs typeface="Arial" pitchFamily="34" charset="0"/>
              </a:rPr>
              <a:t>and claims (1.12-1.21)</a:t>
            </a:r>
          </a:p>
        </p:txBody>
      </p:sp>
      <p:sp>
        <p:nvSpPr>
          <p:cNvPr id="84995" name="Rectangle 3"/>
          <p:cNvSpPr>
            <a:spLocks noGrp="1" noChangeArrowheads="1"/>
          </p:cNvSpPr>
          <p:nvPr>
            <p:ph idx="1"/>
          </p:nvPr>
        </p:nvSpPr>
        <p:spPr>
          <a:xfrm>
            <a:off x="270892" y="1844825"/>
            <a:ext cx="9361039" cy="2304256"/>
          </a:xfrm>
        </p:spPr>
        <p:txBody>
          <a:bodyPr>
            <a:normAutofit/>
          </a:bodyPr>
          <a:lstStyle/>
          <a:p>
            <a:r>
              <a:rPr lang="en-ZA" sz="2000" dirty="0">
                <a:latin typeface="Arial" pitchFamily="34" charset="0"/>
                <a:cs typeface="Arial" pitchFamily="34" charset="0"/>
              </a:rPr>
              <a:t>Accrual accounting: </a:t>
            </a:r>
          </a:p>
          <a:p>
            <a:pPr>
              <a:buFont typeface="Wingdings" pitchFamily="2" charset="2"/>
              <a:buNone/>
            </a:pPr>
            <a:r>
              <a:rPr lang="en-ZA" sz="2000" dirty="0">
                <a:latin typeface="Arial" pitchFamily="34" charset="0"/>
                <a:cs typeface="Arial" pitchFamily="34" charset="0"/>
              </a:rPr>
              <a:t>- depicts the </a:t>
            </a:r>
            <a:r>
              <a:rPr lang="en-ZA" sz="2000" dirty="0">
                <a:solidFill>
                  <a:srgbClr val="FF0000"/>
                </a:solidFill>
                <a:latin typeface="Arial" pitchFamily="34" charset="0"/>
                <a:cs typeface="Arial" pitchFamily="34" charset="0"/>
              </a:rPr>
              <a:t>effects</a:t>
            </a:r>
            <a:r>
              <a:rPr lang="en-ZA" sz="2000" dirty="0">
                <a:latin typeface="Arial" pitchFamily="34" charset="0"/>
                <a:cs typeface="Arial" pitchFamily="34" charset="0"/>
              </a:rPr>
              <a:t> of transactions and other events and circumstances on economic resources and claims </a:t>
            </a:r>
            <a:r>
              <a:rPr lang="en-ZA" sz="2000" dirty="0">
                <a:solidFill>
                  <a:srgbClr val="FF0000"/>
                </a:solidFill>
                <a:latin typeface="Arial" pitchFamily="34" charset="0"/>
                <a:cs typeface="Arial" pitchFamily="34" charset="0"/>
              </a:rPr>
              <a:t>in the periods in which those effects occur</a:t>
            </a:r>
            <a:r>
              <a:rPr lang="en-ZA" sz="2000" dirty="0">
                <a:latin typeface="Arial" pitchFamily="34" charset="0"/>
                <a:cs typeface="Arial" pitchFamily="34" charset="0"/>
              </a:rPr>
              <a:t>, even if the resulting cash receipts and payments occur in a different period</a:t>
            </a:r>
            <a:r>
              <a:rPr lang="en-US" sz="2000" dirty="0">
                <a:latin typeface="Arial" pitchFamily="34" charset="0"/>
                <a:cs typeface="Arial" pitchFamily="34" charset="0"/>
              </a:rPr>
              <a:t> </a:t>
            </a:r>
            <a:r>
              <a:rPr lang="en-US" sz="2000" dirty="0">
                <a:solidFill>
                  <a:schemeClr val="accent5">
                    <a:lumMod val="75000"/>
                  </a:schemeClr>
                </a:solidFill>
                <a:latin typeface="Arial" pitchFamily="34" charset="0"/>
                <a:cs typeface="Arial" pitchFamily="34" charset="0"/>
              </a:rPr>
              <a:t>[1.17-1.19] </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198885" y="274638"/>
            <a:ext cx="7344816" cy="1143000"/>
          </a:xfrm>
        </p:spPr>
        <p:txBody>
          <a:bodyPr>
            <a:noAutofit/>
          </a:bodyPr>
          <a:lstStyle/>
          <a:p>
            <a:r>
              <a:rPr lang="en-US" sz="2800" b="1" dirty="0">
                <a:latin typeface="Arial" pitchFamily="34" charset="0"/>
                <a:cs typeface="Arial" pitchFamily="34" charset="0"/>
              </a:rPr>
              <a:t>Chapter 1: Economic resources</a:t>
            </a:r>
            <a:r>
              <a:rPr lang="en-ZA" sz="2800" b="1" dirty="0">
                <a:latin typeface="Arial" pitchFamily="34" charset="0"/>
                <a:cs typeface="Arial" pitchFamily="34" charset="0"/>
              </a:rPr>
              <a:t>, claims, and changes in resources </a:t>
            </a:r>
            <a:r>
              <a:rPr lang="en-US" sz="2800" b="1" dirty="0">
                <a:latin typeface="Arial" pitchFamily="34" charset="0"/>
                <a:cs typeface="Arial" pitchFamily="34" charset="0"/>
              </a:rPr>
              <a:t>and claims (1.12-1.21)</a:t>
            </a:r>
          </a:p>
        </p:txBody>
      </p:sp>
      <p:sp>
        <p:nvSpPr>
          <p:cNvPr id="86019" name="Rectangle 3"/>
          <p:cNvSpPr>
            <a:spLocks noGrp="1" noChangeArrowheads="1"/>
          </p:cNvSpPr>
          <p:nvPr>
            <p:ph idx="1"/>
          </p:nvPr>
        </p:nvSpPr>
        <p:spPr>
          <a:xfrm>
            <a:off x="339616" y="1556792"/>
            <a:ext cx="9223591" cy="4787847"/>
          </a:xfrm>
        </p:spPr>
        <p:txBody>
          <a:bodyPr>
            <a:normAutofit/>
          </a:bodyPr>
          <a:lstStyle/>
          <a:p>
            <a:pPr>
              <a:spcAft>
                <a:spcPts val="300"/>
              </a:spcAft>
            </a:pPr>
            <a:r>
              <a:rPr lang="en-ZA" sz="2000" dirty="0">
                <a:latin typeface="Arial" pitchFamily="34" charset="0"/>
                <a:cs typeface="Arial" pitchFamily="34" charset="0"/>
              </a:rPr>
              <a:t>Previous cash flows indicate financial </a:t>
            </a:r>
            <a:r>
              <a:rPr lang="en-US" sz="2000" dirty="0">
                <a:latin typeface="Arial" pitchFamily="34" charset="0"/>
                <a:cs typeface="Arial" pitchFamily="34" charset="0"/>
              </a:rPr>
              <a:t>performance</a:t>
            </a:r>
          </a:p>
          <a:p>
            <a:pPr lvl="1">
              <a:spcAft>
                <a:spcPts val="300"/>
              </a:spcAft>
              <a:buFontTx/>
              <a:buChar char="-"/>
            </a:pPr>
            <a:r>
              <a:rPr lang="en-ZA" sz="2000" dirty="0">
                <a:latin typeface="Arial" pitchFamily="34" charset="0"/>
                <a:cs typeface="Arial" pitchFamily="34" charset="0"/>
              </a:rPr>
              <a:t>assess the entity’s ability to generate future net cash inflows. </a:t>
            </a:r>
          </a:p>
          <a:p>
            <a:pPr lvl="1">
              <a:spcAft>
                <a:spcPts val="300"/>
              </a:spcAft>
              <a:buFontTx/>
              <a:buChar char="-"/>
            </a:pPr>
            <a:r>
              <a:rPr lang="en-ZA" sz="2000" dirty="0">
                <a:latin typeface="Arial" pitchFamily="34" charset="0"/>
                <a:cs typeface="Arial" pitchFamily="34" charset="0"/>
              </a:rPr>
              <a:t>Indicates </a:t>
            </a:r>
          </a:p>
          <a:p>
            <a:pPr lvl="2">
              <a:spcAft>
                <a:spcPts val="300"/>
              </a:spcAft>
              <a:buFontTx/>
              <a:buChar char="-"/>
            </a:pPr>
            <a:r>
              <a:rPr lang="en-ZA" sz="2000" dirty="0">
                <a:latin typeface="Arial" pitchFamily="34" charset="0"/>
                <a:cs typeface="Arial" pitchFamily="34" charset="0"/>
              </a:rPr>
              <a:t>how entity obtains and spends cash</a:t>
            </a:r>
          </a:p>
          <a:p>
            <a:pPr lvl="2">
              <a:spcAft>
                <a:spcPts val="300"/>
              </a:spcAft>
              <a:buFontTx/>
              <a:buChar char="-"/>
            </a:pPr>
            <a:r>
              <a:rPr lang="en-ZA" sz="2000" dirty="0">
                <a:latin typeface="Arial" pitchFamily="34" charset="0"/>
                <a:cs typeface="Arial" pitchFamily="34" charset="0"/>
              </a:rPr>
              <a:t>information about its borrowing and repayment of debt, </a:t>
            </a:r>
          </a:p>
          <a:p>
            <a:pPr lvl="2">
              <a:spcAft>
                <a:spcPts val="300"/>
              </a:spcAft>
              <a:buFontTx/>
              <a:buChar char="-"/>
            </a:pPr>
            <a:r>
              <a:rPr lang="en-ZA" sz="2000" dirty="0">
                <a:latin typeface="Arial" pitchFamily="34" charset="0"/>
                <a:cs typeface="Arial" pitchFamily="34" charset="0"/>
              </a:rPr>
              <a:t>cash dividends or distributions to investors, </a:t>
            </a:r>
          </a:p>
          <a:p>
            <a:pPr lvl="2">
              <a:spcAft>
                <a:spcPts val="300"/>
              </a:spcAft>
              <a:buFontTx/>
              <a:buChar char="-"/>
            </a:pPr>
            <a:r>
              <a:rPr lang="en-ZA" sz="2000" dirty="0">
                <a:latin typeface="Arial" pitchFamily="34" charset="0"/>
                <a:cs typeface="Arial" pitchFamily="34" charset="0"/>
              </a:rPr>
              <a:t>other factors that may affect the entity’s liquidity or solvency. </a:t>
            </a:r>
          </a:p>
          <a:p>
            <a:pPr lvl="1">
              <a:spcAft>
                <a:spcPts val="300"/>
              </a:spcAft>
              <a:buFontTx/>
              <a:buChar char="-"/>
            </a:pPr>
            <a:r>
              <a:rPr lang="en-ZA" sz="2000" dirty="0">
                <a:latin typeface="Arial" pitchFamily="34" charset="0"/>
                <a:cs typeface="Arial" pitchFamily="34" charset="0"/>
              </a:rPr>
              <a:t>help users </a:t>
            </a:r>
          </a:p>
          <a:p>
            <a:pPr lvl="2">
              <a:spcAft>
                <a:spcPts val="300"/>
              </a:spcAft>
              <a:buFont typeface="Wingdings" pitchFamily="2" charset="2"/>
              <a:buNone/>
            </a:pPr>
            <a:r>
              <a:rPr lang="en-ZA" sz="2000" dirty="0">
                <a:latin typeface="Arial" pitchFamily="34" charset="0"/>
                <a:cs typeface="Arial" pitchFamily="34" charset="0"/>
              </a:rPr>
              <a:t>- understand entity’s operations</a:t>
            </a:r>
          </a:p>
          <a:p>
            <a:pPr lvl="2">
              <a:spcAft>
                <a:spcPts val="300"/>
              </a:spcAft>
              <a:buFont typeface="Wingdings" pitchFamily="2" charset="2"/>
              <a:buNone/>
            </a:pPr>
            <a:r>
              <a:rPr lang="en-ZA" sz="2000" dirty="0">
                <a:latin typeface="Arial" pitchFamily="34" charset="0"/>
                <a:cs typeface="Arial" pitchFamily="34" charset="0"/>
              </a:rPr>
              <a:t>- evaluate its financing and investing activities </a:t>
            </a:r>
            <a:r>
              <a:rPr lang="en-US" sz="2000" dirty="0">
                <a:solidFill>
                  <a:schemeClr val="accent5">
                    <a:lumMod val="75000"/>
                  </a:schemeClr>
                </a:solidFill>
                <a:latin typeface="Arial" pitchFamily="34" charset="0"/>
                <a:cs typeface="Arial" pitchFamily="34" charset="0"/>
              </a:rPr>
              <a:t>[1.20]</a:t>
            </a:r>
          </a:p>
          <a:p>
            <a:pPr>
              <a:spcAft>
                <a:spcPts val="300"/>
              </a:spcAft>
            </a:pPr>
            <a:r>
              <a:rPr lang="en-ZA" sz="2000" dirty="0">
                <a:latin typeface="Arial" pitchFamily="34" charset="0"/>
                <a:cs typeface="Arial" pitchFamily="34" charset="0"/>
              </a:rPr>
              <a:t>Economic resources and claims may change for reasons other than financial performance (</a:t>
            </a:r>
            <a:r>
              <a:rPr lang="en-ZA" sz="2000" dirty="0" err="1">
                <a:latin typeface="Arial" pitchFamily="34" charset="0"/>
                <a:cs typeface="Arial" pitchFamily="34" charset="0"/>
              </a:rPr>
              <a:t>eg</a:t>
            </a:r>
            <a:r>
              <a:rPr lang="en-ZA" sz="2000" dirty="0">
                <a:latin typeface="Arial" pitchFamily="34" charset="0"/>
                <a:cs typeface="Arial" pitchFamily="34" charset="0"/>
              </a:rPr>
              <a:t>. Issue of shares) </a:t>
            </a:r>
            <a:r>
              <a:rPr lang="en-US" sz="2000" dirty="0">
                <a:solidFill>
                  <a:schemeClr val="accent5">
                    <a:lumMod val="75000"/>
                  </a:schemeClr>
                </a:solidFill>
                <a:latin typeface="Arial" pitchFamily="34" charset="0"/>
                <a:cs typeface="Arial" pitchFamily="34" charset="0"/>
              </a:rPr>
              <a:t>[1.21]</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Qualitative characteristics of useful information</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2</a:t>
            </a:r>
          </a:p>
        </p:txBody>
      </p:sp>
    </p:spTree>
    <p:extLst>
      <p:ext uri="{BB962C8B-B14F-4D97-AF65-F5344CB8AC3E}">
        <p14:creationId xmlns:p14="http://schemas.microsoft.com/office/powerpoint/2010/main" val="3785256061"/>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495143" y="274638"/>
            <a:ext cx="7336589" cy="1143000"/>
          </a:xfrm>
        </p:spPr>
        <p:txBody>
          <a:bodyPr>
            <a:norm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p>
        </p:txBody>
      </p:sp>
      <p:pic>
        <p:nvPicPr>
          <p:cNvPr id="2150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4492" y="1628800"/>
            <a:ext cx="9971808" cy="4320479"/>
          </a:xfrm>
          <a:noFill/>
        </p:spPr>
      </p:pic>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270893" y="237469"/>
            <a:ext cx="7776863" cy="1143366"/>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p>
        </p:txBody>
      </p:sp>
      <p:sp>
        <p:nvSpPr>
          <p:cNvPr id="90115" name="Rectangle 3"/>
          <p:cNvSpPr>
            <a:spLocks noGrp="1" noChangeArrowheads="1"/>
          </p:cNvSpPr>
          <p:nvPr>
            <p:ph idx="1"/>
          </p:nvPr>
        </p:nvSpPr>
        <p:spPr>
          <a:xfrm>
            <a:off x="552449" y="1556792"/>
            <a:ext cx="8797926" cy="4562472"/>
          </a:xfrm>
        </p:spPr>
        <p:txBody>
          <a:bodyPr>
            <a:normAutofit/>
          </a:bodyPr>
          <a:lstStyle/>
          <a:p>
            <a:pPr>
              <a:lnSpc>
                <a:spcPct val="90000"/>
              </a:lnSpc>
            </a:pPr>
            <a:r>
              <a:rPr lang="en-US" sz="2000" dirty="0">
                <a:latin typeface="Arial" pitchFamily="34" charset="0"/>
                <a:cs typeface="Arial" pitchFamily="34" charset="0"/>
              </a:rPr>
              <a:t>Characteristics of information in Fin. Statements</a:t>
            </a:r>
            <a:r>
              <a:rPr lang="nl-NL" sz="2000" dirty="0">
                <a:latin typeface="Arial" pitchFamily="34" charset="0"/>
                <a:cs typeface="Arial" pitchFamily="34" charset="0"/>
              </a:rPr>
              <a:t> </a:t>
            </a:r>
            <a:r>
              <a:rPr lang="en-ZA" sz="2000" dirty="0">
                <a:latin typeface="Arial" pitchFamily="34" charset="0"/>
                <a:cs typeface="Arial" pitchFamily="34" charset="0"/>
              </a:rPr>
              <a:t>that are likely to be most useful to users </a:t>
            </a:r>
            <a:r>
              <a:rPr lang="nl-NL" sz="2000" dirty="0">
                <a:solidFill>
                  <a:schemeClr val="accent5">
                    <a:lumMod val="75000"/>
                  </a:schemeClr>
                </a:solidFill>
                <a:latin typeface="Arial" pitchFamily="34" charset="0"/>
                <a:cs typeface="Arial" pitchFamily="34" charset="0"/>
              </a:rPr>
              <a:t>[2.1-2.3]</a:t>
            </a:r>
          </a:p>
          <a:p>
            <a:pPr>
              <a:lnSpc>
                <a:spcPct val="90000"/>
              </a:lnSpc>
            </a:pPr>
            <a:endParaRPr lang="nl-NL" sz="2000" dirty="0">
              <a:latin typeface="Arial" pitchFamily="34" charset="0"/>
              <a:cs typeface="Arial" pitchFamily="34" charset="0"/>
            </a:endParaRPr>
          </a:p>
          <a:p>
            <a:pPr>
              <a:lnSpc>
                <a:spcPct val="90000"/>
              </a:lnSpc>
            </a:pP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486917" y="237469"/>
            <a:ext cx="7848871" cy="1143366"/>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p>
        </p:txBody>
      </p:sp>
      <p:sp>
        <p:nvSpPr>
          <p:cNvPr id="90115" name="Rectangle 3"/>
          <p:cNvSpPr>
            <a:spLocks noGrp="1" noChangeArrowheads="1"/>
          </p:cNvSpPr>
          <p:nvPr>
            <p:ph idx="1"/>
          </p:nvPr>
        </p:nvSpPr>
        <p:spPr>
          <a:xfrm>
            <a:off x="584328" y="1384425"/>
            <a:ext cx="8797926" cy="4562472"/>
          </a:xfrm>
        </p:spPr>
        <p:txBody>
          <a:bodyPr>
            <a:normAutofit/>
          </a:bodyPr>
          <a:lstStyle/>
          <a:p>
            <a:pPr>
              <a:lnSpc>
                <a:spcPct val="90000"/>
              </a:lnSpc>
            </a:pPr>
            <a:endParaRPr lang="nl-NL" dirty="0">
              <a:latin typeface="Arial" pitchFamily="34" charset="0"/>
              <a:cs typeface="Arial" pitchFamily="34" charset="0"/>
            </a:endParaRPr>
          </a:p>
          <a:p>
            <a:pPr>
              <a:lnSpc>
                <a:spcPct val="90000"/>
              </a:lnSpc>
            </a:pPr>
            <a:endParaRPr lang="en-US" dirty="0">
              <a:latin typeface="Arial" pitchFamily="34" charset="0"/>
              <a:cs typeface="Arial" pitchFamily="34" charset="0"/>
            </a:endParaRPr>
          </a:p>
        </p:txBody>
      </p:sp>
      <p:graphicFrame>
        <p:nvGraphicFramePr>
          <p:cNvPr id="2" name="Diagram 1"/>
          <p:cNvGraphicFramePr/>
          <p:nvPr>
            <p:extLst>
              <p:ext uri="{D42A27DB-BD31-4B8C-83A1-F6EECF244321}">
                <p14:modId xmlns:p14="http://schemas.microsoft.com/office/powerpoint/2010/main" val="3168835801"/>
              </p:ext>
            </p:extLst>
          </p:nvPr>
        </p:nvGraphicFramePr>
        <p:xfrm>
          <a:off x="1650471" y="1228372"/>
          <a:ext cx="6601883" cy="4401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116750"/>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14909" y="187601"/>
            <a:ext cx="7272807" cy="877314"/>
          </a:xfrm>
        </p:spPr>
        <p:txBody>
          <a:bodyPr>
            <a:norm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graphicFrame>
        <p:nvGraphicFramePr>
          <p:cNvPr id="3" name="Diagram 2"/>
          <p:cNvGraphicFramePr/>
          <p:nvPr>
            <p:extLst>
              <p:ext uri="{D42A27DB-BD31-4B8C-83A1-F6EECF244321}">
                <p14:modId xmlns:p14="http://schemas.microsoft.com/office/powerpoint/2010/main" val="2611098613"/>
              </p:ext>
            </p:extLst>
          </p:nvPr>
        </p:nvGraphicFramePr>
        <p:xfrm>
          <a:off x="1174524" y="1008176"/>
          <a:ext cx="7704855" cy="4401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54868" y="5301208"/>
            <a:ext cx="9775948" cy="149579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indent="0" algn="ctr">
              <a:lnSpc>
                <a:spcPct val="80000"/>
              </a:lnSpc>
              <a:buNone/>
            </a:pPr>
            <a:r>
              <a:rPr lang="en-ZA" dirty="0">
                <a:latin typeface="Arial" pitchFamily="34" charset="0"/>
                <a:cs typeface="Arial" pitchFamily="34" charset="0"/>
              </a:rPr>
              <a:t>Materiality </a:t>
            </a:r>
            <a:r>
              <a:rPr lang="en-US" dirty="0">
                <a:solidFill>
                  <a:schemeClr val="accent5">
                    <a:lumMod val="75000"/>
                  </a:schemeClr>
                </a:solidFill>
                <a:latin typeface="Arial" pitchFamily="34" charset="0"/>
                <a:cs typeface="Arial" pitchFamily="34" charset="0"/>
              </a:rPr>
              <a:t>[2.11]</a:t>
            </a:r>
            <a:endParaRPr lang="en-ZA" dirty="0">
              <a:solidFill>
                <a:schemeClr val="accent5">
                  <a:lumMod val="75000"/>
                </a:schemeClr>
              </a:solidFill>
              <a:latin typeface="Arial" pitchFamily="34" charset="0"/>
              <a:cs typeface="Arial" pitchFamily="34" charset="0"/>
            </a:endParaRPr>
          </a:p>
          <a:p>
            <a:pPr lvl="1" algn="ctr">
              <a:buFont typeface="Wingdings" pitchFamily="2" charset="2"/>
              <a:buNone/>
            </a:pPr>
            <a:r>
              <a:rPr lang="en-ZA" dirty="0">
                <a:latin typeface="Arial" pitchFamily="34" charset="0"/>
                <a:cs typeface="Arial" pitchFamily="34" charset="0"/>
              </a:rPr>
              <a:t>Information is material if omitting it or misstating it could influence decisions that users make on the basis of financial information about a specific reporting entity (entity-specific).</a:t>
            </a:r>
            <a:endParaRPr lang="en-ZA" dirty="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568728" y="188640"/>
            <a:ext cx="7839068" cy="977359"/>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graphicFrame>
        <p:nvGraphicFramePr>
          <p:cNvPr id="2" name="Diagram 1"/>
          <p:cNvGraphicFramePr/>
          <p:nvPr>
            <p:extLst>
              <p:ext uri="{D42A27DB-BD31-4B8C-83A1-F6EECF244321}">
                <p14:modId xmlns:p14="http://schemas.microsoft.com/office/powerpoint/2010/main" val="2149762702"/>
              </p:ext>
            </p:extLst>
          </p:nvPr>
        </p:nvGraphicFramePr>
        <p:xfrm>
          <a:off x="270892" y="332656"/>
          <a:ext cx="9145016" cy="60486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480350" y="187605"/>
            <a:ext cx="7855438" cy="947675"/>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sp>
        <p:nvSpPr>
          <p:cNvPr id="93187" name="Rectangle 3"/>
          <p:cNvSpPr>
            <a:spLocks noGrp="1" noChangeArrowheads="1"/>
          </p:cNvSpPr>
          <p:nvPr>
            <p:ph idx="1"/>
          </p:nvPr>
        </p:nvSpPr>
        <p:spPr>
          <a:xfrm>
            <a:off x="270892" y="1412776"/>
            <a:ext cx="9433048" cy="3528392"/>
          </a:xfrm>
        </p:spPr>
        <p:txBody>
          <a:bodyPr>
            <a:normAutofit/>
          </a:bodyPr>
          <a:lstStyle/>
          <a:p>
            <a:pPr>
              <a:lnSpc>
                <a:spcPct val="90000"/>
              </a:lnSpc>
              <a:spcAft>
                <a:spcPts val="600"/>
              </a:spcAft>
            </a:pPr>
            <a:r>
              <a:rPr lang="en-ZA" sz="2000" dirty="0">
                <a:latin typeface="Arial" pitchFamily="34" charset="0"/>
                <a:cs typeface="Arial" pitchFamily="34" charset="0"/>
              </a:rPr>
              <a:t>Information must be both relevant and faithfully represented if it is to be useful. </a:t>
            </a:r>
            <a:r>
              <a:rPr lang="en-US" sz="2000" dirty="0">
                <a:solidFill>
                  <a:schemeClr val="accent5">
                    <a:lumMod val="75000"/>
                  </a:schemeClr>
                </a:solidFill>
                <a:latin typeface="Arial" pitchFamily="34" charset="0"/>
                <a:cs typeface="Arial" pitchFamily="34" charset="0"/>
              </a:rPr>
              <a:t>[2.20]</a:t>
            </a:r>
          </a:p>
          <a:p>
            <a:pPr>
              <a:spcAft>
                <a:spcPts val="600"/>
              </a:spcAft>
            </a:pPr>
            <a:r>
              <a:rPr lang="en-ZA" sz="2000" dirty="0">
                <a:latin typeface="Arial" pitchFamily="34" charset="0"/>
                <a:cs typeface="Arial" pitchFamily="34" charset="0"/>
              </a:rPr>
              <a:t>Process for applying </a:t>
            </a:r>
          </a:p>
          <a:p>
            <a:pPr lvl="1">
              <a:spcAft>
                <a:spcPts val="600"/>
              </a:spcAft>
              <a:buFontTx/>
              <a:buChar char="-"/>
            </a:pPr>
            <a:r>
              <a:rPr lang="en-ZA" sz="2000" dirty="0">
                <a:latin typeface="Arial" pitchFamily="34" charset="0"/>
                <a:cs typeface="Arial" pitchFamily="34" charset="0"/>
              </a:rPr>
              <a:t>Identify an economic phenomenon that has the potential to be useful to users of the reporting entity’s financial information </a:t>
            </a:r>
          </a:p>
          <a:p>
            <a:pPr lvl="1">
              <a:spcAft>
                <a:spcPts val="600"/>
              </a:spcAft>
              <a:buFontTx/>
              <a:buChar char="-"/>
            </a:pPr>
            <a:r>
              <a:rPr lang="en-ZA" sz="2000" dirty="0">
                <a:latin typeface="Arial" pitchFamily="34" charset="0"/>
                <a:cs typeface="Arial" pitchFamily="34" charset="0"/>
              </a:rPr>
              <a:t>Identify the type of information about that phenomenon that would be most relevant if it is available and can be faithfully represented. </a:t>
            </a:r>
          </a:p>
          <a:p>
            <a:pPr lvl="1">
              <a:spcAft>
                <a:spcPts val="600"/>
              </a:spcAft>
              <a:buFontTx/>
              <a:buChar char="-"/>
            </a:pPr>
            <a:r>
              <a:rPr lang="en-ZA" sz="2000" dirty="0">
                <a:latin typeface="Arial" pitchFamily="34" charset="0"/>
                <a:cs typeface="Arial" pitchFamily="34" charset="0"/>
              </a:rPr>
              <a:t>Determine whether that information is available and can be faithfully represented. </a:t>
            </a:r>
            <a:r>
              <a:rPr lang="en-US" sz="2000" dirty="0">
                <a:solidFill>
                  <a:schemeClr val="accent5">
                    <a:lumMod val="75000"/>
                  </a:schemeClr>
                </a:solidFill>
                <a:latin typeface="Arial" pitchFamily="34" charset="0"/>
                <a:cs typeface="Arial" pitchFamily="34" charset="0"/>
              </a:rPr>
              <a:t>[2.21]</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14908" y="187601"/>
            <a:ext cx="7200800" cy="877314"/>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graphicFrame>
        <p:nvGraphicFramePr>
          <p:cNvPr id="3" name="Diagram 2"/>
          <p:cNvGraphicFramePr/>
          <p:nvPr>
            <p:extLst>
              <p:ext uri="{D42A27DB-BD31-4B8C-83A1-F6EECF244321}">
                <p14:modId xmlns:p14="http://schemas.microsoft.com/office/powerpoint/2010/main" val="2392574423"/>
              </p:ext>
            </p:extLst>
          </p:nvPr>
        </p:nvGraphicFramePr>
        <p:xfrm>
          <a:off x="293032" y="283432"/>
          <a:ext cx="9415908" cy="6381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86916" y="188640"/>
            <a:ext cx="7632848" cy="877314"/>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sp>
        <p:nvSpPr>
          <p:cNvPr id="94211" name="Rectangle 3"/>
          <p:cNvSpPr>
            <a:spLocks noGrp="1" noChangeArrowheads="1"/>
          </p:cNvSpPr>
          <p:nvPr>
            <p:ph idx="1"/>
          </p:nvPr>
        </p:nvSpPr>
        <p:spPr>
          <a:xfrm>
            <a:off x="272393" y="1334558"/>
            <a:ext cx="9462018" cy="5036635"/>
          </a:xfrm>
        </p:spPr>
        <p:txBody>
          <a:bodyPr>
            <a:normAutofit/>
          </a:bodyPr>
          <a:lstStyle/>
          <a:p>
            <a:pPr>
              <a:spcAft>
                <a:spcPts val="300"/>
              </a:spcAft>
            </a:pPr>
            <a:r>
              <a:rPr lang="en-US" sz="2000" dirty="0">
                <a:latin typeface="Arial" pitchFamily="34" charset="0"/>
                <a:cs typeface="Arial" pitchFamily="34" charset="0"/>
              </a:rPr>
              <a:t>Enhancing qualitative characteristics:</a:t>
            </a:r>
          </a:p>
          <a:p>
            <a:pPr>
              <a:spcAft>
                <a:spcPts val="300"/>
              </a:spcAft>
            </a:pPr>
            <a:r>
              <a:rPr lang="en-US" sz="2000" b="1" dirty="0">
                <a:latin typeface="Arial" pitchFamily="34" charset="0"/>
                <a:cs typeface="Arial" pitchFamily="34" charset="0"/>
              </a:rPr>
              <a:t>Comparability: </a:t>
            </a:r>
            <a:r>
              <a:rPr lang="en-US" sz="2000" dirty="0">
                <a:latin typeface="Arial" pitchFamily="34" charset="0"/>
                <a:cs typeface="Arial" pitchFamily="34" charset="0"/>
              </a:rPr>
              <a:t>[2.24-2.29]</a:t>
            </a:r>
          </a:p>
          <a:p>
            <a:pPr>
              <a:spcAft>
                <a:spcPts val="300"/>
              </a:spcAft>
              <a:buFontTx/>
              <a:buChar char="-"/>
            </a:pPr>
            <a:r>
              <a:rPr lang="en-US" sz="2000" dirty="0">
                <a:latin typeface="Arial" pitchFamily="34" charset="0"/>
                <a:cs typeface="Arial" pitchFamily="34" charset="0"/>
              </a:rPr>
              <a:t>Information is useful if it is comparable with other entities, or similar information of the same entity for another period or another date.</a:t>
            </a:r>
          </a:p>
          <a:p>
            <a:pPr>
              <a:spcAft>
                <a:spcPts val="300"/>
              </a:spcAft>
              <a:buFontTx/>
              <a:buChar char="-"/>
            </a:pPr>
            <a:r>
              <a:rPr lang="en-US" sz="2000" dirty="0">
                <a:latin typeface="Arial" pitchFamily="34" charset="0"/>
                <a:cs typeface="Arial" pitchFamily="34" charset="0"/>
              </a:rPr>
              <a:t>Don’t confuse with uniformity; uniformity helps to achieve comparability</a:t>
            </a:r>
          </a:p>
          <a:p>
            <a:pPr>
              <a:spcAft>
                <a:spcPts val="300"/>
              </a:spcAft>
              <a:buFontTx/>
              <a:buChar char="-"/>
            </a:pPr>
            <a:endParaRPr lang="en-US" sz="2000" dirty="0">
              <a:latin typeface="Arial" pitchFamily="34" charset="0"/>
              <a:cs typeface="Arial" pitchFamily="34" charset="0"/>
            </a:endParaRPr>
          </a:p>
          <a:p>
            <a:pPr>
              <a:lnSpc>
                <a:spcPct val="90000"/>
              </a:lnSpc>
              <a:spcAft>
                <a:spcPts val="300"/>
              </a:spcAft>
            </a:pPr>
            <a:r>
              <a:rPr lang="en-US" sz="2000" b="1" dirty="0">
                <a:latin typeface="Arial" pitchFamily="34" charset="0"/>
                <a:cs typeface="Arial" pitchFamily="34" charset="0"/>
              </a:rPr>
              <a:t>Verifiability: </a:t>
            </a:r>
            <a:r>
              <a:rPr lang="en-US" sz="2000" dirty="0">
                <a:latin typeface="Arial" pitchFamily="34" charset="0"/>
                <a:cs typeface="Arial" pitchFamily="34" charset="0"/>
              </a:rPr>
              <a:t>[2.30-2.32]</a:t>
            </a:r>
          </a:p>
          <a:p>
            <a:pPr>
              <a:spcAft>
                <a:spcPts val="300"/>
              </a:spcAft>
              <a:buFontTx/>
              <a:buChar char="-"/>
            </a:pPr>
            <a:r>
              <a:rPr lang="en-ZA" sz="2000" dirty="0">
                <a:latin typeface="Arial" pitchFamily="34" charset="0"/>
                <a:cs typeface="Arial" pitchFamily="34" charset="0"/>
              </a:rPr>
              <a:t>Verifiability helps assure users that information faithfully represents the economic phenomena it purports to represent. It means that different knowledgeable and independent observers </a:t>
            </a:r>
            <a:r>
              <a:rPr lang="en-US" sz="2000" dirty="0">
                <a:latin typeface="Arial" pitchFamily="34" charset="0"/>
                <a:cs typeface="Arial" pitchFamily="34" charset="0"/>
              </a:rPr>
              <a:t>could reach consensus.</a:t>
            </a:r>
          </a:p>
          <a:p>
            <a:pPr>
              <a:spcAft>
                <a:spcPts val="300"/>
              </a:spcAft>
              <a:buFontTx/>
              <a:buChar char="-"/>
            </a:pPr>
            <a:r>
              <a:rPr lang="en-ZA" sz="2000" dirty="0">
                <a:latin typeface="Arial" pitchFamily="34" charset="0"/>
                <a:cs typeface="Arial" pitchFamily="34" charset="0"/>
              </a:rPr>
              <a:t>Verification can be direct (observation: by counting cash) or indirect (checking the inputs formula and recalculating the outputs)</a:t>
            </a:r>
          </a:p>
          <a:p>
            <a:pPr lvl="1">
              <a:spcAft>
                <a:spcPts val="300"/>
              </a:spcAft>
              <a:buFontTx/>
              <a:buNone/>
            </a:pPr>
            <a:endParaRPr lang="en-US" sz="2000" dirty="0">
              <a:latin typeface="Arial" pitchFamily="34" charset="0"/>
              <a:cs typeface="Arial" pitchFamily="34" charset="0"/>
            </a:endParaRPr>
          </a:p>
          <a:p>
            <a:pPr lvl="1">
              <a:spcAft>
                <a:spcPts val="300"/>
              </a:spcAft>
              <a:buFontTx/>
              <a:buNone/>
            </a:pPr>
            <a:endParaRPr lang="en-US" sz="2000" dirty="0">
              <a:latin typeface="Arial" pitchFamily="34" charset="0"/>
              <a:cs typeface="Arial" pitchFamily="34" charset="0"/>
            </a:endParaRPr>
          </a:p>
          <a:p>
            <a:pPr>
              <a:spcAft>
                <a:spcPts val="300"/>
              </a:spcAft>
            </a:pPr>
            <a:endParaRPr lang="en-US" sz="2000" dirty="0">
              <a:latin typeface="Arial" pitchFamily="34" charset="0"/>
              <a:cs typeface="Arial" pitchFamily="34" charset="0"/>
            </a:endParaRPr>
          </a:p>
        </p:txBody>
      </p:sp>
    </p:spTree>
    <p:extLst>
      <p:ext uri="{BB962C8B-B14F-4D97-AF65-F5344CB8AC3E}">
        <p14:creationId xmlns:p14="http://schemas.microsoft.com/office/powerpoint/2010/main" val="3133770358"/>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414908" y="187601"/>
            <a:ext cx="7920880" cy="827842"/>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sp>
        <p:nvSpPr>
          <p:cNvPr id="95235" name="Rectangle 3"/>
          <p:cNvSpPr>
            <a:spLocks noGrp="1" noChangeArrowheads="1"/>
          </p:cNvSpPr>
          <p:nvPr>
            <p:ph idx="1"/>
          </p:nvPr>
        </p:nvSpPr>
        <p:spPr>
          <a:xfrm>
            <a:off x="126876" y="1522159"/>
            <a:ext cx="9649072" cy="4355113"/>
          </a:xfrm>
        </p:spPr>
        <p:txBody>
          <a:bodyPr>
            <a:normAutofit/>
          </a:bodyPr>
          <a:lstStyle/>
          <a:p>
            <a:pPr>
              <a:lnSpc>
                <a:spcPct val="90000"/>
              </a:lnSpc>
              <a:spcAft>
                <a:spcPts val="300"/>
              </a:spcAft>
            </a:pPr>
            <a:r>
              <a:rPr lang="en-US" sz="2000" b="1" dirty="0">
                <a:latin typeface="Arial" pitchFamily="34" charset="0"/>
                <a:cs typeface="Arial" pitchFamily="34" charset="0"/>
              </a:rPr>
              <a:t>Timeliness</a:t>
            </a:r>
            <a:r>
              <a:rPr lang="nl-NL" sz="2000" dirty="0">
                <a:latin typeface="Arial" pitchFamily="34" charset="0"/>
                <a:cs typeface="Arial" pitchFamily="34" charset="0"/>
              </a:rPr>
              <a:t> [2.33]</a:t>
            </a:r>
          </a:p>
          <a:p>
            <a:pPr lvl="1">
              <a:spcAft>
                <a:spcPts val="300"/>
              </a:spcAft>
              <a:buFontTx/>
              <a:buChar char="-"/>
            </a:pPr>
            <a:r>
              <a:rPr lang="en-ZA" sz="2000" dirty="0">
                <a:latin typeface="Arial" pitchFamily="34" charset="0"/>
                <a:cs typeface="Arial" pitchFamily="34" charset="0"/>
              </a:rPr>
              <a:t>having information available to decision-makers in time to be capable of </a:t>
            </a:r>
            <a:r>
              <a:rPr lang="en-US" sz="2000" dirty="0">
                <a:latin typeface="Arial" pitchFamily="34" charset="0"/>
                <a:cs typeface="Arial" pitchFamily="34" charset="0"/>
              </a:rPr>
              <a:t>influencing their decisions.</a:t>
            </a:r>
          </a:p>
          <a:p>
            <a:pPr lvl="1">
              <a:lnSpc>
                <a:spcPct val="90000"/>
              </a:lnSpc>
              <a:spcAft>
                <a:spcPts val="300"/>
              </a:spcAft>
            </a:pPr>
            <a:endParaRPr lang="nl-NL" sz="2000" dirty="0">
              <a:latin typeface="Arial" pitchFamily="34" charset="0"/>
              <a:cs typeface="Arial" pitchFamily="34" charset="0"/>
            </a:endParaRPr>
          </a:p>
          <a:p>
            <a:pPr>
              <a:lnSpc>
                <a:spcPct val="90000"/>
              </a:lnSpc>
              <a:spcAft>
                <a:spcPts val="300"/>
              </a:spcAft>
            </a:pPr>
            <a:r>
              <a:rPr lang="en-US" sz="2000" b="1" dirty="0">
                <a:latin typeface="Arial" pitchFamily="34" charset="0"/>
                <a:cs typeface="Arial" pitchFamily="34" charset="0"/>
              </a:rPr>
              <a:t>Understandability</a:t>
            </a:r>
            <a:r>
              <a:rPr lang="nl-NL" sz="2000" dirty="0">
                <a:latin typeface="Arial" pitchFamily="34" charset="0"/>
                <a:cs typeface="Arial" pitchFamily="34" charset="0"/>
              </a:rPr>
              <a:t> [2.34-2.36]</a:t>
            </a:r>
          </a:p>
          <a:p>
            <a:pPr lvl="1">
              <a:spcAft>
                <a:spcPts val="300"/>
              </a:spcAft>
              <a:buFont typeface="Wingdings" pitchFamily="2" charset="2"/>
              <a:buNone/>
            </a:pPr>
            <a:r>
              <a:rPr lang="en-ZA" sz="2000" dirty="0">
                <a:latin typeface="Arial" pitchFamily="34" charset="0"/>
                <a:cs typeface="Arial" pitchFamily="34" charset="0"/>
              </a:rPr>
              <a:t>- Classifying, characterising and presenting information clearly and concisely makes it </a:t>
            </a:r>
            <a:r>
              <a:rPr lang="en-US" sz="2000" i="1" dirty="0">
                <a:latin typeface="Arial" pitchFamily="34" charset="0"/>
                <a:cs typeface="Arial" pitchFamily="34" charset="0"/>
              </a:rPr>
              <a:t>understandable</a:t>
            </a:r>
            <a:r>
              <a:rPr lang="nl-NL" sz="2000" dirty="0">
                <a:latin typeface="Arial" pitchFamily="34" charset="0"/>
                <a:cs typeface="Arial" pitchFamily="34" charset="0"/>
              </a:rPr>
              <a:t>. </a:t>
            </a:r>
          </a:p>
          <a:p>
            <a:pPr lvl="1">
              <a:spcAft>
                <a:spcPts val="300"/>
              </a:spcAft>
              <a:buFont typeface="Wingdings" pitchFamily="2" charset="2"/>
              <a:buNone/>
            </a:pPr>
            <a:r>
              <a:rPr lang="en-ZA" sz="2000" dirty="0">
                <a:latin typeface="Arial" pitchFamily="34" charset="0"/>
                <a:cs typeface="Arial" pitchFamily="34" charset="0"/>
              </a:rPr>
              <a:t>- Include inherently complex information, otherwise reports will be incomplete and </a:t>
            </a:r>
            <a:r>
              <a:rPr lang="en-US" sz="2000" dirty="0">
                <a:latin typeface="Arial" pitchFamily="34" charset="0"/>
                <a:cs typeface="Arial" pitchFamily="34" charset="0"/>
              </a:rPr>
              <a:t>potentially misleading.</a:t>
            </a:r>
          </a:p>
          <a:p>
            <a:pPr lvl="1">
              <a:spcAft>
                <a:spcPts val="300"/>
              </a:spcAft>
              <a:buFont typeface="Wingdings" pitchFamily="2" charset="2"/>
              <a:buNone/>
            </a:pPr>
            <a:r>
              <a:rPr lang="en-ZA" sz="2000" dirty="0">
                <a:latin typeface="Arial" pitchFamily="34" charset="0"/>
                <a:cs typeface="Arial" pitchFamily="34" charset="0"/>
              </a:rPr>
              <a:t>- Financial reports are prepared for users who have a reasonable knowledge of business and economic activities and who review and analyse the information diligently. May need help from advisers</a:t>
            </a:r>
            <a:r>
              <a:rPr lang="en-US" sz="2000" dirty="0">
                <a:latin typeface="Arial" pitchFamily="34" charset="0"/>
                <a:cs typeface="Arial" pitchFamily="34" charset="0"/>
              </a:rPr>
              <a:t>.</a:t>
            </a:r>
          </a:p>
          <a:p>
            <a:pPr>
              <a:lnSpc>
                <a:spcPct val="90000"/>
              </a:lnSpc>
              <a:spcAft>
                <a:spcPts val="300"/>
              </a:spcAft>
            </a:pP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486917" y="187601"/>
            <a:ext cx="7704856" cy="926786"/>
          </a:xfrm>
        </p:spPr>
        <p:txBody>
          <a:bodyPr>
            <a:noAutofit/>
          </a:bodyPr>
          <a:lstStyle/>
          <a:p>
            <a:r>
              <a:rPr lang="en-ZA" sz="2800" b="1" dirty="0">
                <a:latin typeface="Arial" pitchFamily="34" charset="0"/>
                <a:cs typeface="Arial" pitchFamily="34" charset="0"/>
              </a:rPr>
              <a:t>Chapter 2: Qualitative characteristics of useful financial information </a:t>
            </a:r>
            <a:r>
              <a:rPr lang="en-US" sz="2800" b="1" dirty="0">
                <a:latin typeface="Arial" pitchFamily="34" charset="0"/>
                <a:cs typeface="Arial" pitchFamily="34" charset="0"/>
              </a:rPr>
              <a:t>(2.1-2.43)</a:t>
            </a:r>
            <a:endParaRPr lang="en-US" sz="2800" dirty="0">
              <a:latin typeface="Arial" pitchFamily="34" charset="0"/>
              <a:cs typeface="Arial" pitchFamily="34" charset="0"/>
            </a:endParaRPr>
          </a:p>
        </p:txBody>
      </p:sp>
      <p:sp>
        <p:nvSpPr>
          <p:cNvPr id="96259" name="Rectangle 3"/>
          <p:cNvSpPr>
            <a:spLocks noGrp="1" noChangeArrowheads="1"/>
          </p:cNvSpPr>
          <p:nvPr>
            <p:ph idx="1"/>
          </p:nvPr>
        </p:nvSpPr>
        <p:spPr>
          <a:xfrm>
            <a:off x="168414" y="1645475"/>
            <a:ext cx="9565996" cy="5036635"/>
          </a:xfrm>
        </p:spPr>
        <p:txBody>
          <a:bodyPr>
            <a:noAutofit/>
          </a:bodyPr>
          <a:lstStyle/>
          <a:p>
            <a:pPr>
              <a:lnSpc>
                <a:spcPct val="90000"/>
              </a:lnSpc>
              <a:spcAft>
                <a:spcPts val="300"/>
              </a:spcAft>
            </a:pPr>
            <a:r>
              <a:rPr lang="en-ZA" sz="2000" b="1" dirty="0">
                <a:latin typeface="Arial" pitchFamily="34" charset="0"/>
                <a:cs typeface="Arial" pitchFamily="34" charset="0"/>
              </a:rPr>
              <a:t>Applying the enhancing qualitative characteristics </a:t>
            </a:r>
            <a:r>
              <a:rPr lang="nl-NL" sz="2000" dirty="0">
                <a:latin typeface="Arial" pitchFamily="34" charset="0"/>
                <a:cs typeface="Arial" pitchFamily="34" charset="0"/>
              </a:rPr>
              <a:t>[2.37-2.38]</a:t>
            </a:r>
          </a:p>
          <a:p>
            <a:pPr lvl="1">
              <a:spcAft>
                <a:spcPts val="300"/>
              </a:spcAft>
              <a:buFont typeface="Wingdings" pitchFamily="2" charset="2"/>
              <a:buNone/>
            </a:pPr>
            <a:r>
              <a:rPr lang="en-ZA" sz="2000" dirty="0">
                <a:latin typeface="Arial" pitchFamily="34" charset="0"/>
                <a:cs typeface="Arial" pitchFamily="34" charset="0"/>
              </a:rPr>
              <a:t>- Enhancing qualitative characteristics, cannot make information useful if it is irrelevant or not faithfully represented</a:t>
            </a:r>
            <a:r>
              <a:rPr lang="nl-NL" sz="2000" dirty="0">
                <a:latin typeface="Arial" pitchFamily="34" charset="0"/>
                <a:cs typeface="Arial" pitchFamily="34" charset="0"/>
              </a:rPr>
              <a:t>.</a:t>
            </a:r>
          </a:p>
          <a:p>
            <a:pPr lvl="1">
              <a:spcAft>
                <a:spcPts val="300"/>
              </a:spcAft>
              <a:buFontTx/>
              <a:buChar char="-"/>
            </a:pPr>
            <a:r>
              <a:rPr lang="en-ZA" sz="2000" dirty="0">
                <a:latin typeface="Arial" pitchFamily="34" charset="0"/>
                <a:cs typeface="Arial" pitchFamily="34" charset="0"/>
              </a:rPr>
              <a:t>Applying the enhancing qualitative characteristics is an iterative process</a:t>
            </a:r>
            <a:r>
              <a:rPr lang="nl-NL" sz="2000" dirty="0">
                <a:latin typeface="Arial" pitchFamily="34" charset="0"/>
                <a:cs typeface="Arial" pitchFamily="34" charset="0"/>
              </a:rPr>
              <a:t>.</a:t>
            </a:r>
          </a:p>
          <a:p>
            <a:pPr lvl="1">
              <a:spcAft>
                <a:spcPts val="300"/>
              </a:spcAft>
              <a:buFontTx/>
              <a:buChar char="-"/>
            </a:pPr>
            <a:endParaRPr lang="nl-NL" sz="2000" dirty="0">
              <a:latin typeface="Arial" pitchFamily="34" charset="0"/>
              <a:cs typeface="Arial" pitchFamily="34" charset="0"/>
            </a:endParaRPr>
          </a:p>
          <a:p>
            <a:pPr>
              <a:lnSpc>
                <a:spcPct val="90000"/>
              </a:lnSpc>
              <a:spcAft>
                <a:spcPts val="300"/>
              </a:spcAft>
            </a:pPr>
            <a:r>
              <a:rPr lang="en-ZA" sz="2000" b="1" dirty="0">
                <a:latin typeface="Arial" pitchFamily="34" charset="0"/>
                <a:cs typeface="Arial" pitchFamily="34" charset="0"/>
              </a:rPr>
              <a:t>The cost constraint on useful financial reporting </a:t>
            </a:r>
            <a:r>
              <a:rPr lang="nl-NL" sz="2000" dirty="0">
                <a:latin typeface="Arial" pitchFamily="34" charset="0"/>
                <a:cs typeface="Arial" pitchFamily="34" charset="0"/>
              </a:rPr>
              <a:t>[2.39-2.43]</a:t>
            </a:r>
          </a:p>
          <a:p>
            <a:pPr lvl="1">
              <a:spcAft>
                <a:spcPts val="300"/>
              </a:spcAft>
              <a:buFont typeface="Wingdings" pitchFamily="2" charset="2"/>
              <a:buNone/>
            </a:pPr>
            <a:r>
              <a:rPr lang="en-ZA" sz="2000" dirty="0">
                <a:latin typeface="Arial" pitchFamily="34" charset="0"/>
                <a:cs typeface="Arial" pitchFamily="34" charset="0"/>
              </a:rPr>
              <a:t>- Important that costs are justified by the benefits of reporting that information.</a:t>
            </a:r>
          </a:p>
          <a:p>
            <a:pPr lvl="1">
              <a:spcAft>
                <a:spcPts val="300"/>
              </a:spcAft>
              <a:buFont typeface="Wingdings" pitchFamily="2" charset="2"/>
              <a:buNone/>
            </a:pPr>
            <a:r>
              <a:rPr lang="en-US" sz="2000" dirty="0">
                <a:latin typeface="Arial" pitchFamily="34" charset="0"/>
                <a:cs typeface="Arial" pitchFamily="34" charset="0"/>
              </a:rPr>
              <a:t>- Users bear the cost of collecting, processing, </a:t>
            </a:r>
            <a:r>
              <a:rPr lang="en-ZA" sz="2000" dirty="0">
                <a:latin typeface="Arial" pitchFamily="34" charset="0"/>
                <a:cs typeface="Arial" pitchFamily="34" charset="0"/>
              </a:rPr>
              <a:t>verifying and disseminating financial information (costs in the form of reduced returns). </a:t>
            </a:r>
          </a:p>
          <a:p>
            <a:pPr lvl="1">
              <a:spcAft>
                <a:spcPts val="300"/>
              </a:spcAft>
              <a:buFont typeface="Wingdings" pitchFamily="2" charset="2"/>
              <a:buNone/>
            </a:pPr>
            <a:r>
              <a:rPr lang="en-ZA" sz="2000" dirty="0">
                <a:latin typeface="Arial" pitchFamily="34" charset="0"/>
                <a:cs typeface="Arial" pitchFamily="34" charset="0"/>
              </a:rPr>
              <a:t>- Reporting financial information that is relevant and faithfully represented helps users to make decisions with more confidence. </a:t>
            </a:r>
            <a:endParaRPr lang="en-US" sz="2000" dirty="0">
              <a:latin typeface="Arial" pitchFamily="34" charset="0"/>
              <a:cs typeface="Arial"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Financial statements and the reporting entity</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3</a:t>
            </a:r>
          </a:p>
        </p:txBody>
      </p:sp>
    </p:spTree>
    <p:extLst>
      <p:ext uri="{BB962C8B-B14F-4D97-AF65-F5344CB8AC3E}">
        <p14:creationId xmlns:p14="http://schemas.microsoft.com/office/powerpoint/2010/main" val="2892162644"/>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5141" y="260648"/>
            <a:ext cx="7768639" cy="1143000"/>
          </a:xfrm>
        </p:spPr>
        <p:txBody>
          <a:bodyPr>
            <a:normAutofit/>
          </a:bodyPr>
          <a:lstStyle/>
          <a:p>
            <a:r>
              <a:rPr lang="en-ZA" sz="2800" b="1" dirty="0">
                <a:latin typeface="Arial" pitchFamily="34" charset="0"/>
                <a:cs typeface="Arial" pitchFamily="34" charset="0"/>
              </a:rPr>
              <a:t>Chapter 3: Financial statements and the reporting entity </a:t>
            </a:r>
            <a:r>
              <a:rPr lang="en-US" sz="2800" b="1" dirty="0">
                <a:latin typeface="Arial" pitchFamily="34" charset="0"/>
                <a:cs typeface="Arial" pitchFamily="34" charset="0"/>
              </a:rPr>
              <a:t>(3.1-3.18)</a:t>
            </a:r>
            <a:endParaRPr lang="en-ZA" sz="2800" dirty="0"/>
          </a:p>
        </p:txBody>
      </p:sp>
      <p:sp>
        <p:nvSpPr>
          <p:cNvPr id="3" name="Content Placeholder 2"/>
          <p:cNvSpPr>
            <a:spLocks noGrp="1"/>
          </p:cNvSpPr>
          <p:nvPr>
            <p:ph idx="1"/>
          </p:nvPr>
        </p:nvSpPr>
        <p:spPr>
          <a:xfrm>
            <a:off x="495140" y="1772816"/>
            <a:ext cx="8912543" cy="4248471"/>
          </a:xfrm>
        </p:spPr>
        <p:txBody>
          <a:bodyPr>
            <a:normAutofit/>
          </a:bodyPr>
          <a:lstStyle/>
          <a:p>
            <a:r>
              <a:rPr lang="en-US" sz="1800" dirty="0">
                <a:latin typeface="Arial" panose="020B0604020202020204" pitchFamily="34" charset="0"/>
                <a:cs typeface="Arial" panose="020B0604020202020204" pitchFamily="34" charset="0"/>
              </a:rPr>
              <a:t>Chapter 1 – 2: Discuss information provided in general purpose financial </a:t>
            </a:r>
            <a:r>
              <a:rPr lang="en-US" sz="1800" b="1" dirty="0">
                <a:latin typeface="Arial" panose="020B0604020202020204" pitchFamily="34" charset="0"/>
                <a:cs typeface="Arial" panose="020B0604020202020204" pitchFamily="34" charset="0"/>
              </a:rPr>
              <a:t>reports</a:t>
            </a:r>
          </a:p>
          <a:p>
            <a:r>
              <a:rPr lang="en-US" sz="1800" dirty="0">
                <a:latin typeface="Arial" panose="020B0604020202020204" pitchFamily="34" charset="0"/>
                <a:cs typeface="Arial" panose="020B0604020202020204" pitchFamily="34" charset="0"/>
              </a:rPr>
              <a:t>Chapter 3 – 8: Discuss information provided in general purpose financial </a:t>
            </a:r>
            <a:r>
              <a:rPr lang="en-US" sz="1800" b="1" dirty="0">
                <a:latin typeface="Arial" panose="020B0604020202020204" pitchFamily="34" charset="0"/>
                <a:cs typeface="Arial" panose="020B0604020202020204" pitchFamily="34" charset="0"/>
              </a:rPr>
              <a:t>statements</a:t>
            </a:r>
            <a:r>
              <a:rPr lang="en-US" sz="1800" dirty="0">
                <a:latin typeface="Arial" panose="020B0604020202020204" pitchFamily="34" charset="0"/>
                <a:cs typeface="Arial" panose="020B0604020202020204" pitchFamily="34" charset="0"/>
              </a:rPr>
              <a:t> [3.1]</a:t>
            </a:r>
          </a:p>
          <a:p>
            <a:endParaRPr lang="en-US" sz="1600"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Objective and scope of financial statements [3.2-3.3]</a:t>
            </a:r>
          </a:p>
          <a:p>
            <a:r>
              <a:rPr lang="en-US" sz="1800" dirty="0">
                <a:latin typeface="Arial" panose="020B0604020202020204" pitchFamily="34" charset="0"/>
                <a:cs typeface="Arial" panose="020B0604020202020204" pitchFamily="34" charset="0"/>
              </a:rPr>
              <a:t>to provide financial information about the assets, liabilities, equity, income and expenses…</a:t>
            </a:r>
          </a:p>
          <a:p>
            <a:r>
              <a:rPr lang="en-US" sz="1800" dirty="0">
                <a:latin typeface="Arial" panose="020B0604020202020204" pitchFamily="34" charset="0"/>
                <a:cs typeface="Arial" panose="020B0604020202020204" pitchFamily="34" charset="0"/>
              </a:rPr>
              <a:t>This information is provided in:</a:t>
            </a:r>
          </a:p>
          <a:p>
            <a:pPr lvl="1"/>
            <a:r>
              <a:rPr lang="en-US" sz="1800" dirty="0">
                <a:latin typeface="Arial" panose="020B0604020202020204" pitchFamily="34" charset="0"/>
                <a:cs typeface="Arial" panose="020B0604020202020204" pitchFamily="34" charset="0"/>
              </a:rPr>
              <a:t>Statement of financial position</a:t>
            </a:r>
          </a:p>
          <a:p>
            <a:pPr lvl="1"/>
            <a:r>
              <a:rPr lang="en-US" sz="1800" dirty="0">
                <a:latin typeface="Arial" panose="020B0604020202020204" pitchFamily="34" charset="0"/>
                <a:cs typeface="Arial" panose="020B0604020202020204" pitchFamily="34" charset="0"/>
              </a:rPr>
              <a:t>Statement of financial performance (statement of comprehensive income for Fin </a:t>
            </a:r>
            <a:r>
              <a:rPr lang="en-US" sz="1800" dirty="0" err="1">
                <a:latin typeface="Arial" panose="020B0604020202020204" pitchFamily="34" charset="0"/>
                <a:cs typeface="Arial" panose="020B0604020202020204" pitchFamily="34" charset="0"/>
              </a:rPr>
              <a:t>Acc</a:t>
            </a:r>
            <a:r>
              <a:rPr lang="en-US" sz="1800" dirty="0">
                <a:latin typeface="Arial" panose="020B0604020202020204" pitchFamily="34" charset="0"/>
                <a:cs typeface="Arial" panose="020B0604020202020204" pitchFamily="34" charset="0"/>
              </a:rPr>
              <a:t> 178)</a:t>
            </a:r>
          </a:p>
          <a:p>
            <a:pPr lvl="1"/>
            <a:r>
              <a:rPr lang="en-US" sz="1800" dirty="0">
                <a:latin typeface="Arial" panose="020B0604020202020204" pitchFamily="34" charset="0"/>
                <a:cs typeface="Arial" panose="020B0604020202020204" pitchFamily="34" charset="0"/>
              </a:rPr>
              <a:t>Other statements</a:t>
            </a:r>
          </a:p>
          <a:p>
            <a:pPr lvl="1"/>
            <a:endParaRPr lang="en-ZA" sz="1200" dirty="0"/>
          </a:p>
        </p:txBody>
      </p:sp>
    </p:spTree>
    <p:extLst>
      <p:ext uri="{BB962C8B-B14F-4D97-AF65-F5344CB8AC3E}">
        <p14:creationId xmlns:p14="http://schemas.microsoft.com/office/powerpoint/2010/main" val="820707928"/>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16632"/>
            <a:ext cx="8418417" cy="1596177"/>
          </a:xfrm>
        </p:spPr>
        <p:txBody>
          <a:bodyPr>
            <a:normAutofit/>
          </a:bodyPr>
          <a:lstStyle/>
          <a:p>
            <a:r>
              <a:rPr lang="en-ZA" sz="2800" b="1" dirty="0">
                <a:latin typeface="Arial" pitchFamily="34" charset="0"/>
                <a:cs typeface="Arial" pitchFamily="34" charset="0"/>
              </a:rPr>
              <a:t>Chapter 3: Financial statements and the reporting entity </a:t>
            </a:r>
            <a:r>
              <a:rPr lang="en-US" sz="2800" b="1" dirty="0">
                <a:latin typeface="Arial" pitchFamily="34" charset="0"/>
                <a:cs typeface="Arial" pitchFamily="34" charset="0"/>
              </a:rPr>
              <a:t>(3.1-3.18)</a:t>
            </a:r>
            <a:endParaRPr lang="en-ZA" sz="2800" dirty="0"/>
          </a:p>
        </p:txBody>
      </p:sp>
      <p:sp>
        <p:nvSpPr>
          <p:cNvPr id="3" name="Content Placeholder 2"/>
          <p:cNvSpPr>
            <a:spLocks noGrp="1"/>
          </p:cNvSpPr>
          <p:nvPr>
            <p:ph idx="1"/>
          </p:nvPr>
        </p:nvSpPr>
        <p:spPr>
          <a:xfrm>
            <a:off x="126875" y="1484784"/>
            <a:ext cx="9775949" cy="4896543"/>
          </a:xfrm>
        </p:spPr>
        <p:txBody>
          <a:bodyPr>
            <a:noAutofit/>
          </a:bodyPr>
          <a:lstStyle/>
          <a:p>
            <a:r>
              <a:rPr lang="en-US" sz="2000" b="1" dirty="0">
                <a:latin typeface="Arial" panose="020B0604020202020204" pitchFamily="34" charset="0"/>
                <a:cs typeface="Arial" panose="020B0604020202020204" pitchFamily="34" charset="0"/>
              </a:rPr>
              <a:t>Reporting period [3.4-3.7]</a:t>
            </a:r>
          </a:p>
          <a:p>
            <a:pPr lvl="1"/>
            <a:r>
              <a:rPr lang="en-US" sz="2000" dirty="0">
                <a:latin typeface="Arial" panose="020B0604020202020204" pitchFamily="34" charset="0"/>
                <a:cs typeface="Arial" panose="020B0604020202020204" pitchFamily="34" charset="0"/>
              </a:rPr>
              <a:t>Financial statements are prepared for a specified period of time [3.4]</a:t>
            </a:r>
          </a:p>
          <a:p>
            <a:pPr lvl="1"/>
            <a:r>
              <a:rPr lang="en-US" sz="2000" dirty="0">
                <a:latin typeface="Arial" panose="020B0604020202020204" pitchFamily="34" charset="0"/>
                <a:cs typeface="Arial" panose="020B0604020202020204" pitchFamily="34" charset="0"/>
              </a:rPr>
              <a:t>To help users identify, assess changes and trends.  Also provide comparative information for at least 1 period.</a:t>
            </a:r>
          </a:p>
          <a:p>
            <a:pPr lvl="1"/>
            <a:r>
              <a:rPr lang="en-US" sz="2000" dirty="0">
                <a:latin typeface="Arial" panose="020B0604020202020204" pitchFamily="34" charset="0"/>
                <a:cs typeface="Arial" panose="020B0604020202020204" pitchFamily="34" charset="0"/>
              </a:rPr>
              <a:t>Information about possible future transactions and events</a:t>
            </a:r>
          </a:p>
          <a:p>
            <a:pPr lvl="1"/>
            <a:r>
              <a:rPr lang="en-US" sz="2000" dirty="0">
                <a:latin typeface="Arial" panose="020B0604020202020204" pitchFamily="34" charset="0"/>
                <a:cs typeface="Arial" panose="020B0604020202020204" pitchFamily="34" charset="0"/>
              </a:rPr>
              <a:t>Information about transactions and other events that have occurred after year end, if the information is necessary.</a:t>
            </a:r>
            <a:endParaRPr lang="en-ZA"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Perspective adopted financial statements [3.8]</a:t>
            </a:r>
          </a:p>
          <a:p>
            <a:pPr lvl="1"/>
            <a:r>
              <a:rPr lang="en-US" sz="2000" dirty="0">
                <a:latin typeface="Arial" panose="020B0604020202020204" pitchFamily="34" charset="0"/>
                <a:cs typeface="Arial" panose="020B0604020202020204" pitchFamily="34" charset="0"/>
              </a:rPr>
              <a:t>Provide information about transactions, other events viewed from perspective of reporting entity as a whole – not from perspective of any particular group of entity’s investors, lenders, creditors.</a:t>
            </a:r>
          </a:p>
          <a:p>
            <a:r>
              <a:rPr lang="en-US" sz="2000" b="1" dirty="0">
                <a:latin typeface="Arial" panose="020B0604020202020204" pitchFamily="34" charset="0"/>
                <a:cs typeface="Arial" panose="020B0604020202020204" pitchFamily="34" charset="0"/>
              </a:rPr>
              <a:t>Going concern [3.9]</a:t>
            </a:r>
          </a:p>
          <a:p>
            <a:pPr lvl="1"/>
            <a:r>
              <a:rPr lang="en-US" sz="2000" dirty="0">
                <a:latin typeface="Arial" panose="020B0604020202020204" pitchFamily="34" charset="0"/>
                <a:cs typeface="Arial" panose="020B0604020202020204" pitchFamily="34" charset="0"/>
              </a:rPr>
              <a:t>FS prepared on assumption of going concern, continue in operation for foreseeable future.</a:t>
            </a:r>
          </a:p>
          <a:p>
            <a:pPr marL="457200" lvl="1" indent="0">
              <a:buNone/>
            </a:pPr>
            <a:endParaRPr lang="en-US" sz="2000" b="1" dirty="0"/>
          </a:p>
        </p:txBody>
      </p:sp>
    </p:spTree>
    <p:extLst>
      <p:ext uri="{BB962C8B-B14F-4D97-AF65-F5344CB8AC3E}">
        <p14:creationId xmlns:p14="http://schemas.microsoft.com/office/powerpoint/2010/main" val="653606964"/>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4772" y="0"/>
            <a:ext cx="8418417" cy="1596177"/>
          </a:xfrm>
        </p:spPr>
        <p:txBody>
          <a:bodyPr>
            <a:normAutofit/>
          </a:bodyPr>
          <a:lstStyle/>
          <a:p>
            <a:r>
              <a:rPr lang="en-ZA" sz="2800" b="1" dirty="0">
                <a:latin typeface="Arial" pitchFamily="34" charset="0"/>
                <a:cs typeface="Arial" pitchFamily="34" charset="0"/>
              </a:rPr>
              <a:t>Chapter 3: Financial statements and the reporting entity </a:t>
            </a:r>
            <a:r>
              <a:rPr lang="en-US" sz="2800" b="1" dirty="0">
                <a:latin typeface="Arial" pitchFamily="34" charset="0"/>
                <a:cs typeface="Arial" pitchFamily="34" charset="0"/>
              </a:rPr>
              <a:t>(3.1-3.18)</a:t>
            </a:r>
            <a:endParaRPr lang="en-ZA" sz="2800" dirty="0"/>
          </a:p>
        </p:txBody>
      </p:sp>
      <p:sp>
        <p:nvSpPr>
          <p:cNvPr id="3" name="Content Placeholder 2"/>
          <p:cNvSpPr>
            <a:spLocks noGrp="1"/>
          </p:cNvSpPr>
          <p:nvPr>
            <p:ph idx="1"/>
          </p:nvPr>
        </p:nvSpPr>
        <p:spPr>
          <a:xfrm>
            <a:off x="270892" y="1556793"/>
            <a:ext cx="9433048" cy="4234410"/>
          </a:xfrm>
        </p:spPr>
        <p:txBody>
          <a:bodyPr>
            <a:normAutofit/>
          </a:bodyPr>
          <a:lstStyle/>
          <a:p>
            <a:pPr>
              <a:spcAft>
                <a:spcPts val="300"/>
              </a:spcAft>
            </a:pPr>
            <a:r>
              <a:rPr lang="en-US" sz="2000" b="1" dirty="0">
                <a:latin typeface="Arial" panose="020B0604020202020204" pitchFamily="34" charset="0"/>
                <a:cs typeface="Arial" panose="020B0604020202020204" pitchFamily="34" charset="0"/>
              </a:rPr>
              <a:t>The reporting entity [3.10-3.18]</a:t>
            </a:r>
          </a:p>
          <a:p>
            <a:pPr lvl="1">
              <a:spcAft>
                <a:spcPts val="300"/>
              </a:spcAft>
            </a:pPr>
            <a:r>
              <a:rPr lang="en-US" sz="2000" dirty="0">
                <a:latin typeface="Arial" panose="020B0604020202020204" pitchFamily="34" charset="0"/>
                <a:cs typeface="Arial" panose="020B0604020202020204" pitchFamily="34" charset="0"/>
              </a:rPr>
              <a:t>Required, or chooses, to prepare FS.  Can be singe entity / portion of entity / more than one entity.</a:t>
            </a:r>
          </a:p>
          <a:p>
            <a:pPr lvl="2">
              <a:spcAft>
                <a:spcPts val="300"/>
              </a:spcAft>
            </a:pPr>
            <a:r>
              <a:rPr lang="en-US" sz="2000" dirty="0">
                <a:latin typeface="Arial" panose="020B0604020202020204" pitchFamily="34" charset="0"/>
                <a:cs typeface="Arial" panose="020B0604020202020204" pitchFamily="34" charset="0"/>
              </a:rPr>
              <a:t>Not necessarily a legal entity</a:t>
            </a:r>
          </a:p>
          <a:p>
            <a:pPr lvl="1">
              <a:spcAft>
                <a:spcPts val="300"/>
              </a:spcAft>
            </a:pPr>
            <a:r>
              <a:rPr lang="en-US" sz="2000" dirty="0">
                <a:latin typeface="Arial" panose="020B0604020202020204" pitchFamily="34" charset="0"/>
                <a:cs typeface="Arial" panose="020B0604020202020204" pitchFamily="34" charset="0"/>
              </a:rPr>
              <a:t>Consolidated financial statements / unconsolidated financial statements / combined financial statements [3.11-3.12]</a:t>
            </a:r>
          </a:p>
          <a:p>
            <a:pPr lvl="1">
              <a:spcAft>
                <a:spcPts val="300"/>
              </a:spcAft>
            </a:pPr>
            <a:r>
              <a:rPr lang="en-US" sz="2000" dirty="0">
                <a:latin typeface="Arial" panose="020B0604020202020204" pitchFamily="34" charset="0"/>
                <a:cs typeface="Arial" panose="020B0604020202020204" pitchFamily="34" charset="0"/>
              </a:rPr>
              <a:t>Determining the boundary of a reporting entity can be difficult [3.13-3.14]</a:t>
            </a:r>
          </a:p>
          <a:p>
            <a:pPr lvl="1">
              <a:spcAft>
                <a:spcPts val="300"/>
              </a:spcAft>
            </a:pPr>
            <a:r>
              <a:rPr lang="en-US" sz="2000" dirty="0">
                <a:latin typeface="Arial" panose="020B0604020202020204" pitchFamily="34" charset="0"/>
                <a:cs typeface="Arial" panose="020B0604020202020204" pitchFamily="34" charset="0"/>
              </a:rPr>
              <a:t>Consolidated and unconsolidated financial statements [3.15-3.18]</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7644037"/>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The elements of financial statements</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4</a:t>
            </a:r>
          </a:p>
        </p:txBody>
      </p:sp>
    </p:spTree>
    <p:extLst>
      <p:ext uri="{BB962C8B-B14F-4D97-AF65-F5344CB8AC3E}">
        <p14:creationId xmlns:p14="http://schemas.microsoft.com/office/powerpoint/2010/main" val="244752647"/>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270891" y="138129"/>
            <a:ext cx="7992889" cy="1143366"/>
          </a:xfrm>
        </p:spPr>
        <p:txBody>
          <a:bodyPr>
            <a:normAutofit/>
          </a:bodyPr>
          <a:lstStyle/>
          <a:p>
            <a:r>
              <a:rPr lang="en-US" sz="2800" b="1" dirty="0">
                <a:latin typeface="Arial" panose="020B0604020202020204" pitchFamily="34" charset="0"/>
                <a:cs typeface="Arial" pitchFamily="34" charset="0"/>
              </a:rPr>
              <a:t>Chapter 4: The elements of financial statements [4.1-4.72]</a:t>
            </a:r>
          </a:p>
        </p:txBody>
      </p:sp>
      <p:sp>
        <p:nvSpPr>
          <p:cNvPr id="98307" name="Rectangle 3"/>
          <p:cNvSpPr>
            <a:spLocks noGrp="1" noChangeArrowheads="1"/>
          </p:cNvSpPr>
          <p:nvPr>
            <p:ph idx="1"/>
          </p:nvPr>
        </p:nvSpPr>
        <p:spPr>
          <a:xfrm>
            <a:off x="330014" y="1463742"/>
            <a:ext cx="9150083" cy="4761462"/>
          </a:xfrm>
        </p:spPr>
        <p:txBody>
          <a:bodyPr>
            <a:normAutofit/>
          </a:bodyPr>
          <a:lstStyle/>
          <a:p>
            <a:r>
              <a:rPr lang="en-US" sz="2000" dirty="0">
                <a:latin typeface="Arial" pitchFamily="34" charset="0"/>
                <a:cs typeface="Arial" pitchFamily="34" charset="0"/>
              </a:rPr>
              <a:t>Elements of financial statements:</a:t>
            </a:r>
          </a:p>
          <a:p>
            <a:endParaRPr lang="en-US" sz="2000" dirty="0">
              <a:latin typeface="Arial" pitchFamily="34" charset="0"/>
              <a:cs typeface="Arial" pitchFamily="34" charset="0"/>
            </a:endParaRPr>
          </a:p>
          <a:p>
            <a:pPr marL="914400" lvl="1" indent="-514350">
              <a:buFont typeface="+mj-lt"/>
              <a:buAutoNum type="alphaLcParenR"/>
            </a:pPr>
            <a:r>
              <a:rPr lang="en-US" sz="2000" dirty="0">
                <a:solidFill>
                  <a:srgbClr val="FF0000"/>
                </a:solidFill>
                <a:latin typeface="Arial" pitchFamily="34" charset="0"/>
                <a:cs typeface="Arial" pitchFamily="34" charset="0"/>
              </a:rPr>
              <a:t>assets, liabilities and equity</a:t>
            </a:r>
            <a:r>
              <a:rPr lang="en-US" sz="2000" dirty="0">
                <a:latin typeface="Arial" pitchFamily="34" charset="0"/>
                <a:cs typeface="Arial" pitchFamily="34" charset="0"/>
              </a:rPr>
              <a:t>, which relate to reporting entity’s financial position; and</a:t>
            </a:r>
          </a:p>
          <a:p>
            <a:pPr marL="914400" lvl="1" indent="-514350">
              <a:buFont typeface="+mj-lt"/>
              <a:buAutoNum type="alphaLcParenR"/>
            </a:pPr>
            <a:endParaRPr lang="en-US" sz="2000" dirty="0">
              <a:latin typeface="Arial" pitchFamily="34" charset="0"/>
              <a:cs typeface="Arial" pitchFamily="34" charset="0"/>
            </a:endParaRPr>
          </a:p>
          <a:p>
            <a:pPr marL="914400" lvl="1" indent="-514350">
              <a:buFont typeface="+mj-lt"/>
              <a:buAutoNum type="alphaLcParenR"/>
            </a:pPr>
            <a:r>
              <a:rPr lang="en-US" sz="2000" dirty="0">
                <a:solidFill>
                  <a:srgbClr val="FF0000"/>
                </a:solidFill>
                <a:latin typeface="Arial" pitchFamily="34" charset="0"/>
                <a:cs typeface="Arial" pitchFamily="34" charset="0"/>
              </a:rPr>
              <a:t>Income and expenses</a:t>
            </a:r>
            <a:r>
              <a:rPr lang="en-US" sz="2000" dirty="0">
                <a:latin typeface="Arial" pitchFamily="34" charset="0"/>
                <a:cs typeface="Arial" pitchFamily="34" charset="0"/>
              </a:rPr>
              <a:t>, which relate to reporting entity’s financial performance (Statement of comprehensive income) [4.1]</a:t>
            </a:r>
          </a:p>
        </p:txBody>
      </p:sp>
    </p:spTree>
    <p:extLst>
      <p:ext uri="{BB962C8B-B14F-4D97-AF65-F5344CB8AC3E}">
        <p14:creationId xmlns:p14="http://schemas.microsoft.com/office/powerpoint/2010/main" val="884378621"/>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2171" y="116632"/>
            <a:ext cx="7387594" cy="1596177"/>
          </a:xfrm>
        </p:spPr>
        <p:txBody>
          <a:bodyPr>
            <a:normAutofit/>
          </a:bodyPr>
          <a:lstStyle/>
          <a:p>
            <a:r>
              <a:rPr lang="en-US" sz="2800" b="1" dirty="0">
                <a:latin typeface="Arial" panose="020B0604020202020204" pitchFamily="34" charset="0"/>
                <a:cs typeface="Arial" panose="020B0604020202020204" pitchFamily="34" charset="0"/>
              </a:rPr>
              <a:t>Chapter 4: The elements of financial statements [4.1-4.72]</a:t>
            </a:r>
            <a:endParaRPr lang="en-ZA"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14908" y="1712809"/>
            <a:ext cx="9073008" cy="2868319"/>
          </a:xfrm>
        </p:spPr>
        <p:txBody>
          <a:bodyPr>
            <a:normAutofit/>
          </a:bodyPr>
          <a:lstStyle/>
          <a:p>
            <a:r>
              <a:rPr lang="en-US" sz="2000" b="1" dirty="0">
                <a:latin typeface="Arial" panose="020B0604020202020204" pitchFamily="34" charset="0"/>
                <a:cs typeface="Arial" panose="020B0604020202020204" pitchFamily="34" charset="0"/>
              </a:rPr>
              <a:t>Definition of an asset [4.3-4.25]</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An asset is a present economic resource</a:t>
            </a:r>
          </a:p>
          <a:p>
            <a:pPr lvl="1"/>
            <a:r>
              <a:rPr lang="en-US" sz="2000" dirty="0">
                <a:latin typeface="Arial" panose="020B0604020202020204" pitchFamily="34" charset="0"/>
                <a:cs typeface="Arial" panose="020B0604020202020204" pitchFamily="34" charset="0"/>
              </a:rPr>
              <a:t>Controlled by the entity</a:t>
            </a:r>
          </a:p>
          <a:p>
            <a:pPr lvl="1"/>
            <a:r>
              <a:rPr lang="en-US" sz="2000" dirty="0">
                <a:latin typeface="Arial" panose="020B0604020202020204" pitchFamily="34" charset="0"/>
                <a:cs typeface="Arial" panose="020B0604020202020204" pitchFamily="34" charset="0"/>
              </a:rPr>
              <a:t>As a result of past events [4.3]</a:t>
            </a:r>
          </a:p>
          <a:p>
            <a:pPr lvl="1"/>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An economic resource is a right</a:t>
            </a:r>
          </a:p>
          <a:p>
            <a:pPr lvl="1"/>
            <a:r>
              <a:rPr lang="en-US" sz="2000" dirty="0">
                <a:latin typeface="Arial" panose="020B0604020202020204" pitchFamily="34" charset="0"/>
                <a:cs typeface="Arial" panose="020B0604020202020204" pitchFamily="34" charset="0"/>
              </a:rPr>
              <a:t>That has the potential to produce economic benefits [4.4]</a:t>
            </a:r>
          </a:p>
        </p:txBody>
      </p:sp>
    </p:spTree>
    <p:extLst>
      <p:ext uri="{BB962C8B-B14F-4D97-AF65-F5344CB8AC3E}">
        <p14:creationId xmlns:p14="http://schemas.microsoft.com/office/powerpoint/2010/main" val="4152939663"/>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a:extLst>
            <a:ext uri="{FF2B5EF4-FFF2-40B4-BE49-F238E27FC236}">
              <a16:creationId xmlns:a16="http://schemas.microsoft.com/office/drawing/2014/main" id="{98CC0A77-322D-58E1-3F4A-07713DDE3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92A3C-0068-F103-1202-3B569941F385}"/>
              </a:ext>
            </a:extLst>
          </p:cNvPr>
          <p:cNvSpPr>
            <a:spLocks noGrp="1"/>
          </p:cNvSpPr>
          <p:nvPr>
            <p:ph type="title"/>
          </p:nvPr>
        </p:nvSpPr>
        <p:spPr>
          <a:xfrm>
            <a:off x="732171" y="116632"/>
            <a:ext cx="7387594" cy="1596177"/>
          </a:xfrm>
        </p:spPr>
        <p:txBody>
          <a:bodyPr>
            <a:normAutofit/>
          </a:bodyPr>
          <a:lstStyle/>
          <a:p>
            <a:r>
              <a:rPr lang="en-US" sz="2800" b="1" dirty="0">
                <a:latin typeface="Arial" panose="020B0604020202020204" pitchFamily="34" charset="0"/>
                <a:cs typeface="Arial" panose="020B0604020202020204" pitchFamily="34" charset="0"/>
              </a:rPr>
              <a:t>Chapter 4: The elements of financial statements [4.1-4.72]</a:t>
            </a:r>
            <a:endParaRPr lang="en-ZA"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E72E018-D2C7-E056-BA02-D571D6A6F636}"/>
              </a:ext>
            </a:extLst>
          </p:cNvPr>
          <p:cNvSpPr>
            <a:spLocks noGrp="1"/>
          </p:cNvSpPr>
          <p:nvPr>
            <p:ph idx="1"/>
          </p:nvPr>
        </p:nvSpPr>
        <p:spPr>
          <a:xfrm>
            <a:off x="414908" y="1712809"/>
            <a:ext cx="9073008" cy="2868319"/>
          </a:xfrm>
        </p:spPr>
        <p:txBody>
          <a:bodyPr>
            <a:normAutofit/>
          </a:bodyPr>
          <a:lstStyle/>
          <a:p>
            <a:r>
              <a:rPr lang="en-US" sz="2000" b="1" dirty="0">
                <a:latin typeface="Arial" panose="020B0604020202020204" pitchFamily="34" charset="0"/>
                <a:cs typeface="Arial" panose="020B0604020202020204" pitchFamily="34" charset="0"/>
              </a:rPr>
              <a:t>Control[4.19-4.25]</a:t>
            </a:r>
          </a:p>
          <a:p>
            <a:r>
              <a:rPr lang="en-ZA" sz="2000" dirty="0">
                <a:latin typeface="Arial" panose="020B0604020202020204" pitchFamily="34" charset="0"/>
                <a:cs typeface="Arial" panose="020B0604020202020204" pitchFamily="34" charset="0"/>
              </a:rPr>
              <a:t>present ability to direct the use of the economic resource and obtain the economic benefits that may flow from it, </a:t>
            </a:r>
            <a:r>
              <a:rPr lang="en-ZA" sz="2000">
                <a:latin typeface="Arial" panose="020B0604020202020204" pitchFamily="34" charset="0"/>
                <a:cs typeface="Arial" panose="020B0604020202020204" pitchFamily="34" charset="0"/>
              </a:rPr>
              <a:t>including preventing </a:t>
            </a:r>
            <a:r>
              <a:rPr lang="en-ZA" sz="2000" dirty="0">
                <a:latin typeface="Arial" panose="020B0604020202020204" pitchFamily="34" charset="0"/>
                <a:cs typeface="Arial" panose="020B0604020202020204" pitchFamily="34" charset="0"/>
              </a:rPr>
              <a:t>other parties from directing the use of the economic resource and from obtaining the economic benefits that may flow from it.</a:t>
            </a:r>
          </a:p>
          <a:p>
            <a:r>
              <a:rPr lang="en-ZA" sz="2000" dirty="0">
                <a:latin typeface="Arial" panose="020B0604020202020204" pitchFamily="34" charset="0"/>
                <a:cs typeface="Arial" panose="020B0604020202020204" pitchFamily="34" charset="0"/>
              </a:rPr>
              <a:t>usually arises from an ability to enforce legal rights. </a:t>
            </a:r>
            <a:r>
              <a:rPr lang="en-US" sz="2000" dirty="0">
                <a:latin typeface="Arial" panose="020B0604020202020204" pitchFamily="34" charset="0"/>
                <a:cs typeface="Arial" panose="020B0604020202020204" pitchFamily="34" charset="0"/>
              </a:rPr>
              <a:t>   </a:t>
            </a: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8706076"/>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332656"/>
            <a:ext cx="7161535" cy="1596177"/>
          </a:xfrm>
        </p:spPr>
        <p:txBody>
          <a:bodyPr>
            <a:normAutofit/>
          </a:bodyPr>
          <a:lstStyle/>
          <a:p>
            <a:r>
              <a:rPr lang="en-US" sz="2800" b="1" dirty="0">
                <a:latin typeface="Arial" panose="020B0604020202020204" pitchFamily="34" charset="0"/>
                <a:cs typeface="Arial" panose="020B0604020202020204" pitchFamily="34" charset="0"/>
              </a:rPr>
              <a:t>Chapter 4: The elements of financial statements [4.1-4.72]</a:t>
            </a:r>
            <a:endParaRPr lang="en-ZA"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14908" y="1772816"/>
            <a:ext cx="8418418" cy="3730354"/>
          </a:xfrm>
        </p:spPr>
        <p:txBody>
          <a:bodyPr>
            <a:normAutofit/>
          </a:bodyPr>
          <a:lstStyle/>
          <a:p>
            <a:r>
              <a:rPr lang="en-US" sz="2000" b="1" dirty="0">
                <a:latin typeface="Arial" panose="020B0604020202020204" pitchFamily="34" charset="0"/>
                <a:cs typeface="Arial" panose="020B0604020202020204" pitchFamily="34" charset="0"/>
              </a:rPr>
              <a:t>Definition of a liability [4.26-4.47]</a:t>
            </a: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 liability is a present obligation of the entity</a:t>
            </a:r>
          </a:p>
          <a:p>
            <a:pPr lvl="1"/>
            <a:r>
              <a:rPr lang="en-US" sz="2000" dirty="0">
                <a:latin typeface="Arial" panose="020B0604020202020204" pitchFamily="34" charset="0"/>
                <a:cs typeface="Arial" panose="020B0604020202020204" pitchFamily="34" charset="0"/>
              </a:rPr>
              <a:t>To transfer an economic resource</a:t>
            </a:r>
          </a:p>
          <a:p>
            <a:pPr lvl="1"/>
            <a:r>
              <a:rPr lang="en-US" sz="2000" dirty="0">
                <a:latin typeface="Arial" panose="020B0604020202020204" pitchFamily="34" charset="0"/>
                <a:cs typeface="Arial" panose="020B0604020202020204" pitchFamily="34" charset="0"/>
              </a:rPr>
              <a:t>As a result of past events [4.26]</a:t>
            </a:r>
          </a:p>
        </p:txBody>
      </p:sp>
    </p:spTree>
    <p:extLst>
      <p:ext uri="{BB962C8B-B14F-4D97-AF65-F5344CB8AC3E}">
        <p14:creationId xmlns:p14="http://schemas.microsoft.com/office/powerpoint/2010/main" val="771799126"/>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88640"/>
            <a:ext cx="7521575" cy="1596177"/>
          </a:xfrm>
        </p:spPr>
        <p:txBody>
          <a:bodyPr>
            <a:normAutofit/>
          </a:bodyPr>
          <a:lstStyle/>
          <a:p>
            <a:r>
              <a:rPr lang="en-US" sz="2800" b="1" dirty="0">
                <a:latin typeface="Arial" panose="020B0604020202020204" pitchFamily="34" charset="0"/>
                <a:cs typeface="Arial" panose="020B0604020202020204" pitchFamily="34" charset="0"/>
              </a:rPr>
              <a:t>Chapter 4: The elements of financial statements [4.1-4.72]</a:t>
            </a:r>
            <a:endParaRPr lang="en-ZA"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19066" y="1426437"/>
            <a:ext cx="9036325" cy="2218587"/>
          </a:xfrm>
        </p:spPr>
        <p:txBody>
          <a:bodyPr>
            <a:normAutofit/>
          </a:bodyPr>
          <a:lstStyle/>
          <a:p>
            <a:r>
              <a:rPr lang="en-US" sz="2000" b="1" dirty="0">
                <a:latin typeface="Arial" panose="020B0604020202020204" pitchFamily="34" charset="0"/>
                <a:cs typeface="Arial" panose="020B0604020202020204" pitchFamily="34" charset="0"/>
              </a:rPr>
              <a:t>Definition of equity [4.63-4.67]</a:t>
            </a:r>
          </a:p>
          <a:p>
            <a:pPr lvl="1"/>
            <a:r>
              <a:rPr lang="en-US" sz="2000" dirty="0">
                <a:latin typeface="Arial" panose="020B0604020202020204" pitchFamily="34" charset="0"/>
                <a:cs typeface="Arial" panose="020B0604020202020204" pitchFamily="34" charset="0"/>
              </a:rPr>
              <a:t>Equity is the residual interest in the assets of an entity after deducting all its liabilities [4.63]</a:t>
            </a:r>
          </a:p>
          <a:p>
            <a:endParaRPr lang="en-ZA" sz="2000" b="1" dirty="0"/>
          </a:p>
        </p:txBody>
      </p:sp>
    </p:spTree>
    <p:extLst>
      <p:ext uri="{BB962C8B-B14F-4D97-AF65-F5344CB8AC3E}">
        <p14:creationId xmlns:p14="http://schemas.microsoft.com/office/powerpoint/2010/main" val="2459447933"/>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7421" y="188640"/>
            <a:ext cx="7104311" cy="1596177"/>
          </a:xfrm>
        </p:spPr>
        <p:txBody>
          <a:bodyPr>
            <a:normAutofit/>
          </a:bodyPr>
          <a:lstStyle/>
          <a:p>
            <a:r>
              <a:rPr lang="en-US" sz="2800" b="1" dirty="0">
                <a:latin typeface="Arial" panose="020B0604020202020204" pitchFamily="34" charset="0"/>
                <a:cs typeface="Arial" panose="020B0604020202020204" pitchFamily="34" charset="0"/>
              </a:rPr>
              <a:t>Chapter 4: The elements of financial statements [4.1-4.72]</a:t>
            </a:r>
            <a:endParaRPr lang="en-ZA"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22920" y="1628800"/>
            <a:ext cx="8856984" cy="4464495"/>
          </a:xfrm>
        </p:spPr>
        <p:txBody>
          <a:bodyPr>
            <a:normAutofit/>
          </a:bodyPr>
          <a:lstStyle/>
          <a:p>
            <a:r>
              <a:rPr lang="en-US" sz="2000" dirty="0">
                <a:latin typeface="Arial" panose="020B0604020202020204" pitchFamily="34" charset="0"/>
                <a:cs typeface="Arial" panose="020B0604020202020204" pitchFamily="34" charset="0"/>
              </a:rPr>
              <a:t>Definitions of income and expenses [4.68-4.72]</a:t>
            </a:r>
          </a:p>
          <a:p>
            <a:r>
              <a:rPr lang="en-US" sz="2000" b="1" dirty="0">
                <a:latin typeface="Arial" panose="020B0604020202020204" pitchFamily="34" charset="0"/>
                <a:cs typeface="Arial" panose="020B0604020202020204" pitchFamily="34" charset="0"/>
              </a:rPr>
              <a:t>Income [4.68]</a:t>
            </a:r>
          </a:p>
          <a:p>
            <a:pPr lvl="1"/>
            <a:r>
              <a:rPr lang="en-US" sz="2000" dirty="0">
                <a:latin typeface="Arial" panose="020B0604020202020204" pitchFamily="34" charset="0"/>
                <a:cs typeface="Arial" panose="020B0604020202020204" pitchFamily="34" charset="0"/>
              </a:rPr>
              <a:t>Income is increases in assets</a:t>
            </a:r>
          </a:p>
          <a:p>
            <a:pPr lvl="1"/>
            <a:r>
              <a:rPr lang="en-US" sz="2000" dirty="0">
                <a:latin typeface="Arial" panose="020B0604020202020204" pitchFamily="34" charset="0"/>
                <a:cs typeface="Arial" panose="020B0604020202020204" pitchFamily="34" charset="0"/>
              </a:rPr>
              <a:t>Or decreases in liabilities</a:t>
            </a:r>
          </a:p>
          <a:p>
            <a:pPr lvl="1"/>
            <a:r>
              <a:rPr lang="en-US" sz="2000" dirty="0">
                <a:latin typeface="Arial" panose="020B0604020202020204" pitchFamily="34" charset="0"/>
                <a:cs typeface="Arial" panose="020B0604020202020204" pitchFamily="34" charset="0"/>
              </a:rPr>
              <a:t>That results in increases in equity</a:t>
            </a:r>
            <a:r>
              <a:rPr lang="en-ZA" sz="2000" dirty="0">
                <a:latin typeface="Arial" panose="020B0604020202020204" pitchFamily="34" charset="0"/>
                <a:cs typeface="Arial" panose="020B0604020202020204" pitchFamily="34" charset="0"/>
              </a:rPr>
              <a:t>, other than those relating to contributions from holders of equity claims.</a:t>
            </a:r>
          </a:p>
          <a:p>
            <a:r>
              <a:rPr lang="en-US" sz="2000" b="1" dirty="0">
                <a:latin typeface="Arial" panose="020B0604020202020204" pitchFamily="34" charset="0"/>
                <a:cs typeface="Arial" panose="020B0604020202020204" pitchFamily="34" charset="0"/>
              </a:rPr>
              <a:t>Expenses [4.69]</a:t>
            </a:r>
          </a:p>
          <a:p>
            <a:pPr lvl="1"/>
            <a:r>
              <a:rPr lang="en-US" sz="2000" dirty="0">
                <a:latin typeface="Arial" panose="020B0604020202020204" pitchFamily="34" charset="0"/>
                <a:cs typeface="Arial" panose="020B0604020202020204" pitchFamily="34" charset="0"/>
              </a:rPr>
              <a:t>Expenses are decreases in assets</a:t>
            </a:r>
          </a:p>
          <a:p>
            <a:pPr lvl="1"/>
            <a:r>
              <a:rPr lang="en-US" sz="2000" dirty="0">
                <a:latin typeface="Arial" panose="020B0604020202020204" pitchFamily="34" charset="0"/>
                <a:cs typeface="Arial" panose="020B0604020202020204" pitchFamily="34" charset="0"/>
              </a:rPr>
              <a:t>Or increases in liabilities</a:t>
            </a:r>
          </a:p>
          <a:p>
            <a:pPr lvl="1"/>
            <a:r>
              <a:rPr lang="en-US" sz="2000" dirty="0">
                <a:latin typeface="Arial" panose="020B0604020202020204" pitchFamily="34" charset="0"/>
                <a:cs typeface="Arial" panose="020B0604020202020204" pitchFamily="34" charset="0"/>
              </a:rPr>
              <a:t>That results in decreases in equity, other than those relating to distributions to holders of equity claims.</a:t>
            </a:r>
          </a:p>
        </p:txBody>
      </p:sp>
    </p:spTree>
    <p:extLst>
      <p:ext uri="{BB962C8B-B14F-4D97-AF65-F5344CB8AC3E}">
        <p14:creationId xmlns:p14="http://schemas.microsoft.com/office/powerpoint/2010/main" val="4167284437"/>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Recognition and </a:t>
            </a:r>
            <a:r>
              <a:rPr lang="en-ZA" dirty="0" err="1">
                <a:latin typeface="Arial" panose="020B0604020202020204" pitchFamily="34" charset="0"/>
                <a:cs typeface="Arial" panose="020B0604020202020204" pitchFamily="34" charset="0"/>
              </a:rPr>
              <a:t>derecognition</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5</a:t>
            </a:r>
          </a:p>
        </p:txBody>
      </p:sp>
    </p:spTree>
    <p:extLst>
      <p:ext uri="{BB962C8B-B14F-4D97-AF65-F5344CB8AC3E}">
        <p14:creationId xmlns:p14="http://schemas.microsoft.com/office/powerpoint/2010/main" val="3876884242"/>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8925" y="188640"/>
            <a:ext cx="7056784" cy="1596177"/>
          </a:xfrm>
        </p:spPr>
        <p:txBody>
          <a:bodyPr>
            <a:normAutofit/>
          </a:bodyPr>
          <a:lstStyle/>
          <a:p>
            <a:r>
              <a:rPr lang="en-US" sz="2800" b="1" dirty="0">
                <a:latin typeface="Arial" panose="020B0604020202020204" pitchFamily="34" charset="0"/>
                <a:cs typeface="Arial" panose="020B0604020202020204" pitchFamily="34" charset="0"/>
              </a:rPr>
              <a:t>Chapter 5 – Recognition and </a:t>
            </a:r>
            <a:r>
              <a:rPr lang="en-US" sz="2800" b="1" dirty="0" err="1">
                <a:latin typeface="Arial" panose="020B0604020202020204" pitchFamily="34" charset="0"/>
                <a:cs typeface="Arial" panose="020B0604020202020204" pitchFamily="34" charset="0"/>
              </a:rPr>
              <a:t>derecognition</a:t>
            </a:r>
            <a:r>
              <a:rPr lang="en-US" sz="2800" b="1" dirty="0">
                <a:latin typeface="Arial" panose="020B0604020202020204" pitchFamily="34" charset="0"/>
                <a:cs typeface="Arial" panose="020B0604020202020204" pitchFamily="34" charset="0"/>
              </a:rPr>
              <a:t> [5.1-5.33]</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70892" y="1784817"/>
            <a:ext cx="8889731" cy="4006385"/>
          </a:xfrm>
        </p:spPr>
        <p:txBody>
          <a:bodyPr>
            <a:normAutofit/>
          </a:bodyPr>
          <a:lstStyle/>
          <a:p>
            <a:pPr>
              <a:spcAft>
                <a:spcPts val="300"/>
              </a:spcAft>
            </a:pPr>
            <a:r>
              <a:rPr lang="en-US" sz="2000" dirty="0">
                <a:latin typeface="Arial" panose="020B0604020202020204" pitchFamily="34" charset="0"/>
                <a:cs typeface="Arial" panose="020B0604020202020204" pitchFamily="34" charset="0"/>
              </a:rPr>
              <a:t>Recognition is the process of capturing for inclusion in SFP or Statement of comprehensive income</a:t>
            </a:r>
            <a:endParaRPr lang="en-ZA" sz="2000" dirty="0">
              <a:latin typeface="Arial" panose="020B0604020202020204" pitchFamily="34" charset="0"/>
              <a:cs typeface="Arial" panose="020B0604020202020204" pitchFamily="34" charset="0"/>
            </a:endParaRPr>
          </a:p>
          <a:p>
            <a:pPr lvl="1">
              <a:spcAft>
                <a:spcPts val="300"/>
              </a:spcAft>
            </a:pPr>
            <a:r>
              <a:rPr lang="en-US" sz="2000" dirty="0">
                <a:latin typeface="Arial" panose="020B0604020202020204" pitchFamily="34" charset="0"/>
                <a:cs typeface="Arial" panose="020B0604020202020204" pitchFamily="34" charset="0"/>
              </a:rPr>
              <a:t>An item that meets the definition of one of the elements – asset, liability, equity, income, expense.</a:t>
            </a:r>
          </a:p>
          <a:p>
            <a:pPr>
              <a:spcAft>
                <a:spcPts val="300"/>
              </a:spcAft>
            </a:pPr>
            <a:r>
              <a:rPr lang="en-US" sz="2000" dirty="0">
                <a:latin typeface="Arial" panose="020B0604020202020204" pitchFamily="34" charset="0"/>
                <a:cs typeface="Arial" panose="020B0604020202020204" pitchFamily="34" charset="0"/>
              </a:rPr>
              <a:t>Recognition involves depicting the item in one of those statements – either alone or in aggregation with other items – in words and by a monetary amount, and including that amount in one or more totals in that statement.</a:t>
            </a:r>
          </a:p>
          <a:p>
            <a:pPr>
              <a:spcAft>
                <a:spcPts val="300"/>
              </a:spcAft>
            </a:pPr>
            <a:r>
              <a:rPr lang="en-US" sz="2000" dirty="0">
                <a:latin typeface="Arial" panose="020B0604020202020204" pitchFamily="34" charset="0"/>
                <a:cs typeface="Arial" panose="020B0604020202020204" pitchFamily="34" charset="0"/>
              </a:rPr>
              <a:t>Amount at which asset, liability, equity recognized in SFP = carrying amount [5.1]</a:t>
            </a:r>
          </a:p>
        </p:txBody>
      </p:sp>
    </p:spTree>
    <p:extLst>
      <p:ext uri="{BB962C8B-B14F-4D97-AF65-F5344CB8AC3E}">
        <p14:creationId xmlns:p14="http://schemas.microsoft.com/office/powerpoint/2010/main" val="1889396522"/>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16632"/>
            <a:ext cx="6873503" cy="1596177"/>
          </a:xfrm>
        </p:spPr>
        <p:txBody>
          <a:bodyPr>
            <a:normAutofit/>
          </a:bodyPr>
          <a:lstStyle/>
          <a:p>
            <a:r>
              <a:rPr lang="en-US" sz="2800" b="1" dirty="0">
                <a:latin typeface="Arial" panose="020B0604020202020204" pitchFamily="34" charset="0"/>
                <a:cs typeface="Arial" panose="020B0604020202020204" pitchFamily="34" charset="0"/>
              </a:rPr>
              <a:t>Chapter 5 – Recognition and </a:t>
            </a:r>
            <a:r>
              <a:rPr lang="en-US" sz="2800" b="1" dirty="0" err="1">
                <a:latin typeface="Arial" panose="020B0604020202020204" pitchFamily="34" charset="0"/>
                <a:cs typeface="Arial" panose="020B0604020202020204" pitchFamily="34" charset="0"/>
              </a:rPr>
              <a:t>derecognition</a:t>
            </a:r>
            <a:r>
              <a:rPr lang="en-US" sz="2800" b="1" dirty="0">
                <a:latin typeface="Arial" panose="020B0604020202020204" pitchFamily="34" charset="0"/>
                <a:cs typeface="Arial" panose="020B0604020202020204" pitchFamily="34" charset="0"/>
              </a:rPr>
              <a:t> [5.1-5.33]</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06896" y="1712809"/>
            <a:ext cx="9289031" cy="3424107"/>
          </a:xfrm>
        </p:spPr>
        <p:txBody>
          <a:bodyPr>
            <a:normAutofit/>
          </a:bodyPr>
          <a:lstStyle/>
          <a:p>
            <a:r>
              <a:rPr lang="en-US" sz="2000" dirty="0">
                <a:latin typeface="Arial" panose="020B0604020202020204" pitchFamily="34" charset="0"/>
                <a:cs typeface="Arial" panose="020B0604020202020204" pitchFamily="34" charset="0"/>
              </a:rPr>
              <a:t>How recognition links the elements of financial statements</a:t>
            </a:r>
            <a:endParaRPr lang="en-ZA" sz="20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3"/>
          <a:stretch>
            <a:fillRect/>
          </a:stretch>
        </p:blipFill>
        <p:spPr>
          <a:xfrm>
            <a:off x="2045149" y="2564904"/>
            <a:ext cx="5406575" cy="3666173"/>
          </a:xfrm>
          <a:prstGeom prst="rect">
            <a:avLst/>
          </a:prstGeom>
        </p:spPr>
      </p:pic>
    </p:spTree>
    <p:extLst>
      <p:ext uri="{BB962C8B-B14F-4D97-AF65-F5344CB8AC3E}">
        <p14:creationId xmlns:p14="http://schemas.microsoft.com/office/powerpoint/2010/main" val="2518934406"/>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16632"/>
            <a:ext cx="7305551" cy="1596177"/>
          </a:xfrm>
        </p:spPr>
        <p:txBody>
          <a:bodyPr>
            <a:normAutofit/>
          </a:bodyPr>
          <a:lstStyle/>
          <a:p>
            <a:r>
              <a:rPr lang="en-US" sz="2800" b="1" dirty="0">
                <a:solidFill>
                  <a:prstClr val="black"/>
                </a:solidFill>
                <a:latin typeface="Arial" panose="020B0604020202020204" pitchFamily="34" charset="0"/>
                <a:cs typeface="Arial" panose="020B0604020202020204" pitchFamily="34" charset="0"/>
              </a:rPr>
              <a:t>Chapter 5 – Recognition and </a:t>
            </a:r>
            <a:r>
              <a:rPr lang="en-US" sz="2800" b="1" dirty="0" err="1">
                <a:solidFill>
                  <a:prstClr val="black"/>
                </a:solidFill>
                <a:latin typeface="Arial" panose="020B0604020202020204" pitchFamily="34" charset="0"/>
                <a:cs typeface="Arial" panose="020B0604020202020204" pitchFamily="34" charset="0"/>
              </a:rPr>
              <a:t>derecognition</a:t>
            </a:r>
            <a:r>
              <a:rPr lang="en-US" sz="2800" b="1" dirty="0">
                <a:solidFill>
                  <a:prstClr val="black"/>
                </a:solidFill>
                <a:latin typeface="Arial" panose="020B0604020202020204" pitchFamily="34" charset="0"/>
                <a:cs typeface="Arial" panose="020B0604020202020204" pitchFamily="34" charset="0"/>
              </a:rPr>
              <a:t> [5.1-5.33]</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70892" y="1844824"/>
            <a:ext cx="9361040" cy="3424107"/>
          </a:xfrm>
        </p:spPr>
        <p:txBody>
          <a:bodyPr>
            <a:normAutofit/>
          </a:bodyPr>
          <a:lstStyle/>
          <a:p>
            <a:pPr>
              <a:spcAft>
                <a:spcPts val="600"/>
              </a:spcAft>
            </a:pPr>
            <a:r>
              <a:rPr lang="en-US" sz="2000" b="1" dirty="0">
                <a:latin typeface="Arial" panose="020B0604020202020204" pitchFamily="34" charset="0"/>
                <a:cs typeface="Arial" panose="020B0604020202020204" pitchFamily="34" charset="0"/>
              </a:rPr>
              <a:t>Simultaneous recognition</a:t>
            </a:r>
          </a:p>
          <a:p>
            <a:pPr lvl="1">
              <a:spcAft>
                <a:spcPts val="600"/>
              </a:spcAft>
            </a:pPr>
            <a:r>
              <a:rPr lang="en-US" sz="2000" dirty="0">
                <a:latin typeface="Arial" panose="020B0604020202020204" pitchFamily="34" charset="0"/>
                <a:cs typeface="Arial" panose="020B0604020202020204" pitchFamily="34" charset="0"/>
              </a:rPr>
              <a:t>Initial recognition of assets/liabilities arising from transactions or other events may result in </a:t>
            </a:r>
            <a:r>
              <a:rPr lang="en-US" sz="2000" dirty="0">
                <a:solidFill>
                  <a:srgbClr val="FF0000"/>
                </a:solidFill>
                <a:latin typeface="Arial" panose="020B0604020202020204" pitchFamily="34" charset="0"/>
                <a:cs typeface="Arial" panose="020B0604020202020204" pitchFamily="34" charset="0"/>
              </a:rPr>
              <a:t>simultaneous recognition of both income and related expenses.</a:t>
            </a:r>
          </a:p>
          <a:p>
            <a:pPr lvl="1">
              <a:spcAft>
                <a:spcPts val="600"/>
              </a:spcAft>
            </a:pPr>
            <a:r>
              <a:rPr lang="en-US" sz="2000" dirty="0">
                <a:latin typeface="Arial" panose="020B0604020202020204" pitchFamily="34" charset="0"/>
                <a:cs typeface="Arial" panose="020B0604020202020204" pitchFamily="34" charset="0"/>
              </a:rPr>
              <a:t>Simultaneous recognition also referred to as the </a:t>
            </a:r>
            <a:r>
              <a:rPr lang="en-US" sz="2000" dirty="0">
                <a:solidFill>
                  <a:srgbClr val="FF0000"/>
                </a:solidFill>
                <a:latin typeface="Arial" panose="020B0604020202020204" pitchFamily="34" charset="0"/>
                <a:cs typeface="Arial" panose="020B0604020202020204" pitchFamily="34" charset="0"/>
              </a:rPr>
              <a:t>matching of costs with income.</a:t>
            </a:r>
          </a:p>
          <a:p>
            <a:pPr lvl="1">
              <a:spcAft>
                <a:spcPts val="600"/>
              </a:spcAft>
            </a:pPr>
            <a:r>
              <a:rPr lang="en-US" sz="2000" dirty="0">
                <a:latin typeface="Arial" panose="020B0604020202020204" pitchFamily="34" charset="0"/>
                <a:cs typeface="Arial" panose="020B0604020202020204" pitchFamily="34" charset="0"/>
              </a:rPr>
              <a:t>However, not an objective of the Conceptual Framework.</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936812"/>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133" y="149548"/>
            <a:ext cx="6893575" cy="1596177"/>
          </a:xfrm>
        </p:spPr>
        <p:txBody>
          <a:bodyPr>
            <a:normAutofit/>
          </a:bodyPr>
          <a:lstStyle/>
          <a:p>
            <a:r>
              <a:rPr lang="en-US" sz="2800" b="1" dirty="0">
                <a:solidFill>
                  <a:prstClr val="black"/>
                </a:solidFill>
                <a:latin typeface="Arial" panose="020B0604020202020204" pitchFamily="34" charset="0"/>
                <a:cs typeface="Arial" panose="020B0604020202020204" pitchFamily="34" charset="0"/>
              </a:rPr>
              <a:t>Chapter 5 – Recognition and </a:t>
            </a:r>
            <a:r>
              <a:rPr lang="en-US" sz="2800" b="1" dirty="0" err="1">
                <a:solidFill>
                  <a:prstClr val="black"/>
                </a:solidFill>
                <a:latin typeface="Arial" panose="020B0604020202020204" pitchFamily="34" charset="0"/>
                <a:cs typeface="Arial" panose="020B0604020202020204" pitchFamily="34" charset="0"/>
              </a:rPr>
              <a:t>derecognition</a:t>
            </a:r>
            <a:r>
              <a:rPr lang="en-US" sz="2800" b="1" dirty="0">
                <a:solidFill>
                  <a:prstClr val="black"/>
                </a:solidFill>
                <a:latin typeface="Arial" panose="020B0604020202020204" pitchFamily="34" charset="0"/>
                <a:cs typeface="Arial" panose="020B0604020202020204" pitchFamily="34" charset="0"/>
              </a:rPr>
              <a:t> [5.1-5.33]</a:t>
            </a:r>
            <a:endParaRPr lang="en-ZA" sz="2800" b="1" dirty="0">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42345" y="1688169"/>
            <a:ext cx="8418418" cy="3424107"/>
          </a:xfrm>
        </p:spPr>
        <p:txBody>
          <a:bodyPr>
            <a:normAutofit/>
          </a:bodyPr>
          <a:lstStyle/>
          <a:p>
            <a:r>
              <a:rPr lang="en-US" sz="2000" dirty="0">
                <a:latin typeface="Arial" panose="020B0604020202020204" pitchFamily="34" charset="0"/>
                <a:cs typeface="Arial" panose="020B0604020202020204" pitchFamily="34" charset="0"/>
              </a:rPr>
              <a:t>Recognition criteria [5.6 – 5.25]</a:t>
            </a:r>
            <a:endParaRPr lang="en-ZA" sz="20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a:stretch>
            <a:fillRect/>
          </a:stretch>
        </p:blipFill>
        <p:spPr>
          <a:xfrm>
            <a:off x="402205" y="2348880"/>
            <a:ext cx="9058275" cy="3086100"/>
          </a:xfrm>
          <a:prstGeom prst="rect">
            <a:avLst/>
          </a:prstGeom>
        </p:spPr>
      </p:pic>
    </p:spTree>
    <p:extLst>
      <p:ext uri="{BB962C8B-B14F-4D97-AF65-F5344CB8AC3E}">
        <p14:creationId xmlns:p14="http://schemas.microsoft.com/office/powerpoint/2010/main" val="644468623"/>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3" y="206869"/>
            <a:ext cx="6873505" cy="1596177"/>
          </a:xfrm>
        </p:spPr>
        <p:txBody>
          <a:bodyPr>
            <a:normAutofit/>
          </a:bodyPr>
          <a:lstStyle/>
          <a:p>
            <a:r>
              <a:rPr lang="en-US" sz="2800" b="1" dirty="0">
                <a:solidFill>
                  <a:prstClr val="black"/>
                </a:solidFill>
                <a:latin typeface="Arial" panose="020B0604020202020204" pitchFamily="34" charset="0"/>
                <a:cs typeface="Arial" panose="020B0604020202020204" pitchFamily="34" charset="0"/>
              </a:rPr>
              <a:t>Chapter 5 – Recognition and </a:t>
            </a:r>
            <a:r>
              <a:rPr lang="en-US" sz="2800" b="1" dirty="0" err="1">
                <a:solidFill>
                  <a:prstClr val="black"/>
                </a:solidFill>
                <a:latin typeface="Arial" panose="020B0604020202020204" pitchFamily="34" charset="0"/>
                <a:cs typeface="Arial" panose="020B0604020202020204" pitchFamily="34" charset="0"/>
              </a:rPr>
              <a:t>derecognition</a:t>
            </a:r>
            <a:r>
              <a:rPr lang="en-US" sz="2800" b="1" dirty="0">
                <a:solidFill>
                  <a:prstClr val="black"/>
                </a:solidFill>
                <a:latin typeface="Arial" panose="020B0604020202020204" pitchFamily="34" charset="0"/>
                <a:cs typeface="Arial" panose="020B0604020202020204" pitchFamily="34" charset="0"/>
              </a:rPr>
              <a:t> [5.1-5.33]</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2202" y="1803046"/>
            <a:ext cx="8418418" cy="3424107"/>
          </a:xfrm>
        </p:spPr>
        <p:txBody>
          <a:bodyPr/>
          <a:lstStyle/>
          <a:p>
            <a:r>
              <a:rPr lang="en-US" dirty="0" err="1">
                <a:latin typeface="Arial" panose="020B0604020202020204" pitchFamily="34" charset="0"/>
                <a:cs typeface="Arial" panose="020B0604020202020204" pitchFamily="34" charset="0"/>
              </a:rPr>
              <a:t>Derecognition</a:t>
            </a:r>
            <a:r>
              <a:rPr lang="en-US" dirty="0">
                <a:latin typeface="Arial" panose="020B0604020202020204" pitchFamily="34" charset="0"/>
                <a:cs typeface="Arial" panose="020B0604020202020204" pitchFamily="34" charset="0"/>
              </a:rPr>
              <a:t> [5.26-5.33]</a:t>
            </a:r>
          </a:p>
          <a:p>
            <a:endParaRPr lang="en-ZA" dirty="0"/>
          </a:p>
        </p:txBody>
      </p:sp>
      <p:pic>
        <p:nvPicPr>
          <p:cNvPr id="5" name="Picture 4"/>
          <p:cNvPicPr>
            <a:picLocks noChangeAspect="1"/>
          </p:cNvPicPr>
          <p:nvPr/>
        </p:nvPicPr>
        <p:blipFill>
          <a:blip r:embed="rId3"/>
          <a:stretch>
            <a:fillRect/>
          </a:stretch>
        </p:blipFill>
        <p:spPr>
          <a:xfrm>
            <a:off x="407986" y="2812015"/>
            <a:ext cx="9086850" cy="2743200"/>
          </a:xfrm>
          <a:prstGeom prst="rect">
            <a:avLst/>
          </a:prstGeom>
        </p:spPr>
      </p:pic>
    </p:spTree>
    <p:extLst>
      <p:ext uri="{BB962C8B-B14F-4D97-AF65-F5344CB8AC3E}">
        <p14:creationId xmlns:p14="http://schemas.microsoft.com/office/powerpoint/2010/main" val="4107767507"/>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Measurement</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6</a:t>
            </a:r>
          </a:p>
        </p:txBody>
      </p:sp>
    </p:spTree>
    <p:extLst>
      <p:ext uri="{BB962C8B-B14F-4D97-AF65-F5344CB8AC3E}">
        <p14:creationId xmlns:p14="http://schemas.microsoft.com/office/powerpoint/2010/main" val="1799847089"/>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88640"/>
            <a:ext cx="8418417" cy="1596177"/>
          </a:xfrm>
        </p:spPr>
        <p:txBody>
          <a:bodyPr>
            <a:normAutofit/>
          </a:bodyPr>
          <a:lstStyle/>
          <a:p>
            <a:r>
              <a:rPr lang="en-US" sz="2800" b="1" dirty="0">
                <a:latin typeface="Arial" panose="020B0604020202020204" pitchFamily="34" charset="0"/>
                <a:cs typeface="Arial" panose="020B0604020202020204" pitchFamily="34" charset="0"/>
              </a:rPr>
              <a:t>Chapter 6: Measurement [6.1-6.95]</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19066" y="1426437"/>
            <a:ext cx="9036325" cy="2506619"/>
          </a:xfrm>
        </p:spPr>
        <p:txBody>
          <a:bodyPr>
            <a:normAutofit/>
          </a:bodyPr>
          <a:lstStyle/>
          <a:p>
            <a:r>
              <a:rPr lang="en-US" sz="2000" dirty="0">
                <a:latin typeface="Arial" panose="020B0604020202020204" pitchFamily="34" charset="0"/>
                <a:cs typeface="Arial" panose="020B0604020202020204" pitchFamily="34" charset="0"/>
              </a:rPr>
              <a:t>Measurement bases [6.4-6.22]</a:t>
            </a:r>
          </a:p>
          <a:p>
            <a:pPr lvl="1"/>
            <a:r>
              <a:rPr lang="en-US" sz="2000" dirty="0">
                <a:latin typeface="Arial" panose="020B0604020202020204" pitchFamily="34" charset="0"/>
                <a:cs typeface="Arial" panose="020B0604020202020204" pitchFamily="34" charset="0"/>
              </a:rPr>
              <a:t>Historical cost [6.4-6.9]</a:t>
            </a:r>
          </a:p>
          <a:p>
            <a:pPr lvl="1"/>
            <a:r>
              <a:rPr lang="en-US" sz="2000" dirty="0">
                <a:latin typeface="Arial" panose="020B0604020202020204" pitchFamily="34" charset="0"/>
                <a:cs typeface="Arial" panose="020B0604020202020204" pitchFamily="34" charset="0"/>
              </a:rPr>
              <a:t>Current value [6.10-6.22]</a:t>
            </a:r>
          </a:p>
          <a:p>
            <a:pPr lvl="2"/>
            <a:r>
              <a:rPr lang="en-US" sz="2000" dirty="0">
                <a:latin typeface="Arial" panose="020B0604020202020204" pitchFamily="34" charset="0"/>
                <a:cs typeface="Arial" panose="020B0604020202020204" pitchFamily="34" charset="0"/>
              </a:rPr>
              <a:t>Fair value</a:t>
            </a:r>
          </a:p>
          <a:p>
            <a:pPr lvl="2"/>
            <a:r>
              <a:rPr lang="en-US" sz="2000" dirty="0">
                <a:latin typeface="Arial" panose="020B0604020202020204" pitchFamily="34" charset="0"/>
                <a:cs typeface="Arial" panose="020B0604020202020204" pitchFamily="34" charset="0"/>
              </a:rPr>
              <a:t>Value in use and fulfilment value</a:t>
            </a:r>
          </a:p>
          <a:p>
            <a:pPr lvl="2"/>
            <a:r>
              <a:rPr lang="en-US" sz="2000" dirty="0">
                <a:latin typeface="Arial" panose="020B0604020202020204" pitchFamily="34" charset="0"/>
                <a:cs typeface="Arial" panose="020B0604020202020204" pitchFamily="34" charset="0"/>
              </a:rPr>
              <a:t>Current cost</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4834799"/>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188640"/>
            <a:ext cx="8418417" cy="1596177"/>
          </a:xfrm>
        </p:spPr>
        <p:txBody>
          <a:bodyPr>
            <a:normAutofit/>
          </a:bodyPr>
          <a:lstStyle/>
          <a:p>
            <a:r>
              <a:rPr lang="en-US" sz="2800" b="1" dirty="0">
                <a:latin typeface="Arial" panose="020B0604020202020204" pitchFamily="34" charset="0"/>
                <a:cs typeface="Arial" panose="020B0604020202020204" pitchFamily="34" charset="0"/>
              </a:rPr>
              <a:t>Chapter 6: Measurement [6.1-6.95]</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Factors to consider when selecting a measurement basis [6.43-6.86]</a:t>
            </a:r>
          </a:p>
          <a:p>
            <a:pPr lvl="1"/>
            <a:r>
              <a:rPr lang="en-US" sz="2000" dirty="0">
                <a:latin typeface="Arial" panose="020B0604020202020204" pitchFamily="34" charset="0"/>
                <a:cs typeface="Arial" panose="020B0604020202020204" pitchFamily="34" charset="0"/>
              </a:rPr>
              <a:t>In most cases, no single factor will determine which measurement basis should be selected.  Depend on facts and circumstances [6.44]</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492864"/>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260648"/>
            <a:ext cx="8418417" cy="1596177"/>
          </a:xfrm>
        </p:spPr>
        <p:txBody>
          <a:bodyPr>
            <a:normAutofit/>
          </a:bodyPr>
          <a:lstStyle/>
          <a:p>
            <a:r>
              <a:rPr lang="en-US" sz="2800" b="1" dirty="0">
                <a:latin typeface="Arial" panose="020B0604020202020204" pitchFamily="34" charset="0"/>
                <a:cs typeface="Arial" panose="020B0604020202020204" pitchFamily="34" charset="0"/>
              </a:rPr>
              <a:t>Chapter 6: Measurement [6.1-6.95]</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Measurement of equity [6.87-6.90]</a:t>
            </a:r>
          </a:p>
          <a:p>
            <a:pPr lvl="1"/>
            <a:r>
              <a:rPr lang="en-US" sz="2000" dirty="0">
                <a:solidFill>
                  <a:srgbClr val="FF0000"/>
                </a:solidFill>
                <a:latin typeface="Arial" panose="020B0604020202020204" pitchFamily="34" charset="0"/>
                <a:cs typeface="Arial" panose="020B0604020202020204" pitchFamily="34" charset="0"/>
              </a:rPr>
              <a:t>Total</a:t>
            </a:r>
            <a:r>
              <a:rPr lang="en-US" sz="2000" dirty="0">
                <a:latin typeface="Arial" panose="020B0604020202020204" pitchFamily="34" charset="0"/>
                <a:cs typeface="Arial" panose="020B0604020202020204" pitchFamily="34" charset="0"/>
              </a:rPr>
              <a:t> carrying amount of equity is not measured directly.</a:t>
            </a:r>
          </a:p>
          <a:p>
            <a:pPr lvl="1"/>
            <a:r>
              <a:rPr lang="en-US" sz="2000" dirty="0">
                <a:latin typeface="Arial" panose="020B0604020202020204" pitchFamily="34" charset="0"/>
                <a:cs typeface="Arial" panose="020B0604020202020204" pitchFamily="34" charset="0"/>
              </a:rPr>
              <a:t>It may be appropriate to measure directly the carrying amount of some </a:t>
            </a:r>
            <a:r>
              <a:rPr lang="en-US" sz="2000" dirty="0">
                <a:solidFill>
                  <a:srgbClr val="FF0000"/>
                </a:solidFill>
                <a:latin typeface="Arial" panose="020B0604020202020204" pitchFamily="34" charset="0"/>
                <a:cs typeface="Arial" panose="020B0604020202020204" pitchFamily="34" charset="0"/>
              </a:rPr>
              <a:t>individual</a:t>
            </a:r>
            <a:r>
              <a:rPr lang="en-US" sz="2000" dirty="0">
                <a:latin typeface="Arial" panose="020B0604020202020204" pitchFamily="34" charset="0"/>
                <a:cs typeface="Arial" panose="020B0604020202020204" pitchFamily="34" charset="0"/>
              </a:rPr>
              <a:t> classes of equity and some </a:t>
            </a:r>
            <a:r>
              <a:rPr lang="en-US" sz="2000" dirty="0">
                <a:solidFill>
                  <a:srgbClr val="FF0000"/>
                </a:solidFill>
                <a:latin typeface="Arial" panose="020B0604020202020204" pitchFamily="34" charset="0"/>
                <a:cs typeface="Arial" panose="020B0604020202020204" pitchFamily="34" charset="0"/>
              </a:rPr>
              <a:t>components</a:t>
            </a:r>
            <a:r>
              <a:rPr lang="en-US" sz="2000" dirty="0">
                <a:latin typeface="Arial" panose="020B0604020202020204" pitchFamily="34" charset="0"/>
                <a:cs typeface="Arial" panose="020B0604020202020204" pitchFamily="34" charset="0"/>
              </a:rPr>
              <a:t> of equity</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7159520"/>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Presentation and disclosure</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7</a:t>
            </a:r>
          </a:p>
        </p:txBody>
      </p:sp>
    </p:spTree>
    <p:extLst>
      <p:ext uri="{BB962C8B-B14F-4D97-AF65-F5344CB8AC3E}">
        <p14:creationId xmlns:p14="http://schemas.microsoft.com/office/powerpoint/2010/main" val="3328737859"/>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5" y="260648"/>
            <a:ext cx="7089527" cy="1596177"/>
          </a:xfrm>
        </p:spPr>
        <p:txBody>
          <a:bodyPr>
            <a:normAutofit/>
          </a:bodyPr>
          <a:lstStyle/>
          <a:p>
            <a:r>
              <a:rPr lang="en-US" sz="2800" b="1" dirty="0">
                <a:latin typeface="Arial" panose="020B0604020202020204" pitchFamily="34" charset="0"/>
                <a:cs typeface="Arial" panose="020B0604020202020204" pitchFamily="34" charset="0"/>
              </a:rPr>
              <a:t>Chapter 7: Presentation and disclosure [7.1-7.20]</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33249" y="1827663"/>
            <a:ext cx="9036325" cy="2465433"/>
          </a:xfrm>
        </p:spPr>
        <p:txBody>
          <a:bodyPr>
            <a:normAutofit/>
          </a:bodyPr>
          <a:lstStyle/>
          <a:p>
            <a:pPr>
              <a:spcBef>
                <a:spcPts val="600"/>
              </a:spcBef>
              <a:spcAft>
                <a:spcPts val="600"/>
              </a:spcAft>
            </a:pPr>
            <a:r>
              <a:rPr lang="en-US" sz="2000" dirty="0">
                <a:latin typeface="Arial" panose="020B0604020202020204" pitchFamily="34" charset="0"/>
                <a:cs typeface="Arial" panose="020B0604020202020204" pitchFamily="34" charset="0"/>
              </a:rPr>
              <a:t>A reporting entity </a:t>
            </a:r>
            <a:r>
              <a:rPr lang="en-US" sz="2000" dirty="0">
                <a:solidFill>
                  <a:srgbClr val="FF0000"/>
                </a:solidFill>
                <a:latin typeface="Arial" panose="020B0604020202020204" pitchFamily="34" charset="0"/>
                <a:cs typeface="Arial" panose="020B0604020202020204" pitchFamily="34" charset="0"/>
              </a:rPr>
              <a:t>communicates information </a:t>
            </a:r>
            <a:r>
              <a:rPr lang="en-US" sz="2000" dirty="0">
                <a:latin typeface="Arial" panose="020B0604020202020204" pitchFamily="34" charset="0"/>
                <a:cs typeface="Arial" panose="020B0604020202020204" pitchFamily="34" charset="0"/>
              </a:rPr>
              <a:t>about its assets, liabilities, equity, income and expenses by presenting and disclosing information in its financial statements [7.1]</a:t>
            </a:r>
          </a:p>
          <a:p>
            <a:pPr>
              <a:spcBef>
                <a:spcPts val="600"/>
              </a:spcBef>
              <a:spcAft>
                <a:spcPts val="600"/>
              </a:spcAft>
            </a:pPr>
            <a:r>
              <a:rPr lang="en-US" sz="2000" dirty="0">
                <a:latin typeface="Arial" panose="020B0604020202020204" pitchFamily="34" charset="0"/>
                <a:cs typeface="Arial" panose="020B0604020202020204" pitchFamily="34" charset="0"/>
              </a:rPr>
              <a:t>Effective communication makes information </a:t>
            </a:r>
            <a:r>
              <a:rPr lang="en-US" sz="2000" dirty="0">
                <a:solidFill>
                  <a:srgbClr val="FF0000"/>
                </a:solidFill>
                <a:latin typeface="Arial" panose="020B0604020202020204" pitchFamily="34" charset="0"/>
                <a:cs typeface="Arial" panose="020B0604020202020204" pitchFamily="34" charset="0"/>
              </a:rPr>
              <a:t>more</a:t>
            </a: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relevant</a:t>
            </a:r>
            <a:r>
              <a:rPr lang="en-US" sz="2000" dirty="0">
                <a:latin typeface="Arial" panose="020B0604020202020204" pitchFamily="34" charset="0"/>
                <a:cs typeface="Arial" panose="020B0604020202020204" pitchFamily="34" charset="0"/>
              </a:rPr>
              <a:t> and </a:t>
            </a:r>
            <a:r>
              <a:rPr lang="en-US" sz="2000" dirty="0">
                <a:solidFill>
                  <a:schemeClr val="tx2">
                    <a:lumMod val="60000"/>
                    <a:lumOff val="40000"/>
                  </a:schemeClr>
                </a:solidFill>
                <a:latin typeface="Arial" panose="020B0604020202020204" pitchFamily="34" charset="0"/>
                <a:cs typeface="Arial" panose="020B0604020202020204" pitchFamily="34" charset="0"/>
              </a:rPr>
              <a:t>contributes to a faithful representation </a:t>
            </a:r>
            <a:r>
              <a:rPr lang="en-US" sz="2000" dirty="0">
                <a:latin typeface="Arial" panose="020B0604020202020204" pitchFamily="34" charset="0"/>
                <a:cs typeface="Arial" panose="020B0604020202020204" pitchFamily="34" charset="0"/>
              </a:rPr>
              <a:t>of an entity’s A,L,E,I,E.  It also </a:t>
            </a:r>
            <a:r>
              <a:rPr lang="en-US" sz="2000" dirty="0">
                <a:solidFill>
                  <a:schemeClr val="accent6">
                    <a:lumMod val="75000"/>
                  </a:schemeClr>
                </a:solidFill>
                <a:latin typeface="Arial" panose="020B0604020202020204" pitchFamily="34" charset="0"/>
                <a:cs typeface="Arial" panose="020B0604020202020204" pitchFamily="34" charset="0"/>
              </a:rPr>
              <a:t>enhances the understandability </a:t>
            </a:r>
            <a:r>
              <a:rPr lang="en-US" sz="2000" dirty="0">
                <a:solidFill>
                  <a:srgbClr val="FF33CC"/>
                </a:solidFill>
                <a:latin typeface="Arial" panose="020B0604020202020204" pitchFamily="34" charset="0"/>
                <a:cs typeface="Arial" panose="020B0604020202020204" pitchFamily="34" charset="0"/>
              </a:rPr>
              <a:t>and comparability</a:t>
            </a:r>
            <a:r>
              <a:rPr lang="en-US" sz="2000" dirty="0">
                <a:latin typeface="Arial" panose="020B0604020202020204" pitchFamily="34" charset="0"/>
                <a:cs typeface="Arial" panose="020B0604020202020204" pitchFamily="34" charset="0"/>
              </a:rPr>
              <a:t>.</a:t>
            </a: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2562038"/>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884" y="1700808"/>
            <a:ext cx="9433048" cy="4464495"/>
          </a:xfrm>
        </p:spPr>
        <p:txBody>
          <a:bodyPr>
            <a:noAutofit/>
          </a:bodyPr>
          <a:lstStyle/>
          <a:p>
            <a:r>
              <a:rPr lang="en-US" sz="2000" dirty="0">
                <a:latin typeface="Arial" panose="020B0604020202020204" pitchFamily="34" charset="0"/>
                <a:cs typeface="Arial" panose="020B0604020202020204" pitchFamily="34" charset="0"/>
              </a:rPr>
              <a:t>Classification</a:t>
            </a:r>
          </a:p>
          <a:p>
            <a:pPr lvl="1"/>
            <a:r>
              <a:rPr lang="en-US" sz="2000" dirty="0">
                <a:latin typeface="Arial" panose="020B0604020202020204" pitchFamily="34" charset="0"/>
                <a:cs typeface="Arial" panose="020B0604020202020204" pitchFamily="34" charset="0"/>
              </a:rPr>
              <a:t>Classifying dissimilar A,L,E,I,E together can obscure relevant information, reduce understandability and comparability [7.8]</a:t>
            </a:r>
          </a:p>
          <a:p>
            <a:pPr lvl="1"/>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Classification of assets and liabilities</a:t>
            </a:r>
          </a:p>
          <a:p>
            <a:pPr lvl="1"/>
            <a:r>
              <a:rPr lang="en-US" sz="2000" dirty="0">
                <a:latin typeface="Arial" panose="020B0604020202020204" pitchFamily="34" charset="0"/>
                <a:cs typeface="Arial" panose="020B0604020202020204" pitchFamily="34" charset="0"/>
              </a:rPr>
              <a:t>Is applied to the unit of account selected for an asset or liability.  However, sometimes appropriate to separate an asset or liability in components that have different characteristics [7.9]</a:t>
            </a:r>
          </a:p>
          <a:p>
            <a:pPr lvl="1"/>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Offsetting</a:t>
            </a:r>
          </a:p>
          <a:p>
            <a:pPr lvl="1"/>
            <a:r>
              <a:rPr lang="en-US" sz="2000" dirty="0">
                <a:latin typeface="Arial" panose="020B0604020202020204" pitchFamily="34" charset="0"/>
                <a:cs typeface="Arial" panose="020B0604020202020204" pitchFamily="34" charset="0"/>
              </a:rPr>
              <a:t>Classifies dissimilar items together and therefore is generally not appropriate.  Different from treating a set of rights and obligations as a single unit of account [7.10-7.11]</a:t>
            </a:r>
          </a:p>
        </p:txBody>
      </p:sp>
      <p:sp>
        <p:nvSpPr>
          <p:cNvPr id="2" name="Title 1">
            <a:extLst>
              <a:ext uri="{FF2B5EF4-FFF2-40B4-BE49-F238E27FC236}">
                <a16:creationId xmlns:a16="http://schemas.microsoft.com/office/drawing/2014/main" id="{5FCC8889-24CE-BEBD-727F-EC4E9A8898E8}"/>
              </a:ext>
            </a:extLst>
          </p:cNvPr>
          <p:cNvSpPr>
            <a:spLocks noGrp="1"/>
          </p:cNvSpPr>
          <p:nvPr>
            <p:ph type="title"/>
          </p:nvPr>
        </p:nvSpPr>
        <p:spPr>
          <a:xfrm>
            <a:off x="630932" y="104631"/>
            <a:ext cx="7089527" cy="1596177"/>
          </a:xfrm>
        </p:spPr>
        <p:txBody>
          <a:bodyPr>
            <a:normAutofit/>
          </a:bodyPr>
          <a:lstStyle/>
          <a:p>
            <a:r>
              <a:rPr lang="en-US" sz="2800" b="1" dirty="0">
                <a:latin typeface="Arial" panose="020B0604020202020204" pitchFamily="34" charset="0"/>
                <a:cs typeface="Arial" panose="020B0604020202020204" pitchFamily="34" charset="0"/>
              </a:rPr>
              <a:t>Chapter 7: </a:t>
            </a:r>
            <a:r>
              <a:rPr lang="en-US" sz="2800" dirty="0">
                <a:latin typeface="Arial" panose="020B0604020202020204" pitchFamily="34" charset="0"/>
                <a:cs typeface="Arial" panose="020B0604020202020204" pitchFamily="34" charset="0"/>
              </a:rPr>
              <a:t>Presentation and disclosure [7.1-7.20]</a:t>
            </a:r>
            <a:endParaRPr lang="en-ZA"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7879802"/>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890" y="1700808"/>
            <a:ext cx="8889730" cy="4069034"/>
          </a:xfrm>
        </p:spPr>
        <p:txBody>
          <a:bodyPr>
            <a:normAutofit/>
          </a:bodyPr>
          <a:lstStyle/>
          <a:p>
            <a:pPr>
              <a:spcAft>
                <a:spcPts val="600"/>
              </a:spcAft>
            </a:pPr>
            <a:r>
              <a:rPr lang="en-US" sz="2000" dirty="0">
                <a:latin typeface="Arial" panose="020B0604020202020204" pitchFamily="34" charset="0"/>
                <a:cs typeface="Arial" panose="020B0604020202020204" pitchFamily="34" charset="0"/>
              </a:rPr>
              <a:t>Classification of equity</a:t>
            </a:r>
          </a:p>
          <a:p>
            <a:pPr lvl="1">
              <a:spcAft>
                <a:spcPts val="600"/>
              </a:spcAft>
            </a:pPr>
            <a:r>
              <a:rPr lang="en-US" sz="2000" dirty="0">
                <a:latin typeface="Arial" panose="020B0604020202020204" pitchFamily="34" charset="0"/>
                <a:cs typeface="Arial" panose="020B0604020202020204" pitchFamily="34" charset="0"/>
              </a:rPr>
              <a:t>May be necessary to classify equity claims separately if those equity claims have different characteristics / subject to particular legal, regulatory or other requirements [7.12-7.13]</a:t>
            </a:r>
          </a:p>
          <a:p>
            <a:pPr>
              <a:spcAft>
                <a:spcPts val="600"/>
              </a:spcAft>
            </a:pPr>
            <a:r>
              <a:rPr lang="en-US" sz="2000" dirty="0">
                <a:latin typeface="Arial" panose="020B0604020202020204" pitchFamily="34" charset="0"/>
                <a:cs typeface="Arial" panose="020B0604020202020204" pitchFamily="34" charset="0"/>
              </a:rPr>
              <a:t>Classification of income and expenses</a:t>
            </a:r>
          </a:p>
          <a:p>
            <a:pPr lvl="1">
              <a:spcAft>
                <a:spcPts val="600"/>
              </a:spcAft>
            </a:pPr>
            <a:r>
              <a:rPr lang="en-US" sz="2000" dirty="0">
                <a:latin typeface="Arial" panose="020B0604020202020204" pitchFamily="34" charset="0"/>
                <a:cs typeface="Arial" panose="020B0604020202020204" pitchFamily="34" charset="0"/>
              </a:rPr>
              <a:t>Applied to income and expenses from the unit of account selected for an asset or liability, or components of such income and expenses if it has different characteristics and are identified separately.</a:t>
            </a:r>
            <a:endParaRPr lang="en-ZA" sz="20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CA370398-C3D5-1FB2-E1C5-BB178B2DBC04}"/>
              </a:ext>
            </a:extLst>
          </p:cNvPr>
          <p:cNvSpPr>
            <a:spLocks noGrp="1"/>
          </p:cNvSpPr>
          <p:nvPr>
            <p:ph type="title"/>
          </p:nvPr>
        </p:nvSpPr>
        <p:spPr>
          <a:xfrm>
            <a:off x="742205" y="260648"/>
            <a:ext cx="7089527" cy="1596177"/>
          </a:xfrm>
        </p:spPr>
        <p:txBody>
          <a:bodyPr>
            <a:normAutofit/>
          </a:bodyPr>
          <a:lstStyle/>
          <a:p>
            <a:r>
              <a:rPr lang="en-US" sz="2800" b="1" dirty="0">
                <a:latin typeface="Arial" panose="020B0604020202020204" pitchFamily="34" charset="0"/>
                <a:cs typeface="Arial" panose="020B0604020202020204" pitchFamily="34" charset="0"/>
              </a:rPr>
              <a:t>Chapter 7: Presentation and disclosure [7.1-7.20]</a:t>
            </a:r>
            <a:endParaRPr lang="en-ZA"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2886395"/>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704766" y="1803572"/>
            <a:ext cx="8418418" cy="3424107"/>
          </a:xfrm>
        </p:spPr>
        <p:txBody>
          <a:bodyPr>
            <a:normAutofit/>
          </a:bodyPr>
          <a:lstStyle/>
          <a:p>
            <a:r>
              <a:rPr lang="en-US" sz="2000" dirty="0">
                <a:latin typeface="Arial" panose="020B0604020202020204" pitchFamily="34" charset="0"/>
                <a:cs typeface="Arial" panose="020B0604020202020204" pitchFamily="34" charset="0"/>
              </a:rPr>
              <a:t>Profit or loss and other comprehensive income (SCI)</a:t>
            </a:r>
            <a:endParaRPr lang="en-ZA" sz="2000" dirty="0"/>
          </a:p>
        </p:txBody>
      </p:sp>
      <p:pic>
        <p:nvPicPr>
          <p:cNvPr id="2" name="Picture 1"/>
          <p:cNvPicPr>
            <a:picLocks noChangeAspect="1"/>
          </p:cNvPicPr>
          <p:nvPr/>
        </p:nvPicPr>
        <p:blipFill>
          <a:blip r:embed="rId3"/>
          <a:stretch>
            <a:fillRect/>
          </a:stretch>
        </p:blipFill>
        <p:spPr>
          <a:xfrm>
            <a:off x="1064148" y="2685382"/>
            <a:ext cx="7699653" cy="3197895"/>
          </a:xfrm>
          <a:prstGeom prst="rect">
            <a:avLst/>
          </a:prstGeom>
        </p:spPr>
      </p:pic>
      <p:sp>
        <p:nvSpPr>
          <p:cNvPr id="5" name="Title 1">
            <a:extLst>
              <a:ext uri="{FF2B5EF4-FFF2-40B4-BE49-F238E27FC236}">
                <a16:creationId xmlns:a16="http://schemas.microsoft.com/office/drawing/2014/main" id="{A001676D-84C0-6E12-CF1A-9148A204DAFC}"/>
              </a:ext>
            </a:extLst>
          </p:cNvPr>
          <p:cNvSpPr>
            <a:spLocks noGrp="1"/>
          </p:cNvSpPr>
          <p:nvPr>
            <p:ph type="title"/>
          </p:nvPr>
        </p:nvSpPr>
        <p:spPr>
          <a:xfrm>
            <a:off x="742205" y="260648"/>
            <a:ext cx="7089527" cy="1596177"/>
          </a:xfrm>
        </p:spPr>
        <p:txBody>
          <a:bodyPr>
            <a:normAutofit/>
          </a:bodyPr>
          <a:lstStyle/>
          <a:p>
            <a:r>
              <a:rPr lang="en-US" sz="2800" b="1" dirty="0">
                <a:latin typeface="Arial" panose="020B0604020202020204" pitchFamily="34" charset="0"/>
                <a:cs typeface="Arial" panose="020B0604020202020204" pitchFamily="34" charset="0"/>
              </a:rPr>
              <a:t>Chapter 7: Presentation and disclosure [7.1-7.20]</a:t>
            </a:r>
            <a:endParaRPr lang="en-ZA"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1594121"/>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892" y="1844825"/>
            <a:ext cx="9433048" cy="3946378"/>
          </a:xfrm>
        </p:spPr>
        <p:txBody>
          <a:bodyPr>
            <a:normAutofit/>
          </a:bodyPr>
          <a:lstStyle/>
          <a:p>
            <a:pPr>
              <a:spcBef>
                <a:spcPts val="600"/>
              </a:spcBef>
              <a:spcAft>
                <a:spcPts val="600"/>
              </a:spcAft>
            </a:pPr>
            <a:r>
              <a:rPr lang="en-US" sz="2000" dirty="0">
                <a:latin typeface="Arial" panose="020B0604020202020204" pitchFamily="34" charset="0"/>
                <a:cs typeface="Arial" panose="020B0604020202020204" pitchFamily="34" charset="0"/>
              </a:rPr>
              <a:t>Aggregation</a:t>
            </a:r>
          </a:p>
          <a:p>
            <a:pPr lvl="1">
              <a:spcBef>
                <a:spcPts val="600"/>
              </a:spcBef>
              <a:spcAft>
                <a:spcPts val="600"/>
              </a:spcAft>
            </a:pPr>
            <a:r>
              <a:rPr lang="en-US" sz="2000" dirty="0">
                <a:latin typeface="Arial" panose="020B0604020202020204" pitchFamily="34" charset="0"/>
                <a:cs typeface="Arial" panose="020B0604020202020204" pitchFamily="34" charset="0"/>
              </a:rPr>
              <a:t>Adding together A,L,E,I,E that have shared characteristics and included in same classification.</a:t>
            </a:r>
          </a:p>
          <a:p>
            <a:pPr lvl="1">
              <a:spcBef>
                <a:spcPts val="600"/>
              </a:spcBef>
              <a:spcAft>
                <a:spcPts val="600"/>
              </a:spcAft>
            </a:pPr>
            <a:r>
              <a:rPr lang="en-US" sz="2000" dirty="0">
                <a:latin typeface="Arial" panose="020B0604020202020204" pitchFamily="34" charset="0"/>
                <a:cs typeface="Arial" panose="020B0604020202020204" pitchFamily="34" charset="0"/>
              </a:rPr>
              <a:t>Makes information more useful</a:t>
            </a:r>
          </a:p>
          <a:p>
            <a:pPr lvl="1">
              <a:spcBef>
                <a:spcPts val="600"/>
              </a:spcBef>
              <a:spcAft>
                <a:spcPts val="600"/>
              </a:spcAft>
            </a:pPr>
            <a:r>
              <a:rPr lang="en-US" sz="2000" dirty="0">
                <a:latin typeface="Arial" panose="020B0604020202020204" pitchFamily="34" charset="0"/>
                <a:cs typeface="Arial" panose="020B0604020202020204" pitchFamily="34" charset="0"/>
              </a:rPr>
              <a:t>However, conceals some of the detail.  Therefore, find balance [7.20-7.22]</a:t>
            </a:r>
            <a:endParaRPr lang="en-ZA" sz="2000"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9129E158-8064-534E-B33D-78198EE0458A}"/>
              </a:ext>
            </a:extLst>
          </p:cNvPr>
          <p:cNvSpPr>
            <a:spLocks noGrp="1"/>
          </p:cNvSpPr>
          <p:nvPr>
            <p:ph type="title"/>
          </p:nvPr>
        </p:nvSpPr>
        <p:spPr>
          <a:xfrm>
            <a:off x="742205" y="260648"/>
            <a:ext cx="7089527" cy="1596177"/>
          </a:xfrm>
        </p:spPr>
        <p:txBody>
          <a:bodyPr>
            <a:normAutofit/>
          </a:bodyPr>
          <a:lstStyle/>
          <a:p>
            <a:r>
              <a:rPr lang="en-US" sz="2800" b="1" dirty="0">
                <a:latin typeface="Arial" panose="020B0604020202020204" pitchFamily="34" charset="0"/>
                <a:cs typeface="Arial" panose="020B0604020202020204" pitchFamily="34" charset="0"/>
              </a:rPr>
              <a:t>Chapter 7: Presentation and disclosure [7.1-7.20]</a:t>
            </a:r>
            <a:endParaRPr lang="en-ZA"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877468"/>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86916" y="3933056"/>
            <a:ext cx="9073007" cy="936104"/>
          </a:xfrm>
        </p:spPr>
        <p:txBody>
          <a:bodyPr>
            <a:normAutofit fontScale="90000"/>
          </a:bodyPr>
          <a:lstStyle/>
          <a:p>
            <a:r>
              <a:rPr lang="en-ZA" dirty="0">
                <a:latin typeface="Arial" panose="020B0604020202020204" pitchFamily="34" charset="0"/>
                <a:cs typeface="Arial" panose="020B0604020202020204" pitchFamily="34" charset="0"/>
              </a:rPr>
              <a:t>Concepts of capital and capital maintenance</a:t>
            </a:r>
            <a:br>
              <a:rPr lang="en-ZA" dirty="0">
                <a:latin typeface="Arial" panose="020B0604020202020204" pitchFamily="34" charset="0"/>
                <a:cs typeface="Arial" panose="020B0604020202020204" pitchFamily="34" charset="0"/>
              </a:rPr>
            </a:br>
            <a:br>
              <a:rPr lang="en-ZA" dirty="0">
                <a:latin typeface="Arial" panose="020B0604020202020204" pitchFamily="34" charset="0"/>
                <a:cs typeface="Arial" panose="020B0604020202020204" pitchFamily="34" charset="0"/>
              </a:rPr>
            </a:br>
            <a:r>
              <a:rPr lang="en-ZA" sz="2200" dirty="0">
                <a:latin typeface="Arial" panose="020B0604020202020204" pitchFamily="34" charset="0"/>
                <a:cs typeface="Arial" panose="020B0604020202020204" pitchFamily="34" charset="0"/>
              </a:rPr>
              <a:t>Chapter 8</a:t>
            </a:r>
          </a:p>
        </p:txBody>
      </p:sp>
    </p:spTree>
    <p:extLst>
      <p:ext uri="{BB962C8B-B14F-4D97-AF65-F5344CB8AC3E}">
        <p14:creationId xmlns:p14="http://schemas.microsoft.com/office/powerpoint/2010/main" val="1239487579"/>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2203" y="188640"/>
            <a:ext cx="6441457" cy="1596177"/>
          </a:xfrm>
        </p:spPr>
        <p:txBody>
          <a:bodyPr>
            <a:normAutofit/>
          </a:bodyPr>
          <a:lstStyle/>
          <a:p>
            <a:r>
              <a:rPr lang="en-US" sz="2800" b="1" dirty="0">
                <a:latin typeface="Arial" panose="020B0604020202020204" pitchFamily="34" charset="0"/>
                <a:cs typeface="Arial" panose="020B0604020202020204" pitchFamily="34" charset="0"/>
              </a:rPr>
              <a:t>Chapter 8: Concepts of capital and capital maintenance [8.1-8.10]</a:t>
            </a:r>
            <a:endParaRPr lang="en-ZA"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3437" y="1340768"/>
            <a:ext cx="9775949" cy="5040560"/>
          </a:xfrm>
        </p:spPr>
        <p:txBody>
          <a:bodyPr>
            <a:noAutofit/>
          </a:bodyPr>
          <a:lstStyle/>
          <a:p>
            <a:pPr>
              <a:spcAft>
                <a:spcPts val="600"/>
              </a:spcAft>
            </a:pPr>
            <a:r>
              <a:rPr lang="en-US" sz="1800" b="1" dirty="0">
                <a:latin typeface="Arial" panose="020B0604020202020204" pitchFamily="34" charset="0"/>
                <a:cs typeface="Arial" pitchFamily="34" charset="0"/>
              </a:rPr>
              <a:t>Capital</a:t>
            </a:r>
          </a:p>
          <a:p>
            <a:pPr lvl="1">
              <a:spcAft>
                <a:spcPts val="600"/>
              </a:spcAft>
            </a:pPr>
            <a:r>
              <a:rPr lang="en-US" sz="1800" dirty="0">
                <a:latin typeface="Arial" pitchFamily="34" charset="0"/>
                <a:cs typeface="Arial" pitchFamily="34" charset="0"/>
              </a:rPr>
              <a:t>Financial concept of capital = </a:t>
            </a:r>
            <a:r>
              <a:rPr lang="en-US" sz="1800" u="sng" dirty="0">
                <a:latin typeface="Arial" pitchFamily="34" charset="0"/>
                <a:cs typeface="Arial" pitchFamily="34" charset="0"/>
              </a:rPr>
              <a:t>net assets</a:t>
            </a:r>
            <a:r>
              <a:rPr lang="en-US" sz="1800" dirty="0">
                <a:latin typeface="Arial" pitchFamily="34" charset="0"/>
                <a:cs typeface="Arial" pitchFamily="34" charset="0"/>
              </a:rPr>
              <a:t> or </a:t>
            </a:r>
            <a:r>
              <a:rPr lang="en-US" sz="1800" u="sng" dirty="0">
                <a:latin typeface="Arial" pitchFamily="34" charset="0"/>
                <a:cs typeface="Arial" pitchFamily="34" charset="0"/>
              </a:rPr>
              <a:t>net equity</a:t>
            </a:r>
            <a:r>
              <a:rPr lang="en-US" sz="1800" dirty="0">
                <a:latin typeface="Arial" pitchFamily="34" charset="0"/>
                <a:cs typeface="Arial" pitchFamily="34" charset="0"/>
              </a:rPr>
              <a:t> of the entity</a:t>
            </a:r>
          </a:p>
          <a:p>
            <a:pPr lvl="1">
              <a:spcAft>
                <a:spcPts val="600"/>
              </a:spcAft>
            </a:pPr>
            <a:r>
              <a:rPr lang="en-US" sz="1800" dirty="0">
                <a:latin typeface="Arial" pitchFamily="34" charset="0"/>
                <a:cs typeface="Arial" pitchFamily="34" charset="0"/>
              </a:rPr>
              <a:t>Physical concept of capital = </a:t>
            </a:r>
            <a:r>
              <a:rPr lang="en-US" sz="1800" u="sng" dirty="0">
                <a:latin typeface="Arial" pitchFamily="34" charset="0"/>
                <a:cs typeface="Arial" pitchFamily="34" charset="0"/>
              </a:rPr>
              <a:t>productive capacity</a:t>
            </a:r>
            <a:r>
              <a:rPr lang="en-US" sz="1800" dirty="0">
                <a:latin typeface="Arial" pitchFamily="34" charset="0"/>
                <a:cs typeface="Arial" pitchFamily="34" charset="0"/>
              </a:rPr>
              <a:t> of the entity (e.g. production units per day)</a:t>
            </a:r>
          </a:p>
          <a:p>
            <a:pPr>
              <a:spcAft>
                <a:spcPts val="600"/>
              </a:spcAft>
            </a:pPr>
            <a:r>
              <a:rPr lang="en-US" sz="1800" b="1" dirty="0">
                <a:latin typeface="Arial" pitchFamily="34" charset="0"/>
                <a:cs typeface="Arial" pitchFamily="34" charset="0"/>
              </a:rPr>
              <a:t>Capital maintenance</a:t>
            </a:r>
          </a:p>
          <a:p>
            <a:pPr lvl="1">
              <a:spcAft>
                <a:spcPts val="600"/>
              </a:spcAft>
            </a:pPr>
            <a:r>
              <a:rPr lang="en-US" sz="1800" b="1" dirty="0">
                <a:latin typeface="Arial" pitchFamily="34" charset="0"/>
                <a:cs typeface="Arial" pitchFamily="34" charset="0"/>
              </a:rPr>
              <a:t>Financial capital maintenance</a:t>
            </a:r>
          </a:p>
          <a:p>
            <a:pPr lvl="2">
              <a:spcAft>
                <a:spcPts val="600"/>
              </a:spcAft>
            </a:pPr>
            <a:r>
              <a:rPr lang="en-US" sz="1800" dirty="0">
                <a:latin typeface="Arial" pitchFamily="34" charset="0"/>
                <a:cs typeface="Arial" pitchFamily="34" charset="0"/>
              </a:rPr>
              <a:t>Profit is earned only if </a:t>
            </a:r>
            <a:r>
              <a:rPr lang="en-US" sz="1800" u="sng" dirty="0">
                <a:latin typeface="Arial" pitchFamily="34" charset="0"/>
                <a:cs typeface="Arial" pitchFamily="34" charset="0"/>
              </a:rPr>
              <a:t>financial/monetary amount</a:t>
            </a:r>
            <a:r>
              <a:rPr lang="en-US" sz="1800" dirty="0">
                <a:latin typeface="Arial" pitchFamily="34" charset="0"/>
                <a:cs typeface="Arial" pitchFamily="34" charset="0"/>
              </a:rPr>
              <a:t> of net assets at the </a:t>
            </a:r>
            <a:r>
              <a:rPr lang="en-US" sz="1800" u="sng" dirty="0">
                <a:latin typeface="Arial" pitchFamily="34" charset="0"/>
                <a:cs typeface="Arial" pitchFamily="34" charset="0"/>
              </a:rPr>
              <a:t>end</a:t>
            </a:r>
            <a:r>
              <a:rPr lang="en-US" sz="1800" dirty="0">
                <a:latin typeface="Arial" pitchFamily="34" charset="0"/>
                <a:cs typeface="Arial" pitchFamily="34" charset="0"/>
              </a:rPr>
              <a:t> of a period &gt; </a:t>
            </a:r>
            <a:r>
              <a:rPr lang="en-US" sz="1800" u="sng" dirty="0">
                <a:latin typeface="Arial" pitchFamily="34" charset="0"/>
                <a:cs typeface="Arial" pitchFamily="34" charset="0"/>
              </a:rPr>
              <a:t>beginning</a:t>
            </a:r>
            <a:r>
              <a:rPr lang="en-US" sz="1800" dirty="0">
                <a:latin typeface="Arial" pitchFamily="34" charset="0"/>
                <a:cs typeface="Arial" pitchFamily="34" charset="0"/>
              </a:rPr>
              <a:t> of the period (excluding distributions/contributions of equity participants)</a:t>
            </a:r>
          </a:p>
          <a:p>
            <a:pPr lvl="1">
              <a:spcAft>
                <a:spcPts val="600"/>
              </a:spcAft>
            </a:pPr>
            <a:r>
              <a:rPr lang="en-US" sz="1800" b="1" dirty="0">
                <a:latin typeface="Arial" pitchFamily="34" charset="0"/>
                <a:cs typeface="Arial" pitchFamily="34" charset="0"/>
              </a:rPr>
              <a:t>Physical capital maintenance </a:t>
            </a:r>
          </a:p>
          <a:p>
            <a:pPr lvl="2">
              <a:spcAft>
                <a:spcPts val="600"/>
              </a:spcAft>
            </a:pPr>
            <a:r>
              <a:rPr lang="en-US" sz="1800" dirty="0">
                <a:latin typeface="Arial" pitchFamily="34" charset="0"/>
                <a:cs typeface="Arial" pitchFamily="34" charset="0"/>
              </a:rPr>
              <a:t>Profit is earned only if physical </a:t>
            </a:r>
            <a:r>
              <a:rPr lang="en-US" sz="1800" u="sng" dirty="0">
                <a:latin typeface="Arial" pitchFamily="34" charset="0"/>
                <a:cs typeface="Arial" pitchFamily="34" charset="0"/>
              </a:rPr>
              <a:t>production capacity</a:t>
            </a:r>
            <a:r>
              <a:rPr lang="en-US" sz="1800" dirty="0">
                <a:latin typeface="Arial" pitchFamily="34" charset="0"/>
                <a:cs typeface="Arial" pitchFamily="34" charset="0"/>
              </a:rPr>
              <a:t> of the entity at the </a:t>
            </a:r>
            <a:r>
              <a:rPr lang="en-US" sz="1800" u="sng" dirty="0">
                <a:latin typeface="Arial" pitchFamily="34" charset="0"/>
                <a:cs typeface="Arial" pitchFamily="34" charset="0"/>
              </a:rPr>
              <a:t>end</a:t>
            </a:r>
            <a:r>
              <a:rPr lang="en-US" sz="1800" dirty="0">
                <a:latin typeface="Arial" pitchFamily="34" charset="0"/>
                <a:cs typeface="Arial" pitchFamily="34" charset="0"/>
              </a:rPr>
              <a:t> of the period &gt; </a:t>
            </a:r>
            <a:r>
              <a:rPr lang="en-US" sz="1800" u="sng" dirty="0">
                <a:latin typeface="Arial" pitchFamily="34" charset="0"/>
                <a:cs typeface="Arial" pitchFamily="34" charset="0"/>
              </a:rPr>
              <a:t>beginning</a:t>
            </a:r>
            <a:r>
              <a:rPr lang="en-US" sz="1800" dirty="0">
                <a:latin typeface="Arial" pitchFamily="34" charset="0"/>
                <a:cs typeface="Arial" pitchFamily="34" charset="0"/>
              </a:rPr>
              <a:t> of the period (excluding distributions/contributions of equity participants</a:t>
            </a:r>
          </a:p>
          <a:p>
            <a:pPr>
              <a:spcAft>
                <a:spcPts val="600"/>
              </a:spcAft>
            </a:pPr>
            <a:r>
              <a:rPr lang="en-US" sz="1800" dirty="0">
                <a:latin typeface="Arial" pitchFamily="34" charset="0"/>
                <a:cs typeface="Arial" pitchFamily="34" charset="0"/>
              </a:rPr>
              <a:t>If entity has same capital at the beginning and end of a period – capital has been maintained (any amounts &gt; or &lt; is profit or loss)</a:t>
            </a:r>
          </a:p>
          <a:p>
            <a:pPr>
              <a:spcAft>
                <a:spcPts val="600"/>
              </a:spcAft>
            </a:pPr>
            <a:endParaRPr lang="en-ZA" sz="1800" dirty="0"/>
          </a:p>
        </p:txBody>
      </p:sp>
    </p:spTree>
    <p:extLst>
      <p:ext uri="{BB962C8B-B14F-4D97-AF65-F5344CB8AC3E}">
        <p14:creationId xmlns:p14="http://schemas.microsoft.com/office/powerpoint/2010/main" val="3459669371"/>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8" y="1844824"/>
            <a:ext cx="9217024" cy="4248471"/>
          </a:xfrm>
        </p:spPr>
        <p:txBody>
          <a:bodyPr>
            <a:normAutofit/>
          </a:bodyPr>
          <a:lstStyle/>
          <a:p>
            <a:pPr lvl="1">
              <a:lnSpc>
                <a:spcPct val="100000"/>
              </a:lnSpc>
            </a:pPr>
            <a:r>
              <a:rPr lang="en-US" sz="2000" b="1" dirty="0">
                <a:latin typeface="Arial" pitchFamily="34" charset="0"/>
                <a:cs typeface="Arial" pitchFamily="34" charset="0"/>
              </a:rPr>
              <a:t>NB: </a:t>
            </a:r>
          </a:p>
          <a:p>
            <a:pPr marL="457200" lvl="1" indent="0">
              <a:lnSpc>
                <a:spcPct val="100000"/>
              </a:lnSpc>
              <a:buNone/>
            </a:pPr>
            <a:r>
              <a:rPr lang="en-US" sz="2000" u="sng" dirty="0">
                <a:latin typeface="Arial" pitchFamily="34" charset="0"/>
                <a:cs typeface="Arial" pitchFamily="34" charset="0"/>
              </a:rPr>
              <a:t>Increases</a:t>
            </a:r>
            <a:r>
              <a:rPr lang="en-US" sz="2000" dirty="0">
                <a:latin typeface="Arial" pitchFamily="34" charset="0"/>
                <a:cs typeface="Arial" pitchFamily="34" charset="0"/>
              </a:rPr>
              <a:t> in </a:t>
            </a:r>
            <a:r>
              <a:rPr lang="en-US" sz="2000" u="sng" dirty="0">
                <a:latin typeface="Arial" pitchFamily="34" charset="0"/>
                <a:cs typeface="Arial" pitchFamily="34" charset="0"/>
              </a:rPr>
              <a:t>prices of assets</a:t>
            </a:r>
            <a:r>
              <a:rPr lang="en-US" sz="2000" dirty="0">
                <a:latin typeface="Arial" pitchFamily="34" charset="0"/>
                <a:cs typeface="Arial" pitchFamily="34" charset="0"/>
              </a:rPr>
              <a:t> is therefore a profit, but may </a:t>
            </a:r>
            <a:r>
              <a:rPr lang="en-US" sz="2000" u="sng" dirty="0">
                <a:latin typeface="Arial" pitchFamily="34" charset="0"/>
                <a:cs typeface="Arial" pitchFamily="34" charset="0"/>
              </a:rPr>
              <a:t>not</a:t>
            </a:r>
            <a:r>
              <a:rPr lang="en-US" sz="2000" dirty="0">
                <a:latin typeface="Arial" pitchFamily="34" charset="0"/>
                <a:cs typeface="Arial" pitchFamily="34" charset="0"/>
              </a:rPr>
              <a:t> be </a:t>
            </a:r>
            <a:r>
              <a:rPr lang="en-US" sz="2000" dirty="0" err="1">
                <a:latin typeface="Arial" pitchFamily="34" charset="0"/>
                <a:cs typeface="Arial" pitchFamily="34" charset="0"/>
              </a:rPr>
              <a:t>recognised</a:t>
            </a:r>
            <a:r>
              <a:rPr lang="en-US" sz="2000" dirty="0">
                <a:latin typeface="Arial" pitchFamily="34" charset="0"/>
                <a:cs typeface="Arial" pitchFamily="34" charset="0"/>
              </a:rPr>
              <a:t> as </a:t>
            </a:r>
            <a:r>
              <a:rPr lang="en-US" sz="2000" u="sng" dirty="0">
                <a:latin typeface="Arial" pitchFamily="34" charset="0"/>
                <a:cs typeface="Arial" pitchFamily="34" charset="0"/>
              </a:rPr>
              <a:t>profit</a:t>
            </a:r>
            <a:r>
              <a:rPr lang="en-US" sz="2000" dirty="0">
                <a:latin typeface="Arial" pitchFamily="34" charset="0"/>
                <a:cs typeface="Arial" pitchFamily="34" charset="0"/>
              </a:rPr>
              <a:t> until the assets </a:t>
            </a:r>
            <a:r>
              <a:rPr lang="en-US" sz="2000" u="sng" dirty="0">
                <a:latin typeface="Arial" pitchFamily="34" charset="0"/>
                <a:cs typeface="Arial" pitchFamily="34" charset="0"/>
              </a:rPr>
              <a:t>are disposed of </a:t>
            </a:r>
            <a:r>
              <a:rPr lang="en-US" sz="2000" dirty="0">
                <a:latin typeface="Arial" pitchFamily="34" charset="0"/>
                <a:cs typeface="Arial" pitchFamily="34" charset="0"/>
              </a:rPr>
              <a:t>in an exchange transactions – therefore </a:t>
            </a:r>
            <a:r>
              <a:rPr lang="en-US" sz="2000" dirty="0" err="1">
                <a:latin typeface="Arial" pitchFamily="34" charset="0"/>
                <a:cs typeface="Arial" pitchFamily="34" charset="0"/>
              </a:rPr>
              <a:t>recognised</a:t>
            </a:r>
            <a:r>
              <a:rPr lang="en-US" sz="2000" dirty="0">
                <a:latin typeface="Arial" pitchFamily="34" charset="0"/>
                <a:cs typeface="Arial" pitchFamily="34" charset="0"/>
              </a:rPr>
              <a:t> in reserves</a:t>
            </a:r>
          </a:p>
          <a:p>
            <a:endParaRPr lang="en-ZA" sz="2400" dirty="0"/>
          </a:p>
        </p:txBody>
      </p:sp>
      <p:sp>
        <p:nvSpPr>
          <p:cNvPr id="7" name="Title 1">
            <a:extLst>
              <a:ext uri="{FF2B5EF4-FFF2-40B4-BE49-F238E27FC236}">
                <a16:creationId xmlns:a16="http://schemas.microsoft.com/office/drawing/2014/main" id="{082F8A0C-4026-A470-F704-C74D0718630C}"/>
              </a:ext>
            </a:extLst>
          </p:cNvPr>
          <p:cNvSpPr txBox="1">
            <a:spLocks/>
          </p:cNvSpPr>
          <p:nvPr/>
        </p:nvSpPr>
        <p:spPr>
          <a:xfrm>
            <a:off x="630932" y="248647"/>
            <a:ext cx="6441457" cy="1596177"/>
          </a:xfrm>
          <a:prstGeom prst="rect">
            <a:avLst/>
          </a:prstGeom>
        </p:spPr>
        <p:txBody>
          <a:bodyPr vert="horz" lIns="91440" tIns="45720" rIns="91440" bIns="45720" rtlCol="0" anchor="t">
            <a:normAutofit/>
          </a:bodyPr>
          <a:lstStyle>
            <a:lvl1pPr algn="l" defTabSz="742676" rtl="0" eaLnBrk="1" latinLnBrk="0" hangingPunct="1">
              <a:lnSpc>
                <a:spcPct val="90000"/>
              </a:lnSpc>
              <a:spcBef>
                <a:spcPct val="0"/>
              </a:spcBef>
              <a:buNone/>
              <a:defRPr sz="2599" b="1" i="0" kern="1200">
                <a:solidFill>
                  <a:schemeClr val="accent1"/>
                </a:solidFill>
                <a:latin typeface="Trebuchet MS" panose="020B0703020202090204" pitchFamily="34" charset="0"/>
                <a:ea typeface="+mj-ea"/>
                <a:cs typeface="+mj-cs"/>
              </a:defRPr>
            </a:lvl1pPr>
          </a:lstStyle>
          <a:p>
            <a:pPr fontAlgn="auto">
              <a:spcAft>
                <a:spcPts val="0"/>
              </a:spcAft>
            </a:pPr>
            <a:r>
              <a:rPr lang="en-US" sz="2800" dirty="0">
                <a:latin typeface="Arial" panose="020B0604020202020204" pitchFamily="34" charset="0"/>
                <a:cs typeface="Arial" panose="020B0604020202020204" pitchFamily="34" charset="0"/>
              </a:rPr>
              <a:t>Chapter 8: Concepts of capital and capital maintenance [8.1-8.10]</a:t>
            </a:r>
            <a:endParaRPr lang="en-ZA"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3373449"/>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alpha val="6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86916" y="1844825"/>
            <a:ext cx="8673707" cy="3946378"/>
          </a:xfrm>
        </p:spPr>
        <p:txBody>
          <a:bodyPr>
            <a:normAutofit/>
          </a:bodyPr>
          <a:lstStyle/>
          <a:p>
            <a:pPr>
              <a:lnSpc>
                <a:spcPct val="90000"/>
              </a:lnSpc>
            </a:pPr>
            <a:r>
              <a:rPr lang="en-US" sz="2000" b="1" dirty="0">
                <a:latin typeface="Arial" pitchFamily="34" charset="0"/>
                <a:cs typeface="Arial" pitchFamily="34" charset="0"/>
              </a:rPr>
              <a:t>Capital maintenance adjustments</a:t>
            </a:r>
          </a:p>
          <a:p>
            <a:pPr>
              <a:lnSpc>
                <a:spcPct val="90000"/>
              </a:lnSpc>
            </a:pPr>
            <a:endParaRPr lang="en-US" sz="2000" dirty="0">
              <a:latin typeface="Arial" pitchFamily="34" charset="0"/>
              <a:cs typeface="Arial" pitchFamily="34" charset="0"/>
            </a:endParaRPr>
          </a:p>
          <a:p>
            <a:pPr lvl="1">
              <a:lnSpc>
                <a:spcPct val="90000"/>
              </a:lnSpc>
            </a:pPr>
            <a:r>
              <a:rPr lang="en-US" sz="2000" dirty="0">
                <a:latin typeface="Arial" pitchFamily="34" charset="0"/>
                <a:cs typeface="Arial" pitchFamily="34" charset="0"/>
              </a:rPr>
              <a:t>Revaluation of assets results in increase/decrease in equity</a:t>
            </a:r>
          </a:p>
          <a:p>
            <a:pPr lvl="1">
              <a:lnSpc>
                <a:spcPct val="90000"/>
              </a:lnSpc>
            </a:pPr>
            <a:endParaRPr lang="en-US" sz="2000" dirty="0">
              <a:latin typeface="Arial" pitchFamily="34" charset="0"/>
              <a:cs typeface="Arial" pitchFamily="34" charset="0"/>
            </a:endParaRPr>
          </a:p>
          <a:p>
            <a:pPr lvl="1">
              <a:lnSpc>
                <a:spcPct val="90000"/>
              </a:lnSpc>
            </a:pPr>
            <a:r>
              <a:rPr lang="en-US" sz="2000" dirty="0">
                <a:latin typeface="Arial" pitchFamily="34" charset="0"/>
                <a:cs typeface="Arial" pitchFamily="34" charset="0"/>
              </a:rPr>
              <a:t>Therefore, meets the definition of income/expenses</a:t>
            </a:r>
          </a:p>
          <a:p>
            <a:pPr lvl="1">
              <a:lnSpc>
                <a:spcPct val="90000"/>
              </a:lnSpc>
            </a:pPr>
            <a:endParaRPr lang="en-US" sz="2000" dirty="0">
              <a:latin typeface="Arial" pitchFamily="34" charset="0"/>
              <a:cs typeface="Arial" pitchFamily="34" charset="0"/>
            </a:endParaRPr>
          </a:p>
          <a:p>
            <a:pPr lvl="1">
              <a:lnSpc>
                <a:spcPct val="90000"/>
              </a:lnSpc>
            </a:pPr>
            <a:r>
              <a:rPr lang="en-US" sz="2000" dirty="0">
                <a:latin typeface="Arial" pitchFamily="34" charset="0"/>
                <a:cs typeface="Arial" pitchFamily="34" charset="0"/>
              </a:rPr>
              <a:t>But are not disclosed in the statement of comprehensive income due to the concept of capital maintenance (profit not realized)</a:t>
            </a:r>
          </a:p>
          <a:p>
            <a:pPr lvl="1">
              <a:lnSpc>
                <a:spcPct val="90000"/>
              </a:lnSpc>
            </a:pPr>
            <a:endParaRPr lang="en-US" sz="2000" dirty="0">
              <a:latin typeface="Arial" pitchFamily="34" charset="0"/>
              <a:cs typeface="Arial" pitchFamily="34" charset="0"/>
            </a:endParaRPr>
          </a:p>
          <a:p>
            <a:pPr lvl="1">
              <a:lnSpc>
                <a:spcPct val="90000"/>
              </a:lnSpc>
            </a:pPr>
            <a:r>
              <a:rPr lang="en-US" sz="2000" dirty="0">
                <a:latin typeface="Arial" pitchFamily="34" charset="0"/>
                <a:cs typeface="Arial" pitchFamily="34" charset="0"/>
              </a:rPr>
              <a:t>Disclosed instead as revaluation surplus within equity</a:t>
            </a:r>
          </a:p>
          <a:p>
            <a:endParaRPr lang="en-ZA" sz="2000" dirty="0"/>
          </a:p>
        </p:txBody>
      </p:sp>
      <p:sp>
        <p:nvSpPr>
          <p:cNvPr id="7" name="Title 1">
            <a:extLst>
              <a:ext uri="{FF2B5EF4-FFF2-40B4-BE49-F238E27FC236}">
                <a16:creationId xmlns:a16="http://schemas.microsoft.com/office/drawing/2014/main" id="{F4A6C996-0935-9D66-E4DD-F8B952861F53}"/>
              </a:ext>
            </a:extLst>
          </p:cNvPr>
          <p:cNvSpPr txBox="1">
            <a:spLocks/>
          </p:cNvSpPr>
          <p:nvPr/>
        </p:nvSpPr>
        <p:spPr>
          <a:xfrm>
            <a:off x="742203" y="188640"/>
            <a:ext cx="6441457" cy="1596177"/>
          </a:xfrm>
          <a:prstGeom prst="rect">
            <a:avLst/>
          </a:prstGeom>
        </p:spPr>
        <p:txBody>
          <a:bodyPr vert="horz" lIns="91440" tIns="45720" rIns="91440" bIns="45720" rtlCol="0" anchor="t">
            <a:normAutofit/>
          </a:bodyPr>
          <a:lstStyle>
            <a:lvl1pPr algn="l" defTabSz="742676" rtl="0" eaLnBrk="1" latinLnBrk="0" hangingPunct="1">
              <a:lnSpc>
                <a:spcPct val="90000"/>
              </a:lnSpc>
              <a:spcBef>
                <a:spcPct val="0"/>
              </a:spcBef>
              <a:buNone/>
              <a:defRPr sz="2599" b="1" i="0" kern="1200">
                <a:solidFill>
                  <a:schemeClr val="accent1"/>
                </a:solidFill>
                <a:latin typeface="Trebuchet MS" panose="020B0703020202090204" pitchFamily="34" charset="0"/>
                <a:ea typeface="+mj-ea"/>
                <a:cs typeface="+mj-cs"/>
              </a:defRPr>
            </a:lvl1pPr>
          </a:lstStyle>
          <a:p>
            <a:pPr fontAlgn="auto">
              <a:spcAft>
                <a:spcPts val="0"/>
              </a:spcAft>
            </a:pPr>
            <a:r>
              <a:rPr lang="en-US" sz="2800">
                <a:latin typeface="Arial" panose="020B0604020202020204" pitchFamily="34" charset="0"/>
                <a:cs typeface="Arial" panose="020B0604020202020204" pitchFamily="34" charset="0"/>
              </a:rPr>
              <a:t>Chapter 8: Concepts of capital and capital maintenance [8.1-8.10]</a:t>
            </a:r>
            <a:endParaRPr lang="en-ZA"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4023969"/>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2_Office Theme">
  <a:themeElements>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1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2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3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4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5.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6.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7.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8.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59.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0.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1.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2.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3.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ppt/theme/themeOverride64.xml><?xml version="1.0" encoding="utf-8"?>
<a:themeOverride xmlns:a="http://schemas.openxmlformats.org/drawingml/2006/main">
  <a:clrScheme name="EMS#2022">
    <a:dk1>
      <a:srgbClr val="4D5356"/>
    </a:dk1>
    <a:lt1>
      <a:srgbClr val="FFFFFF"/>
    </a:lt1>
    <a:dk2>
      <a:srgbClr val="4D5356"/>
    </a:dk2>
    <a:lt2>
      <a:srgbClr val="FFFFFF"/>
    </a:lt2>
    <a:accent1>
      <a:srgbClr val="61223B"/>
    </a:accent1>
    <a:accent2>
      <a:srgbClr val="B79962"/>
    </a:accent2>
    <a:accent3>
      <a:srgbClr val="2CCCD3"/>
    </a:accent3>
    <a:accent4>
      <a:srgbClr val="8C979A"/>
    </a:accent4>
    <a:accent5>
      <a:srgbClr val="61223B"/>
    </a:accent5>
    <a:accent6>
      <a:srgbClr val="8B2346"/>
    </a:accent6>
    <a:hlink>
      <a:srgbClr val="B79962"/>
    </a:hlink>
    <a:folHlink>
      <a:srgbClr val="8C979A"/>
    </a:folHlink>
  </a:clrScheme>
</a:themeOverride>
</file>

<file path=docProps/app.xml><?xml version="1.0" encoding="utf-8"?>
<Properties xmlns="http://schemas.openxmlformats.org/officeDocument/2006/extended-properties" xmlns:vt="http://schemas.openxmlformats.org/officeDocument/2006/docPropsVTypes">
  <Template/>
  <TotalTime>18911</TotalTime>
  <Words>3467</Words>
  <Application>Microsoft Office PowerPoint</Application>
  <PresentationFormat>Custom</PresentationFormat>
  <Paragraphs>369</Paragraphs>
  <Slides>64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Calibri</vt:lpstr>
      <vt:lpstr>Calibri Light</vt:lpstr>
      <vt:lpstr>Times New Roman</vt:lpstr>
      <vt:lpstr>Trebuchet MS</vt:lpstr>
      <vt:lpstr>Wingdings</vt:lpstr>
      <vt:lpstr>2_Office Theme</vt:lpstr>
      <vt:lpstr>Conceptual Framework For Financial Reporting 2018</vt:lpstr>
      <vt:lpstr>International Financial Reporting Standards (IFRS)</vt:lpstr>
      <vt:lpstr>Background to Accounting Standards </vt:lpstr>
      <vt:lpstr>Background to Accounting Standards </vt:lpstr>
      <vt:lpstr>Background to Accounting Standards </vt:lpstr>
      <vt:lpstr>Preface to International Financial Reporting Standards</vt:lpstr>
      <vt:lpstr>CONCEPTUAL FRAMEWORK</vt:lpstr>
      <vt:lpstr>Conceptual Framework For Financial Reporting 2018</vt:lpstr>
      <vt:lpstr>SCOPE of the framework</vt:lpstr>
      <vt:lpstr>Objective of general purpose financial reporting  Chapter 1</vt:lpstr>
      <vt:lpstr>Chapter 1: Introduction [1.1]</vt:lpstr>
      <vt:lpstr>Chapter 1: Objective, usefulness and limitations (1.2–1.11)</vt:lpstr>
      <vt:lpstr> Chapter 1: Objective, usefulness and limitations (1.2–1.11)</vt:lpstr>
      <vt:lpstr> Chapter 1: Objective, usefulness and limitations (1.2–1.11)</vt:lpstr>
      <vt:lpstr>Chapter 1: Objective, usefulness and limitations (1.2–1.11)</vt:lpstr>
      <vt:lpstr>Chapter 1: Objective, usefulness and limitations (1.2–1.11)</vt:lpstr>
      <vt:lpstr>Chapter 1: Objective, usefulness and limitations (1.2–1.11)</vt:lpstr>
      <vt:lpstr>Chapter 1: Economic resources, claims, and changes in resources and claims (1.12-1.21)</vt:lpstr>
      <vt:lpstr>Chapter 1: Economic resources, claims, and changes in resources and claims (1.12-1.21)</vt:lpstr>
      <vt:lpstr>Chapter 1: Economic resources, claims, and changes in resources and claims (1.12-1.21)</vt:lpstr>
      <vt:lpstr>Chapter 1: Economic resources, claims, and changes in resources and claims (1.12-1.21)</vt:lpstr>
      <vt:lpstr>Chapter 1: Economic resources, claims, and changes in resources and claims (1.12-1.21)</vt:lpstr>
      <vt:lpstr>Qualitative characteristics of useful information  Chapter 2</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Chapter 2: Qualitative characteristics of useful financial information (2.1-2.43)</vt:lpstr>
      <vt:lpstr>Financial statements and the reporting entity  Chapter 3</vt:lpstr>
      <vt:lpstr>Chapter 3: Financial statements and the reporting entity (3.1-3.18)</vt:lpstr>
      <vt:lpstr>Chapter 3: Financial statements and the reporting entity (3.1-3.18)</vt:lpstr>
      <vt:lpstr>Chapter 3: Financial statements and the reporting entity (3.1-3.18)</vt:lpstr>
      <vt:lpstr>The elements of financial statements  Chapter 4</vt:lpstr>
      <vt:lpstr>Chapter 4: The elements of financial statements [4.1-4.72]</vt:lpstr>
      <vt:lpstr>Chapter 4: The elements of financial statements [4.1-4.72]</vt:lpstr>
      <vt:lpstr>Chapter 4: The elements of financial statements [4.1-4.72]</vt:lpstr>
      <vt:lpstr>Chapter 4: The elements of financial statements [4.1-4.72]</vt:lpstr>
      <vt:lpstr>Chapter 4: The elements of financial statements [4.1-4.72]</vt:lpstr>
      <vt:lpstr>Chapter 4: The elements of financial statements [4.1-4.72]</vt:lpstr>
      <vt:lpstr>Recognition and derecognition  Chapter 5</vt:lpstr>
      <vt:lpstr>Chapter 5 – Recognition and derecognition [5.1-5.33]</vt:lpstr>
      <vt:lpstr>Chapter 5 – Recognition and derecognition [5.1-5.33]</vt:lpstr>
      <vt:lpstr>Chapter 5 – Recognition and derecognition [5.1-5.33]</vt:lpstr>
      <vt:lpstr>Chapter 5 – Recognition and derecognition [5.1-5.33]</vt:lpstr>
      <vt:lpstr>Chapter 5 – Recognition and derecognition [5.1-5.33]</vt:lpstr>
      <vt:lpstr>Measurement  Chapter 6</vt:lpstr>
      <vt:lpstr>Chapter 6: Measurement [6.1-6.95]</vt:lpstr>
      <vt:lpstr>Chapter 6: Measurement [6.1-6.95]</vt:lpstr>
      <vt:lpstr>Chapter 6: Measurement [6.1-6.95]</vt:lpstr>
      <vt:lpstr>Presentation and disclosure  Chapter 7</vt:lpstr>
      <vt:lpstr>Chapter 7: Presentation and disclosure [7.1-7.20]</vt:lpstr>
      <vt:lpstr>Chapter 7: Presentation and disclosure [7.1-7.20]</vt:lpstr>
      <vt:lpstr>Chapter 7: Presentation and disclosure [7.1-7.20]</vt:lpstr>
      <vt:lpstr>Chapter 7: Presentation and disclosure [7.1-7.20]</vt:lpstr>
      <vt:lpstr>Chapter 7: Presentation and disclosure [7.1-7.20]</vt:lpstr>
      <vt:lpstr>Concepts of capital and capital maintenance  Chapter 8</vt:lpstr>
      <vt:lpstr>Chapter 8: Concepts of capital and capital maintenance [8.1-8.10]</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Agtergrond tot rekeningkundige standpunte (Background to accounting standards)</dc:title>
  <dc:creator>Charl van den Berg</dc:creator>
  <cp:lastModifiedBy>Cloete, T, Mr [tairique@sun.ac.za]</cp:lastModifiedBy>
  <cp:revision>659</cp:revision>
  <cp:lastPrinted>2023-03-02T06:49:40Z</cp:lastPrinted>
  <dcterms:created xsi:type="dcterms:W3CDTF">2001-02-13T18:10:48Z</dcterms:created>
  <dcterms:modified xsi:type="dcterms:W3CDTF">2026-02-24T14:58:07Z</dcterms:modified>
</cp:coreProperties>
</file>