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8"/>
  </p:notesMasterIdLst>
  <p:sldIdLst>
    <p:sldId id="959" r:id="rId5"/>
    <p:sldId id="879" r:id="rId6"/>
    <p:sldId id="880" r:id="rId7"/>
    <p:sldId id="881" r:id="rId8"/>
    <p:sldId id="883" r:id="rId9"/>
    <p:sldId id="884" r:id="rId10"/>
    <p:sldId id="902" r:id="rId11"/>
    <p:sldId id="885" r:id="rId12"/>
    <p:sldId id="886" r:id="rId13"/>
    <p:sldId id="887" r:id="rId14"/>
    <p:sldId id="889" r:id="rId15"/>
    <p:sldId id="888" r:id="rId16"/>
    <p:sldId id="963" r:id="rId17"/>
    <p:sldId id="891" r:id="rId18"/>
    <p:sldId id="964" r:id="rId19"/>
    <p:sldId id="882" r:id="rId20"/>
    <p:sldId id="893" r:id="rId21"/>
    <p:sldId id="894" r:id="rId22"/>
    <p:sldId id="895" r:id="rId23"/>
    <p:sldId id="896" r:id="rId24"/>
    <p:sldId id="897" r:id="rId25"/>
    <p:sldId id="898" r:id="rId26"/>
    <p:sldId id="90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01" userDrawn="1">
          <p15:clr>
            <a:srgbClr val="A4A3A4"/>
          </p15:clr>
        </p15:guide>
        <p15:guide id="2" pos="3840" userDrawn="1">
          <p15:clr>
            <a:srgbClr val="A4A3A4"/>
          </p15:clr>
        </p15:guide>
        <p15:guide id="3" orient="horz" pos="845" userDrawn="1">
          <p15:clr>
            <a:srgbClr val="A4A3A4"/>
          </p15:clr>
        </p15:guide>
        <p15:guide id="4" orient="horz" pos="22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D6C0"/>
    <a:srgbClr val="FF00FF"/>
    <a:srgbClr val="B93AB9"/>
    <a:srgbClr val="000000"/>
    <a:srgbClr val="00FFFF"/>
    <a:srgbClr val="21C5FF"/>
    <a:srgbClr val="690069"/>
    <a:srgbClr val="4D5356"/>
    <a:srgbClr val="461B2B"/>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532"/>
    <p:restoredTop sz="88511"/>
  </p:normalViewPr>
  <p:slideViewPr>
    <p:cSldViewPr snapToGrid="0" snapToObjects="1" showGuides="1">
      <p:cViewPr varScale="1">
        <p:scale>
          <a:sx n="98" d="100"/>
          <a:sy n="98" d="100"/>
        </p:scale>
        <p:origin x="468" y="72"/>
      </p:cViewPr>
      <p:guideLst>
        <p:guide orient="horz" pos="2001"/>
        <p:guide pos="3840"/>
        <p:guide orient="horz" pos="845"/>
        <p:guide orient="horz" pos="2260"/>
      </p:guideLst>
    </p:cSldViewPr>
  </p:slideViewPr>
  <p:notesTextViewPr>
    <p:cViewPr>
      <p:scale>
        <a:sx n="140" d="100"/>
        <a:sy n="140" d="100"/>
      </p:scale>
      <p:origin x="0" y="0"/>
    </p:cViewPr>
  </p:notesTextViewPr>
  <p:sorterViewPr>
    <p:cViewPr>
      <p:scale>
        <a:sx n="40" d="100"/>
        <a:sy n="4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11:10:21.531"/>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1 49 5929,'0'-2'192,"0"0"0,1-1 0,0 1 0,-1 0 0,1-1-1,0 1 1,0 0 0,3-4 0,-3 5-288,0 0-1,-1-1 1,1 1 0,0 0-1,0-1 1,-1 1 0,1-1-1,-1 1 1,1-1 0,-1 1-1,0-1 1,0 0 0,1 1-1,-1-1 1,-1-1 0,17 11 2345,-16-8-2208,0 0-1,1 0 0,-1 1 1,0-1-1,1 0 0,-1 0 1,0 0-1,1 0 0,-1 1 1,0-1-1,0 0 0,1 0 1,-1 1-1,0-1 0,0 0 0,1 1 1,-1-1-1,0 0 0,0 0 1,0 1-1,1-1 0,-1 0 1,0 1-1,0-1 0,0 1 1,0-1-1,0 0 0,0 1 1,0-1-1,0 0 0,0 1 1,0-1-1,0 0 0,0 1 1,0-1-1,0 1 0,0-1 1,0 0-1,0 1 0,0-1 0,-1 0 1,1 1-1,0-1 0,0 0 1,0 1-1,-1-1 0,1 0 1,0 0-1,0 1 0,-1-1 1,1 0-1,0 0 0,-1 1 1,1-1-1,-1 1 243,65 11 852,-34-11-930,0 2 0,0 2 0,46 12 0,-60-14-121,0 0-1,0-1 0,24 1 1,-20-3 30,33 7 1,-43-5-92,-5 0-14,-1-1 0,1 0-1,-1-1 1,1 1-1,0-1 1,-1 1 0,1-1-1,-1-1 1,1 1-1,0-1 1,8-2 0,-6 1 2,1 1 0,0 0 1,0 0-1,0 0 0,0 1 1,0 0-1,-1 0 0,1 1 1,10 2-1,23 1 0,60 5-10,-58-5 14,60 0 1,16-12 114,53 0 85,-161 8-214,7 1 14,-1-1 0,1-1 0,0-1 0,0 0 0,-1-1-1,31-10 1,-39 11 10,0-1 0,0 1 0,1 1 1,-1 0-1,1 0 0,-1 1 0,13 1 0,-7-1 17,0 0 0,17-3 0,-11 1 11,0 1-1,34 2 1,25-1 118,-42 4-163,-33-3-7,0 0 0,0 0 0,0 0 0,1-1 0,-1 0 0,8-1 0,-3 6-172,-10-5 161,0 0-11,0 0 11,1-1-282,-1 1 282,0 0 0,-4-18-511,-1-24 190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D69B49-EEFB-4B49-ACAD-82B53A8DDF70}" type="datetimeFigureOut">
              <a:rPr lang="en-US" smtClean="0"/>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BF6EFC-B03E-874C-9CD9-41B66C8AE1E7}" type="slidenum">
              <a:rPr lang="en-US" smtClean="0"/>
              <a:t>‹#›</a:t>
            </a:fld>
            <a:endParaRPr lang="en-US"/>
          </a:p>
        </p:txBody>
      </p:sp>
    </p:spTree>
    <p:extLst>
      <p:ext uri="{BB962C8B-B14F-4D97-AF65-F5344CB8AC3E}">
        <p14:creationId xmlns:p14="http://schemas.microsoft.com/office/powerpoint/2010/main" val="72499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svg"/></Relationships>
</file>

<file path=ppt/slideLayouts/_rels/slideLayout1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amp; End Slide Option">
    <p:bg>
      <p:bgPr>
        <a:solidFill>
          <a:schemeClr val="bg1"/>
        </a:solidFill>
        <a:effectLst/>
      </p:bgPr>
    </p:bg>
    <p:spTree>
      <p:nvGrpSpPr>
        <p:cNvPr id="1" name=""/>
        <p:cNvGrpSpPr/>
        <p:nvPr/>
      </p:nvGrpSpPr>
      <p:grpSpPr>
        <a:xfrm>
          <a:off x="0" y="0"/>
          <a:ext cx="0" cy="0"/>
          <a:chOff x="0" y="0"/>
          <a:chExt cx="0" cy="0"/>
        </a:xfrm>
      </p:grpSpPr>
      <p:pic>
        <p:nvPicPr>
          <p:cNvPr id="4" name="Supergraphic">
            <a:extLst>
              <a:ext uri="{FF2B5EF4-FFF2-40B4-BE49-F238E27FC236}">
                <a16:creationId xmlns:a16="http://schemas.microsoft.com/office/drawing/2014/main" id="{5B248510-4BC7-9345-88FC-2E0C971BA74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14959" y="1341439"/>
            <a:ext cx="1196970" cy="1837209"/>
          </a:xfrm>
          <a:prstGeom prst="rect">
            <a:avLst/>
          </a:prstGeom>
        </p:spPr>
      </p:pic>
      <p:cxnSp>
        <p:nvCxnSpPr>
          <p:cNvPr id="5" name="Gold H Line">
            <a:extLst>
              <a:ext uri="{FF2B5EF4-FFF2-40B4-BE49-F238E27FC236}">
                <a16:creationId xmlns:a16="http://schemas.microsoft.com/office/drawing/2014/main" id="{D2E91EF0-985A-D444-B885-44EABE549784}"/>
              </a:ext>
            </a:extLst>
          </p:cNvPr>
          <p:cNvCxnSpPr/>
          <p:nvPr userDrawn="1"/>
        </p:nvCxnSpPr>
        <p:spPr>
          <a:xfrm>
            <a:off x="0" y="1341438"/>
            <a:ext cx="12192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9" name="Title">
            <a:extLst>
              <a:ext uri="{FF2B5EF4-FFF2-40B4-BE49-F238E27FC236}">
                <a16:creationId xmlns:a16="http://schemas.microsoft.com/office/drawing/2014/main" id="{62CE03E8-B1C3-CC40-B8F9-5DD639D93B94}"/>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546026624"/>
      </p:ext>
    </p:extLst>
  </p:cSld>
  <p:clrMapOvr>
    <a:masterClrMapping/>
  </p:clrMapOvr>
  <p:extLst>
    <p:ext uri="{DCECCB84-F9BA-43D5-87BE-67443E8EF086}">
      <p15:sldGuideLst xmlns:p15="http://schemas.microsoft.com/office/powerpoint/2012/main">
        <p15:guide id="1" pos="694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heading + Content on White Bg">
    <p:spTree>
      <p:nvGrpSpPr>
        <p:cNvPr id="1" name=""/>
        <p:cNvGrpSpPr/>
        <p:nvPr/>
      </p:nvGrpSpPr>
      <p:grpSpPr>
        <a:xfrm>
          <a:off x="0" y="0"/>
          <a:ext cx="0" cy="0"/>
          <a:chOff x="0" y="0"/>
          <a:chExt cx="0" cy="0"/>
        </a:xfrm>
      </p:grpSpPr>
      <p:cxnSp>
        <p:nvCxnSpPr>
          <p:cNvPr id="6" name="Gold H Line">
            <a:extLst>
              <a:ext uri="{FF2B5EF4-FFF2-40B4-BE49-F238E27FC236}">
                <a16:creationId xmlns:a16="http://schemas.microsoft.com/office/drawing/2014/main" id="{14D6B201-F64D-A747-B121-C05B2A976FDB}"/>
              </a:ext>
            </a:extLst>
          </p:cNvPr>
          <p:cNvCxnSpPr/>
          <p:nvPr userDrawn="1"/>
        </p:nvCxnSpPr>
        <p:spPr>
          <a:xfrm>
            <a:off x="0" y="1341438"/>
            <a:ext cx="12192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18668" y="2098627"/>
            <a:ext cx="11122470" cy="4414600"/>
          </a:xfrm>
        </p:spPr>
        <p:txBody>
          <a:bodyPr>
            <a:normAutofit lnSpcReduction="10000"/>
          </a:bodyPr>
          <a:lstStyle/>
          <a:p>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18668" y="1384084"/>
            <a:ext cx="1112247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77310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White Bg">
    <p:bg>
      <p:bgPr>
        <a:solidFill>
          <a:schemeClr val="bg1"/>
        </a:solidFill>
        <a:effectLst/>
      </p:bgPr>
    </p:bg>
    <p:spTree>
      <p:nvGrpSpPr>
        <p:cNvPr id="1" name=""/>
        <p:cNvGrpSpPr/>
        <p:nvPr/>
      </p:nvGrpSpPr>
      <p:grpSpPr>
        <a:xfrm>
          <a:off x="0" y="0"/>
          <a:ext cx="0" cy="0"/>
          <a:chOff x="0" y="0"/>
          <a:chExt cx="0" cy="0"/>
        </a:xfrm>
      </p:grpSpPr>
      <p:pic>
        <p:nvPicPr>
          <p:cNvPr id="9" name="Pattern">
            <a:extLst>
              <a:ext uri="{FF2B5EF4-FFF2-40B4-BE49-F238E27FC236}">
                <a16:creationId xmlns:a16="http://schemas.microsoft.com/office/drawing/2014/main" id="{92A5C720-0429-4541-B977-B6E1AE463E85}"/>
              </a:ext>
            </a:extLst>
          </p:cNvPr>
          <p:cNvPicPr>
            <a:picLocks noChangeAspect="1"/>
          </p:cNvPicPr>
          <p:nvPr userDrawn="1"/>
        </p:nvPicPr>
        <p:blipFill rotWithShape="1">
          <a:blip r:embed="rId2" cstate="screen">
            <a:duotone>
              <a:schemeClr val="accent2">
                <a:shade val="45000"/>
                <a:satMod val="135000"/>
              </a:schemeClr>
              <a:prstClr val="white"/>
            </a:duotone>
            <a:alphaModFix amt="40000"/>
            <a:extLst>
              <a:ext uri="{BEBA8EAE-BF5A-486C-A8C5-ECC9F3942E4B}">
                <a14:imgProps xmlns:a14="http://schemas.microsoft.com/office/drawing/2010/main">
                  <a14:imgLayer r:embed="rId3">
                    <a14:imgEffect>
                      <a14:sharpenSoften amount="50000"/>
                    </a14:imgEffect>
                    <a14:imgEffect>
                      <a14:colorTemperature colorTemp="11500"/>
                    </a14:imgEffect>
                    <a14:imgEffect>
                      <a14:saturation sat="400000"/>
                    </a14:imgEffect>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379" y="1342422"/>
            <a:ext cx="12190620" cy="5256000"/>
          </a:xfrm>
          <a:prstGeom prst="rect">
            <a:avLst/>
          </a:prstGeom>
        </p:spPr>
      </p:pic>
      <p:grpSp>
        <p:nvGrpSpPr>
          <p:cNvPr id="11" name="Bottom Corner Cover Ups">
            <a:extLst>
              <a:ext uri="{FF2B5EF4-FFF2-40B4-BE49-F238E27FC236}">
                <a16:creationId xmlns:a16="http://schemas.microsoft.com/office/drawing/2014/main" id="{6B263B2D-D558-B84C-9022-34F07C2522D9}"/>
              </a:ext>
            </a:extLst>
          </p:cNvPr>
          <p:cNvGrpSpPr/>
          <p:nvPr userDrawn="1"/>
        </p:nvGrpSpPr>
        <p:grpSpPr>
          <a:xfrm>
            <a:off x="0" y="5911729"/>
            <a:ext cx="12192027" cy="949000"/>
            <a:chOff x="0" y="5911729"/>
            <a:chExt cx="12192027" cy="949000"/>
          </a:xfrm>
        </p:grpSpPr>
        <p:pic>
          <p:nvPicPr>
            <p:cNvPr id="12" name="SU.Footer.Shape.White.Cover.R">
              <a:extLst>
                <a:ext uri="{FF2B5EF4-FFF2-40B4-BE49-F238E27FC236}">
                  <a16:creationId xmlns:a16="http://schemas.microsoft.com/office/drawing/2014/main" id="{A42B02D9-6BCD-3B46-A57F-212570E5235E}"/>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13" name="SU.Footer.Shape.White.Cover.L">
              <a:extLst>
                <a:ext uri="{FF2B5EF4-FFF2-40B4-BE49-F238E27FC236}">
                  <a16:creationId xmlns:a16="http://schemas.microsoft.com/office/drawing/2014/main" id="{7BE51404-5FBA-E747-9F0C-F3B96BD72370}"/>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8" y="2098627"/>
            <a:ext cx="11122470" cy="4414600"/>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379764"/>
            <a:ext cx="1112247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273491340"/>
      </p:ext>
    </p:extLst>
  </p:cSld>
  <p:clrMapOvr>
    <a:masterClrMapping/>
  </p:clrMapOvr>
  <p:extLst>
    <p:ext uri="{DCECCB84-F9BA-43D5-87BE-67443E8EF086}">
      <p15:sldGuideLst xmlns:p15="http://schemas.microsoft.com/office/powerpoint/2012/main">
        <p15:guide id="1" orient="horz" pos="845" userDrawn="1">
          <p15:clr>
            <a:srgbClr val="FBAE40"/>
          </p15:clr>
        </p15:guide>
        <p15:guide id="2" orient="horz" pos="86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Panel White 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4232ACA5-F913-4C40-9156-9574AC847B0D}"/>
              </a:ext>
            </a:extLst>
          </p:cNvPr>
          <p:cNvPicPr>
            <a:picLocks noChangeAspect="1"/>
          </p:cNvPicPr>
          <p:nvPr userDrawn="1"/>
        </p:nvPicPr>
        <p:blipFill rotWithShape="1">
          <a:blip r:embed="rId2" cstate="screen">
            <a:duotone>
              <a:schemeClr val="accent2">
                <a:shade val="45000"/>
                <a:satMod val="135000"/>
              </a:schemeClr>
              <a:prstClr val="white"/>
            </a:duotone>
            <a:alphaModFix amt="40000"/>
            <a:extLst>
              <a:ext uri="{BEBA8EAE-BF5A-486C-A8C5-ECC9F3942E4B}">
                <a14:imgProps xmlns:a14="http://schemas.microsoft.com/office/drawing/2010/main">
                  <a14:imgLayer r:embed="rId3">
                    <a14:imgEffect>
                      <a14:sharpenSoften amount="50000"/>
                    </a14:imgEffect>
                    <a14:imgEffect>
                      <a14:colorTemperature colorTemp="11500"/>
                    </a14:imgEffect>
                    <a14:imgEffect>
                      <a14:saturation sat="400000"/>
                    </a14:imgEffect>
                    <a14:imgEffect>
                      <a14:brightnessContrast bright="40000" contrast="40000"/>
                    </a14:imgEffect>
                  </a14:imgLayer>
                </a14:imgProps>
              </a:ext>
              <a:ext uri="{28A0092B-C50C-407E-A947-70E740481C1C}">
                <a14:useLocalDpi xmlns:a14="http://schemas.microsoft.com/office/drawing/2010/main"/>
              </a:ext>
            </a:extLst>
          </a:blip>
          <a:srcRect r="67065"/>
          <a:stretch/>
        </p:blipFill>
        <p:spPr>
          <a:xfrm>
            <a:off x="1379" y="1342422"/>
            <a:ext cx="4041984" cy="5256000"/>
          </a:xfrm>
          <a:prstGeom prst="rect">
            <a:avLst/>
          </a:prstGeom>
        </p:spPr>
      </p:pic>
      <p:grpSp>
        <p:nvGrpSpPr>
          <p:cNvPr id="15" name="Bottom Corner Cover Ups">
            <a:extLst>
              <a:ext uri="{FF2B5EF4-FFF2-40B4-BE49-F238E27FC236}">
                <a16:creationId xmlns:a16="http://schemas.microsoft.com/office/drawing/2014/main" id="{F2814333-1BF5-E849-A0FE-9AA7C7404101}"/>
              </a:ext>
            </a:extLst>
          </p:cNvPr>
          <p:cNvGrpSpPr/>
          <p:nvPr userDrawn="1"/>
        </p:nvGrpSpPr>
        <p:grpSpPr>
          <a:xfrm>
            <a:off x="0" y="5911729"/>
            <a:ext cx="12192027" cy="949000"/>
            <a:chOff x="0" y="5911729"/>
            <a:chExt cx="12192027" cy="949000"/>
          </a:xfrm>
        </p:grpSpPr>
        <p:pic>
          <p:nvPicPr>
            <p:cNvPr id="16" name="SU.Footer.Shape.White.Cover.R">
              <a:extLst>
                <a:ext uri="{FF2B5EF4-FFF2-40B4-BE49-F238E27FC236}">
                  <a16:creationId xmlns:a16="http://schemas.microsoft.com/office/drawing/2014/main" id="{03FDF139-728B-024E-9703-C432EBC41B11}"/>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17" name="SU.Footer.Shape.White.Cover.L">
              <a:extLst>
                <a:ext uri="{FF2B5EF4-FFF2-40B4-BE49-F238E27FC236}">
                  <a16:creationId xmlns:a16="http://schemas.microsoft.com/office/drawing/2014/main" id="{29002AAF-104D-E541-A418-B45D06E37CA1}"/>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r="95768" b="18185"/>
            <a:stretch/>
          </p:blipFill>
          <p:spPr>
            <a:xfrm>
              <a:off x="0" y="5911729"/>
              <a:ext cx="515938" cy="949000"/>
            </a:xfrm>
            <a:prstGeom prst="rect">
              <a:avLst/>
            </a:prstGeom>
          </p:spPr>
        </p:pic>
      </p:grpSp>
      <p:sp>
        <p:nvSpPr>
          <p:cNvPr id="13" name="Content Placeholder ">
            <a:extLst>
              <a:ext uri="{FF2B5EF4-FFF2-40B4-BE49-F238E27FC236}">
                <a16:creationId xmlns:a16="http://schemas.microsoft.com/office/drawing/2014/main" id="{297102B3-ABBC-8342-9686-98DDA2B5DFAF}"/>
              </a:ext>
            </a:extLst>
          </p:cNvPr>
          <p:cNvSpPr>
            <a:spLocks noGrp="1"/>
          </p:cNvSpPr>
          <p:nvPr>
            <p:ph idx="1" hasCustomPrompt="1"/>
          </p:nvPr>
        </p:nvSpPr>
        <p:spPr>
          <a:xfrm>
            <a:off x="4298506" y="1439056"/>
            <a:ext cx="7342632" cy="5059180"/>
          </a:xfrm>
        </p:spPr>
        <p:txBody>
          <a:bodyPr>
            <a:normAutofit lnSpcReduction="10000"/>
          </a:bodyPr>
          <a:lstStyle/>
          <a:p>
            <a:r>
              <a:rPr lang="en-GB" dirty="0"/>
              <a:t>Content placeholder</a:t>
            </a:r>
          </a:p>
        </p:txBody>
      </p:sp>
      <p:sp>
        <p:nvSpPr>
          <p:cNvPr id="14" name="Sub-heading">
            <a:extLst>
              <a:ext uri="{FF2B5EF4-FFF2-40B4-BE49-F238E27FC236}">
                <a16:creationId xmlns:a16="http://schemas.microsoft.com/office/drawing/2014/main" id="{F0A305C8-DF3E-DB45-9F64-CF839254AACB}"/>
              </a:ext>
            </a:extLst>
          </p:cNvPr>
          <p:cNvSpPr>
            <a:spLocks noGrp="1"/>
          </p:cNvSpPr>
          <p:nvPr>
            <p:ph type="body" sz="quarter" idx="10" hasCustomPrompt="1"/>
          </p:nvPr>
        </p:nvSpPr>
        <p:spPr>
          <a:xfrm>
            <a:off x="518668" y="1439055"/>
            <a:ext cx="3524695" cy="5059179"/>
          </a:xfrm>
        </p:spPr>
        <p:txBody>
          <a:bodyPr anchor="t">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3953628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ual Layout Slide on White Bg">
    <p:spTree>
      <p:nvGrpSpPr>
        <p:cNvPr id="1" name=""/>
        <p:cNvGrpSpPr/>
        <p:nvPr/>
      </p:nvGrpSpPr>
      <p:grpSpPr>
        <a:xfrm>
          <a:off x="0" y="0"/>
          <a:ext cx="0" cy="0"/>
          <a:chOff x="0" y="0"/>
          <a:chExt cx="0" cy="0"/>
        </a:xfrm>
      </p:grpSpPr>
      <p:sp>
        <p:nvSpPr>
          <p:cNvPr id="11" name="White Rectangle">
            <a:extLst>
              <a:ext uri="{FF2B5EF4-FFF2-40B4-BE49-F238E27FC236}">
                <a16:creationId xmlns:a16="http://schemas.microsoft.com/office/drawing/2014/main" id="{948D6589-07BC-504A-9A95-293D1FAB3969}"/>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Gold H Line">
            <a:extLst>
              <a:ext uri="{FF2B5EF4-FFF2-40B4-BE49-F238E27FC236}">
                <a16:creationId xmlns:a16="http://schemas.microsoft.com/office/drawing/2014/main" id="{BCBE8D15-217A-AD4B-B1B6-A4A4464A9778}"/>
              </a:ext>
            </a:extLst>
          </p:cNvPr>
          <p:cNvCxnSpPr/>
          <p:nvPr userDrawn="1"/>
        </p:nvCxnSpPr>
        <p:spPr>
          <a:xfrm>
            <a:off x="0" y="1341438"/>
            <a:ext cx="12192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8" name="Content Placeholder  2">
            <a:extLst>
              <a:ext uri="{FF2B5EF4-FFF2-40B4-BE49-F238E27FC236}">
                <a16:creationId xmlns:a16="http://schemas.microsoft.com/office/drawing/2014/main" id="{2FCD4CF8-0C12-EA43-B791-77B95BE3B8A1}"/>
              </a:ext>
            </a:extLst>
          </p:cNvPr>
          <p:cNvSpPr>
            <a:spLocks noGrp="1"/>
          </p:cNvSpPr>
          <p:nvPr>
            <p:ph idx="12" hasCustomPrompt="1"/>
          </p:nvPr>
        </p:nvSpPr>
        <p:spPr>
          <a:xfrm>
            <a:off x="6305552" y="2093513"/>
            <a:ext cx="5335586" cy="441971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1">
                <a:solidFill>
                  <a:schemeClr val="tx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9" name="Sub-heading 2">
            <a:extLst>
              <a:ext uri="{FF2B5EF4-FFF2-40B4-BE49-F238E27FC236}">
                <a16:creationId xmlns:a16="http://schemas.microsoft.com/office/drawing/2014/main" id="{EFD6BD00-14FA-0C44-936C-18A58C6AEAF6}"/>
              </a:ext>
            </a:extLst>
          </p:cNvPr>
          <p:cNvSpPr>
            <a:spLocks noGrp="1"/>
          </p:cNvSpPr>
          <p:nvPr>
            <p:ph type="body" sz="quarter" idx="13" hasCustomPrompt="1"/>
          </p:nvPr>
        </p:nvSpPr>
        <p:spPr>
          <a:xfrm>
            <a:off x="6305552" y="1374650"/>
            <a:ext cx="5335586"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1"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4" name="Title 2">
            <a:extLst>
              <a:ext uri="{FF2B5EF4-FFF2-40B4-BE49-F238E27FC236}">
                <a16:creationId xmlns:a16="http://schemas.microsoft.com/office/drawing/2014/main" id="{3A21EA00-5D4A-874F-9DE9-2C510BCA999D}"/>
              </a:ext>
            </a:extLst>
          </p:cNvPr>
          <p:cNvSpPr>
            <a:spLocks noGrp="1"/>
          </p:cNvSpPr>
          <p:nvPr>
            <p:ph type="body" sz="quarter" idx="14" hasCustomPrompt="1"/>
          </p:nvPr>
        </p:nvSpPr>
        <p:spPr>
          <a:xfrm>
            <a:off x="6305550" y="234094"/>
            <a:ext cx="5335587" cy="1019176"/>
          </a:xfrm>
        </p:spPr>
        <p:txBody>
          <a:bodyPr/>
          <a:lstStyle>
            <a:lvl1pPr marL="0" indent="0">
              <a:buFontTx/>
              <a:buNone/>
              <a:defRPr lang="en-GB" sz="3200" b="1" i="1" kern="1200" dirty="0" smtClean="0">
                <a:solidFill>
                  <a:schemeClr val="accent1"/>
                </a:solidFill>
                <a:latin typeface="Trebuchet MS" panose="020B0703020202090204" pitchFamily="34" charset="0"/>
                <a:ea typeface="+mj-ea"/>
                <a:cs typeface="+mj-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dirty="0"/>
              <a:t>CLICK TO EDIT TITLE</a:t>
            </a:r>
          </a:p>
        </p:txBody>
      </p:sp>
      <p:sp>
        <p:nvSpPr>
          <p:cNvPr id="15" name="Content Placeholder 1">
            <a:extLst>
              <a:ext uri="{FF2B5EF4-FFF2-40B4-BE49-F238E27FC236}">
                <a16:creationId xmlns:a16="http://schemas.microsoft.com/office/drawing/2014/main" id="{711302C3-77CD-E045-AC17-217A8FF65206}"/>
              </a:ext>
            </a:extLst>
          </p:cNvPr>
          <p:cNvSpPr>
            <a:spLocks noGrp="1"/>
          </p:cNvSpPr>
          <p:nvPr>
            <p:ph idx="1" hasCustomPrompt="1"/>
          </p:nvPr>
        </p:nvSpPr>
        <p:spPr>
          <a:xfrm>
            <a:off x="518668" y="2098627"/>
            <a:ext cx="5367782" cy="441971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tx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1">
            <a:extLst>
              <a:ext uri="{FF2B5EF4-FFF2-40B4-BE49-F238E27FC236}">
                <a16:creationId xmlns:a16="http://schemas.microsoft.com/office/drawing/2014/main" id="{C672C517-E44C-5541-8903-0803B60C387D}"/>
              </a:ext>
            </a:extLst>
          </p:cNvPr>
          <p:cNvSpPr>
            <a:spLocks noGrp="1"/>
          </p:cNvSpPr>
          <p:nvPr>
            <p:ph type="body" sz="quarter" idx="10" hasCustomPrompt="1"/>
          </p:nvPr>
        </p:nvSpPr>
        <p:spPr>
          <a:xfrm>
            <a:off x="518668" y="1379764"/>
            <a:ext cx="5367782"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1">
            <a:extLst>
              <a:ext uri="{FF2B5EF4-FFF2-40B4-BE49-F238E27FC236}">
                <a16:creationId xmlns:a16="http://schemas.microsoft.com/office/drawing/2014/main" id="{AD74D22F-7C30-804B-B618-3432E30FA7B0}"/>
              </a:ext>
            </a:extLst>
          </p:cNvPr>
          <p:cNvSpPr>
            <a:spLocks noGrp="1"/>
          </p:cNvSpPr>
          <p:nvPr>
            <p:ph type="title" hasCustomPrompt="1"/>
          </p:nvPr>
        </p:nvSpPr>
        <p:spPr>
          <a:xfrm>
            <a:off x="518669" y="234094"/>
            <a:ext cx="5367782" cy="1019176"/>
          </a:xfrm>
          <a:prstGeom prst="rect">
            <a:avLst/>
          </a:prstGeom>
        </p:spPr>
        <p:txBody>
          <a:bodyPr/>
          <a:lstStyle>
            <a:lvl1pPr>
              <a:lnSpc>
                <a:spcPct val="100000"/>
              </a:lnSpc>
              <a:defRPr/>
            </a:lvl1pPr>
          </a:lstStyle>
          <a:p>
            <a:r>
              <a:rPr lang="en-GB" dirty="0"/>
              <a:t>CLICK TO EDIT TITLE</a:t>
            </a:r>
            <a:endParaRPr lang="en-US" dirty="0"/>
          </a:p>
        </p:txBody>
      </p:sp>
    </p:spTree>
    <p:extLst>
      <p:ext uri="{BB962C8B-B14F-4D97-AF65-F5344CB8AC3E}">
        <p14:creationId xmlns:p14="http://schemas.microsoft.com/office/powerpoint/2010/main" val="366128784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xColumns Slide on White Bg">
    <p:spTree>
      <p:nvGrpSpPr>
        <p:cNvPr id="1" name=""/>
        <p:cNvGrpSpPr/>
        <p:nvPr/>
      </p:nvGrpSpPr>
      <p:grpSpPr>
        <a:xfrm>
          <a:off x="0" y="0"/>
          <a:ext cx="0" cy="0"/>
          <a:chOff x="0" y="0"/>
          <a:chExt cx="0" cy="0"/>
        </a:xfrm>
      </p:grpSpPr>
      <p:sp>
        <p:nvSpPr>
          <p:cNvPr id="19" name="White Rectangle">
            <a:extLst>
              <a:ext uri="{FF2B5EF4-FFF2-40B4-BE49-F238E27FC236}">
                <a16:creationId xmlns:a16="http://schemas.microsoft.com/office/drawing/2014/main" id="{AF7E239E-9757-3248-A127-4F42F0637408}"/>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8" name="Gold H Line">
            <a:extLst>
              <a:ext uri="{FF2B5EF4-FFF2-40B4-BE49-F238E27FC236}">
                <a16:creationId xmlns:a16="http://schemas.microsoft.com/office/drawing/2014/main" id="{FF14821C-DD56-5047-8DDF-2CED2D6B409A}"/>
              </a:ext>
            </a:extLst>
          </p:cNvPr>
          <p:cNvCxnSpPr/>
          <p:nvPr userDrawn="1"/>
        </p:nvCxnSpPr>
        <p:spPr>
          <a:xfrm>
            <a:off x="0" y="1341438"/>
            <a:ext cx="12192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1" name="Content Placeholder 3">
            <a:extLst>
              <a:ext uri="{FF2B5EF4-FFF2-40B4-BE49-F238E27FC236}">
                <a16:creationId xmlns:a16="http://schemas.microsoft.com/office/drawing/2014/main" id="{2B59F022-8EBD-944D-810D-855A24D6A260}"/>
              </a:ext>
            </a:extLst>
          </p:cNvPr>
          <p:cNvSpPr>
            <a:spLocks noGrp="1"/>
          </p:cNvSpPr>
          <p:nvPr>
            <p:ph idx="12" hasCustomPrompt="1"/>
          </p:nvPr>
        </p:nvSpPr>
        <p:spPr>
          <a:xfrm>
            <a:off x="8041138" y="2093513"/>
            <a:ext cx="3600000" cy="440472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3" name="Sub-heading 3">
            <a:extLst>
              <a:ext uri="{FF2B5EF4-FFF2-40B4-BE49-F238E27FC236}">
                <a16:creationId xmlns:a16="http://schemas.microsoft.com/office/drawing/2014/main" id="{DBCB0F0E-2CA6-9B47-B078-4D0CBA22AA46}"/>
              </a:ext>
            </a:extLst>
          </p:cNvPr>
          <p:cNvSpPr>
            <a:spLocks noGrp="1"/>
          </p:cNvSpPr>
          <p:nvPr>
            <p:ph type="body" sz="quarter" idx="13" hasCustomPrompt="1"/>
          </p:nvPr>
        </p:nvSpPr>
        <p:spPr>
          <a:xfrm>
            <a:off x="8041138"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5" name="Title 3">
            <a:extLst>
              <a:ext uri="{FF2B5EF4-FFF2-40B4-BE49-F238E27FC236}">
                <a16:creationId xmlns:a16="http://schemas.microsoft.com/office/drawing/2014/main" id="{46C5C79B-1FC7-684E-8098-DD6B7E0A0122}"/>
              </a:ext>
            </a:extLst>
          </p:cNvPr>
          <p:cNvSpPr>
            <a:spLocks noGrp="1"/>
          </p:cNvSpPr>
          <p:nvPr>
            <p:ph type="body" sz="quarter" idx="14" hasCustomPrompt="1"/>
          </p:nvPr>
        </p:nvSpPr>
        <p:spPr>
          <a:xfrm>
            <a:off x="8041138" y="230572"/>
            <a:ext cx="3600000" cy="1067301"/>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14" name="Content Placeholder  2">
            <a:extLst>
              <a:ext uri="{FF2B5EF4-FFF2-40B4-BE49-F238E27FC236}">
                <a16:creationId xmlns:a16="http://schemas.microsoft.com/office/drawing/2014/main" id="{4BF8A05F-FD1D-CD48-A3CF-DE8AF43F6977}"/>
              </a:ext>
            </a:extLst>
          </p:cNvPr>
          <p:cNvSpPr>
            <a:spLocks noGrp="1"/>
          </p:cNvSpPr>
          <p:nvPr>
            <p:ph idx="15" hasCustomPrompt="1"/>
          </p:nvPr>
        </p:nvSpPr>
        <p:spPr>
          <a:xfrm>
            <a:off x="4279902" y="2093513"/>
            <a:ext cx="3599998" cy="440472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5" name="Sub-heading 2">
            <a:extLst>
              <a:ext uri="{FF2B5EF4-FFF2-40B4-BE49-F238E27FC236}">
                <a16:creationId xmlns:a16="http://schemas.microsoft.com/office/drawing/2014/main" id="{EB65077B-EB16-BF45-A1FD-89A294FE27D1}"/>
              </a:ext>
            </a:extLst>
          </p:cNvPr>
          <p:cNvSpPr>
            <a:spLocks noGrp="1"/>
          </p:cNvSpPr>
          <p:nvPr>
            <p:ph type="body" sz="quarter" idx="16" hasCustomPrompt="1"/>
          </p:nvPr>
        </p:nvSpPr>
        <p:spPr>
          <a:xfrm>
            <a:off x="4279902" y="1382145"/>
            <a:ext cx="3599998"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2">
            <a:extLst>
              <a:ext uri="{FF2B5EF4-FFF2-40B4-BE49-F238E27FC236}">
                <a16:creationId xmlns:a16="http://schemas.microsoft.com/office/drawing/2014/main" id="{5BE914C9-9E29-9D45-8E51-BE422FBBE2C1}"/>
              </a:ext>
            </a:extLst>
          </p:cNvPr>
          <p:cNvSpPr>
            <a:spLocks noGrp="1"/>
          </p:cNvSpPr>
          <p:nvPr>
            <p:ph type="body" sz="quarter" idx="17" hasCustomPrompt="1"/>
          </p:nvPr>
        </p:nvSpPr>
        <p:spPr>
          <a:xfrm>
            <a:off x="4279900"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10" name="Content Placeholder 1">
            <a:extLst>
              <a:ext uri="{FF2B5EF4-FFF2-40B4-BE49-F238E27FC236}">
                <a16:creationId xmlns:a16="http://schemas.microsoft.com/office/drawing/2014/main" id="{1E5D113C-3036-C842-BC1F-5B0180C05F49}"/>
              </a:ext>
            </a:extLst>
          </p:cNvPr>
          <p:cNvSpPr>
            <a:spLocks noGrp="1"/>
          </p:cNvSpPr>
          <p:nvPr>
            <p:ph idx="1" hasCustomPrompt="1"/>
          </p:nvPr>
        </p:nvSpPr>
        <p:spPr>
          <a:xfrm>
            <a:off x="518667" y="2093513"/>
            <a:ext cx="3600000" cy="440472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1">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18667"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6" name="Title 1">
            <a:extLst>
              <a:ext uri="{FF2B5EF4-FFF2-40B4-BE49-F238E27FC236}">
                <a16:creationId xmlns:a16="http://schemas.microsoft.com/office/drawing/2014/main" id="{0A2B4331-7730-C944-82F4-41B3F12BA696}"/>
              </a:ext>
            </a:extLst>
          </p:cNvPr>
          <p:cNvSpPr>
            <a:spLocks noGrp="1"/>
          </p:cNvSpPr>
          <p:nvPr>
            <p:ph type="body" sz="quarter" idx="18" hasCustomPrompt="1"/>
          </p:nvPr>
        </p:nvSpPr>
        <p:spPr>
          <a:xfrm>
            <a:off x="518667"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205564858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Divider Slide on White Bg ">
    <p:bg>
      <p:bgPr>
        <a:solidFill>
          <a:schemeClr val="bg1">
            <a:alpha val="0"/>
          </a:schemeClr>
        </a:solidFill>
        <a:effectLst/>
      </p:bgPr>
    </p:bg>
    <p:spTree>
      <p:nvGrpSpPr>
        <p:cNvPr id="1" name=""/>
        <p:cNvGrpSpPr/>
        <p:nvPr/>
      </p:nvGrpSpPr>
      <p:grpSpPr>
        <a:xfrm>
          <a:off x="0" y="0"/>
          <a:ext cx="0" cy="0"/>
          <a:chOff x="0" y="0"/>
          <a:chExt cx="0" cy="0"/>
        </a:xfrm>
      </p:grpSpPr>
      <p:pic>
        <p:nvPicPr>
          <p:cNvPr id="9" name="Pattern Sand Bottom">
            <a:extLst>
              <a:ext uri="{FF2B5EF4-FFF2-40B4-BE49-F238E27FC236}">
                <a16:creationId xmlns:a16="http://schemas.microsoft.com/office/drawing/2014/main" id="{7E41FF7E-0642-ED43-BF36-6F4C4C4A2BE9}"/>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5866" t="5503" r="48528" b="71220"/>
          <a:stretch/>
        </p:blipFill>
        <p:spPr>
          <a:xfrm>
            <a:off x="197368" y="4478953"/>
            <a:ext cx="4785278" cy="2148599"/>
          </a:xfrm>
          <a:prstGeom prst="rect">
            <a:avLst/>
          </a:prstGeom>
        </p:spPr>
      </p:pic>
      <p:pic>
        <p:nvPicPr>
          <p:cNvPr id="11" name="Pattern Top">
            <a:extLst>
              <a:ext uri="{FF2B5EF4-FFF2-40B4-BE49-F238E27FC236}">
                <a16:creationId xmlns:a16="http://schemas.microsoft.com/office/drawing/2014/main" id="{6124DACD-3877-F440-9547-FC58D4D8F16B}"/>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5866" t="5503" r="48528" b="71220"/>
          <a:stretch/>
        </p:blipFill>
        <p:spPr>
          <a:xfrm flipV="1">
            <a:off x="187320" y="-43952"/>
            <a:ext cx="4785278" cy="2148599"/>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384800" y="2097153"/>
            <a:ext cx="6256338" cy="441607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384799" y="1382713"/>
            <a:ext cx="6256339"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24405" y="2943724"/>
            <a:ext cx="4448193"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571011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ub-heading + Content o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8" y="2098626"/>
            <a:ext cx="11122470" cy="4369629"/>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379764"/>
            <a:ext cx="1112247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94054"/>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965758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238EDFC1-EE9A-8048-86A1-2E5C9233E777}"/>
              </a:ext>
            </a:extLst>
          </p:cNvPr>
          <p:cNvPicPr>
            <a:picLocks noChangeAspect="1"/>
          </p:cNvPicPr>
          <p:nvPr userDrawn="1"/>
        </p:nvPicPr>
        <p:blipFill rotWithShape="1">
          <a:blip r:embed="rId2" cstate="screen">
            <a:duotone>
              <a:schemeClr val="accent2">
                <a:shade val="45000"/>
                <a:satMod val="135000"/>
              </a:schemeClr>
              <a:prstClr val="white"/>
            </a:duotone>
            <a:alphaModFix amt="6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379" y="1342422"/>
            <a:ext cx="12190621" cy="5256000"/>
          </a:xfrm>
          <a:prstGeom prst="rect">
            <a:avLst/>
          </a:prstGeom>
        </p:spPr>
      </p:pic>
      <p:grpSp>
        <p:nvGrpSpPr>
          <p:cNvPr id="13" name="Bottom Corner Cover Ups">
            <a:extLst>
              <a:ext uri="{FF2B5EF4-FFF2-40B4-BE49-F238E27FC236}">
                <a16:creationId xmlns:a16="http://schemas.microsoft.com/office/drawing/2014/main" id="{93D46E69-FB5E-344A-A7B7-752C7C6ECCDD}"/>
              </a:ext>
            </a:extLst>
          </p:cNvPr>
          <p:cNvGrpSpPr/>
          <p:nvPr userDrawn="1"/>
        </p:nvGrpSpPr>
        <p:grpSpPr>
          <a:xfrm>
            <a:off x="0" y="5911729"/>
            <a:ext cx="12192027" cy="949000"/>
            <a:chOff x="0" y="5911729"/>
            <a:chExt cx="12192027" cy="949000"/>
          </a:xfrm>
        </p:grpSpPr>
        <p:pic>
          <p:nvPicPr>
            <p:cNvPr id="14" name="SU.Footer.Shape.White.Cover.R">
              <a:extLst>
                <a:ext uri="{FF2B5EF4-FFF2-40B4-BE49-F238E27FC236}">
                  <a16:creationId xmlns:a16="http://schemas.microsoft.com/office/drawing/2014/main" id="{C3DAB37C-2D70-5C41-B708-179C820942F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15" name="SU.Footer.Shape.White.Cover.L">
              <a:extLst>
                <a:ext uri="{FF2B5EF4-FFF2-40B4-BE49-F238E27FC236}">
                  <a16:creationId xmlns:a16="http://schemas.microsoft.com/office/drawing/2014/main" id="{73C9FD76-564E-0348-A31C-D0132A5B66BC}"/>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8" y="2098626"/>
            <a:ext cx="11122470" cy="4414600"/>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379764"/>
            <a:ext cx="1112247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862868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Panel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D1F2E50E-95E6-FC4E-962F-EC9D3C8E6FB6}"/>
              </a:ext>
            </a:extLst>
          </p:cNvPr>
          <p:cNvPicPr>
            <a:picLocks noChangeAspect="1"/>
          </p:cNvPicPr>
          <p:nvPr userDrawn="1"/>
        </p:nvPicPr>
        <p:blipFill rotWithShape="1">
          <a:blip r:embed="rId2" cstate="screen">
            <a:duotone>
              <a:schemeClr val="accent2">
                <a:shade val="45000"/>
                <a:satMod val="135000"/>
              </a:schemeClr>
              <a:prstClr val="white"/>
            </a:duotone>
            <a:alphaModFix amt="6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7065"/>
          <a:stretch/>
        </p:blipFill>
        <p:spPr>
          <a:xfrm>
            <a:off x="1380" y="1342422"/>
            <a:ext cx="4041984" cy="5256000"/>
          </a:xfrm>
          <a:prstGeom prst="rect">
            <a:avLst/>
          </a:prstGeom>
        </p:spPr>
      </p:pic>
      <p:grpSp>
        <p:nvGrpSpPr>
          <p:cNvPr id="13" name="Bottom Corner Cover Ups">
            <a:extLst>
              <a:ext uri="{FF2B5EF4-FFF2-40B4-BE49-F238E27FC236}">
                <a16:creationId xmlns:a16="http://schemas.microsoft.com/office/drawing/2014/main" id="{B3C7A21B-1B7F-7C48-A146-B42CAF24A16C}"/>
              </a:ext>
            </a:extLst>
          </p:cNvPr>
          <p:cNvGrpSpPr/>
          <p:nvPr userDrawn="1"/>
        </p:nvGrpSpPr>
        <p:grpSpPr>
          <a:xfrm>
            <a:off x="0" y="5911729"/>
            <a:ext cx="12192027" cy="949000"/>
            <a:chOff x="0" y="5911729"/>
            <a:chExt cx="12192027" cy="949000"/>
          </a:xfrm>
        </p:grpSpPr>
        <p:pic>
          <p:nvPicPr>
            <p:cNvPr id="14" name="SU.Footer.Shape.White.Cover.R">
              <a:extLst>
                <a:ext uri="{FF2B5EF4-FFF2-40B4-BE49-F238E27FC236}">
                  <a16:creationId xmlns:a16="http://schemas.microsoft.com/office/drawing/2014/main" id="{4E7E269D-C46B-D74D-ADD3-C0B4C411F7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15" name="SU.Footer.Shape.White.Cover.L">
              <a:extLst>
                <a:ext uri="{FF2B5EF4-FFF2-40B4-BE49-F238E27FC236}">
                  <a16:creationId xmlns:a16="http://schemas.microsoft.com/office/drawing/2014/main" id="{643164C7-3D42-2F47-9B4F-124EA0300755}"/>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98506" y="1446551"/>
            <a:ext cx="7342632" cy="5066675"/>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446551"/>
            <a:ext cx="3524695" cy="5066674"/>
          </a:xfrm>
        </p:spPr>
        <p:txBody>
          <a:bodyPr anchor="t">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205390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ual Layout Slide o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8" name="White Rectangle">
            <a:extLst>
              <a:ext uri="{FF2B5EF4-FFF2-40B4-BE49-F238E27FC236}">
                <a16:creationId xmlns:a16="http://schemas.microsoft.com/office/drawing/2014/main" id="{16180752-C10C-8440-9EE3-94FE745DE7CB}"/>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Content Placeholder  2">
            <a:extLst>
              <a:ext uri="{FF2B5EF4-FFF2-40B4-BE49-F238E27FC236}">
                <a16:creationId xmlns:a16="http://schemas.microsoft.com/office/drawing/2014/main" id="{3DFF6234-ED27-674E-B499-43815E04B1F3}"/>
              </a:ext>
            </a:extLst>
          </p:cNvPr>
          <p:cNvSpPr>
            <a:spLocks noGrp="1"/>
          </p:cNvSpPr>
          <p:nvPr>
            <p:ph idx="12" hasCustomPrompt="1"/>
          </p:nvPr>
        </p:nvSpPr>
        <p:spPr>
          <a:xfrm>
            <a:off x="6305552" y="2093512"/>
            <a:ext cx="5335586" cy="4427209"/>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1">
                <a:solidFill>
                  <a:srgbClr val="4D5356"/>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2">
            <a:extLst>
              <a:ext uri="{FF2B5EF4-FFF2-40B4-BE49-F238E27FC236}">
                <a16:creationId xmlns:a16="http://schemas.microsoft.com/office/drawing/2014/main" id="{566B889E-5E19-884B-A6F6-A481CC7DE2E3}"/>
              </a:ext>
            </a:extLst>
          </p:cNvPr>
          <p:cNvSpPr>
            <a:spLocks noGrp="1"/>
          </p:cNvSpPr>
          <p:nvPr>
            <p:ph type="body" sz="quarter" idx="13" hasCustomPrompt="1"/>
          </p:nvPr>
        </p:nvSpPr>
        <p:spPr>
          <a:xfrm>
            <a:off x="6305552" y="1382145"/>
            <a:ext cx="5335586"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1"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2" name="Title 2">
            <a:extLst>
              <a:ext uri="{FF2B5EF4-FFF2-40B4-BE49-F238E27FC236}">
                <a16:creationId xmlns:a16="http://schemas.microsoft.com/office/drawing/2014/main" id="{F6537FBF-A738-EB4D-9E99-BDECCAA2CE51}"/>
              </a:ext>
            </a:extLst>
          </p:cNvPr>
          <p:cNvSpPr>
            <a:spLocks noGrp="1"/>
          </p:cNvSpPr>
          <p:nvPr>
            <p:ph type="body" sz="quarter" idx="14" hasCustomPrompt="1"/>
          </p:nvPr>
        </p:nvSpPr>
        <p:spPr>
          <a:xfrm>
            <a:off x="6305550" y="234093"/>
            <a:ext cx="5335587" cy="1019176"/>
          </a:xfrm>
        </p:spPr>
        <p:txBody>
          <a:bodyPr/>
          <a:lstStyle>
            <a:lvl1pPr marL="0" indent="0">
              <a:buFontTx/>
              <a:buNone/>
              <a:defRPr lang="en-GB" sz="3200" b="1" i="1" kern="1200" dirty="0" smtClean="0">
                <a:solidFill>
                  <a:schemeClr val="accent1"/>
                </a:solidFill>
                <a:latin typeface="Trebuchet MS" panose="020B0703020202090204" pitchFamily="34" charset="0"/>
                <a:ea typeface="+mj-ea"/>
                <a:cs typeface="+mj-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dirty="0"/>
              <a:t>CLICK TO EDIT TITLE</a:t>
            </a:r>
          </a:p>
        </p:txBody>
      </p:sp>
      <p:sp>
        <p:nvSpPr>
          <p:cNvPr id="19" name="Content Placeholder 1">
            <a:extLst>
              <a:ext uri="{FF2B5EF4-FFF2-40B4-BE49-F238E27FC236}">
                <a16:creationId xmlns:a16="http://schemas.microsoft.com/office/drawing/2014/main" id="{1F49F80C-ACC3-A44A-8CC6-3C5EDE180965}"/>
              </a:ext>
            </a:extLst>
          </p:cNvPr>
          <p:cNvSpPr>
            <a:spLocks noGrp="1"/>
          </p:cNvSpPr>
          <p:nvPr>
            <p:ph idx="1" hasCustomPrompt="1"/>
          </p:nvPr>
        </p:nvSpPr>
        <p:spPr>
          <a:xfrm>
            <a:off x="518668" y="2098626"/>
            <a:ext cx="5367782" cy="4422095"/>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rgbClr val="4D5356"/>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20" name="Sub-heading 1">
            <a:extLst>
              <a:ext uri="{FF2B5EF4-FFF2-40B4-BE49-F238E27FC236}">
                <a16:creationId xmlns:a16="http://schemas.microsoft.com/office/drawing/2014/main" id="{B3F930F9-C039-AF47-823C-5530804EC881}"/>
              </a:ext>
            </a:extLst>
          </p:cNvPr>
          <p:cNvSpPr>
            <a:spLocks noGrp="1"/>
          </p:cNvSpPr>
          <p:nvPr>
            <p:ph type="body" sz="quarter" idx="10" hasCustomPrompt="1"/>
          </p:nvPr>
        </p:nvSpPr>
        <p:spPr>
          <a:xfrm>
            <a:off x="518668" y="1379764"/>
            <a:ext cx="5367782"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1" name="Title 1">
            <a:extLst>
              <a:ext uri="{FF2B5EF4-FFF2-40B4-BE49-F238E27FC236}">
                <a16:creationId xmlns:a16="http://schemas.microsoft.com/office/drawing/2014/main" id="{9EDA3B2F-BE8B-BF42-ABB3-E31B7ECCE836}"/>
              </a:ext>
            </a:extLst>
          </p:cNvPr>
          <p:cNvSpPr>
            <a:spLocks noGrp="1"/>
          </p:cNvSpPr>
          <p:nvPr>
            <p:ph type="title" hasCustomPrompt="1"/>
          </p:nvPr>
        </p:nvSpPr>
        <p:spPr>
          <a:xfrm>
            <a:off x="518669" y="286559"/>
            <a:ext cx="5367782"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1855852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xColumns Layout Slide o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11" name="White Rectangle">
            <a:extLst>
              <a:ext uri="{FF2B5EF4-FFF2-40B4-BE49-F238E27FC236}">
                <a16:creationId xmlns:a16="http://schemas.microsoft.com/office/drawing/2014/main" id="{257E3393-912E-0B49-AEEE-D6B9ACB96FDA}"/>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7D3B1D8D-243B-DA40-B75D-A969A88B2F8F}"/>
              </a:ext>
            </a:extLst>
          </p:cNvPr>
          <p:cNvSpPr>
            <a:spLocks noGrp="1"/>
          </p:cNvSpPr>
          <p:nvPr>
            <p:ph idx="12" hasCustomPrompt="1"/>
          </p:nvPr>
        </p:nvSpPr>
        <p:spPr>
          <a:xfrm>
            <a:off x="8041138" y="2093513"/>
            <a:ext cx="3600000" cy="440472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3">
            <a:extLst>
              <a:ext uri="{FF2B5EF4-FFF2-40B4-BE49-F238E27FC236}">
                <a16:creationId xmlns:a16="http://schemas.microsoft.com/office/drawing/2014/main" id="{651902F8-552C-7C40-AA8D-2CE4C4E180B0}"/>
              </a:ext>
            </a:extLst>
          </p:cNvPr>
          <p:cNvSpPr>
            <a:spLocks noGrp="1"/>
          </p:cNvSpPr>
          <p:nvPr>
            <p:ph type="body" sz="quarter" idx="13" hasCustomPrompt="1"/>
          </p:nvPr>
        </p:nvSpPr>
        <p:spPr>
          <a:xfrm>
            <a:off x="8041138"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3">
            <a:extLst>
              <a:ext uri="{FF2B5EF4-FFF2-40B4-BE49-F238E27FC236}">
                <a16:creationId xmlns:a16="http://schemas.microsoft.com/office/drawing/2014/main" id="{D70127F6-1B72-C84F-9735-3D0725E985F3}"/>
              </a:ext>
            </a:extLst>
          </p:cNvPr>
          <p:cNvSpPr>
            <a:spLocks noGrp="1"/>
          </p:cNvSpPr>
          <p:nvPr>
            <p:ph type="body" sz="quarter" idx="14" hasCustomPrompt="1"/>
          </p:nvPr>
        </p:nvSpPr>
        <p:spPr>
          <a:xfrm>
            <a:off x="8041133"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26" name="Content Placeholder  2">
            <a:extLst>
              <a:ext uri="{FF2B5EF4-FFF2-40B4-BE49-F238E27FC236}">
                <a16:creationId xmlns:a16="http://schemas.microsoft.com/office/drawing/2014/main" id="{26B27DB4-949B-464F-A1EF-C46A3C3631C1}"/>
              </a:ext>
            </a:extLst>
          </p:cNvPr>
          <p:cNvSpPr>
            <a:spLocks noGrp="1"/>
          </p:cNvSpPr>
          <p:nvPr>
            <p:ph idx="15" hasCustomPrompt="1"/>
          </p:nvPr>
        </p:nvSpPr>
        <p:spPr>
          <a:xfrm>
            <a:off x="4279902" y="2093513"/>
            <a:ext cx="3599998" cy="440472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27" name="Sub-heading 2">
            <a:extLst>
              <a:ext uri="{FF2B5EF4-FFF2-40B4-BE49-F238E27FC236}">
                <a16:creationId xmlns:a16="http://schemas.microsoft.com/office/drawing/2014/main" id="{26C885C7-ECC4-4F47-8909-3F2435E1935F}"/>
              </a:ext>
            </a:extLst>
          </p:cNvPr>
          <p:cNvSpPr>
            <a:spLocks noGrp="1"/>
          </p:cNvSpPr>
          <p:nvPr>
            <p:ph type="body" sz="quarter" idx="16" hasCustomPrompt="1"/>
          </p:nvPr>
        </p:nvSpPr>
        <p:spPr>
          <a:xfrm>
            <a:off x="4279902" y="1382145"/>
            <a:ext cx="3599998"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8" name="Title 2">
            <a:extLst>
              <a:ext uri="{FF2B5EF4-FFF2-40B4-BE49-F238E27FC236}">
                <a16:creationId xmlns:a16="http://schemas.microsoft.com/office/drawing/2014/main" id="{58332A8F-EAE9-F94C-83E3-1D8BA1D91921}"/>
              </a:ext>
            </a:extLst>
          </p:cNvPr>
          <p:cNvSpPr>
            <a:spLocks noGrp="1"/>
          </p:cNvSpPr>
          <p:nvPr>
            <p:ph type="body" sz="quarter" idx="17" hasCustomPrompt="1"/>
          </p:nvPr>
        </p:nvSpPr>
        <p:spPr>
          <a:xfrm>
            <a:off x="4279900"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29" name="Content Placeholder 1">
            <a:extLst>
              <a:ext uri="{FF2B5EF4-FFF2-40B4-BE49-F238E27FC236}">
                <a16:creationId xmlns:a16="http://schemas.microsoft.com/office/drawing/2014/main" id="{F2D4C76D-E14A-6D42-98D9-5AB41C4534F2}"/>
              </a:ext>
            </a:extLst>
          </p:cNvPr>
          <p:cNvSpPr>
            <a:spLocks noGrp="1"/>
          </p:cNvSpPr>
          <p:nvPr>
            <p:ph idx="1" hasCustomPrompt="1"/>
          </p:nvPr>
        </p:nvSpPr>
        <p:spPr>
          <a:xfrm>
            <a:off x="518667" y="2093513"/>
            <a:ext cx="3600000" cy="440472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30" name="Sub-heading 1">
            <a:extLst>
              <a:ext uri="{FF2B5EF4-FFF2-40B4-BE49-F238E27FC236}">
                <a16:creationId xmlns:a16="http://schemas.microsoft.com/office/drawing/2014/main" id="{E5ACC0B6-8927-2744-B7D5-8F74BBD9FF40}"/>
              </a:ext>
            </a:extLst>
          </p:cNvPr>
          <p:cNvSpPr>
            <a:spLocks noGrp="1"/>
          </p:cNvSpPr>
          <p:nvPr>
            <p:ph type="body" sz="quarter" idx="10" hasCustomPrompt="1"/>
          </p:nvPr>
        </p:nvSpPr>
        <p:spPr>
          <a:xfrm>
            <a:off x="518667"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1" name="Title 1">
            <a:extLst>
              <a:ext uri="{FF2B5EF4-FFF2-40B4-BE49-F238E27FC236}">
                <a16:creationId xmlns:a16="http://schemas.microsoft.com/office/drawing/2014/main" id="{92EB4B94-2979-2E4C-BC92-09558809B4B0}"/>
              </a:ext>
            </a:extLst>
          </p:cNvPr>
          <p:cNvSpPr>
            <a:spLocks noGrp="1"/>
          </p:cNvSpPr>
          <p:nvPr>
            <p:ph type="body" sz="quarter" idx="18" hasCustomPrompt="1"/>
          </p:nvPr>
        </p:nvSpPr>
        <p:spPr>
          <a:xfrm>
            <a:off x="518667"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2263489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Divider Slide o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pic>
        <p:nvPicPr>
          <p:cNvPr id="17" name="Pattern Sand Bottom">
            <a:extLst>
              <a:ext uri="{FF2B5EF4-FFF2-40B4-BE49-F238E27FC236}">
                <a16:creationId xmlns:a16="http://schemas.microsoft.com/office/drawing/2014/main" id="{5F8180FE-41B2-8F47-AF2E-24E5C9A6174B}"/>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5866" t="5503" r="48528" b="71220"/>
          <a:stretch/>
        </p:blipFill>
        <p:spPr>
          <a:xfrm>
            <a:off x="197368" y="4478953"/>
            <a:ext cx="4785278" cy="2148599"/>
          </a:xfrm>
          <a:prstGeom prst="rect">
            <a:avLst/>
          </a:prstGeom>
        </p:spPr>
      </p:pic>
      <p:pic>
        <p:nvPicPr>
          <p:cNvPr id="8" name="Pattern Top">
            <a:extLst>
              <a:ext uri="{FF2B5EF4-FFF2-40B4-BE49-F238E27FC236}">
                <a16:creationId xmlns:a16="http://schemas.microsoft.com/office/drawing/2014/main" id="{2C99B27B-2E8D-C04F-BC82-C62BE7870952}"/>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5866" t="5503" r="48528" b="71220"/>
          <a:stretch/>
        </p:blipFill>
        <p:spPr>
          <a:xfrm flipV="1">
            <a:off x="187320" y="-43952"/>
            <a:ext cx="4785278" cy="2148599"/>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384800" y="2097153"/>
            <a:ext cx="6256338" cy="441607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384798" y="1384865"/>
            <a:ext cx="6256339" cy="631312"/>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24405" y="2943724"/>
            <a:ext cx="4448193"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13268603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heading + Content on Maroon Bg">
    <p:bg>
      <p:bgPr>
        <a:solidFill>
          <a:schemeClr val="accent1"/>
        </a:solidFill>
        <a:effectLst/>
      </p:bgPr>
    </p:bg>
    <p:spTree>
      <p:nvGrpSpPr>
        <p:cNvPr id="1" name=""/>
        <p:cNvGrpSpPr/>
        <p:nvPr/>
      </p:nvGrpSpPr>
      <p:grpSpPr>
        <a:xfrm>
          <a:off x="0" y="0"/>
          <a:ext cx="0" cy="0"/>
          <a:chOff x="0" y="0"/>
          <a:chExt cx="0" cy="0"/>
        </a:xfrm>
      </p:grpSpPr>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18668" y="2098626"/>
            <a:ext cx="11122470" cy="4407105"/>
          </a:xfrm>
        </p:spPr>
        <p:txBody>
          <a:bodyPr>
            <a:normAutofit lnSpcReduction="10000"/>
          </a:bodyPr>
          <a:lstStyle>
            <a:lvl1pPr>
              <a:defRPr>
                <a:solidFill>
                  <a:schemeClr val="bg2"/>
                </a:solidFill>
              </a:defRPr>
            </a:lvl1pPr>
          </a:lstStyle>
          <a:p>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18668" y="1379764"/>
            <a:ext cx="11122470" cy="644993"/>
          </a:xfrm>
          <a:noFill/>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2872259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Maroon Bg">
    <p:bg>
      <p:bgPr>
        <a:solidFill>
          <a:schemeClr val="accent1"/>
        </a:solidFill>
        <a:effectLst/>
      </p:bgPr>
    </p:bg>
    <p:spTree>
      <p:nvGrpSpPr>
        <p:cNvPr id="1" name=""/>
        <p:cNvGrpSpPr/>
        <p:nvPr/>
      </p:nvGrpSpPr>
      <p:grpSpPr>
        <a:xfrm>
          <a:off x="0" y="0"/>
          <a:ext cx="0" cy="0"/>
          <a:chOff x="0" y="0"/>
          <a:chExt cx="0" cy="0"/>
        </a:xfrm>
      </p:grpSpPr>
      <p:pic>
        <p:nvPicPr>
          <p:cNvPr id="25" name="Pattern">
            <a:extLst>
              <a:ext uri="{FF2B5EF4-FFF2-40B4-BE49-F238E27FC236}">
                <a16:creationId xmlns:a16="http://schemas.microsoft.com/office/drawing/2014/main" id="{4226EFA1-497F-5A4F-8521-91A0CFCC6FAD}"/>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379" y="1342422"/>
            <a:ext cx="12190621" cy="5256000"/>
          </a:xfrm>
          <a:prstGeom prst="rect">
            <a:avLst/>
          </a:prstGeom>
        </p:spPr>
      </p:pic>
      <p:grpSp>
        <p:nvGrpSpPr>
          <p:cNvPr id="26" name="Bottom Corner Cover Ups">
            <a:extLst>
              <a:ext uri="{FF2B5EF4-FFF2-40B4-BE49-F238E27FC236}">
                <a16:creationId xmlns:a16="http://schemas.microsoft.com/office/drawing/2014/main" id="{12DF9248-7DA5-8141-89FC-ECD244595B6B}"/>
              </a:ext>
            </a:extLst>
          </p:cNvPr>
          <p:cNvGrpSpPr/>
          <p:nvPr userDrawn="1"/>
        </p:nvGrpSpPr>
        <p:grpSpPr>
          <a:xfrm>
            <a:off x="0" y="5911729"/>
            <a:ext cx="12192027" cy="949000"/>
            <a:chOff x="0" y="5911729"/>
            <a:chExt cx="12192027" cy="949000"/>
          </a:xfrm>
        </p:grpSpPr>
        <p:pic>
          <p:nvPicPr>
            <p:cNvPr id="27" name="SU.Footer.Shape.White.Cover.R">
              <a:extLst>
                <a:ext uri="{FF2B5EF4-FFF2-40B4-BE49-F238E27FC236}">
                  <a16:creationId xmlns:a16="http://schemas.microsoft.com/office/drawing/2014/main" id="{44528E5A-08AB-2F40-85F7-9CF023074800}"/>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28" name="SU.Footer.Shape.White.Cover.L">
              <a:extLst>
                <a:ext uri="{FF2B5EF4-FFF2-40B4-BE49-F238E27FC236}">
                  <a16:creationId xmlns:a16="http://schemas.microsoft.com/office/drawing/2014/main" id="{D874E491-8EBD-0144-BAB4-4A1A86F2BCF0}"/>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8" y="2098627"/>
            <a:ext cx="11122470" cy="4414600"/>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379764"/>
            <a:ext cx="11122470" cy="644993"/>
          </a:xfrm>
        </p:spPr>
        <p:txBody>
          <a:bodyPr anchor="ctr">
            <a:normAutofit/>
          </a:bodyPr>
          <a:lstStyle>
            <a:lvl1pPr marL="0" indent="0" algn="l" defTabSz="914400" rtl="0" eaLnBrk="1" latinLnBrk="0" hangingPunct="1">
              <a:lnSpc>
                <a:spcPct val="100000"/>
              </a:lnSpc>
              <a:spcBef>
                <a:spcPts val="1000"/>
              </a:spcBef>
              <a:buClr>
                <a:schemeClr val="accent2"/>
              </a:buClr>
              <a:buFontTx/>
              <a:buNone/>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200790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Panel Maroon Bg">
    <p:bg>
      <p:bgPr>
        <a:solidFill>
          <a:schemeClr val="accent1"/>
        </a:solidFill>
        <a:effectLst/>
      </p:bgPr>
    </p:bg>
    <p:spTree>
      <p:nvGrpSpPr>
        <p:cNvPr id="1" name=""/>
        <p:cNvGrpSpPr/>
        <p:nvPr/>
      </p:nvGrpSpPr>
      <p:grpSpPr>
        <a:xfrm>
          <a:off x="0" y="0"/>
          <a:ext cx="0" cy="0"/>
          <a:chOff x="0" y="0"/>
          <a:chExt cx="0" cy="0"/>
        </a:xfrm>
      </p:grpSpPr>
      <p:pic>
        <p:nvPicPr>
          <p:cNvPr id="20" name="Pattern">
            <a:extLst>
              <a:ext uri="{FF2B5EF4-FFF2-40B4-BE49-F238E27FC236}">
                <a16:creationId xmlns:a16="http://schemas.microsoft.com/office/drawing/2014/main" id="{4A2374C0-3B03-8F48-9525-7E36392B299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67065"/>
          <a:stretch/>
        </p:blipFill>
        <p:spPr>
          <a:xfrm>
            <a:off x="1380" y="1342422"/>
            <a:ext cx="4041984" cy="5256000"/>
          </a:xfrm>
          <a:prstGeom prst="rect">
            <a:avLst/>
          </a:prstGeom>
        </p:spPr>
      </p:pic>
      <p:grpSp>
        <p:nvGrpSpPr>
          <p:cNvPr id="21" name="Bottom Corner Cover Ups">
            <a:extLst>
              <a:ext uri="{FF2B5EF4-FFF2-40B4-BE49-F238E27FC236}">
                <a16:creationId xmlns:a16="http://schemas.microsoft.com/office/drawing/2014/main" id="{27B58CE0-B94F-A74F-AF83-E7C43D629945}"/>
              </a:ext>
            </a:extLst>
          </p:cNvPr>
          <p:cNvGrpSpPr/>
          <p:nvPr userDrawn="1"/>
        </p:nvGrpSpPr>
        <p:grpSpPr>
          <a:xfrm>
            <a:off x="0" y="5911729"/>
            <a:ext cx="12192027" cy="949000"/>
            <a:chOff x="0" y="5911729"/>
            <a:chExt cx="12192027" cy="949000"/>
          </a:xfrm>
        </p:grpSpPr>
        <p:pic>
          <p:nvPicPr>
            <p:cNvPr id="22" name="SU.Footer.Shape.White.Cover.R">
              <a:extLst>
                <a:ext uri="{FF2B5EF4-FFF2-40B4-BE49-F238E27FC236}">
                  <a16:creationId xmlns:a16="http://schemas.microsoft.com/office/drawing/2014/main" id="{96365ED4-3E98-AF49-A700-D17226523700}"/>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95482" b="18185"/>
            <a:stretch/>
          </p:blipFill>
          <p:spPr>
            <a:xfrm>
              <a:off x="11641165" y="5911729"/>
              <a:ext cx="550862" cy="949000"/>
            </a:xfrm>
            <a:prstGeom prst="rect">
              <a:avLst/>
            </a:prstGeom>
          </p:spPr>
        </p:pic>
        <p:pic>
          <p:nvPicPr>
            <p:cNvPr id="23" name="SU.Footer.Shape.White.Cover.L">
              <a:extLst>
                <a:ext uri="{FF2B5EF4-FFF2-40B4-BE49-F238E27FC236}">
                  <a16:creationId xmlns:a16="http://schemas.microsoft.com/office/drawing/2014/main" id="{D3178EAC-4321-104D-9E00-9ED1994E171E}"/>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98506" y="1439056"/>
            <a:ext cx="7342632" cy="5074170"/>
          </a:xfrm>
        </p:spPr>
        <p:txBody>
          <a:bodyPr>
            <a:normAutofit lnSpcReduction="10000"/>
          </a:bodyPr>
          <a:lstStyle>
            <a:lvl1pPr>
              <a:defRPr>
                <a:solidFill>
                  <a:schemeClr val="bg2"/>
                </a:solidFill>
              </a:defRPr>
            </a:lvl1p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438309"/>
            <a:ext cx="3524695" cy="5074939"/>
          </a:xfrm>
        </p:spPr>
        <p:txBody>
          <a:bodyPr anchor="t">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1276157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ual Layout Slide on Maroon Bg">
    <p:bg>
      <p:bgPr>
        <a:solidFill>
          <a:schemeClr val="accent1"/>
        </a:solidFill>
        <a:effectLst/>
      </p:bgPr>
    </p:bg>
    <p:spTree>
      <p:nvGrpSpPr>
        <p:cNvPr id="1" name=""/>
        <p:cNvGrpSpPr/>
        <p:nvPr/>
      </p:nvGrpSpPr>
      <p:grpSpPr>
        <a:xfrm>
          <a:off x="0" y="0"/>
          <a:ext cx="0" cy="0"/>
          <a:chOff x="0" y="0"/>
          <a:chExt cx="0" cy="0"/>
        </a:xfrm>
      </p:grpSpPr>
      <p:sp>
        <p:nvSpPr>
          <p:cNvPr id="3" name="White Rectangle">
            <a:extLst>
              <a:ext uri="{FF2B5EF4-FFF2-40B4-BE49-F238E27FC236}">
                <a16:creationId xmlns:a16="http://schemas.microsoft.com/office/drawing/2014/main" id="{D2611FE4-4CE8-7644-A6FD-ABFB5B5B8D60}"/>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Content Placeholder  2">
            <a:extLst>
              <a:ext uri="{FF2B5EF4-FFF2-40B4-BE49-F238E27FC236}">
                <a16:creationId xmlns:a16="http://schemas.microsoft.com/office/drawing/2014/main" id="{5BA92924-BA89-854C-8409-64B301FD09C2}"/>
              </a:ext>
            </a:extLst>
          </p:cNvPr>
          <p:cNvSpPr>
            <a:spLocks noGrp="1"/>
          </p:cNvSpPr>
          <p:nvPr>
            <p:ph idx="12" hasCustomPrompt="1"/>
          </p:nvPr>
        </p:nvSpPr>
        <p:spPr>
          <a:xfrm>
            <a:off x="6305552" y="2093512"/>
            <a:ext cx="5335586" cy="4397229"/>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1">
                <a:solidFill>
                  <a:schemeClr val="bg2"/>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7" name="Sub-heading 2">
            <a:extLst>
              <a:ext uri="{FF2B5EF4-FFF2-40B4-BE49-F238E27FC236}">
                <a16:creationId xmlns:a16="http://schemas.microsoft.com/office/drawing/2014/main" id="{90BCFF40-F87E-ED46-9480-AC27B8F7C8FD}"/>
              </a:ext>
            </a:extLst>
          </p:cNvPr>
          <p:cNvSpPr>
            <a:spLocks noGrp="1"/>
          </p:cNvSpPr>
          <p:nvPr>
            <p:ph type="body" sz="quarter" idx="13" hasCustomPrompt="1"/>
          </p:nvPr>
        </p:nvSpPr>
        <p:spPr>
          <a:xfrm>
            <a:off x="6305552" y="1382145"/>
            <a:ext cx="5335586"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1"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2" name="Title 2">
            <a:extLst>
              <a:ext uri="{FF2B5EF4-FFF2-40B4-BE49-F238E27FC236}">
                <a16:creationId xmlns:a16="http://schemas.microsoft.com/office/drawing/2014/main" id="{24773FA7-6E41-CA4A-B944-CFB56DE6214C}"/>
              </a:ext>
            </a:extLst>
          </p:cNvPr>
          <p:cNvSpPr>
            <a:spLocks noGrp="1"/>
          </p:cNvSpPr>
          <p:nvPr>
            <p:ph type="body" sz="quarter" idx="14" hasCustomPrompt="1"/>
          </p:nvPr>
        </p:nvSpPr>
        <p:spPr>
          <a:xfrm>
            <a:off x="6305550" y="234093"/>
            <a:ext cx="5335587" cy="1071642"/>
          </a:xfrm>
        </p:spPr>
        <p:txBody>
          <a:bodyPr/>
          <a:lstStyle>
            <a:lvl1pPr marL="0" indent="0">
              <a:buFontTx/>
              <a:buNone/>
              <a:defRPr lang="en-GB" sz="3200" b="1" i="1" kern="1200" dirty="0" smtClean="0">
                <a:solidFill>
                  <a:schemeClr val="accent1"/>
                </a:solidFill>
                <a:latin typeface="Trebuchet MS" panose="020B0703020202090204" pitchFamily="34" charset="0"/>
                <a:ea typeface="+mj-ea"/>
                <a:cs typeface="+mj-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dirty="0"/>
              <a:t>CLICK TO EDIT TITLE</a:t>
            </a:r>
          </a:p>
        </p:txBody>
      </p:sp>
      <p:sp>
        <p:nvSpPr>
          <p:cNvPr id="19" name="Content Placeholder 1">
            <a:extLst>
              <a:ext uri="{FF2B5EF4-FFF2-40B4-BE49-F238E27FC236}">
                <a16:creationId xmlns:a16="http://schemas.microsoft.com/office/drawing/2014/main" id="{EDE1645F-7F5E-DF4A-92A3-FB3C5E5CD282}"/>
              </a:ext>
            </a:extLst>
          </p:cNvPr>
          <p:cNvSpPr>
            <a:spLocks noGrp="1"/>
          </p:cNvSpPr>
          <p:nvPr>
            <p:ph idx="1" hasCustomPrompt="1"/>
          </p:nvPr>
        </p:nvSpPr>
        <p:spPr>
          <a:xfrm>
            <a:off x="518668" y="2098626"/>
            <a:ext cx="5367782" cy="4397229"/>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2"/>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20" name="Sub-heading 1">
            <a:extLst>
              <a:ext uri="{FF2B5EF4-FFF2-40B4-BE49-F238E27FC236}">
                <a16:creationId xmlns:a16="http://schemas.microsoft.com/office/drawing/2014/main" id="{D7D43BA8-224C-6246-ABDE-468543E9DE18}"/>
              </a:ext>
            </a:extLst>
          </p:cNvPr>
          <p:cNvSpPr>
            <a:spLocks noGrp="1"/>
          </p:cNvSpPr>
          <p:nvPr>
            <p:ph type="body" sz="quarter" idx="10" hasCustomPrompt="1"/>
          </p:nvPr>
        </p:nvSpPr>
        <p:spPr>
          <a:xfrm>
            <a:off x="518668" y="1379764"/>
            <a:ext cx="5367782"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1" name="Title 1">
            <a:extLst>
              <a:ext uri="{FF2B5EF4-FFF2-40B4-BE49-F238E27FC236}">
                <a16:creationId xmlns:a16="http://schemas.microsoft.com/office/drawing/2014/main" id="{8A004F2E-DDA4-A340-97A9-41B223F5D4A9}"/>
              </a:ext>
            </a:extLst>
          </p:cNvPr>
          <p:cNvSpPr>
            <a:spLocks noGrp="1"/>
          </p:cNvSpPr>
          <p:nvPr>
            <p:ph type="title" hasCustomPrompt="1"/>
          </p:nvPr>
        </p:nvSpPr>
        <p:spPr>
          <a:xfrm>
            <a:off x="518669" y="286559"/>
            <a:ext cx="5367782"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5824384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xColumns Layout Slide on Maroon Bg">
    <p:bg>
      <p:bgPr>
        <a:solidFill>
          <a:schemeClr val="accent1"/>
        </a:solidFill>
        <a:effectLst/>
      </p:bgPr>
    </p:bg>
    <p:spTree>
      <p:nvGrpSpPr>
        <p:cNvPr id="1" name=""/>
        <p:cNvGrpSpPr/>
        <p:nvPr/>
      </p:nvGrpSpPr>
      <p:grpSpPr>
        <a:xfrm>
          <a:off x="0" y="0"/>
          <a:ext cx="0" cy="0"/>
          <a:chOff x="0" y="0"/>
          <a:chExt cx="0" cy="0"/>
        </a:xfrm>
      </p:grpSpPr>
      <p:sp>
        <p:nvSpPr>
          <p:cNvPr id="12" name="White Rectangle">
            <a:extLst>
              <a:ext uri="{FF2B5EF4-FFF2-40B4-BE49-F238E27FC236}">
                <a16:creationId xmlns:a16="http://schemas.microsoft.com/office/drawing/2014/main" id="{1A1C789A-0612-3644-A79B-9492F3528D52}"/>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Content Placeholder 3">
            <a:extLst>
              <a:ext uri="{FF2B5EF4-FFF2-40B4-BE49-F238E27FC236}">
                <a16:creationId xmlns:a16="http://schemas.microsoft.com/office/drawing/2014/main" id="{B63BC844-4DA9-DB4A-A3AA-E8A8209E0994}"/>
              </a:ext>
            </a:extLst>
          </p:cNvPr>
          <p:cNvSpPr>
            <a:spLocks noGrp="1"/>
          </p:cNvSpPr>
          <p:nvPr>
            <p:ph idx="12" hasCustomPrompt="1"/>
          </p:nvPr>
        </p:nvSpPr>
        <p:spPr>
          <a:xfrm>
            <a:off x="8041138" y="2093513"/>
            <a:ext cx="3600000" cy="441971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25" name="Sub-heading 3">
            <a:extLst>
              <a:ext uri="{FF2B5EF4-FFF2-40B4-BE49-F238E27FC236}">
                <a16:creationId xmlns:a16="http://schemas.microsoft.com/office/drawing/2014/main" id="{D8F5F88C-07A7-2147-A0EA-3CBC0139E676}"/>
              </a:ext>
            </a:extLst>
          </p:cNvPr>
          <p:cNvSpPr>
            <a:spLocks noGrp="1"/>
          </p:cNvSpPr>
          <p:nvPr>
            <p:ph type="body" sz="quarter" idx="13" hasCustomPrompt="1"/>
          </p:nvPr>
        </p:nvSpPr>
        <p:spPr>
          <a:xfrm>
            <a:off x="8041138"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6" name="Title 3">
            <a:extLst>
              <a:ext uri="{FF2B5EF4-FFF2-40B4-BE49-F238E27FC236}">
                <a16:creationId xmlns:a16="http://schemas.microsoft.com/office/drawing/2014/main" id="{29E07662-F181-D847-979F-68604D400655}"/>
              </a:ext>
            </a:extLst>
          </p:cNvPr>
          <p:cNvSpPr>
            <a:spLocks noGrp="1"/>
          </p:cNvSpPr>
          <p:nvPr>
            <p:ph type="body" sz="quarter" idx="14" hasCustomPrompt="1"/>
          </p:nvPr>
        </p:nvSpPr>
        <p:spPr>
          <a:xfrm>
            <a:off x="8041138" y="23057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27" name="Content Placeholder  2">
            <a:extLst>
              <a:ext uri="{FF2B5EF4-FFF2-40B4-BE49-F238E27FC236}">
                <a16:creationId xmlns:a16="http://schemas.microsoft.com/office/drawing/2014/main" id="{81BE3FB5-7628-A44F-8346-A0EAD26BDE0D}"/>
              </a:ext>
            </a:extLst>
          </p:cNvPr>
          <p:cNvSpPr>
            <a:spLocks noGrp="1"/>
          </p:cNvSpPr>
          <p:nvPr>
            <p:ph idx="15" hasCustomPrompt="1"/>
          </p:nvPr>
        </p:nvSpPr>
        <p:spPr>
          <a:xfrm>
            <a:off x="4279902" y="2093513"/>
            <a:ext cx="3599998" cy="441971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28" name="Sub-heading 2">
            <a:extLst>
              <a:ext uri="{FF2B5EF4-FFF2-40B4-BE49-F238E27FC236}">
                <a16:creationId xmlns:a16="http://schemas.microsoft.com/office/drawing/2014/main" id="{733D04FF-BCA2-1642-A192-144D8BEEF295}"/>
              </a:ext>
            </a:extLst>
          </p:cNvPr>
          <p:cNvSpPr>
            <a:spLocks noGrp="1"/>
          </p:cNvSpPr>
          <p:nvPr>
            <p:ph type="body" sz="quarter" idx="16" hasCustomPrompt="1"/>
          </p:nvPr>
        </p:nvSpPr>
        <p:spPr>
          <a:xfrm>
            <a:off x="4279902" y="1382145"/>
            <a:ext cx="3599998"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9" name="Title 2">
            <a:extLst>
              <a:ext uri="{FF2B5EF4-FFF2-40B4-BE49-F238E27FC236}">
                <a16:creationId xmlns:a16="http://schemas.microsoft.com/office/drawing/2014/main" id="{FC4B0CEE-DA4A-3244-81A8-3C23508A14A6}"/>
              </a:ext>
            </a:extLst>
          </p:cNvPr>
          <p:cNvSpPr>
            <a:spLocks noGrp="1"/>
          </p:cNvSpPr>
          <p:nvPr>
            <p:ph type="body" sz="quarter" idx="17" hasCustomPrompt="1"/>
          </p:nvPr>
        </p:nvSpPr>
        <p:spPr>
          <a:xfrm>
            <a:off x="4279900"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30" name="Content Placeholder 1">
            <a:extLst>
              <a:ext uri="{FF2B5EF4-FFF2-40B4-BE49-F238E27FC236}">
                <a16:creationId xmlns:a16="http://schemas.microsoft.com/office/drawing/2014/main" id="{86AEBDB5-8697-1944-A7CB-0C142AFA549A}"/>
              </a:ext>
            </a:extLst>
          </p:cNvPr>
          <p:cNvSpPr>
            <a:spLocks noGrp="1"/>
          </p:cNvSpPr>
          <p:nvPr>
            <p:ph idx="1" hasCustomPrompt="1"/>
          </p:nvPr>
        </p:nvSpPr>
        <p:spPr>
          <a:xfrm>
            <a:off x="518667" y="2093513"/>
            <a:ext cx="3600000" cy="441971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31" name="Sub-heading 1">
            <a:extLst>
              <a:ext uri="{FF2B5EF4-FFF2-40B4-BE49-F238E27FC236}">
                <a16:creationId xmlns:a16="http://schemas.microsoft.com/office/drawing/2014/main" id="{609BD0E6-9034-2C40-A3D4-10BA44739DF5}"/>
              </a:ext>
            </a:extLst>
          </p:cNvPr>
          <p:cNvSpPr>
            <a:spLocks noGrp="1"/>
          </p:cNvSpPr>
          <p:nvPr>
            <p:ph type="body" sz="quarter" idx="10" hasCustomPrompt="1"/>
          </p:nvPr>
        </p:nvSpPr>
        <p:spPr>
          <a:xfrm>
            <a:off x="518667"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2" name="Title 1">
            <a:extLst>
              <a:ext uri="{FF2B5EF4-FFF2-40B4-BE49-F238E27FC236}">
                <a16:creationId xmlns:a16="http://schemas.microsoft.com/office/drawing/2014/main" id="{BAE43938-8335-A749-BAE2-E305CF007394}"/>
              </a:ext>
            </a:extLst>
          </p:cNvPr>
          <p:cNvSpPr>
            <a:spLocks noGrp="1"/>
          </p:cNvSpPr>
          <p:nvPr>
            <p:ph type="body" sz="quarter" idx="18" hasCustomPrompt="1"/>
          </p:nvPr>
        </p:nvSpPr>
        <p:spPr>
          <a:xfrm>
            <a:off x="518667"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12806024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Divider Slide on Maroon Bg">
    <p:bg>
      <p:bgPr>
        <a:solidFill>
          <a:schemeClr val="accent1"/>
        </a:solidFill>
        <a:effectLst/>
      </p:bgPr>
    </p:bg>
    <p:spTree>
      <p:nvGrpSpPr>
        <p:cNvPr id="1" name=""/>
        <p:cNvGrpSpPr/>
        <p:nvPr/>
      </p:nvGrpSpPr>
      <p:grpSpPr>
        <a:xfrm>
          <a:off x="0" y="0"/>
          <a:ext cx="0" cy="0"/>
          <a:chOff x="0" y="0"/>
          <a:chExt cx="0" cy="0"/>
        </a:xfrm>
      </p:grpSpPr>
      <p:pic>
        <p:nvPicPr>
          <p:cNvPr id="17" name="Pattern Maroon Bottom">
            <a:extLst>
              <a:ext uri="{FF2B5EF4-FFF2-40B4-BE49-F238E27FC236}">
                <a16:creationId xmlns:a16="http://schemas.microsoft.com/office/drawing/2014/main" id="{5F8180FE-41B2-8F47-AF2E-24E5C9A6174B}"/>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5866" t="5503" r="48528" b="71220"/>
          <a:stretch/>
        </p:blipFill>
        <p:spPr>
          <a:xfrm>
            <a:off x="197368" y="4471002"/>
            <a:ext cx="4785278" cy="2148599"/>
          </a:xfrm>
          <a:prstGeom prst="rect">
            <a:avLst/>
          </a:prstGeom>
        </p:spPr>
      </p:pic>
      <p:pic>
        <p:nvPicPr>
          <p:cNvPr id="19" name="Pattern Maroon Top">
            <a:extLst>
              <a:ext uri="{FF2B5EF4-FFF2-40B4-BE49-F238E27FC236}">
                <a16:creationId xmlns:a16="http://schemas.microsoft.com/office/drawing/2014/main" id="{DA8894CA-8492-9F40-AA7E-A17D05BCB387}"/>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5866" t="5503" r="48528" b="85515"/>
          <a:stretch/>
        </p:blipFill>
        <p:spPr>
          <a:xfrm rot="10800000">
            <a:off x="225944" y="1341306"/>
            <a:ext cx="4785278" cy="829101"/>
          </a:xfrm>
          <a:prstGeom prst="rect">
            <a:avLst/>
          </a:prstGeom>
        </p:spPr>
      </p:pic>
      <p:pic>
        <p:nvPicPr>
          <p:cNvPr id="18" name="Pattern Sand Top">
            <a:extLst>
              <a:ext uri="{FF2B5EF4-FFF2-40B4-BE49-F238E27FC236}">
                <a16:creationId xmlns:a16="http://schemas.microsoft.com/office/drawing/2014/main" id="{3962A34F-1D66-A649-83D7-69B392B6F66F}"/>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14321" r="48528" b="71220"/>
          <a:stretch/>
        </p:blipFill>
        <p:spPr>
          <a:xfrm rot="10800000">
            <a:off x="227250" y="-42185"/>
            <a:ext cx="4785278" cy="1376863"/>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384800" y="2101463"/>
            <a:ext cx="6256338" cy="4419258"/>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2"/>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384798" y="1376838"/>
            <a:ext cx="6256339"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5938" y="2943724"/>
            <a:ext cx="4453200" cy="1019176"/>
          </a:xfrm>
          <a:prstGeom prst="rect">
            <a:avLst/>
          </a:prstGeom>
        </p:spPr>
        <p:txBody>
          <a:bodyPr/>
          <a:lstStyle>
            <a:lvl1pPr>
              <a:defRPr>
                <a:solidFill>
                  <a:schemeClr val="bg2"/>
                </a:solidFill>
              </a:defRPr>
            </a:lvl1pPr>
          </a:lstStyle>
          <a:p>
            <a:r>
              <a:rPr lang="en-GB" dirty="0"/>
              <a:t>CLICK TO EDIT TITLE</a:t>
            </a:r>
            <a:endParaRPr lang="en-US" dirty="0"/>
          </a:p>
        </p:txBody>
      </p:sp>
    </p:spTree>
    <p:extLst>
      <p:ext uri="{BB962C8B-B14F-4D97-AF65-F5344CB8AC3E}">
        <p14:creationId xmlns:p14="http://schemas.microsoft.com/office/powerpoint/2010/main" val="1240825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heading + Content on Steel Grey Bg">
    <p:bg>
      <p:bgPr>
        <a:solidFill>
          <a:schemeClr val="tx1"/>
        </a:solidFill>
        <a:effectLst/>
      </p:bgPr>
    </p:bg>
    <p:spTree>
      <p:nvGrpSpPr>
        <p:cNvPr id="1" name=""/>
        <p:cNvGrpSpPr/>
        <p:nvPr/>
      </p:nvGrpSpPr>
      <p:grpSpPr>
        <a:xfrm>
          <a:off x="0" y="0"/>
          <a:ext cx="0" cy="0"/>
          <a:chOff x="0" y="0"/>
          <a:chExt cx="0" cy="0"/>
        </a:xfrm>
      </p:grpSpPr>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8" y="2098626"/>
            <a:ext cx="11122470" cy="4422095"/>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379764"/>
            <a:ext cx="11122470" cy="644993"/>
          </a:xfrm>
        </p:spPr>
        <p:txBody>
          <a:bodyPr anchor="ctr">
            <a:normAutofit/>
          </a:bodyPr>
          <a:lstStyle>
            <a:lvl1pPr marL="0" indent="0" algn="l" defTabSz="914400" rtl="0" eaLnBrk="1" latinLnBrk="0" hangingPunct="1">
              <a:lnSpc>
                <a:spcPct val="100000"/>
              </a:lnSpc>
              <a:spcBef>
                <a:spcPts val="1000"/>
              </a:spcBef>
              <a:buClr>
                <a:schemeClr val="accent2"/>
              </a:buClr>
              <a:buFontTx/>
              <a:buNone/>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3213"/>
            <a:ext cx="8328565" cy="1052880"/>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5591744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Steel Grey Bg">
    <p:bg>
      <p:bgPr>
        <a:solidFill>
          <a:schemeClr val="tx1"/>
        </a:solidFill>
        <a:effectLst/>
      </p:bgPr>
    </p:bg>
    <p:spTree>
      <p:nvGrpSpPr>
        <p:cNvPr id="1" name=""/>
        <p:cNvGrpSpPr/>
        <p:nvPr/>
      </p:nvGrpSpPr>
      <p:grpSpPr>
        <a:xfrm>
          <a:off x="0" y="0"/>
          <a:ext cx="0" cy="0"/>
          <a:chOff x="0" y="0"/>
          <a:chExt cx="0" cy="0"/>
        </a:xfrm>
      </p:grpSpPr>
      <p:pic>
        <p:nvPicPr>
          <p:cNvPr id="15" name="Pattern">
            <a:extLst>
              <a:ext uri="{FF2B5EF4-FFF2-40B4-BE49-F238E27FC236}">
                <a16:creationId xmlns:a16="http://schemas.microsoft.com/office/drawing/2014/main" id="{C0EE66DB-533C-E64C-B3D1-64CA280079A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668"/>
          <a:stretch/>
        </p:blipFill>
        <p:spPr>
          <a:xfrm>
            <a:off x="1379" y="1342422"/>
            <a:ext cx="12190621" cy="5256000"/>
          </a:xfrm>
          <a:prstGeom prst="rect">
            <a:avLst/>
          </a:prstGeom>
        </p:spPr>
      </p:pic>
      <p:grpSp>
        <p:nvGrpSpPr>
          <p:cNvPr id="3" name="Bottom Corner Cover Ups">
            <a:extLst>
              <a:ext uri="{FF2B5EF4-FFF2-40B4-BE49-F238E27FC236}">
                <a16:creationId xmlns:a16="http://schemas.microsoft.com/office/drawing/2014/main" id="{5005E7C9-6600-A544-AFA5-371577BEB73F}"/>
              </a:ext>
            </a:extLst>
          </p:cNvPr>
          <p:cNvGrpSpPr/>
          <p:nvPr userDrawn="1"/>
        </p:nvGrpSpPr>
        <p:grpSpPr>
          <a:xfrm>
            <a:off x="0" y="5911729"/>
            <a:ext cx="12192027" cy="949000"/>
            <a:chOff x="0" y="5911729"/>
            <a:chExt cx="12192027" cy="949000"/>
          </a:xfrm>
        </p:grpSpPr>
        <p:pic>
          <p:nvPicPr>
            <p:cNvPr id="9" name="SU.Footer.Shape.White.Cover.R">
              <a:extLst>
                <a:ext uri="{FF2B5EF4-FFF2-40B4-BE49-F238E27FC236}">
                  <a16:creationId xmlns:a16="http://schemas.microsoft.com/office/drawing/2014/main" id="{1D0C4382-EBF0-994D-87EB-841AE6F0FD2B}"/>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95482" b="18185"/>
            <a:stretch/>
          </p:blipFill>
          <p:spPr>
            <a:xfrm>
              <a:off x="11641165" y="5911729"/>
              <a:ext cx="550862" cy="949000"/>
            </a:xfrm>
            <a:prstGeom prst="rect">
              <a:avLst/>
            </a:prstGeom>
          </p:spPr>
        </p:pic>
        <p:pic>
          <p:nvPicPr>
            <p:cNvPr id="10" name="SU.Footer.Shape.White.Cover.L">
              <a:extLst>
                <a:ext uri="{FF2B5EF4-FFF2-40B4-BE49-F238E27FC236}">
                  <a16:creationId xmlns:a16="http://schemas.microsoft.com/office/drawing/2014/main" id="{A9785C11-D389-7D4F-9474-E4C97B9273D0}"/>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8" y="2098627"/>
            <a:ext cx="11122470" cy="4414600"/>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379764"/>
            <a:ext cx="11122470" cy="644993"/>
          </a:xfrm>
        </p:spPr>
        <p:txBody>
          <a:bodyPr anchor="ctr">
            <a:normAutofit/>
          </a:bodyPr>
          <a:lstStyle>
            <a:lvl1pPr marL="0" indent="0" algn="l" defTabSz="914400" rtl="0" eaLnBrk="1" latinLnBrk="0" hangingPunct="1">
              <a:lnSpc>
                <a:spcPct val="100000"/>
              </a:lnSpc>
              <a:spcBef>
                <a:spcPts val="1000"/>
              </a:spcBef>
              <a:buClr>
                <a:schemeClr val="accent2"/>
              </a:buClr>
              <a:buFontTx/>
              <a:buNone/>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151753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Panel Steel Grey Bg">
    <p:bg>
      <p:bgPr>
        <a:solidFill>
          <a:schemeClr val="tx1"/>
        </a:solidFill>
        <a:effectLst/>
      </p:bgPr>
    </p:bg>
    <p:spTree>
      <p:nvGrpSpPr>
        <p:cNvPr id="1" name=""/>
        <p:cNvGrpSpPr/>
        <p:nvPr/>
      </p:nvGrpSpPr>
      <p:grpSpPr>
        <a:xfrm>
          <a:off x="0" y="0"/>
          <a:ext cx="0" cy="0"/>
          <a:chOff x="0" y="0"/>
          <a:chExt cx="0" cy="0"/>
        </a:xfrm>
      </p:grpSpPr>
      <p:pic>
        <p:nvPicPr>
          <p:cNvPr id="12" name="Pattern">
            <a:extLst>
              <a:ext uri="{FF2B5EF4-FFF2-40B4-BE49-F238E27FC236}">
                <a16:creationId xmlns:a16="http://schemas.microsoft.com/office/drawing/2014/main" id="{D5786CBE-E2DA-F242-8EF3-D86AFD77730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69167"/>
          <a:stretch/>
        </p:blipFill>
        <p:spPr>
          <a:xfrm>
            <a:off x="1380" y="1342422"/>
            <a:ext cx="3784040" cy="5256000"/>
          </a:xfrm>
          <a:prstGeom prst="rect">
            <a:avLst/>
          </a:prstGeom>
        </p:spPr>
      </p:pic>
      <p:grpSp>
        <p:nvGrpSpPr>
          <p:cNvPr id="15" name="Bottom Corner Cover Ups">
            <a:extLst>
              <a:ext uri="{FF2B5EF4-FFF2-40B4-BE49-F238E27FC236}">
                <a16:creationId xmlns:a16="http://schemas.microsoft.com/office/drawing/2014/main" id="{F6742E16-A430-8D49-8E48-2E7C539F8975}"/>
              </a:ext>
            </a:extLst>
          </p:cNvPr>
          <p:cNvGrpSpPr/>
          <p:nvPr userDrawn="1"/>
        </p:nvGrpSpPr>
        <p:grpSpPr>
          <a:xfrm>
            <a:off x="0" y="5911729"/>
            <a:ext cx="12192027" cy="949000"/>
            <a:chOff x="0" y="5911729"/>
            <a:chExt cx="12192027" cy="949000"/>
          </a:xfrm>
        </p:grpSpPr>
        <p:pic>
          <p:nvPicPr>
            <p:cNvPr id="16" name="SU.Footer.Shape.White.Cover.R">
              <a:extLst>
                <a:ext uri="{FF2B5EF4-FFF2-40B4-BE49-F238E27FC236}">
                  <a16:creationId xmlns:a16="http://schemas.microsoft.com/office/drawing/2014/main" id="{36D2AD46-C46A-354E-BEB5-538F821ABE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95482" b="18185"/>
            <a:stretch/>
          </p:blipFill>
          <p:spPr>
            <a:xfrm>
              <a:off x="11641165" y="5911729"/>
              <a:ext cx="550862" cy="949000"/>
            </a:xfrm>
            <a:prstGeom prst="rect">
              <a:avLst/>
            </a:prstGeom>
          </p:spPr>
        </p:pic>
        <p:pic>
          <p:nvPicPr>
            <p:cNvPr id="17" name="SU.Footer.Shape.White.Cover.L">
              <a:extLst>
                <a:ext uri="{FF2B5EF4-FFF2-40B4-BE49-F238E27FC236}">
                  <a16:creationId xmlns:a16="http://schemas.microsoft.com/office/drawing/2014/main" id="{FCFD9C81-5F69-5644-80F4-B4957DB6B590}"/>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r="95768" b="18185"/>
            <a:stretch/>
          </p:blipFill>
          <p:spPr>
            <a:xfrm>
              <a:off x="0" y="5911729"/>
              <a:ext cx="515938" cy="949000"/>
            </a:xfrm>
            <a:prstGeom prst="rect">
              <a:avLst/>
            </a:prstGeom>
          </p:spPr>
        </p:pic>
      </p:grpSp>
      <p:sp>
        <p:nvSpPr>
          <p:cNvPr id="14" name="Content Placeholder ">
            <a:extLst>
              <a:ext uri="{FF2B5EF4-FFF2-40B4-BE49-F238E27FC236}">
                <a16:creationId xmlns:a16="http://schemas.microsoft.com/office/drawing/2014/main" id="{D0E9C235-E1AC-4547-A3F0-A9434CA86FFA}"/>
              </a:ext>
            </a:extLst>
          </p:cNvPr>
          <p:cNvSpPr>
            <a:spLocks noGrp="1"/>
          </p:cNvSpPr>
          <p:nvPr>
            <p:ph idx="12" hasCustomPrompt="1"/>
          </p:nvPr>
        </p:nvSpPr>
        <p:spPr>
          <a:xfrm>
            <a:off x="4043364" y="1439056"/>
            <a:ext cx="7814339" cy="5074170"/>
          </a:xfrm>
        </p:spPr>
        <p:txBody>
          <a:bodyPr>
            <a:normAutofit lnSpcReduction="10000"/>
          </a:bodyPr>
          <a:lstStyle>
            <a:lvl1pPr>
              <a:defRPr>
                <a:solidFill>
                  <a:schemeClr val="bg1"/>
                </a:solidFill>
              </a:defRPr>
            </a:lvl1pPr>
          </a:lstStyle>
          <a:p>
            <a:r>
              <a:rPr lang="en-GB" dirty="0"/>
              <a:t>Content placeholder</a:t>
            </a:r>
          </a:p>
        </p:txBody>
      </p:sp>
      <p:sp>
        <p:nvSpPr>
          <p:cNvPr id="13" name="Sub-heading">
            <a:extLst>
              <a:ext uri="{FF2B5EF4-FFF2-40B4-BE49-F238E27FC236}">
                <a16:creationId xmlns:a16="http://schemas.microsoft.com/office/drawing/2014/main" id="{4F600B9D-C6D1-B541-84C3-79F974E4691D}"/>
              </a:ext>
            </a:extLst>
          </p:cNvPr>
          <p:cNvSpPr>
            <a:spLocks noGrp="1"/>
          </p:cNvSpPr>
          <p:nvPr>
            <p:ph type="body" sz="quarter" idx="10" hasCustomPrompt="1"/>
          </p:nvPr>
        </p:nvSpPr>
        <p:spPr>
          <a:xfrm>
            <a:off x="518668" y="1437745"/>
            <a:ext cx="3266751" cy="5075482"/>
          </a:xfrm>
        </p:spPr>
        <p:txBody>
          <a:bodyPr anchor="t">
            <a:normAutofit/>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lang="en-GB" sz="2800" b="0" i="0" kern="120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8348529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ual Layout Slide on Steel Grey Bg">
    <p:bg>
      <p:bgPr>
        <a:solidFill>
          <a:schemeClr val="tx1"/>
        </a:solidFill>
        <a:effectLst/>
      </p:bgPr>
    </p:bg>
    <p:spTree>
      <p:nvGrpSpPr>
        <p:cNvPr id="1" name=""/>
        <p:cNvGrpSpPr/>
        <p:nvPr/>
      </p:nvGrpSpPr>
      <p:grpSpPr>
        <a:xfrm>
          <a:off x="0" y="0"/>
          <a:ext cx="0" cy="0"/>
          <a:chOff x="0" y="0"/>
          <a:chExt cx="0" cy="0"/>
        </a:xfrm>
      </p:grpSpPr>
      <p:sp>
        <p:nvSpPr>
          <p:cNvPr id="9" name="White Rectangle">
            <a:extLst>
              <a:ext uri="{FF2B5EF4-FFF2-40B4-BE49-F238E27FC236}">
                <a16:creationId xmlns:a16="http://schemas.microsoft.com/office/drawing/2014/main" id="{E092BD89-6351-F14F-99A1-F9ED46FD8A3D}"/>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Content Placeholder  2">
            <a:extLst>
              <a:ext uri="{FF2B5EF4-FFF2-40B4-BE49-F238E27FC236}">
                <a16:creationId xmlns:a16="http://schemas.microsoft.com/office/drawing/2014/main" id="{2B59F022-8EBD-944D-810D-855A24D6A260}"/>
              </a:ext>
            </a:extLst>
          </p:cNvPr>
          <p:cNvSpPr>
            <a:spLocks noGrp="1"/>
          </p:cNvSpPr>
          <p:nvPr>
            <p:ph idx="12" hasCustomPrompt="1"/>
          </p:nvPr>
        </p:nvSpPr>
        <p:spPr>
          <a:xfrm>
            <a:off x="6305552" y="2093512"/>
            <a:ext cx="5335586" cy="4414600"/>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1">
                <a:solidFill>
                  <a:schemeClr val="bg2"/>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3" name="Sub-heading 2">
            <a:extLst>
              <a:ext uri="{FF2B5EF4-FFF2-40B4-BE49-F238E27FC236}">
                <a16:creationId xmlns:a16="http://schemas.microsoft.com/office/drawing/2014/main" id="{DBCB0F0E-2CA6-9B47-B078-4D0CBA22AA46}"/>
              </a:ext>
            </a:extLst>
          </p:cNvPr>
          <p:cNvSpPr>
            <a:spLocks noGrp="1"/>
          </p:cNvSpPr>
          <p:nvPr>
            <p:ph type="body" sz="quarter" idx="13" hasCustomPrompt="1"/>
          </p:nvPr>
        </p:nvSpPr>
        <p:spPr>
          <a:xfrm>
            <a:off x="6305552" y="1382145"/>
            <a:ext cx="5335586"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1"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2">
            <a:extLst>
              <a:ext uri="{FF2B5EF4-FFF2-40B4-BE49-F238E27FC236}">
                <a16:creationId xmlns:a16="http://schemas.microsoft.com/office/drawing/2014/main" id="{EB87052C-3318-B443-ACEB-EB3464C7D937}"/>
              </a:ext>
            </a:extLst>
          </p:cNvPr>
          <p:cNvSpPr>
            <a:spLocks noGrp="1"/>
          </p:cNvSpPr>
          <p:nvPr>
            <p:ph type="body" sz="quarter" idx="14" hasCustomPrompt="1"/>
          </p:nvPr>
        </p:nvSpPr>
        <p:spPr>
          <a:xfrm>
            <a:off x="6305550" y="234093"/>
            <a:ext cx="5335587" cy="1071641"/>
          </a:xfrm>
        </p:spPr>
        <p:txBody>
          <a:bodyPr/>
          <a:lstStyle>
            <a:lvl1pPr marL="0" indent="0">
              <a:buFontTx/>
              <a:buNone/>
              <a:defRPr lang="en-GB" sz="3200" b="1" i="1" kern="1200" dirty="0" smtClean="0">
                <a:solidFill>
                  <a:schemeClr val="accent1"/>
                </a:solidFill>
                <a:latin typeface="Trebuchet MS" panose="020B0703020202090204" pitchFamily="34" charset="0"/>
                <a:ea typeface="+mj-ea"/>
                <a:cs typeface="+mj-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dirty="0"/>
              <a:t>CLICK TO EDIT TITLE</a:t>
            </a:r>
          </a:p>
        </p:txBody>
      </p:sp>
      <p:sp>
        <p:nvSpPr>
          <p:cNvPr id="10" name="Content Placeholder 1">
            <a:extLst>
              <a:ext uri="{FF2B5EF4-FFF2-40B4-BE49-F238E27FC236}">
                <a16:creationId xmlns:a16="http://schemas.microsoft.com/office/drawing/2014/main" id="{1E5D113C-3036-C842-BC1F-5B0180C05F49}"/>
              </a:ext>
            </a:extLst>
          </p:cNvPr>
          <p:cNvSpPr>
            <a:spLocks noGrp="1"/>
          </p:cNvSpPr>
          <p:nvPr>
            <p:ph idx="1" hasCustomPrompt="1"/>
          </p:nvPr>
        </p:nvSpPr>
        <p:spPr>
          <a:xfrm>
            <a:off x="518668" y="2098626"/>
            <a:ext cx="5367782" cy="4414600"/>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2"/>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1">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18668" y="1379764"/>
            <a:ext cx="5367782"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1">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9" y="286559"/>
            <a:ext cx="5367782"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16789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xColumns Layout Slide on Steel Grey Bg">
    <p:bg>
      <p:bgPr>
        <a:solidFill>
          <a:schemeClr val="tx1"/>
        </a:solidFill>
        <a:effectLst/>
      </p:bgPr>
    </p:bg>
    <p:spTree>
      <p:nvGrpSpPr>
        <p:cNvPr id="1" name=""/>
        <p:cNvGrpSpPr/>
        <p:nvPr/>
      </p:nvGrpSpPr>
      <p:grpSpPr>
        <a:xfrm>
          <a:off x="0" y="0"/>
          <a:ext cx="0" cy="0"/>
          <a:chOff x="0" y="0"/>
          <a:chExt cx="0" cy="0"/>
        </a:xfrm>
      </p:grpSpPr>
      <p:sp>
        <p:nvSpPr>
          <p:cNvPr id="12" name="White Rectangle">
            <a:extLst>
              <a:ext uri="{FF2B5EF4-FFF2-40B4-BE49-F238E27FC236}">
                <a16:creationId xmlns:a16="http://schemas.microsoft.com/office/drawing/2014/main" id="{F91E8B35-3A4B-C141-A1D0-4589A2506ABF}"/>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Content Placeholder 3">
            <a:extLst>
              <a:ext uri="{FF2B5EF4-FFF2-40B4-BE49-F238E27FC236}">
                <a16:creationId xmlns:a16="http://schemas.microsoft.com/office/drawing/2014/main" id="{BBB9A18E-F7B6-1241-9C63-76045CF56253}"/>
              </a:ext>
            </a:extLst>
          </p:cNvPr>
          <p:cNvSpPr>
            <a:spLocks noGrp="1"/>
          </p:cNvSpPr>
          <p:nvPr>
            <p:ph idx="12" hasCustomPrompt="1"/>
          </p:nvPr>
        </p:nvSpPr>
        <p:spPr>
          <a:xfrm>
            <a:off x="8041138" y="2093512"/>
            <a:ext cx="3600000" cy="4412219"/>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34" name="Sub-heading 3">
            <a:extLst>
              <a:ext uri="{FF2B5EF4-FFF2-40B4-BE49-F238E27FC236}">
                <a16:creationId xmlns:a16="http://schemas.microsoft.com/office/drawing/2014/main" id="{73E54803-8D9E-3F45-B6AB-224557321092}"/>
              </a:ext>
            </a:extLst>
          </p:cNvPr>
          <p:cNvSpPr>
            <a:spLocks noGrp="1"/>
          </p:cNvSpPr>
          <p:nvPr>
            <p:ph type="body" sz="quarter" idx="13" hasCustomPrompt="1"/>
          </p:nvPr>
        </p:nvSpPr>
        <p:spPr>
          <a:xfrm>
            <a:off x="8041138"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5" name="Title 3">
            <a:extLst>
              <a:ext uri="{FF2B5EF4-FFF2-40B4-BE49-F238E27FC236}">
                <a16:creationId xmlns:a16="http://schemas.microsoft.com/office/drawing/2014/main" id="{16F8BEA3-5345-1748-AA80-5B585F793FE9}"/>
              </a:ext>
            </a:extLst>
          </p:cNvPr>
          <p:cNvSpPr>
            <a:spLocks noGrp="1"/>
          </p:cNvSpPr>
          <p:nvPr>
            <p:ph type="body" sz="quarter" idx="14" hasCustomPrompt="1"/>
          </p:nvPr>
        </p:nvSpPr>
        <p:spPr>
          <a:xfrm>
            <a:off x="8041138" y="229951"/>
            <a:ext cx="3600000" cy="1053551"/>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36" name="Content Placeholder  2">
            <a:extLst>
              <a:ext uri="{FF2B5EF4-FFF2-40B4-BE49-F238E27FC236}">
                <a16:creationId xmlns:a16="http://schemas.microsoft.com/office/drawing/2014/main" id="{88B2884D-0365-B541-8F3C-C51C6A73AE24}"/>
              </a:ext>
            </a:extLst>
          </p:cNvPr>
          <p:cNvSpPr>
            <a:spLocks noGrp="1"/>
          </p:cNvSpPr>
          <p:nvPr>
            <p:ph idx="15" hasCustomPrompt="1"/>
          </p:nvPr>
        </p:nvSpPr>
        <p:spPr>
          <a:xfrm>
            <a:off x="4279902" y="2093512"/>
            <a:ext cx="3599998" cy="4412219"/>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37" name="Sub-heading 2">
            <a:extLst>
              <a:ext uri="{FF2B5EF4-FFF2-40B4-BE49-F238E27FC236}">
                <a16:creationId xmlns:a16="http://schemas.microsoft.com/office/drawing/2014/main" id="{6D580DE4-7F66-D04D-B514-60DB430392E6}"/>
              </a:ext>
            </a:extLst>
          </p:cNvPr>
          <p:cNvSpPr>
            <a:spLocks noGrp="1"/>
          </p:cNvSpPr>
          <p:nvPr>
            <p:ph type="body" sz="quarter" idx="16" hasCustomPrompt="1"/>
          </p:nvPr>
        </p:nvSpPr>
        <p:spPr>
          <a:xfrm>
            <a:off x="4279902" y="1382145"/>
            <a:ext cx="3599998"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8" name="Title 2">
            <a:extLst>
              <a:ext uri="{FF2B5EF4-FFF2-40B4-BE49-F238E27FC236}">
                <a16:creationId xmlns:a16="http://schemas.microsoft.com/office/drawing/2014/main" id="{A6F7933B-A88D-C34B-BD54-79381E7FAA12}"/>
              </a:ext>
            </a:extLst>
          </p:cNvPr>
          <p:cNvSpPr>
            <a:spLocks noGrp="1"/>
          </p:cNvSpPr>
          <p:nvPr>
            <p:ph type="body" sz="quarter" idx="17" hasCustomPrompt="1"/>
          </p:nvPr>
        </p:nvSpPr>
        <p:spPr>
          <a:xfrm>
            <a:off x="4279900"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39" name="Content Placeholder 1">
            <a:extLst>
              <a:ext uri="{FF2B5EF4-FFF2-40B4-BE49-F238E27FC236}">
                <a16:creationId xmlns:a16="http://schemas.microsoft.com/office/drawing/2014/main" id="{2A0A52AC-CBA4-EA46-BD1B-323F4DB40054}"/>
              </a:ext>
            </a:extLst>
          </p:cNvPr>
          <p:cNvSpPr>
            <a:spLocks noGrp="1"/>
          </p:cNvSpPr>
          <p:nvPr>
            <p:ph idx="1" hasCustomPrompt="1"/>
          </p:nvPr>
        </p:nvSpPr>
        <p:spPr>
          <a:xfrm>
            <a:off x="518667" y="2093512"/>
            <a:ext cx="3600000" cy="4412219"/>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40" name="Sub-heading 1">
            <a:extLst>
              <a:ext uri="{FF2B5EF4-FFF2-40B4-BE49-F238E27FC236}">
                <a16:creationId xmlns:a16="http://schemas.microsoft.com/office/drawing/2014/main" id="{CA2CC1C2-E7EE-0648-820D-BC18F6B33876}"/>
              </a:ext>
            </a:extLst>
          </p:cNvPr>
          <p:cNvSpPr>
            <a:spLocks noGrp="1"/>
          </p:cNvSpPr>
          <p:nvPr>
            <p:ph type="body" sz="quarter" idx="10" hasCustomPrompt="1"/>
          </p:nvPr>
        </p:nvSpPr>
        <p:spPr>
          <a:xfrm>
            <a:off x="518667"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41" name="Title 1">
            <a:extLst>
              <a:ext uri="{FF2B5EF4-FFF2-40B4-BE49-F238E27FC236}">
                <a16:creationId xmlns:a16="http://schemas.microsoft.com/office/drawing/2014/main" id="{60F85EF3-BC19-7441-B388-C54874512683}"/>
              </a:ext>
            </a:extLst>
          </p:cNvPr>
          <p:cNvSpPr>
            <a:spLocks noGrp="1"/>
          </p:cNvSpPr>
          <p:nvPr>
            <p:ph type="body" sz="quarter" idx="18" hasCustomPrompt="1"/>
          </p:nvPr>
        </p:nvSpPr>
        <p:spPr>
          <a:xfrm>
            <a:off x="518667"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13022843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Divider Slide on Steel Grey Bg">
    <p:bg>
      <p:bgPr>
        <a:solidFill>
          <a:schemeClr val="tx1"/>
        </a:solidFill>
        <a:effectLst/>
      </p:bgPr>
    </p:bg>
    <p:spTree>
      <p:nvGrpSpPr>
        <p:cNvPr id="1" name=""/>
        <p:cNvGrpSpPr/>
        <p:nvPr/>
      </p:nvGrpSpPr>
      <p:grpSpPr>
        <a:xfrm>
          <a:off x="0" y="0"/>
          <a:ext cx="0" cy="0"/>
          <a:chOff x="0" y="0"/>
          <a:chExt cx="0" cy="0"/>
        </a:xfrm>
      </p:grpSpPr>
      <p:pic>
        <p:nvPicPr>
          <p:cNvPr id="17" name="Pattern Grey Bottom">
            <a:extLst>
              <a:ext uri="{FF2B5EF4-FFF2-40B4-BE49-F238E27FC236}">
                <a16:creationId xmlns:a16="http://schemas.microsoft.com/office/drawing/2014/main" id="{5F8180FE-41B2-8F47-AF2E-24E5C9A6174B}"/>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5866" t="5503" r="48528" b="71220"/>
          <a:stretch/>
        </p:blipFill>
        <p:spPr>
          <a:xfrm>
            <a:off x="197368" y="4471002"/>
            <a:ext cx="4785278" cy="2148599"/>
          </a:xfrm>
          <a:prstGeom prst="rect">
            <a:avLst/>
          </a:prstGeom>
        </p:spPr>
      </p:pic>
      <p:pic>
        <p:nvPicPr>
          <p:cNvPr id="19" name="Pattern Grey Top">
            <a:extLst>
              <a:ext uri="{FF2B5EF4-FFF2-40B4-BE49-F238E27FC236}">
                <a16:creationId xmlns:a16="http://schemas.microsoft.com/office/drawing/2014/main" id="{DA8894CA-8492-9F40-AA7E-A17D05BCB387}"/>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5866" t="5503" r="48528" b="85515"/>
          <a:stretch/>
        </p:blipFill>
        <p:spPr>
          <a:xfrm rot="10800000">
            <a:off x="225944" y="1334680"/>
            <a:ext cx="4785278" cy="829101"/>
          </a:xfrm>
          <a:prstGeom prst="rect">
            <a:avLst/>
          </a:prstGeom>
        </p:spPr>
      </p:pic>
      <p:pic>
        <p:nvPicPr>
          <p:cNvPr id="18" name="Pattern Sand Top">
            <a:extLst>
              <a:ext uri="{FF2B5EF4-FFF2-40B4-BE49-F238E27FC236}">
                <a16:creationId xmlns:a16="http://schemas.microsoft.com/office/drawing/2014/main" id="{3962A34F-1D66-A649-83D7-69B392B6F66F}"/>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14321" r="48528" b="71220"/>
          <a:stretch/>
        </p:blipFill>
        <p:spPr>
          <a:xfrm rot="10800000">
            <a:off x="227250" y="-42183"/>
            <a:ext cx="4785278" cy="1376862"/>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384800" y="2096645"/>
            <a:ext cx="6256338" cy="4416581"/>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384798" y="1381173"/>
            <a:ext cx="6256339"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5938" y="2943724"/>
            <a:ext cx="4453200" cy="1019176"/>
          </a:xfrm>
          <a:prstGeom prst="rect">
            <a:avLst/>
          </a:prstGeom>
        </p:spPr>
        <p:txBody>
          <a:bodyPr/>
          <a:lstStyle>
            <a:lvl1pPr>
              <a:defRPr>
                <a:solidFill>
                  <a:schemeClr val="bg2"/>
                </a:solidFill>
              </a:defRPr>
            </a:lvl1pPr>
          </a:lstStyle>
          <a:p>
            <a:r>
              <a:rPr lang="en-GB" dirty="0"/>
              <a:t>CLICK TO EDIT TITLE</a:t>
            </a:r>
            <a:endParaRPr lang="en-US" dirty="0"/>
          </a:p>
        </p:txBody>
      </p:sp>
    </p:spTree>
    <p:extLst>
      <p:ext uri="{BB962C8B-B14F-4D97-AF65-F5344CB8AC3E}">
        <p14:creationId xmlns:p14="http://schemas.microsoft.com/office/powerpoint/2010/main" val="271912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White.Banner.Top">
            <a:extLst>
              <a:ext uri="{FF2B5EF4-FFF2-40B4-BE49-F238E27FC236}">
                <a16:creationId xmlns:a16="http://schemas.microsoft.com/office/drawing/2014/main" id="{D70D17EB-87E2-EC45-B0B0-B16E5C2558F6}"/>
              </a:ext>
            </a:extLst>
          </p:cNvPr>
          <p:cNvSpPr/>
          <p:nvPr userDrawn="1"/>
        </p:nvSpPr>
        <p:spPr>
          <a:xfrm>
            <a:off x="0" y="0"/>
            <a:ext cx="12192000" cy="1341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SU.Footer.Shape.White">
            <a:extLst>
              <a:ext uri="{FF2B5EF4-FFF2-40B4-BE49-F238E27FC236}">
                <a16:creationId xmlns:a16="http://schemas.microsoft.com/office/drawing/2014/main" id="{C2021710-E914-7244-8A47-3745EFB08A9D}"/>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7"/>
              </a:ext>
            </a:extLst>
          </a:blip>
          <a:srcRect b="18185"/>
          <a:stretch/>
        </p:blipFill>
        <p:spPr>
          <a:xfrm>
            <a:off x="0" y="5909001"/>
            <a:ext cx="12192000" cy="948999"/>
          </a:xfrm>
          <a:prstGeom prst="rect">
            <a:avLst/>
          </a:prstGeom>
        </p:spPr>
      </p:pic>
      <p:sp>
        <p:nvSpPr>
          <p:cNvPr id="9" name="Footer">
            <a:extLst>
              <a:ext uri="{FF2B5EF4-FFF2-40B4-BE49-F238E27FC236}">
                <a16:creationId xmlns:a16="http://schemas.microsoft.com/office/drawing/2014/main" id="{5DE18A1C-E612-604E-AA9F-9A73E465BA68}"/>
              </a:ext>
            </a:extLst>
          </p:cNvPr>
          <p:cNvSpPr txBox="1">
            <a:spLocks/>
          </p:cNvSpPr>
          <p:nvPr userDrawn="1"/>
        </p:nvSpPr>
        <p:spPr>
          <a:xfrm>
            <a:off x="515938" y="6597651"/>
            <a:ext cx="11125200" cy="266492"/>
          </a:xfrm>
          <a:prstGeom prst="rect">
            <a:avLst/>
          </a:prstGeom>
        </p:spPr>
        <p:txBody>
          <a:bodyPr anchor="t">
            <a:noAutofit/>
          </a:bodyPr>
          <a:lstStyle>
            <a:lvl1pPr marL="0" indent="0" algn="l" defTabSz="914400" rtl="0" eaLnBrk="1" latinLnBrk="0" hangingPunct="1">
              <a:lnSpc>
                <a:spcPct val="100000"/>
              </a:lnSpc>
              <a:spcBef>
                <a:spcPts val="1000"/>
              </a:spcBef>
              <a:buClr>
                <a:schemeClr val="accent2"/>
              </a:buClr>
              <a:buFontTx/>
              <a:buNone/>
              <a:defRPr lang="en-GB" sz="1000" b="1" i="0" kern="1200" dirty="0">
                <a:solidFill>
                  <a:schemeClr val="accent1"/>
                </a:solidFill>
                <a:latin typeface="Trebuchet MS" panose="020B0703020202090204" pitchFamily="34" charset="0"/>
                <a:ea typeface="+mn-ea"/>
                <a:cs typeface="Calibri Light" panose="020F0302020204030204" pitchFamily="34" charset="0"/>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GB" sz="1000" b="0" i="0" dirty="0">
                <a:solidFill>
                  <a:schemeClr val="accent3"/>
                </a:solidFill>
                <a:latin typeface="Trebuchet MS" panose="020B0703020202090204" pitchFamily="34" charset="0"/>
              </a:rPr>
              <a:t>Economic and Management Sciences | </a:t>
            </a:r>
            <a:r>
              <a:rPr lang="en-GB" sz="1000" b="0" i="0" dirty="0" err="1">
                <a:solidFill>
                  <a:schemeClr val="accent3"/>
                </a:solidFill>
                <a:latin typeface="Trebuchet MS" panose="020B0703020202090204" pitchFamily="34" charset="0"/>
              </a:rPr>
              <a:t>EyeNzululwazi</a:t>
            </a:r>
            <a:r>
              <a:rPr lang="en-GB" sz="1000" b="0" i="0" dirty="0">
                <a:solidFill>
                  <a:schemeClr val="accent3"/>
                </a:solidFill>
                <a:latin typeface="Trebuchet MS" panose="020B0703020202090204" pitchFamily="34" charset="0"/>
              </a:rPr>
              <a:t> </a:t>
            </a:r>
            <a:r>
              <a:rPr lang="en-GB" sz="1000" b="0" i="0" dirty="0" err="1">
                <a:solidFill>
                  <a:schemeClr val="accent3"/>
                </a:solidFill>
                <a:latin typeface="Trebuchet MS" panose="020B0703020202090204" pitchFamily="34" charset="0"/>
              </a:rPr>
              <a:t>ngoQoqosho</a:t>
            </a:r>
            <a:r>
              <a:rPr lang="en-GB" sz="1000" b="0" i="0" dirty="0">
                <a:solidFill>
                  <a:schemeClr val="accent3"/>
                </a:solidFill>
                <a:latin typeface="Trebuchet MS" panose="020B0703020202090204" pitchFamily="34" charset="0"/>
              </a:rPr>
              <a:t> </a:t>
            </a:r>
            <a:r>
              <a:rPr lang="en-GB" sz="1000" b="0" i="0" dirty="0" err="1">
                <a:solidFill>
                  <a:schemeClr val="accent3"/>
                </a:solidFill>
                <a:latin typeface="Trebuchet MS" panose="020B0703020202090204" pitchFamily="34" charset="0"/>
              </a:rPr>
              <a:t>noLawulo</a:t>
            </a:r>
            <a:r>
              <a:rPr lang="en-GB" sz="1000" b="0" i="0" dirty="0">
                <a:solidFill>
                  <a:schemeClr val="accent3"/>
                </a:solidFill>
                <a:latin typeface="Trebuchet MS" panose="020B0703020202090204" pitchFamily="34" charset="0"/>
              </a:rPr>
              <a:t> | </a:t>
            </a:r>
            <a:r>
              <a:rPr lang="en-GB" sz="1000" b="0" i="0" dirty="0" err="1">
                <a:solidFill>
                  <a:schemeClr val="accent3"/>
                </a:solidFill>
                <a:latin typeface="Trebuchet MS" panose="020B0703020202090204" pitchFamily="34" charset="0"/>
              </a:rPr>
              <a:t>Ekonomiese</a:t>
            </a:r>
            <a:r>
              <a:rPr lang="en-GB" sz="1000" b="0" i="0" dirty="0">
                <a:solidFill>
                  <a:schemeClr val="accent3"/>
                </a:solidFill>
                <a:latin typeface="Trebuchet MS" panose="020B0703020202090204" pitchFamily="34" charset="0"/>
              </a:rPr>
              <a:t> </a:t>
            </a:r>
            <a:r>
              <a:rPr lang="en-GB" sz="1000" b="0" i="0" dirty="0" err="1">
                <a:solidFill>
                  <a:schemeClr val="accent3"/>
                </a:solidFill>
                <a:latin typeface="Trebuchet MS" panose="020B0703020202090204" pitchFamily="34" charset="0"/>
              </a:rPr>
              <a:t>en</a:t>
            </a:r>
            <a:r>
              <a:rPr lang="en-GB" sz="1000" b="0" i="0" dirty="0">
                <a:solidFill>
                  <a:schemeClr val="accent3"/>
                </a:solidFill>
                <a:latin typeface="Trebuchet MS" panose="020B0703020202090204" pitchFamily="34" charset="0"/>
              </a:rPr>
              <a:t> </a:t>
            </a:r>
            <a:r>
              <a:rPr lang="en-GB" sz="1000" b="0" i="0" dirty="0" err="1">
                <a:solidFill>
                  <a:schemeClr val="accent3"/>
                </a:solidFill>
                <a:latin typeface="Trebuchet MS" panose="020B0703020202090204" pitchFamily="34" charset="0"/>
              </a:rPr>
              <a:t>Bestuurswetenskappe</a:t>
            </a:r>
            <a:endParaRPr lang="en-GB" sz="1000" b="0" i="0" dirty="0">
              <a:solidFill>
                <a:schemeClr val="accent3"/>
              </a:solidFill>
              <a:latin typeface="Trebuchet MS" panose="020B0703020202090204" pitchFamily="34" charset="0"/>
            </a:endParaRPr>
          </a:p>
        </p:txBody>
      </p:sp>
      <p:sp>
        <p:nvSpPr>
          <p:cNvPr id="15" name="SU.Shape" hidden="1">
            <a:extLst>
              <a:ext uri="{FF2B5EF4-FFF2-40B4-BE49-F238E27FC236}">
                <a16:creationId xmlns:a16="http://schemas.microsoft.com/office/drawing/2014/main" id="{050DDAF9-8F3A-0B48-82E1-6040CBB5F5D1}"/>
              </a:ext>
            </a:extLst>
          </p:cNvPr>
          <p:cNvSpPr/>
          <p:nvPr userDrawn="1"/>
        </p:nvSpPr>
        <p:spPr>
          <a:xfrm>
            <a:off x="0" y="1339540"/>
            <a:ext cx="12192000" cy="5259988"/>
          </a:xfrm>
          <a:custGeom>
            <a:avLst/>
            <a:gdLst>
              <a:gd name="connsiteX0" fmla="*/ 76801 w 3455263"/>
              <a:gd name="connsiteY0" fmla="*/ 1812227 h 1812226"/>
              <a:gd name="connsiteX1" fmla="*/ 0 w 3455263"/>
              <a:gd name="connsiteY1" fmla="*/ 1735169 h 1812226"/>
              <a:gd name="connsiteX2" fmla="*/ 0 w 3455263"/>
              <a:gd name="connsiteY2" fmla="*/ 0 h 1812226"/>
              <a:gd name="connsiteX3" fmla="*/ 3455263 w 3455263"/>
              <a:gd name="connsiteY3" fmla="*/ 0 h 1812226"/>
              <a:gd name="connsiteX4" fmla="*/ 3455263 w 3455263"/>
              <a:gd name="connsiteY4" fmla="*/ 1581150 h 1812226"/>
              <a:gd name="connsiteX5" fmla="*/ 3224766 w 3455263"/>
              <a:gd name="connsiteY5" fmla="*/ 1811750 h 1812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5263" h="1812226">
                <a:moveTo>
                  <a:pt x="76801" y="1812227"/>
                </a:moveTo>
                <a:cubicBezTo>
                  <a:pt x="76801" y="1812227"/>
                  <a:pt x="0" y="1812227"/>
                  <a:pt x="0" y="1735169"/>
                </a:cubicBezTo>
                <a:lnTo>
                  <a:pt x="0" y="0"/>
                </a:lnTo>
                <a:lnTo>
                  <a:pt x="3455263" y="0"/>
                </a:lnTo>
                <a:lnTo>
                  <a:pt x="3455263" y="1581150"/>
                </a:lnTo>
                <a:cubicBezTo>
                  <a:pt x="3455263" y="1581150"/>
                  <a:pt x="3455263" y="1811750"/>
                  <a:pt x="3224766" y="1811750"/>
                </a:cubicBezTo>
                <a:close/>
              </a:path>
            </a:pathLst>
          </a:custGeom>
          <a:noFill/>
          <a:ln w="12700" cap="flat">
            <a:noFill/>
            <a:prstDash val="solid"/>
            <a:miter/>
          </a:ln>
        </p:spPr>
        <p:txBody>
          <a:bodyPr rtlCol="0" anchor="ctr"/>
          <a:lstStyle/>
          <a:p>
            <a:endParaRPr lang="en-GB"/>
          </a:p>
        </p:txBody>
      </p:sp>
      <p:sp>
        <p:nvSpPr>
          <p:cNvPr id="3" name="Content placeholder">
            <a:extLst>
              <a:ext uri="{FF2B5EF4-FFF2-40B4-BE49-F238E27FC236}">
                <a16:creationId xmlns:a16="http://schemas.microsoft.com/office/drawing/2014/main" id="{301AC438-5C4B-A74B-973C-02E8105BD4BD}"/>
              </a:ext>
            </a:extLst>
          </p:cNvPr>
          <p:cNvSpPr>
            <a:spLocks noGrp="1"/>
          </p:cNvSpPr>
          <p:nvPr>
            <p:ph type="body" idx="1"/>
          </p:nvPr>
        </p:nvSpPr>
        <p:spPr>
          <a:xfrm>
            <a:off x="515938" y="1426437"/>
            <a:ext cx="11125197" cy="5155610"/>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itle">
            <a:extLst>
              <a:ext uri="{FF2B5EF4-FFF2-40B4-BE49-F238E27FC236}">
                <a16:creationId xmlns:a16="http://schemas.microsoft.com/office/drawing/2014/main" id="{EC044E2A-3062-F245-818F-F465A0481FCB}"/>
              </a:ext>
            </a:extLst>
          </p:cNvPr>
          <p:cNvSpPr>
            <a:spLocks noGrp="1"/>
          </p:cNvSpPr>
          <p:nvPr>
            <p:ph type="title"/>
          </p:nvPr>
        </p:nvSpPr>
        <p:spPr>
          <a:xfrm>
            <a:off x="515938" y="285324"/>
            <a:ext cx="8515636" cy="1052900"/>
          </a:xfrm>
          <a:prstGeom prst="rect">
            <a:avLst/>
          </a:prstGeom>
        </p:spPr>
        <p:txBody>
          <a:bodyPr vert="horz" lIns="91440" tIns="45720" rIns="91440" bIns="45720" rtlCol="0" anchor="t">
            <a:normAutofit/>
          </a:bodyPr>
          <a:lstStyle/>
          <a:p>
            <a:r>
              <a:rPr lang="en-GB" dirty="0"/>
              <a:t>CLICK TO EDIT MASTER TITLE STYLE</a:t>
            </a:r>
            <a:endParaRPr lang="en-US" dirty="0"/>
          </a:p>
        </p:txBody>
      </p:sp>
      <p:pic>
        <p:nvPicPr>
          <p:cNvPr id="8" name="SU Logo">
            <a:extLst>
              <a:ext uri="{FF2B5EF4-FFF2-40B4-BE49-F238E27FC236}">
                <a16:creationId xmlns:a16="http://schemas.microsoft.com/office/drawing/2014/main" id="{4BCB2B4B-739F-974A-8938-B9DE97032C44}"/>
              </a:ext>
            </a:extLst>
          </p:cNvPr>
          <p:cNvPicPr>
            <a:picLocks noChangeAspect="1"/>
          </p:cNvPicPr>
          <p:nvPr userDrawn="1"/>
        </p:nvPicPr>
        <p:blipFill>
          <a:blip>
            <a:extLst>
              <a:ext uri="{96DAC541-7B7A-43D3-8B79-37D633B846F1}">
                <asvg:svgBlip xmlns:asvg="http://schemas.microsoft.com/office/drawing/2016/SVG/main" r:embed="rId28"/>
              </a:ext>
            </a:extLst>
          </a:blip>
          <a:srcRect/>
          <a:stretch/>
        </p:blipFill>
        <p:spPr>
          <a:xfrm>
            <a:off x="9138962" y="130470"/>
            <a:ext cx="3053038" cy="1037250"/>
          </a:xfrm>
          <a:prstGeom prst="rect">
            <a:avLst/>
          </a:prstGeom>
        </p:spPr>
      </p:pic>
    </p:spTree>
    <p:extLst>
      <p:ext uri="{BB962C8B-B14F-4D97-AF65-F5344CB8AC3E}">
        <p14:creationId xmlns:p14="http://schemas.microsoft.com/office/powerpoint/2010/main" val="185710988"/>
      </p:ext>
    </p:extLst>
  </p:cSld>
  <p:clrMap bg1="lt1" tx1="dk1" bg2="lt2" tx2="dk2" accent1="accent1" accent2="accent2" accent3="accent3" accent4="accent4" accent5="accent5" accent6="accent6" hlink="hlink" folHlink="folHlink"/>
  <p:sldLayoutIdLst>
    <p:sldLayoutId id="2147483698" r:id="rId1"/>
    <p:sldLayoutId id="2147483697" r:id="rId2"/>
    <p:sldLayoutId id="2147483725" r:id="rId3"/>
    <p:sldLayoutId id="2147483712" r:id="rId4"/>
    <p:sldLayoutId id="2147483716" r:id="rId5"/>
    <p:sldLayoutId id="2147483741" r:id="rId6"/>
    <p:sldLayoutId id="2147483729" r:id="rId7"/>
    <p:sldLayoutId id="2147483749" r:id="rId8"/>
    <p:sldLayoutId id="2147483701" r:id="rId9"/>
    <p:sldLayoutId id="2147483713" r:id="rId10"/>
    <p:sldLayoutId id="2147483724" r:id="rId11"/>
    <p:sldLayoutId id="2147483743" r:id="rId12"/>
    <p:sldLayoutId id="2147483710" r:id="rId13"/>
    <p:sldLayoutId id="2147483750" r:id="rId14"/>
    <p:sldLayoutId id="2147483702" r:id="rId15"/>
    <p:sldLayoutId id="2147483714" r:id="rId16"/>
    <p:sldLayoutId id="2147483722" r:id="rId17"/>
    <p:sldLayoutId id="2147483744" r:id="rId18"/>
    <p:sldLayoutId id="2147483719" r:id="rId19"/>
    <p:sldLayoutId id="2147483751" r:id="rId20"/>
    <p:sldLayoutId id="2147483721" r:id="rId21"/>
    <p:sldLayoutId id="2147483709" r:id="rId22"/>
    <p:sldLayoutId id="2147483718" r:id="rId23"/>
    <p:sldLayoutId id="2147483745" r:id="rId24"/>
    <p:sldLayoutId id="2147483717" r:id="rId25"/>
  </p:sldLayoutIdLst>
  <p:txStyles>
    <p:titleStyle>
      <a:lvl1pPr algn="l" defTabSz="914400" rtl="0" eaLnBrk="1" latinLnBrk="0" hangingPunct="1">
        <a:lnSpc>
          <a:spcPct val="90000"/>
        </a:lnSpc>
        <a:spcBef>
          <a:spcPct val="0"/>
        </a:spcBef>
        <a:buNone/>
        <a:defRPr sz="3200" b="1" i="0" kern="1200">
          <a:solidFill>
            <a:schemeClr val="accent1"/>
          </a:solidFill>
          <a:latin typeface="Trebuchet MS" panose="020B0703020202090204" pitchFamily="34" charset="0"/>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2400" b="0" i="0" kern="1200">
          <a:solidFill>
            <a:schemeClr val="tx1"/>
          </a:solidFill>
          <a:latin typeface="Calibri Light" panose="020F0302020204030204" pitchFamily="34" charset="0"/>
          <a:ea typeface="+mn-ea"/>
          <a:cs typeface="Calibri Light" panose="020F0302020204030204" pitchFamily="34" charset="0"/>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95" userDrawn="1">
          <p15:clr>
            <a:srgbClr val="F26B43"/>
          </p15:clr>
        </p15:guide>
        <p15:guide id="2" pos="325" userDrawn="1">
          <p15:clr>
            <a:srgbClr val="F26B43"/>
          </p15:clr>
        </p15:guide>
        <p15:guide id="3" pos="166" userDrawn="1">
          <p15:clr>
            <a:srgbClr val="F26B43"/>
          </p15:clr>
        </p15:guide>
        <p15:guide id="4" pos="7514" userDrawn="1">
          <p15:clr>
            <a:srgbClr val="F26B43"/>
          </p15:clr>
        </p15:guide>
        <p15:guide id="5" pos="7333" userDrawn="1">
          <p15:clr>
            <a:srgbClr val="F26B43"/>
          </p15:clr>
        </p15:guide>
        <p15:guide id="6" orient="horz" pos="4156" userDrawn="1">
          <p15:clr>
            <a:srgbClr val="F26B43"/>
          </p15:clr>
        </p15:guide>
        <p15:guide id="7" orient="horz" pos="232" userDrawn="1">
          <p15:clr>
            <a:srgbClr val="F26B43"/>
          </p15:clr>
        </p15:guide>
        <p15:guide id="8" pos="3840" userDrawn="1">
          <p15:clr>
            <a:srgbClr val="F26B43"/>
          </p15:clr>
        </p15:guide>
        <p15:guide id="9" orient="horz" pos="86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7" Type="http://schemas.openxmlformats.org/officeDocument/2006/relationships/image" Target="../media/image430.png"/><Relationship Id="rId2" Type="http://schemas.openxmlformats.org/officeDocument/2006/relationships/customXml" Target="../ink/ink1.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B75E1C-29DD-1A42-267C-8F1A4012C721}"/>
              </a:ext>
            </a:extLst>
          </p:cNvPr>
          <p:cNvSpPr>
            <a:spLocks noGrp="1"/>
          </p:cNvSpPr>
          <p:nvPr>
            <p:ph type="title"/>
          </p:nvPr>
        </p:nvSpPr>
        <p:spPr/>
        <p:txBody>
          <a:bodyPr/>
          <a:lstStyle/>
          <a:p>
            <a:r>
              <a:rPr lang="en-US" dirty="0"/>
              <a:t>IAS 7 Statement of cash flows (Part I)</a:t>
            </a:r>
            <a:endParaRPr lang="en-ZA" dirty="0"/>
          </a:p>
        </p:txBody>
      </p:sp>
      <p:sp>
        <p:nvSpPr>
          <p:cNvPr id="12" name="Rectangle: Rounded Corners 11">
            <a:extLst>
              <a:ext uri="{FF2B5EF4-FFF2-40B4-BE49-F238E27FC236}">
                <a16:creationId xmlns:a16="http://schemas.microsoft.com/office/drawing/2014/main" id="{B3D3B69F-B3A0-679F-CB0D-810F7CA20433}"/>
              </a:ext>
            </a:extLst>
          </p:cNvPr>
          <p:cNvSpPr/>
          <p:nvPr/>
        </p:nvSpPr>
        <p:spPr>
          <a:xfrm>
            <a:off x="4476271" y="3144595"/>
            <a:ext cx="2697024" cy="588920"/>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mn-cs"/>
              </a:rPr>
              <a:t>Statement of comprehensive income</a:t>
            </a:r>
            <a:endParaRPr kumimoji="0" lang="en-ZA" sz="20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5" name="Rectangle: Rounded Corners 14">
            <a:extLst>
              <a:ext uri="{FF2B5EF4-FFF2-40B4-BE49-F238E27FC236}">
                <a16:creationId xmlns:a16="http://schemas.microsoft.com/office/drawing/2014/main" id="{6776DF15-A42A-7B02-8B2F-8F2089177717}"/>
              </a:ext>
            </a:extLst>
          </p:cNvPr>
          <p:cNvSpPr/>
          <p:nvPr/>
        </p:nvSpPr>
        <p:spPr>
          <a:xfrm>
            <a:off x="4238580" y="1393284"/>
            <a:ext cx="3160857" cy="797668"/>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libri" panose="020F0502020204030204"/>
                <a:ea typeface="+mn-ea"/>
                <a:cs typeface="+mn-cs"/>
              </a:rPr>
              <a:t>Full set of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libri" panose="020F0502020204030204"/>
                <a:ea typeface="+mn-ea"/>
                <a:cs typeface="+mn-cs"/>
              </a:rPr>
              <a:t>financial statements:</a:t>
            </a:r>
            <a:endParaRPr kumimoji="0" lang="en-ZA" sz="24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7" name="Rectangle: Rounded Corners 16">
            <a:extLst>
              <a:ext uri="{FF2B5EF4-FFF2-40B4-BE49-F238E27FC236}">
                <a16:creationId xmlns:a16="http://schemas.microsoft.com/office/drawing/2014/main" id="{2CA8BAF5-B9AA-0EA5-1BE1-5739779A26B1}"/>
              </a:ext>
            </a:extLst>
          </p:cNvPr>
          <p:cNvSpPr/>
          <p:nvPr/>
        </p:nvSpPr>
        <p:spPr>
          <a:xfrm>
            <a:off x="4476271" y="2327468"/>
            <a:ext cx="2697024" cy="588920"/>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mn-cs"/>
              </a:rPr>
              <a:t>Statement of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mn-cs"/>
              </a:rPr>
              <a:t>financial position</a:t>
            </a:r>
            <a:endParaRPr kumimoji="0" lang="en-ZA" sz="20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8" name="Rectangle: Rounded Corners 17">
            <a:extLst>
              <a:ext uri="{FF2B5EF4-FFF2-40B4-BE49-F238E27FC236}">
                <a16:creationId xmlns:a16="http://schemas.microsoft.com/office/drawing/2014/main" id="{F63DC73E-D48C-EF97-AC18-D5D6D4A719BB}"/>
              </a:ext>
            </a:extLst>
          </p:cNvPr>
          <p:cNvSpPr/>
          <p:nvPr/>
        </p:nvSpPr>
        <p:spPr>
          <a:xfrm>
            <a:off x="4476271" y="3941613"/>
            <a:ext cx="2697024" cy="588920"/>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mn-cs"/>
              </a:rPr>
              <a:t>Statement of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mn-cs"/>
              </a:rPr>
              <a:t>changes in equity</a:t>
            </a:r>
            <a:endParaRPr kumimoji="0" lang="en-ZA" sz="20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9" name="Rectangle: Rounded Corners 18">
            <a:extLst>
              <a:ext uri="{FF2B5EF4-FFF2-40B4-BE49-F238E27FC236}">
                <a16:creationId xmlns:a16="http://schemas.microsoft.com/office/drawing/2014/main" id="{EBF1341C-02D1-C8E4-DEDA-231FFF172EC5}"/>
              </a:ext>
            </a:extLst>
          </p:cNvPr>
          <p:cNvSpPr/>
          <p:nvPr/>
        </p:nvSpPr>
        <p:spPr>
          <a:xfrm>
            <a:off x="4476271" y="4738631"/>
            <a:ext cx="2697024" cy="588920"/>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mn-cs"/>
              </a:rPr>
              <a:t>Statement of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mn-cs"/>
              </a:rPr>
              <a:t>cash flows</a:t>
            </a:r>
            <a:endParaRPr kumimoji="0" lang="en-ZA" sz="20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0" name="Rectangle: Rounded Corners 19">
            <a:extLst>
              <a:ext uri="{FF2B5EF4-FFF2-40B4-BE49-F238E27FC236}">
                <a16:creationId xmlns:a16="http://schemas.microsoft.com/office/drawing/2014/main" id="{DBAE6BE1-AEAA-5F91-7C6C-88A348996978}"/>
              </a:ext>
            </a:extLst>
          </p:cNvPr>
          <p:cNvSpPr/>
          <p:nvPr/>
        </p:nvSpPr>
        <p:spPr>
          <a:xfrm>
            <a:off x="4476271" y="5537885"/>
            <a:ext cx="2697024" cy="588920"/>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mn-cs"/>
              </a:rPr>
              <a:t>Notes to the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mn-cs"/>
              </a:rPr>
              <a:t>financial statements</a:t>
            </a:r>
            <a:endParaRPr kumimoji="0" lang="en-ZA" sz="20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1" name="Left Brace 20">
            <a:extLst>
              <a:ext uri="{FF2B5EF4-FFF2-40B4-BE49-F238E27FC236}">
                <a16:creationId xmlns:a16="http://schemas.microsoft.com/office/drawing/2014/main" id="{B12FBD13-A28F-442D-1EF3-9826E78D0355}"/>
              </a:ext>
            </a:extLst>
          </p:cNvPr>
          <p:cNvSpPr/>
          <p:nvPr/>
        </p:nvSpPr>
        <p:spPr>
          <a:xfrm>
            <a:off x="3715966" y="2327468"/>
            <a:ext cx="408562" cy="2203065"/>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4D5356"/>
              </a:solidFill>
              <a:effectLst/>
              <a:uLnTx/>
              <a:uFillTx/>
              <a:latin typeface="Calibri" panose="020F0502020204030204"/>
              <a:ea typeface="+mn-ea"/>
              <a:cs typeface="+mn-cs"/>
            </a:endParaRPr>
          </a:p>
        </p:txBody>
      </p:sp>
      <p:sp>
        <p:nvSpPr>
          <p:cNvPr id="22" name="Rectangle: Rounded Corners 21">
            <a:extLst>
              <a:ext uri="{FF2B5EF4-FFF2-40B4-BE49-F238E27FC236}">
                <a16:creationId xmlns:a16="http://schemas.microsoft.com/office/drawing/2014/main" id="{3EB958D9-A6E3-2E5F-4398-8CF91BFA5916}"/>
              </a:ext>
            </a:extLst>
          </p:cNvPr>
          <p:cNvSpPr/>
          <p:nvPr/>
        </p:nvSpPr>
        <p:spPr>
          <a:xfrm>
            <a:off x="1018942" y="3144595"/>
            <a:ext cx="2697024" cy="588920"/>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mn-cs"/>
              </a:rPr>
              <a:t>Accrual principle</a:t>
            </a:r>
            <a:endParaRPr kumimoji="0" lang="en-ZA" sz="20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3" name="Rectangle: Rounded Corners 22">
            <a:extLst>
              <a:ext uri="{FF2B5EF4-FFF2-40B4-BE49-F238E27FC236}">
                <a16:creationId xmlns:a16="http://schemas.microsoft.com/office/drawing/2014/main" id="{E4E4F939-27B6-ABDB-65D2-40395310C5D1}"/>
              </a:ext>
            </a:extLst>
          </p:cNvPr>
          <p:cNvSpPr/>
          <p:nvPr/>
        </p:nvSpPr>
        <p:spPr>
          <a:xfrm>
            <a:off x="7863192" y="4773813"/>
            <a:ext cx="2697024" cy="588920"/>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mn-cs"/>
              </a:rPr>
              <a:t>Cash basis</a:t>
            </a:r>
            <a:endParaRPr kumimoji="0" lang="en-ZA" sz="20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4" name="Rectangle: Rounded Corners 23">
            <a:extLst>
              <a:ext uri="{FF2B5EF4-FFF2-40B4-BE49-F238E27FC236}">
                <a16:creationId xmlns:a16="http://schemas.microsoft.com/office/drawing/2014/main" id="{CBFAF80F-3197-A1C7-4FF3-504E14367E83}"/>
              </a:ext>
            </a:extLst>
          </p:cNvPr>
          <p:cNvSpPr/>
          <p:nvPr/>
        </p:nvSpPr>
        <p:spPr>
          <a:xfrm>
            <a:off x="8745167" y="5832345"/>
            <a:ext cx="2697024" cy="588920"/>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FFFFFF"/>
                </a:solidFill>
                <a:effectLst/>
                <a:uLnTx/>
                <a:uFillTx/>
                <a:latin typeface="Calibri" panose="020F0502020204030204"/>
                <a:ea typeface="+mn-ea"/>
                <a:cs typeface="+mn-cs"/>
              </a:rPr>
              <a:t>Extra information</a:t>
            </a:r>
            <a:endParaRPr kumimoji="0" lang="en-ZA" sz="2000" b="0" i="1"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27" name="Straight Arrow Connector 26">
            <a:extLst>
              <a:ext uri="{FF2B5EF4-FFF2-40B4-BE49-F238E27FC236}">
                <a16:creationId xmlns:a16="http://schemas.microsoft.com/office/drawing/2014/main" id="{C6CA849E-FDB6-F248-F9CC-F76B6A378007}"/>
              </a:ext>
            </a:extLst>
          </p:cNvPr>
          <p:cNvCxnSpPr>
            <a:stCxn id="20" idx="3"/>
            <a:endCxn id="24" idx="1"/>
          </p:cNvCxnSpPr>
          <p:nvPr/>
        </p:nvCxnSpPr>
        <p:spPr>
          <a:xfrm>
            <a:off x="7173295" y="5832345"/>
            <a:ext cx="1571872" cy="2944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Left Brace 28">
            <a:extLst>
              <a:ext uri="{FF2B5EF4-FFF2-40B4-BE49-F238E27FC236}">
                <a16:creationId xmlns:a16="http://schemas.microsoft.com/office/drawing/2014/main" id="{A48AA5B2-2408-85B2-5F8A-9D99AF162398}"/>
              </a:ext>
            </a:extLst>
          </p:cNvPr>
          <p:cNvSpPr/>
          <p:nvPr/>
        </p:nvSpPr>
        <p:spPr>
          <a:xfrm rot="10800000">
            <a:off x="7454630" y="4731139"/>
            <a:ext cx="408562" cy="643035"/>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4D5356"/>
              </a:solidFill>
              <a:effectLst/>
              <a:uLnTx/>
              <a:uFillTx/>
              <a:latin typeface="Calibri" panose="020F0502020204030204"/>
              <a:ea typeface="+mn-ea"/>
              <a:cs typeface="+mn-cs"/>
            </a:endParaRPr>
          </a:p>
        </p:txBody>
      </p:sp>
      <p:cxnSp>
        <p:nvCxnSpPr>
          <p:cNvPr id="31" name="Straight Connector 30">
            <a:extLst>
              <a:ext uri="{FF2B5EF4-FFF2-40B4-BE49-F238E27FC236}">
                <a16:creationId xmlns:a16="http://schemas.microsoft.com/office/drawing/2014/main" id="{E87EBF94-A542-8C29-F75F-088A7C66AF0C}"/>
              </a:ext>
            </a:extLst>
          </p:cNvPr>
          <p:cNvCxnSpPr>
            <a:cxnSpLocks/>
          </p:cNvCxnSpPr>
          <p:nvPr/>
        </p:nvCxnSpPr>
        <p:spPr>
          <a:xfrm>
            <a:off x="3920247" y="4659549"/>
            <a:ext cx="3628417" cy="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68F9EB8-5FD6-0F36-A1CF-A03B4E1A36AA}"/>
              </a:ext>
            </a:extLst>
          </p:cNvPr>
          <p:cNvCxnSpPr>
            <a:cxnSpLocks/>
          </p:cNvCxnSpPr>
          <p:nvPr/>
        </p:nvCxnSpPr>
        <p:spPr>
          <a:xfrm>
            <a:off x="3920246" y="5453974"/>
            <a:ext cx="3628417" cy="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1203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1310988-4BFC-4A2D-13D4-1D22084FFE20}"/>
              </a:ext>
            </a:extLst>
          </p:cNvPr>
          <p:cNvSpPr>
            <a:spLocks noGrp="1"/>
          </p:cNvSpPr>
          <p:nvPr>
            <p:ph type="body" sz="quarter" idx="10"/>
          </p:nvPr>
        </p:nvSpPr>
        <p:spPr/>
        <p:txBody>
          <a:bodyPr/>
          <a:lstStyle/>
          <a:p>
            <a:r>
              <a:rPr lang="en-US" dirty="0"/>
              <a:t>Discussion</a:t>
            </a:r>
            <a:endParaRPr lang="en-ZA" dirty="0"/>
          </a:p>
        </p:txBody>
      </p:sp>
      <p:sp>
        <p:nvSpPr>
          <p:cNvPr id="4" name="Title 3">
            <a:extLst>
              <a:ext uri="{FF2B5EF4-FFF2-40B4-BE49-F238E27FC236}">
                <a16:creationId xmlns:a16="http://schemas.microsoft.com/office/drawing/2014/main" id="{97B75E1C-29DD-1A42-267C-8F1A4012C721}"/>
              </a:ext>
            </a:extLst>
          </p:cNvPr>
          <p:cNvSpPr>
            <a:spLocks noGrp="1"/>
          </p:cNvSpPr>
          <p:nvPr>
            <p:ph type="title"/>
          </p:nvPr>
        </p:nvSpPr>
        <p:spPr/>
        <p:txBody>
          <a:bodyPr/>
          <a:lstStyle/>
          <a:p>
            <a:r>
              <a:rPr lang="en-US" dirty="0"/>
              <a:t>IAS 7 Statement of cash flows</a:t>
            </a:r>
            <a:endParaRPr lang="en-ZA" dirty="0"/>
          </a:p>
        </p:txBody>
      </p:sp>
      <p:sp>
        <p:nvSpPr>
          <p:cNvPr id="6" name="TextBox 5">
            <a:extLst>
              <a:ext uri="{FF2B5EF4-FFF2-40B4-BE49-F238E27FC236}">
                <a16:creationId xmlns:a16="http://schemas.microsoft.com/office/drawing/2014/main" id="{44C09E78-1232-86A7-A1D3-33E5A74C1A81}"/>
              </a:ext>
            </a:extLst>
          </p:cNvPr>
          <p:cNvSpPr txBox="1"/>
          <p:nvPr/>
        </p:nvSpPr>
        <p:spPr>
          <a:xfrm>
            <a:off x="787939" y="2327621"/>
            <a:ext cx="9834664"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What do you think is more important: net profit for the year or cash?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Why…?</a:t>
            </a:r>
            <a:endPar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endParaRPr>
          </a:p>
        </p:txBody>
      </p:sp>
      <p:sp>
        <p:nvSpPr>
          <p:cNvPr id="9" name="Oval 8">
            <a:extLst>
              <a:ext uri="{FF2B5EF4-FFF2-40B4-BE49-F238E27FC236}">
                <a16:creationId xmlns:a16="http://schemas.microsoft.com/office/drawing/2014/main" id="{0D16525F-10B9-333A-1794-1FA2C86EDEB1}"/>
              </a:ext>
            </a:extLst>
          </p:cNvPr>
          <p:cNvSpPr/>
          <p:nvPr/>
        </p:nvSpPr>
        <p:spPr>
          <a:xfrm>
            <a:off x="10722543" y="6400800"/>
            <a:ext cx="1164657" cy="375385"/>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rPr>
              <a:t>Slide 2</a:t>
            </a:r>
            <a:endParaRPr kumimoji="0" lang="en-ZA"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919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lstStyle/>
          <a:p>
            <a:r>
              <a:rPr lang="en-US" dirty="0"/>
              <a:t>IAS 7 Statement of cash flows</a:t>
            </a:r>
            <a:endParaRPr lang="en-GB" dirty="0"/>
          </a:p>
        </p:txBody>
      </p:sp>
      <p:pic>
        <p:nvPicPr>
          <p:cNvPr id="3" name="Picture 2">
            <a:extLst>
              <a:ext uri="{FF2B5EF4-FFF2-40B4-BE49-F238E27FC236}">
                <a16:creationId xmlns:a16="http://schemas.microsoft.com/office/drawing/2014/main" id="{5C858533-31BF-1AFF-ADD2-0D5174B99578}"/>
              </a:ext>
            </a:extLst>
          </p:cNvPr>
          <p:cNvPicPr>
            <a:picLocks noChangeAspect="1"/>
          </p:cNvPicPr>
          <p:nvPr/>
        </p:nvPicPr>
        <p:blipFill>
          <a:blip r:embed="rId2"/>
          <a:stretch>
            <a:fillRect/>
          </a:stretch>
        </p:blipFill>
        <p:spPr>
          <a:xfrm>
            <a:off x="125125" y="138411"/>
            <a:ext cx="9232883" cy="6145873"/>
          </a:xfrm>
          <a:prstGeom prst="rect">
            <a:avLst/>
          </a:prstGeom>
          <a:ln>
            <a:solidFill>
              <a:schemeClr val="accent1"/>
            </a:solidFill>
          </a:ln>
        </p:spPr>
      </p:pic>
      <p:sp>
        <p:nvSpPr>
          <p:cNvPr id="4" name="Oval 3">
            <a:extLst>
              <a:ext uri="{FF2B5EF4-FFF2-40B4-BE49-F238E27FC236}">
                <a16:creationId xmlns:a16="http://schemas.microsoft.com/office/drawing/2014/main" id="{F3A3A40A-8036-262F-C4C3-C371907E15CA}"/>
              </a:ext>
            </a:extLst>
          </p:cNvPr>
          <p:cNvSpPr/>
          <p:nvPr/>
        </p:nvSpPr>
        <p:spPr>
          <a:xfrm>
            <a:off x="10722543" y="6400800"/>
            <a:ext cx="1164657" cy="375385"/>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rPr>
              <a:t>Slide 3</a:t>
            </a:r>
            <a:endParaRPr kumimoji="0" lang="en-ZA"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0564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lstStyle/>
          <a:p>
            <a:r>
              <a:rPr lang="en-US" dirty="0"/>
              <a:t>IAS 7 Statement of cash flows</a:t>
            </a:r>
            <a:br>
              <a:rPr lang="en-US" dirty="0"/>
            </a:br>
            <a:r>
              <a:rPr lang="en-US" dirty="0"/>
              <a:t>Objective</a:t>
            </a:r>
            <a:endParaRPr lang="en-GB" dirty="0"/>
          </a:p>
        </p:txBody>
      </p:sp>
      <p:sp>
        <p:nvSpPr>
          <p:cNvPr id="5" name="TextBox 4">
            <a:extLst>
              <a:ext uri="{FF2B5EF4-FFF2-40B4-BE49-F238E27FC236}">
                <a16:creationId xmlns:a16="http://schemas.microsoft.com/office/drawing/2014/main" id="{5846F09D-B49C-6F87-7F59-5490DBD0D3A8}"/>
              </a:ext>
            </a:extLst>
          </p:cNvPr>
          <p:cNvSpPr txBox="1"/>
          <p:nvPr/>
        </p:nvSpPr>
        <p:spPr>
          <a:xfrm>
            <a:off x="99708" y="1374587"/>
            <a:ext cx="8403161" cy="4661276"/>
          </a:xfrm>
          <a:prstGeom prst="rect">
            <a:avLst/>
          </a:prstGeom>
          <a:solidFill>
            <a:schemeClr val="bg1">
              <a:lumMod val="95000"/>
            </a:schemeClr>
          </a:solidFill>
          <a:ln>
            <a:solidFill>
              <a:schemeClr val="accent1"/>
            </a:solidFill>
          </a:ln>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 typeface="Arial" charset="0"/>
              <a:buChar char="►"/>
              <a:tabLst/>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Provides useful information to users </a:t>
            </a:r>
            <a:r>
              <a:rPr kumimoji="0" lang="en-ZA" sz="2000" b="0" i="0" u="none" strike="noStrike" kern="1200" cap="none" spc="0" normalizeH="0" baseline="0" noProof="0" dirty="0" err="1">
                <a:ln>
                  <a:noFill/>
                </a:ln>
                <a:solidFill>
                  <a:srgbClr val="4D5356"/>
                </a:solidFill>
                <a:effectLst/>
                <a:uLnTx/>
                <a:uFillTx/>
                <a:latin typeface="Calibri" panose="020F0502020204030204"/>
                <a:ea typeface="+mn-ea"/>
                <a:cs typeface="Arial" panose="020B0604020202020204" pitchFamily="34" charset="0"/>
              </a:rPr>
              <a:t>w.r.t.</a:t>
            </a: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 company’s:</a:t>
            </a:r>
          </a:p>
          <a:p>
            <a:pPr marL="800100" marR="0" lvl="1"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ability to generate cash; and</a:t>
            </a:r>
          </a:p>
          <a:p>
            <a:pPr marL="800100" marR="0" lvl="1"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needs to utilise that cash.</a:t>
            </a:r>
          </a:p>
          <a:p>
            <a:pPr marL="450850" marR="0" lvl="0" indent="-450850" algn="l" defTabSz="914400" rtl="0" eaLnBrk="1" fontAlgn="auto" latinLnBrk="0" hangingPunct="1">
              <a:lnSpc>
                <a:spcPct val="150000"/>
              </a:lnSpc>
              <a:spcBef>
                <a:spcPts val="0"/>
              </a:spcBef>
              <a:spcAft>
                <a:spcPts val="0"/>
              </a:spcAft>
              <a:buClrTx/>
              <a:buSzTx/>
              <a:buFont typeface="Arial" charset="0"/>
              <a:buChar char="►"/>
              <a:tabLst/>
              <a:defRPr/>
            </a:pPr>
            <a:endPar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endParaRPr>
          </a:p>
          <a:p>
            <a:pPr marL="450850" marR="0" lvl="0" indent="-450850" algn="l" defTabSz="914400" rtl="0" eaLnBrk="1" fontAlgn="auto" latinLnBrk="0" hangingPunct="1">
              <a:lnSpc>
                <a:spcPct val="150000"/>
              </a:lnSpc>
              <a:spcBef>
                <a:spcPts val="0"/>
              </a:spcBef>
              <a:spcAft>
                <a:spcPts val="0"/>
              </a:spcAft>
              <a:buClrTx/>
              <a:buSzTx/>
              <a:buFont typeface="Arial" charset="0"/>
              <a:buChar char="►"/>
              <a:tabLst/>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Standard therefore provides guidelines on how company should present the info regarding changes in cash and cash equivalents </a:t>
            </a:r>
            <a:r>
              <a:rPr kumimoji="0" lang="en-ZA" sz="2000" b="0" i="0" u="none" strike="noStrike" kern="1200" cap="none" spc="0" normalizeH="0" baseline="0" noProof="0" dirty="0" err="1">
                <a:ln>
                  <a:noFill/>
                </a:ln>
                <a:solidFill>
                  <a:srgbClr val="4D5356"/>
                </a:solidFill>
                <a:effectLst/>
                <a:uLnTx/>
                <a:uFillTx/>
                <a:latin typeface="Calibri" panose="020F0502020204030204"/>
                <a:ea typeface="+mn-ea"/>
                <a:cs typeface="Arial" panose="020B0604020202020204" pitchFamily="34" charset="0"/>
              </a:rPr>
              <a:t>w.r.t.</a:t>
            </a: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a:t>
            </a:r>
          </a:p>
          <a:p>
            <a:pPr marL="800100" marR="0" lvl="1"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Operating activities;</a:t>
            </a:r>
          </a:p>
          <a:p>
            <a:pPr marL="800100" marR="0" lvl="1"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Investing activities;</a:t>
            </a:r>
          </a:p>
          <a:p>
            <a:pPr marL="800100" marR="0" lvl="1"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Financing activities; and</a:t>
            </a:r>
          </a:p>
          <a:p>
            <a:pPr marL="800100" marR="0" lvl="1"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Net changes in cash and cash equivalents (beginning to end)</a:t>
            </a:r>
          </a:p>
        </p:txBody>
      </p:sp>
      <p:sp>
        <p:nvSpPr>
          <p:cNvPr id="7" name="Oval 6">
            <a:extLst>
              <a:ext uri="{FF2B5EF4-FFF2-40B4-BE49-F238E27FC236}">
                <a16:creationId xmlns:a16="http://schemas.microsoft.com/office/drawing/2014/main" id="{A129A346-0BCB-B0BF-4AD8-9557AAB77A5A}"/>
              </a:ext>
            </a:extLst>
          </p:cNvPr>
          <p:cNvSpPr/>
          <p:nvPr/>
        </p:nvSpPr>
        <p:spPr>
          <a:xfrm>
            <a:off x="10722543" y="6400800"/>
            <a:ext cx="1164657" cy="375385"/>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rPr>
              <a:t>Slide 4</a:t>
            </a:r>
            <a:endParaRPr kumimoji="0" lang="en-ZA"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9183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lstStyle/>
          <a:p>
            <a:r>
              <a:rPr lang="en-US" dirty="0"/>
              <a:t>IAS 7 Statement of cash flows</a:t>
            </a:r>
            <a:br>
              <a:rPr lang="en-US" dirty="0"/>
            </a:br>
            <a:r>
              <a:rPr lang="en-US" dirty="0"/>
              <a:t>Scope (.1 - .3)</a:t>
            </a:r>
            <a:endParaRPr lang="en-GB" dirty="0"/>
          </a:p>
        </p:txBody>
      </p:sp>
      <p:sp>
        <p:nvSpPr>
          <p:cNvPr id="2" name="Oval 1">
            <a:extLst>
              <a:ext uri="{FF2B5EF4-FFF2-40B4-BE49-F238E27FC236}">
                <a16:creationId xmlns:a16="http://schemas.microsoft.com/office/drawing/2014/main" id="{C3A9B50A-45A7-8B9D-A2EB-CCE4BF7D53C3}"/>
              </a:ext>
            </a:extLst>
          </p:cNvPr>
          <p:cNvSpPr/>
          <p:nvPr/>
        </p:nvSpPr>
        <p:spPr>
          <a:xfrm>
            <a:off x="10722543" y="6400800"/>
            <a:ext cx="1164657" cy="375385"/>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rPr>
              <a:t>Slide 5</a:t>
            </a:r>
            <a:endParaRPr kumimoji="0" lang="en-ZA"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 name="Rectangle 3">
            <a:extLst>
              <a:ext uri="{FF2B5EF4-FFF2-40B4-BE49-F238E27FC236}">
                <a16:creationId xmlns:a16="http://schemas.microsoft.com/office/drawing/2014/main" id="{D6291ECD-B88E-EA5A-2562-2215C1EC4A28}"/>
              </a:ext>
            </a:extLst>
          </p:cNvPr>
          <p:cNvSpPr txBox="1">
            <a:spLocks noRot="1" noChangeArrowheads="1"/>
          </p:cNvSpPr>
          <p:nvPr/>
        </p:nvSpPr>
        <p:spPr>
          <a:xfrm>
            <a:off x="245515" y="1648371"/>
            <a:ext cx="9112494" cy="2874990"/>
          </a:xfrm>
          <a:prstGeom prst="rect">
            <a:avLst/>
          </a:prstGeom>
        </p:spPr>
        <p:txBody>
          <a:bodyPr vert="horz" lIns="91440" tIns="45720" rIns="91440" bIns="45720" rtlCol="0" anchor="t">
            <a:norm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228600" marR="0" lvl="0" indent="-228600" algn="l" defTabSz="685800" rtl="0" eaLnBrk="1" fontAlgn="auto" latinLnBrk="0" hangingPunct="1">
              <a:lnSpc>
                <a:spcPct val="120000"/>
              </a:lnSpc>
              <a:spcBef>
                <a:spcPts val="1000"/>
              </a:spcBef>
              <a:spcAft>
                <a:spcPts val="0"/>
              </a:spcAft>
              <a:buClr>
                <a:srgbClr val="4D5356"/>
              </a:buClr>
              <a:buSzPct val="100000"/>
              <a:buFont typeface="Arial"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 All companies</a:t>
            </a:r>
          </a:p>
          <a:p>
            <a:pPr marL="228600" marR="0" lvl="0" indent="-228600" algn="l" defTabSz="685800" rtl="0" eaLnBrk="1" fontAlgn="auto" latinLnBrk="0" hangingPunct="1">
              <a:lnSpc>
                <a:spcPct val="120000"/>
              </a:lnSpc>
              <a:spcBef>
                <a:spcPts val="1000"/>
              </a:spcBef>
              <a:spcAft>
                <a:spcPts val="0"/>
              </a:spcAft>
              <a:buClr>
                <a:srgbClr val="4D5356"/>
              </a:buClr>
              <a:buSzPct val="100000"/>
              <a:buFont typeface="Arial"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 As integral part of its financial statements for each period for which financial statements are presented</a:t>
            </a:r>
          </a:p>
          <a:p>
            <a:pPr marL="228600" marR="0" lvl="0" indent="-228600" algn="l" defTabSz="685800" rtl="0" eaLnBrk="1" fontAlgn="auto" latinLnBrk="0" hangingPunct="1">
              <a:lnSpc>
                <a:spcPct val="120000"/>
              </a:lnSpc>
              <a:spcBef>
                <a:spcPts val="1000"/>
              </a:spcBef>
              <a:spcAft>
                <a:spcPts val="0"/>
              </a:spcAft>
              <a:buClr>
                <a:srgbClr val="4D5356"/>
              </a:buClr>
              <a:buSzPct val="100000"/>
              <a:buFont typeface="Arial"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 IAS 7 requires comparatives, but for FA 178 only disclose one year</a:t>
            </a:r>
          </a:p>
        </p:txBody>
      </p:sp>
    </p:spTree>
    <p:extLst>
      <p:ext uri="{BB962C8B-B14F-4D97-AF65-F5344CB8AC3E}">
        <p14:creationId xmlns:p14="http://schemas.microsoft.com/office/powerpoint/2010/main" val="3923070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lstStyle/>
          <a:p>
            <a:r>
              <a:rPr lang="en-US" dirty="0"/>
              <a:t>IAS 7 Statement of cash flows</a:t>
            </a:r>
            <a:br>
              <a:rPr lang="en-US" dirty="0"/>
            </a:br>
            <a:r>
              <a:rPr lang="en-US" dirty="0"/>
              <a:t>Definitions (.6)</a:t>
            </a:r>
            <a:endParaRPr lang="en-GB" dirty="0"/>
          </a:p>
        </p:txBody>
      </p:sp>
      <p:sp>
        <p:nvSpPr>
          <p:cNvPr id="3" name="TextBox 2">
            <a:extLst>
              <a:ext uri="{FF2B5EF4-FFF2-40B4-BE49-F238E27FC236}">
                <a16:creationId xmlns:a16="http://schemas.microsoft.com/office/drawing/2014/main" id="{7FE5C30A-EC75-AF6D-7AD7-E61E70343877}"/>
              </a:ext>
            </a:extLst>
          </p:cNvPr>
          <p:cNvSpPr txBox="1"/>
          <p:nvPr/>
        </p:nvSpPr>
        <p:spPr>
          <a:xfrm>
            <a:off x="243332" y="1501021"/>
            <a:ext cx="11430000" cy="4843505"/>
          </a:xfrm>
          <a:prstGeom prst="rect">
            <a:avLst/>
          </a:prstGeom>
          <a:noFill/>
        </p:spPr>
        <p:txBody>
          <a:bodyPr wrap="square">
            <a:spAutoFit/>
          </a:bodyPr>
          <a:lstStyle/>
          <a:p>
            <a:pPr marL="0" marR="0" lvl="0" indent="0" algn="just" defTabSz="914400" rtl="0" eaLnBrk="1" fontAlgn="auto" latinLnBrk="0" hangingPunct="1">
              <a:lnSpc>
                <a:spcPct val="115000"/>
              </a:lnSpc>
              <a:spcBef>
                <a:spcPts val="0"/>
              </a:spcBef>
              <a:spcAft>
                <a:spcPts val="0"/>
              </a:spcAft>
              <a:buClrTx/>
              <a:buSzTx/>
              <a:buFontTx/>
              <a:buNone/>
              <a:tabLst>
                <a:tab pos="1980565" algn="l"/>
              </a:tabLst>
              <a:defRPr/>
            </a:pPr>
            <a:r>
              <a:rPr kumimoji="0" lang="en-ZA" sz="1800" b="1"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Arial" panose="020B0604020202020204" pitchFamily="34" charset="0"/>
              </a:rPr>
              <a:t>Cash</a:t>
            </a:r>
            <a:r>
              <a:rPr kumimoji="0" lang="en-ZA" sz="18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Arial" panose="020B0604020202020204" pitchFamily="34" charset="0"/>
              </a:rPr>
              <a:t> refers to cash on hand and demand deposits. </a:t>
            </a:r>
            <a:endParaRPr kumimoji="0" lang="en-ZA" sz="14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Times New Roman" panose="02020603050405020304" pitchFamily="18" charset="0"/>
            </a:endParaRPr>
          </a:p>
          <a:p>
            <a:pPr marL="540385" marR="0" lvl="0" indent="-540385" algn="just" defTabSz="914400" rtl="0" eaLnBrk="1" fontAlgn="auto" latinLnBrk="0" hangingPunct="1">
              <a:lnSpc>
                <a:spcPct val="115000"/>
              </a:lnSpc>
              <a:spcBef>
                <a:spcPts val="0"/>
              </a:spcBef>
              <a:spcAft>
                <a:spcPts val="0"/>
              </a:spcAft>
              <a:buClrTx/>
              <a:buSzTx/>
              <a:buFontTx/>
              <a:buNone/>
              <a:tabLst/>
              <a:defRPr/>
            </a:pPr>
            <a:r>
              <a:rPr kumimoji="0" lang="en-ZA" sz="18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Arial" panose="020B0604020202020204" pitchFamily="34" charset="0"/>
              </a:rPr>
              <a:t> </a:t>
            </a:r>
            <a:endParaRPr kumimoji="0" lang="en-ZA" sz="14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ZA" sz="1800" b="1"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Arial" panose="020B0604020202020204" pitchFamily="34" charset="0"/>
              </a:rPr>
              <a:t>Cash equivalents</a:t>
            </a:r>
            <a:r>
              <a:rPr kumimoji="0" lang="en-ZA" sz="18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Arial" panose="020B0604020202020204" pitchFamily="34" charset="0"/>
              </a:rPr>
              <a:t> are short-term, highly liquid investments that are readily convertible to known amounts of cash and which are subject to an insignificant risk of changes in value. </a:t>
            </a:r>
            <a:endParaRPr kumimoji="0" lang="en-ZA" sz="14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ZA" sz="18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Arial" panose="020B0604020202020204" pitchFamily="34" charset="0"/>
              </a:rPr>
              <a:t> </a:t>
            </a:r>
            <a:endParaRPr kumimoji="0" lang="en-ZA" sz="14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Times New Roman" panose="02020603050405020304" pitchFamily="18" charset="0"/>
            </a:endParaRPr>
          </a:p>
          <a:p>
            <a:pPr marL="3175" marR="0" lvl="0" indent="0" algn="just" defTabSz="914400" rtl="0" eaLnBrk="1" fontAlgn="auto" latinLnBrk="0" hangingPunct="1">
              <a:lnSpc>
                <a:spcPct val="115000"/>
              </a:lnSpc>
              <a:spcBef>
                <a:spcPts val="0"/>
              </a:spcBef>
              <a:spcAft>
                <a:spcPts val="0"/>
              </a:spcAft>
              <a:buClrTx/>
              <a:buSzTx/>
              <a:buFontTx/>
              <a:buNone/>
              <a:tabLst/>
              <a:defRPr/>
            </a:pPr>
            <a:r>
              <a:rPr kumimoji="0" lang="en-ZA" sz="1800" b="1"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Arial" panose="020B0604020202020204" pitchFamily="34" charset="0"/>
              </a:rPr>
              <a:t>Cash flows</a:t>
            </a:r>
            <a:r>
              <a:rPr kumimoji="0" lang="en-ZA" sz="18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Arial" panose="020B0604020202020204" pitchFamily="34" charset="0"/>
              </a:rPr>
              <a:t> are inflows and outflows of cash and cash equivalents. </a:t>
            </a:r>
            <a:endParaRPr kumimoji="0" lang="en-ZA" sz="14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ZA" sz="18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Arial" panose="020B0604020202020204" pitchFamily="34" charset="0"/>
              </a:rPr>
              <a:t> </a:t>
            </a:r>
            <a:endParaRPr kumimoji="0" lang="en-ZA" sz="14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Times New Roman" panose="02020603050405020304" pitchFamily="18" charset="0"/>
            </a:endParaRPr>
          </a:p>
          <a:p>
            <a:pPr marL="3175" marR="0" lvl="0" indent="0" algn="just" defTabSz="914400" rtl="0" eaLnBrk="1" fontAlgn="auto" latinLnBrk="0" hangingPunct="1">
              <a:lnSpc>
                <a:spcPct val="115000"/>
              </a:lnSpc>
              <a:spcBef>
                <a:spcPts val="0"/>
              </a:spcBef>
              <a:spcAft>
                <a:spcPts val="0"/>
              </a:spcAft>
              <a:buClrTx/>
              <a:buSzTx/>
              <a:buFontTx/>
              <a:buNone/>
              <a:tabLst/>
              <a:defRPr/>
            </a:pPr>
            <a:r>
              <a:rPr kumimoji="0" lang="en-ZA" sz="1800" b="1"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Arial" panose="020B0604020202020204" pitchFamily="34" charset="0"/>
              </a:rPr>
              <a:t>Operating activities</a:t>
            </a:r>
            <a:r>
              <a:rPr kumimoji="0" lang="en-ZA" sz="18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Arial" panose="020B0604020202020204" pitchFamily="34" charset="0"/>
              </a:rPr>
              <a:t> are the principal revenue-producing activities of the entity and other activities that are not investing or financing activities. </a:t>
            </a:r>
            <a:endParaRPr kumimoji="0" lang="en-ZA" sz="14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Times New Roman" panose="02020603050405020304" pitchFamily="18" charset="0"/>
            </a:endParaRPr>
          </a:p>
          <a:p>
            <a:pPr marL="3175" marR="0" lvl="0" indent="0" algn="just" defTabSz="914400" rtl="0" eaLnBrk="1" fontAlgn="auto" latinLnBrk="0" hangingPunct="1">
              <a:lnSpc>
                <a:spcPct val="115000"/>
              </a:lnSpc>
              <a:spcBef>
                <a:spcPts val="0"/>
              </a:spcBef>
              <a:spcAft>
                <a:spcPts val="0"/>
              </a:spcAft>
              <a:buClrTx/>
              <a:buSzTx/>
              <a:buFontTx/>
              <a:buNone/>
              <a:tabLst/>
              <a:defRPr/>
            </a:pPr>
            <a:r>
              <a:rPr kumimoji="0" lang="en-ZA" sz="18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Arial" panose="020B0604020202020204" pitchFamily="34" charset="0"/>
              </a:rPr>
              <a:t> </a:t>
            </a:r>
            <a:endParaRPr kumimoji="0" lang="en-ZA" sz="14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tab pos="1980565" algn="l"/>
              </a:tabLst>
              <a:defRPr/>
            </a:pPr>
            <a:r>
              <a:rPr kumimoji="0" lang="en-ZA" sz="1800" b="1"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Arial" panose="020B0604020202020204" pitchFamily="34" charset="0"/>
              </a:rPr>
              <a:t>Investing activities</a:t>
            </a:r>
            <a:r>
              <a:rPr kumimoji="0" lang="en-ZA" sz="18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Arial" panose="020B0604020202020204" pitchFamily="34" charset="0"/>
              </a:rPr>
              <a:t> are the acquisition and disposal of long-term assets and other investments not included in cash equivalents.  </a:t>
            </a:r>
            <a:endParaRPr kumimoji="0" lang="en-ZA" sz="14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Times New Roman" panose="02020603050405020304" pitchFamily="18" charset="0"/>
            </a:endParaRPr>
          </a:p>
          <a:p>
            <a:pPr marL="540385" marR="0" lvl="0" indent="-540385" algn="just" defTabSz="914400" rtl="0" eaLnBrk="1" fontAlgn="auto" latinLnBrk="0" hangingPunct="1">
              <a:lnSpc>
                <a:spcPct val="115000"/>
              </a:lnSpc>
              <a:spcBef>
                <a:spcPts val="0"/>
              </a:spcBef>
              <a:spcAft>
                <a:spcPts val="0"/>
              </a:spcAft>
              <a:buClrTx/>
              <a:buSzTx/>
              <a:buFontTx/>
              <a:buNone/>
              <a:tabLst>
                <a:tab pos="1980565" algn="l"/>
              </a:tabLst>
              <a:defRPr/>
            </a:pPr>
            <a:r>
              <a:rPr kumimoji="0" lang="en-ZA" sz="18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Arial" panose="020B0604020202020204" pitchFamily="34" charset="0"/>
              </a:rPr>
              <a:t> </a:t>
            </a:r>
            <a:endParaRPr kumimoji="0" lang="en-ZA" sz="14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tab pos="1980565" algn="l"/>
              </a:tabLst>
              <a:defRPr/>
            </a:pPr>
            <a:r>
              <a:rPr kumimoji="0" lang="en-ZA" sz="1800" b="1"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Arial" panose="020B0604020202020204" pitchFamily="34" charset="0"/>
              </a:rPr>
              <a:t>Financing activities</a:t>
            </a:r>
            <a:r>
              <a:rPr kumimoji="0" lang="en-ZA" sz="18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Arial" panose="020B0604020202020204" pitchFamily="34" charset="0"/>
              </a:rPr>
              <a:t> are activities that result in changes in the size and composition of the contributed equity and borrowings of the entity.  </a:t>
            </a:r>
            <a:endParaRPr kumimoji="0" lang="en-ZA" sz="1400" b="0" i="0" u="none" strike="noStrike" kern="1200" cap="none" spc="0" normalizeH="0" baseline="0" noProof="0" dirty="0">
              <a:ln>
                <a:noFill/>
              </a:ln>
              <a:solidFill>
                <a:srgbClr val="4D5356"/>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2F6F2046-8DD2-7702-699C-DF164AB6B9EE}"/>
              </a:ext>
            </a:extLst>
          </p:cNvPr>
          <p:cNvSpPr/>
          <p:nvPr/>
        </p:nvSpPr>
        <p:spPr>
          <a:xfrm>
            <a:off x="7616414" y="6099971"/>
            <a:ext cx="3575986" cy="277742"/>
          </a:xfrm>
          <a:prstGeom prst="rect">
            <a:avLst/>
          </a:prstGeom>
          <a:ln>
            <a:solidFill>
              <a:schemeClr val="accent6"/>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mn-cs"/>
              </a:rPr>
              <a:t>IAS7 par.6 and theory pack</a:t>
            </a:r>
            <a:endParaRPr kumimoji="0" lang="en-ZA" sz="20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5" name="Oval 4">
            <a:extLst>
              <a:ext uri="{FF2B5EF4-FFF2-40B4-BE49-F238E27FC236}">
                <a16:creationId xmlns:a16="http://schemas.microsoft.com/office/drawing/2014/main" id="{7776530B-44C9-A625-2897-A1B260BA06C4}"/>
              </a:ext>
            </a:extLst>
          </p:cNvPr>
          <p:cNvSpPr/>
          <p:nvPr/>
        </p:nvSpPr>
        <p:spPr>
          <a:xfrm>
            <a:off x="10722543" y="6400800"/>
            <a:ext cx="1164657" cy="375385"/>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rPr>
              <a:t>Slide 6</a:t>
            </a:r>
            <a:endParaRPr kumimoji="0" lang="en-ZA"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0524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8084E82B-36EC-50FB-D22B-547A88C74743}"/>
              </a:ext>
            </a:extLst>
          </p:cNvPr>
          <p:cNvGraphicFramePr>
            <a:graphicFrameLocks noGrp="1"/>
          </p:cNvGraphicFramePr>
          <p:nvPr>
            <p:extLst>
              <p:ext uri="{D42A27DB-BD31-4B8C-83A1-F6EECF244321}">
                <p14:modId xmlns:p14="http://schemas.microsoft.com/office/powerpoint/2010/main" val="183349482"/>
              </p:ext>
            </p:extLst>
          </p:nvPr>
        </p:nvGraphicFramePr>
        <p:xfrm>
          <a:off x="214632" y="0"/>
          <a:ext cx="5408578" cy="6793162"/>
        </p:xfrm>
        <a:graphic>
          <a:graphicData uri="http://schemas.openxmlformats.org/drawingml/2006/table">
            <a:tbl>
              <a:tblPr firstRow="1" firstCol="1" bandRow="1"/>
              <a:tblGrid>
                <a:gridCol w="3765868">
                  <a:extLst>
                    <a:ext uri="{9D8B030D-6E8A-4147-A177-3AD203B41FA5}">
                      <a16:colId xmlns:a16="http://schemas.microsoft.com/office/drawing/2014/main" val="1139330800"/>
                    </a:ext>
                  </a:extLst>
                </a:gridCol>
                <a:gridCol w="684408">
                  <a:extLst>
                    <a:ext uri="{9D8B030D-6E8A-4147-A177-3AD203B41FA5}">
                      <a16:colId xmlns:a16="http://schemas.microsoft.com/office/drawing/2014/main" val="2847829414"/>
                    </a:ext>
                  </a:extLst>
                </a:gridCol>
                <a:gridCol w="958302">
                  <a:extLst>
                    <a:ext uri="{9D8B030D-6E8A-4147-A177-3AD203B41FA5}">
                      <a16:colId xmlns:a16="http://schemas.microsoft.com/office/drawing/2014/main" val="934096033"/>
                    </a:ext>
                  </a:extLst>
                </a:gridCol>
              </a:tblGrid>
              <a:tr h="322280">
                <a:tc gridSpan="3">
                  <a:txBody>
                    <a:bodyPr/>
                    <a:lstStyle/>
                    <a:p>
                      <a:r>
                        <a:rPr lang="en-ZA"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Stellenbosch Ltd.</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p>
                      <a:r>
                        <a:rPr lang="en-ZA"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Statement of financial position on 31 December 2022</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solidFill>
                  </a:tcPr>
                </a:tc>
                <a:tc hMerge="1">
                  <a:txBody>
                    <a:bodyPr/>
                    <a:lstStyle/>
                    <a:p>
                      <a:endParaRPr lang="en-ZA"/>
                    </a:p>
                  </a:txBody>
                  <a:tcPr/>
                </a:tc>
                <a:tc hMerge="1">
                  <a:txBody>
                    <a:bodyPr/>
                    <a:lstStyle/>
                    <a:p>
                      <a:endParaRPr lang="en-ZA"/>
                    </a:p>
                  </a:txBody>
                  <a:tcPr/>
                </a:tc>
                <a:extLst>
                  <a:ext uri="{0D108BD9-81ED-4DB2-BD59-A6C34878D82A}">
                    <a16:rowId xmlns:a16="http://schemas.microsoft.com/office/drawing/2014/main" val="621449988"/>
                  </a:ext>
                </a:extLst>
              </a:tr>
              <a:tr h="167854">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ctr"/>
                      <a:r>
                        <a:rPr lang="en-ZA" sz="12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2022</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86725734"/>
                  </a:ext>
                </a:extLst>
              </a:tr>
              <a:tr h="159461">
                <a:tc>
                  <a:txBody>
                    <a:bodyPr/>
                    <a:lstStyle/>
                    <a:p>
                      <a:r>
                        <a:rPr lang="en-ZA" sz="12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Assets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Note</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ctr"/>
                      <a:r>
                        <a:rPr lang="en-ZA" sz="12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R</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348699351"/>
                  </a:ext>
                </a:extLst>
              </a:tr>
              <a:tr h="159461">
                <a:tc>
                  <a:txBody>
                    <a:bodyPr/>
                    <a:lstStyle/>
                    <a:p>
                      <a:r>
                        <a:rPr lang="en-ZA" sz="12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Non-current assets</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718134120"/>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Property, plant and equipment</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2186903800"/>
                  </a:ext>
                </a:extLst>
              </a:tr>
              <a:tr h="79767">
                <a:tc>
                  <a:txBody>
                    <a:bodyPr/>
                    <a:lstStyle/>
                    <a:p>
                      <a:r>
                        <a:rPr lang="en-ZA" sz="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Intangible assets</a:t>
                      </a:r>
                      <a:endParaRPr lang="en-ZA" sz="8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tx1">
                        <a:lumMod val="20000"/>
                        <a:lumOff val="80000"/>
                      </a:schemeClr>
                    </a:solidFill>
                  </a:tcPr>
                </a:tc>
                <a:tc>
                  <a:txBody>
                    <a:bodyPr/>
                    <a:lstStyle/>
                    <a:p>
                      <a:pPr algn="ctr"/>
                      <a:r>
                        <a:rPr lang="en-ZA" sz="800">
                          <a:solidFill>
                            <a:srgbClr val="000000"/>
                          </a:solidFill>
                          <a:effectLst/>
                          <a:latin typeface="Arial" panose="020B0604020202020204" pitchFamily="34" charset="0"/>
                          <a:ea typeface="Times New Roman" panose="02020603050405020304" pitchFamily="18" charset="0"/>
                          <a:cs typeface="Arial" panose="020B0604020202020204" pitchFamily="34" charset="0"/>
                        </a:rPr>
                        <a:t>3</a:t>
                      </a:r>
                      <a:endParaRPr lang="en-ZA" sz="8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tx1">
                        <a:lumMod val="20000"/>
                        <a:lumOff val="80000"/>
                      </a:schemeClr>
                    </a:solidFill>
                  </a:tcPr>
                </a:tc>
                <a:tc>
                  <a:txBody>
                    <a:bodyPr/>
                    <a:lstStyle/>
                    <a:p>
                      <a:pPr algn="r"/>
                      <a:endParaRPr lang="en-ZA" sz="8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tx1">
                        <a:lumMod val="20000"/>
                        <a:lumOff val="80000"/>
                      </a:schemeClr>
                    </a:solidFill>
                  </a:tcPr>
                </a:tc>
                <a:extLst>
                  <a:ext uri="{0D108BD9-81ED-4DB2-BD59-A6C34878D82A}">
                    <a16:rowId xmlns:a16="http://schemas.microsoft.com/office/drawing/2014/main" val="3124772007"/>
                  </a:ext>
                </a:extLst>
              </a:tr>
              <a:tr h="84306">
                <a:tc>
                  <a:txBody>
                    <a:bodyPr/>
                    <a:lstStyle/>
                    <a:p>
                      <a:r>
                        <a:rPr lang="en-ZA" sz="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Investment property</a:t>
                      </a:r>
                      <a:endParaRPr lang="en-ZA" sz="8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tx1">
                        <a:lumMod val="20000"/>
                        <a:lumOff val="80000"/>
                      </a:schemeClr>
                    </a:solidFill>
                  </a:tcPr>
                </a:tc>
                <a:tc>
                  <a:txBody>
                    <a:bodyPr/>
                    <a:lstStyle/>
                    <a:p>
                      <a:pPr algn="ctr"/>
                      <a:r>
                        <a:rPr lang="en-ZA" sz="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a:t>
                      </a:r>
                      <a:endParaRPr lang="en-ZA" sz="8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tx1">
                        <a:lumMod val="20000"/>
                        <a:lumOff val="80000"/>
                      </a:schemeClr>
                    </a:solidFill>
                  </a:tcPr>
                </a:tc>
                <a:tc>
                  <a:txBody>
                    <a:bodyPr/>
                    <a:lstStyle/>
                    <a:p>
                      <a:pPr algn="r"/>
                      <a:endParaRPr lang="en-ZA" sz="8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tx1">
                        <a:lumMod val="20000"/>
                        <a:lumOff val="80000"/>
                      </a:schemeClr>
                    </a:solidFill>
                  </a:tcPr>
                </a:tc>
                <a:extLst>
                  <a:ext uri="{0D108BD9-81ED-4DB2-BD59-A6C34878D82A}">
                    <a16:rowId xmlns:a16="http://schemas.microsoft.com/office/drawing/2014/main" val="1794926330"/>
                  </a:ext>
                </a:extLst>
              </a:tr>
              <a:tr h="159461">
                <a:tc>
                  <a:txBody>
                    <a:bodyPr/>
                    <a:lstStyle/>
                    <a:p>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Investments in subsidiaries</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5</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695659052"/>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Loan to subsidiary</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6</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864210670"/>
                  </a:ext>
                </a:extLst>
              </a:tr>
              <a:tr h="159461">
                <a:tc>
                  <a:txBody>
                    <a:bodyPr/>
                    <a:lstStyle/>
                    <a:p>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Financial assets at fair value through profit or loss</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7</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280976"/>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474338764"/>
                  </a:ext>
                </a:extLst>
              </a:tr>
              <a:tr h="167854">
                <a:tc>
                  <a:txBody>
                    <a:bodyPr/>
                    <a:lstStyle/>
                    <a:p>
                      <a:r>
                        <a:rPr lang="en-ZA" sz="1200" i="1" dirty="0">
                          <a:solidFill>
                            <a:srgbClr val="000000"/>
                          </a:solidFill>
                          <a:effectLst/>
                          <a:highlight>
                            <a:srgbClr val="FFFF00"/>
                          </a:highlight>
                          <a:latin typeface="Arial" panose="020B0604020202020204" pitchFamily="34" charset="0"/>
                          <a:ea typeface="Times New Roman" panose="02020603050405020304" pitchFamily="18" charset="0"/>
                          <a:cs typeface="Arial" panose="020B0604020202020204" pitchFamily="34" charset="0"/>
                        </a:rPr>
                        <a:t>Current assets</a:t>
                      </a:r>
                      <a:endParaRPr lang="en-ZA" sz="1200" dirty="0">
                        <a:effectLst/>
                        <a:highlight>
                          <a:srgbClr val="FFFF00"/>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51958355"/>
                  </a:ext>
                </a:extLst>
              </a:tr>
              <a:tr h="159461">
                <a:tc>
                  <a:txBody>
                    <a:bodyPr/>
                    <a:lstStyle/>
                    <a:p>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Inventories</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8</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613205055"/>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Trade and other receivables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678472430"/>
                  </a:ext>
                </a:extLst>
              </a:tr>
              <a:tr h="159461">
                <a:tc>
                  <a:txBody>
                    <a:bodyPr/>
                    <a:lstStyle/>
                    <a:p>
                      <a:r>
                        <a:rPr lang="en-ZA" sz="1200" dirty="0">
                          <a:solidFill>
                            <a:srgbClr val="000000"/>
                          </a:solidFill>
                          <a:effectLst/>
                          <a:highlight>
                            <a:srgbClr val="FFFF00"/>
                          </a:highlight>
                          <a:latin typeface="Arial" panose="020B0604020202020204" pitchFamily="34" charset="0"/>
                          <a:ea typeface="Times New Roman" panose="02020603050405020304" pitchFamily="18" charset="0"/>
                          <a:cs typeface="Arial" panose="020B0604020202020204" pitchFamily="34" charset="0"/>
                        </a:rPr>
                        <a:t>Cash and cash equivalents</a:t>
                      </a:r>
                      <a:endParaRPr lang="en-ZA" sz="1200" dirty="0">
                        <a:effectLst/>
                        <a:highlight>
                          <a:srgbClr val="FFFF00"/>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823176837"/>
                  </a:ext>
                </a:extLst>
              </a:tr>
              <a:tr h="135726">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01044578"/>
                  </a:ext>
                </a:extLst>
              </a:tr>
              <a:tr h="184640">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Total assets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67467193"/>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28575" cap="flat" cmpd="dbl"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2926878640"/>
                  </a:ext>
                </a:extLst>
              </a:tr>
              <a:tr h="167854">
                <a:tc>
                  <a:txBody>
                    <a:bodyPr/>
                    <a:lstStyle/>
                    <a:p>
                      <a:r>
                        <a:rPr lang="en-ZA"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Equity and liabilities</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4287010623"/>
                  </a:ext>
                </a:extLst>
              </a:tr>
              <a:tr h="159461">
                <a:tc>
                  <a:txBody>
                    <a:bodyPr/>
                    <a:lstStyle/>
                    <a:p>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Share capital</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11</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741262696"/>
                  </a:ext>
                </a:extLst>
              </a:tr>
              <a:tr h="159461">
                <a:tc>
                  <a:txBody>
                    <a:bodyPr/>
                    <a:lstStyle/>
                    <a:p>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Retained earnings</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dirty="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581746211"/>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Other components of equity</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12</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318446564"/>
                  </a:ext>
                </a:extLst>
              </a:tr>
              <a:tr h="44471">
                <a:tc>
                  <a:txBody>
                    <a:bodyPr/>
                    <a:lstStyle/>
                    <a:p>
                      <a:endParaRPr lang="en-ZA" sz="6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6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6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347147095"/>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Total equity</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46655629"/>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718535471"/>
                  </a:ext>
                </a:extLst>
              </a:tr>
              <a:tr h="167854">
                <a:tc>
                  <a:txBody>
                    <a:bodyPr/>
                    <a:lstStyle/>
                    <a:p>
                      <a:r>
                        <a:rPr lang="en-ZA" sz="1200"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Non-current liabilities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66871406"/>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Borrowings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13</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2968933442"/>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Debentures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14</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778909472"/>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Provisions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15</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26797918"/>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036952909"/>
                  </a:ext>
                </a:extLst>
              </a:tr>
              <a:tr h="167854">
                <a:tc>
                  <a:txBody>
                    <a:bodyPr/>
                    <a:lstStyle/>
                    <a:p>
                      <a:r>
                        <a:rPr lang="en-ZA" sz="1200"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Current liabilities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10545734"/>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Trade and other payables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16</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379800892"/>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Borrowings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13</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98255405"/>
                  </a:ext>
                </a:extLst>
              </a:tr>
              <a:tr h="159461">
                <a:tc>
                  <a:txBody>
                    <a:bodyPr/>
                    <a:lstStyle/>
                    <a:p>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Income tax payable</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3648550348"/>
                  </a:ext>
                </a:extLst>
              </a:tr>
              <a:tr h="202520">
                <a:tc>
                  <a:txBody>
                    <a:bodyPr/>
                    <a:lstStyle/>
                    <a:p>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Dividends payable</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63996506"/>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25155218"/>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Total liabilities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94307309"/>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90494631"/>
                  </a:ext>
                </a:extLst>
              </a:tr>
              <a:tr h="167854">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Total equity and liabilities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4282940"/>
                  </a:ext>
                </a:extLst>
              </a:tr>
            </a:tbl>
          </a:graphicData>
        </a:graphic>
      </p:graphicFrame>
      <p:graphicFrame>
        <p:nvGraphicFramePr>
          <p:cNvPr id="13" name="Table 12">
            <a:extLst>
              <a:ext uri="{FF2B5EF4-FFF2-40B4-BE49-F238E27FC236}">
                <a16:creationId xmlns:a16="http://schemas.microsoft.com/office/drawing/2014/main" id="{654812C9-07F2-3A4F-30C6-58B3DD5A57E9}"/>
              </a:ext>
            </a:extLst>
          </p:cNvPr>
          <p:cNvGraphicFramePr>
            <a:graphicFrameLocks noGrp="1"/>
          </p:cNvGraphicFramePr>
          <p:nvPr>
            <p:extLst>
              <p:ext uri="{D42A27DB-BD31-4B8C-83A1-F6EECF244321}">
                <p14:modId xmlns:p14="http://schemas.microsoft.com/office/powerpoint/2010/main" val="1926548599"/>
              </p:ext>
            </p:extLst>
          </p:nvPr>
        </p:nvGraphicFramePr>
        <p:xfrm>
          <a:off x="6568791" y="19456"/>
          <a:ext cx="5408578" cy="6443457"/>
        </p:xfrm>
        <a:graphic>
          <a:graphicData uri="http://schemas.openxmlformats.org/drawingml/2006/table">
            <a:tbl>
              <a:tblPr/>
              <a:tblGrid>
                <a:gridCol w="3848069">
                  <a:extLst>
                    <a:ext uri="{9D8B030D-6E8A-4147-A177-3AD203B41FA5}">
                      <a16:colId xmlns:a16="http://schemas.microsoft.com/office/drawing/2014/main" val="3396126548"/>
                    </a:ext>
                  </a:extLst>
                </a:gridCol>
                <a:gridCol w="607205">
                  <a:extLst>
                    <a:ext uri="{9D8B030D-6E8A-4147-A177-3AD203B41FA5}">
                      <a16:colId xmlns:a16="http://schemas.microsoft.com/office/drawing/2014/main" val="3585918609"/>
                    </a:ext>
                  </a:extLst>
                </a:gridCol>
                <a:gridCol w="953304">
                  <a:extLst>
                    <a:ext uri="{9D8B030D-6E8A-4147-A177-3AD203B41FA5}">
                      <a16:colId xmlns:a16="http://schemas.microsoft.com/office/drawing/2014/main" val="3140461044"/>
                    </a:ext>
                  </a:extLst>
                </a:gridCol>
              </a:tblGrid>
              <a:tr h="314427">
                <a:tc gridSpan="3">
                  <a:txBody>
                    <a:bodyPr/>
                    <a:lstStyle/>
                    <a:p>
                      <a:pPr marL="180340" marR="0" lvl="0" indent="0" algn="l" defTabSz="914400" rtl="0" eaLnBrk="1" fontAlgn="auto" latinLnBrk="0" hangingPunct="1">
                        <a:lnSpc>
                          <a:spcPct val="115000"/>
                        </a:lnSpc>
                        <a:spcBef>
                          <a:spcPts val="0"/>
                        </a:spcBef>
                        <a:spcAft>
                          <a:spcPts val="0"/>
                        </a:spcAft>
                        <a:buClrTx/>
                        <a:buSzTx/>
                        <a:buFontTx/>
                        <a:buNone/>
                        <a:tabLst/>
                        <a:defRPr/>
                      </a:pPr>
                      <a:r>
                        <a:rPr lang="en-ZA" sz="1200" b="1" kern="1200" dirty="0">
                          <a:solidFill>
                            <a:srgbClr val="000000"/>
                          </a:solidFill>
                          <a:effectLst/>
                          <a:latin typeface="Arial" panose="020B0604020202020204" pitchFamily="34" charset="0"/>
                          <a:ea typeface="+mn-ea"/>
                          <a:cs typeface="Arial" panose="020B0604020202020204" pitchFamily="34" charset="0"/>
                        </a:rPr>
                        <a:t>STATEMENT OF CASH FLOWS FOR THE YEAR ENDED………………</a:t>
                      </a:r>
                      <a:endParaRPr lang="en-ZA" sz="1200" kern="1200" dirty="0">
                        <a:solidFill>
                          <a:srgbClr val="000000"/>
                        </a:solidFill>
                        <a:effectLst/>
                        <a:latin typeface="Arial" panose="020B0604020202020204" pitchFamily="34" charset="0"/>
                        <a:ea typeface="+mn-ea"/>
                        <a:cs typeface="Arial" panose="020B0604020202020204" pitchFamily="34" charset="0"/>
                      </a:endParaRPr>
                    </a:p>
                  </a:txBody>
                  <a:tcPr marL="19896" marR="198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solidFill>
                  </a:tcPr>
                </a:tc>
                <a:tc hMerge="1">
                  <a:txBody>
                    <a:bodyPr/>
                    <a:lstStyle/>
                    <a:p>
                      <a:pPr marL="180340" algn="ctr">
                        <a:lnSpc>
                          <a:spcPct val="115000"/>
                        </a:lnSpc>
                      </a:pPr>
                      <a:endParaRPr lang="en-ZA" sz="1200" dirty="0">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a:noFill/>
                    </a:lnR>
                    <a:lnT w="12700" cap="flat" cmpd="sng" algn="ctr">
                      <a:solidFill>
                        <a:schemeClr val="tx1"/>
                      </a:solidFill>
                      <a:prstDash val="solid"/>
                      <a:round/>
                      <a:headEnd type="none" w="med" len="med"/>
                      <a:tailEnd type="none" w="med" len="med"/>
                    </a:lnT>
                    <a:lnB>
                      <a:noFill/>
                    </a:lnB>
                    <a:solidFill>
                      <a:schemeClr val="bg1"/>
                    </a:solidFill>
                  </a:tcPr>
                </a:tc>
                <a:tc hMerge="1">
                  <a:txBody>
                    <a:bodyPr/>
                    <a:lstStyle/>
                    <a:p>
                      <a:pPr marL="180340">
                        <a:lnSpc>
                          <a:spcPct val="115000"/>
                        </a:lnSpc>
                        <a:tabLst>
                          <a:tab pos="594360" algn="dec"/>
                        </a:tabLst>
                      </a:pPr>
                      <a:endParaRPr lang="en-ZA" sz="1200" dirty="0">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344768179"/>
                  </a:ext>
                </a:extLst>
              </a:tr>
              <a:tr h="314427">
                <a:tc>
                  <a:txBody>
                    <a:bodyPr/>
                    <a:lstStyle/>
                    <a:p>
                      <a:pPr marL="180340">
                        <a:lnSpc>
                          <a:spcPct val="115000"/>
                        </a:lnSpc>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a:noFill/>
                    </a:lnB>
                    <a:solidFill>
                      <a:schemeClr val="bg1"/>
                    </a:solidFill>
                  </a:tcPr>
                </a:tc>
                <a:tc>
                  <a:txBody>
                    <a:bodyPr/>
                    <a:lstStyle/>
                    <a:p>
                      <a:pPr marL="180340" algn="ctr">
                        <a:lnSpc>
                          <a:spcPct val="115000"/>
                        </a:lnSpc>
                      </a:pPr>
                      <a:r>
                        <a:rPr lang="en-ZA" sz="1200" b="1">
                          <a:solidFill>
                            <a:srgbClr val="000000"/>
                          </a:solidFill>
                          <a:effectLst/>
                          <a:latin typeface="Arial" panose="020B0604020202020204" pitchFamily="34" charset="0"/>
                          <a:ea typeface="Calibri" panose="020F0502020204030204" pitchFamily="34" charset="0"/>
                          <a:cs typeface="Arial" panose="020B0604020202020204" pitchFamily="34" charset="0"/>
                        </a:rPr>
                        <a:t>Note</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a:noFill/>
                    </a:lnR>
                    <a:lnT w="12700" cap="flat" cmpd="sng" algn="ctr">
                      <a:noFill/>
                      <a:prstDash val="solid"/>
                      <a:round/>
                      <a:headEnd type="none" w="med" len="med"/>
                      <a:tailEnd type="none" w="med" len="med"/>
                    </a:lnT>
                    <a:lnB>
                      <a:noFill/>
                    </a:lnB>
                    <a:solidFill>
                      <a:schemeClr val="bg1"/>
                    </a:solidFill>
                  </a:tcPr>
                </a:tc>
                <a:tc>
                  <a:txBody>
                    <a:bodyPr/>
                    <a:lstStyle/>
                    <a:p>
                      <a:pPr marL="180340">
                        <a:lnSpc>
                          <a:spcPct val="115000"/>
                        </a:lnSpc>
                        <a:tabLst>
                          <a:tab pos="594360" algn="dec"/>
                        </a:tabLst>
                      </a:pPr>
                      <a:r>
                        <a:rPr lang="en-ZA" sz="12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R   </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solidFill>
                      <a:schemeClr val="bg1"/>
                    </a:solidFill>
                  </a:tcPr>
                </a:tc>
                <a:extLst>
                  <a:ext uri="{0D108BD9-81ED-4DB2-BD59-A6C34878D82A}">
                    <a16:rowId xmlns:a16="http://schemas.microsoft.com/office/drawing/2014/main" val="376524239"/>
                  </a:ext>
                </a:extLst>
              </a:tr>
              <a:tr h="206563">
                <a:tc>
                  <a:txBody>
                    <a:bodyPr/>
                    <a:lstStyle/>
                    <a:p>
                      <a:pPr marL="180340">
                        <a:lnSpc>
                          <a:spcPct val="115000"/>
                        </a:lnSpc>
                      </a:pPr>
                      <a:r>
                        <a:rPr lang="en-ZA" sz="12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Cash in/(out)flow from operating activities</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a:noFill/>
                    </a:lnR>
                    <a:lnT>
                      <a:noFill/>
                    </a:lnT>
                    <a:lnB>
                      <a:noFill/>
                    </a:lnB>
                    <a:solidFill>
                      <a:schemeClr val="bg1"/>
                    </a:solidFill>
                  </a:tcPr>
                </a:tc>
                <a:tc>
                  <a:txBody>
                    <a:bodyPr/>
                    <a:lstStyle/>
                    <a:p>
                      <a:pPr marL="180340" algn="ctr">
                        <a:lnSpc>
                          <a:spcPct val="115000"/>
                        </a:lnSpc>
                        <a:tabLst>
                          <a:tab pos="594360" algn="dec"/>
                        </a:tabLst>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xxxxx</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50806941"/>
                  </a:ext>
                </a:extLst>
              </a:tr>
              <a:tr h="98698">
                <a:tc>
                  <a:txBody>
                    <a:bodyPr/>
                    <a:lstStyle/>
                    <a:p>
                      <a:pPr marL="180340">
                        <a:lnSpc>
                          <a:spcPct val="115000"/>
                        </a:lnSpc>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Cash receipts from customers</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180340" algn="ctr">
                        <a:lnSpc>
                          <a:spcPct val="115000"/>
                        </a:lnSpc>
                        <a:tabLst>
                          <a:tab pos="594360" algn="dec"/>
                        </a:tabLst>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4251605100"/>
                  </a:ext>
                </a:extLst>
              </a:tr>
              <a:tr h="206563">
                <a:tc>
                  <a:txBody>
                    <a:bodyPr/>
                    <a:lstStyle/>
                    <a:p>
                      <a:pPr marL="180340">
                        <a:lnSpc>
                          <a:spcPct val="115000"/>
                        </a:lnSpc>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Cash paid to employees and suppliers</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180340" algn="ctr">
                        <a:lnSpc>
                          <a:spcPct val="115000"/>
                        </a:lnSpc>
                        <a:tabLst>
                          <a:tab pos="594360" algn="dec"/>
                        </a:tabLst>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40851666"/>
                  </a:ext>
                </a:extLst>
              </a:tr>
              <a:tr h="98698">
                <a:tc>
                  <a:txBody>
                    <a:bodyPr/>
                    <a:lstStyle/>
                    <a:p>
                      <a:pPr marL="180340">
                        <a:lnSpc>
                          <a:spcPct val="115000"/>
                        </a:lnSpc>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Cash generated from operations </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nSpc>
                          <a:spcPct val="115000"/>
                        </a:lnSpc>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2</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180340" algn="ctr">
                        <a:lnSpc>
                          <a:spcPct val="115000"/>
                        </a:lnSpc>
                        <a:tabLst>
                          <a:tab pos="594360" algn="dec"/>
                        </a:tabLst>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907550406"/>
                  </a:ext>
                </a:extLst>
              </a:tr>
              <a:tr h="206563">
                <a:tc>
                  <a:txBody>
                    <a:bodyPr/>
                    <a:lstStyle/>
                    <a:p>
                      <a:pPr marL="180340">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Tax paid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180340" algn="ctr">
                        <a:lnSpc>
                          <a:spcPct val="115000"/>
                        </a:lnSpc>
                        <a:tabLst>
                          <a:tab pos="594360" algn="dec"/>
                        </a:tabLst>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3389666425"/>
                  </a:ext>
                </a:extLst>
              </a:tr>
              <a:tr h="98698">
                <a:tc>
                  <a:txBody>
                    <a:bodyPr/>
                    <a:lstStyle/>
                    <a:p>
                      <a:pPr marL="180340">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Tax received</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180340" algn="ctr">
                        <a:lnSpc>
                          <a:spcPct val="115000"/>
                        </a:lnSpc>
                        <a:tabLst>
                          <a:tab pos="594360" algn="dec"/>
                        </a:tabLst>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23987506"/>
                  </a:ext>
                </a:extLst>
              </a:tr>
              <a:tr h="98698">
                <a:tc>
                  <a:txBody>
                    <a:bodyPr/>
                    <a:lstStyle/>
                    <a:p>
                      <a:pPr marL="180340">
                        <a:lnSpc>
                          <a:spcPct val="115000"/>
                        </a:lnSpc>
                      </a:pPr>
                      <a:r>
                        <a:rPr lang="en-ZA" sz="1200" i="1">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a:noFill/>
                    </a:lnR>
                    <a:lnT>
                      <a:noFill/>
                    </a:lnT>
                    <a:lnB>
                      <a:noFill/>
                    </a:lnB>
                    <a:solidFill>
                      <a:schemeClr val="bg1"/>
                    </a:solidFill>
                  </a:tcPr>
                </a:tc>
                <a:tc>
                  <a:txBody>
                    <a:bodyPr/>
                    <a:lstStyle/>
                    <a:p>
                      <a:pPr marL="180340" algn="ctr">
                        <a:lnSpc>
                          <a:spcPct val="115000"/>
                        </a:lnSpc>
                        <a:tabLst>
                          <a:tab pos="594360" algn="dec"/>
                        </a:tabLst>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957737490"/>
                  </a:ext>
                </a:extLst>
              </a:tr>
              <a:tr h="206563">
                <a:tc>
                  <a:txBody>
                    <a:bodyPr/>
                    <a:lstStyle/>
                    <a:p>
                      <a:pPr marL="180340">
                        <a:lnSpc>
                          <a:spcPct val="115000"/>
                        </a:lnSpc>
                      </a:pPr>
                      <a:r>
                        <a:rPr lang="en-ZA" sz="12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Cash in/(out)flow from investing activities</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a:noFill/>
                    </a:lnR>
                    <a:lnT>
                      <a:noFill/>
                    </a:lnT>
                    <a:lnB>
                      <a:noFill/>
                    </a:lnB>
                    <a:solidFill>
                      <a:schemeClr val="bg1"/>
                    </a:solidFill>
                  </a:tcPr>
                </a:tc>
                <a:tc>
                  <a:txBody>
                    <a:bodyPr/>
                    <a:lstStyle/>
                    <a:p>
                      <a:pPr marL="180340" algn="ctr">
                        <a:lnSpc>
                          <a:spcPct val="115000"/>
                        </a:lnSpc>
                        <a:tabLst>
                          <a:tab pos="594360" algn="dec"/>
                        </a:tabLst>
                      </a:pPr>
                      <a:r>
                        <a:rPr lang="en-ZA" sz="12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xxxxx</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91749633"/>
                  </a:ext>
                </a:extLst>
              </a:tr>
              <a:tr h="206563">
                <a:tc>
                  <a:txBody>
                    <a:bodyPr/>
                    <a:lstStyle/>
                    <a:p>
                      <a:pPr marL="180340">
                        <a:lnSpc>
                          <a:spcPct val="115000"/>
                        </a:lnSpc>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Acquisition of property, plant and equipment</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180340" algn="ctr">
                        <a:lnSpc>
                          <a:spcPct val="115000"/>
                        </a:lnSpc>
                        <a:tabLst>
                          <a:tab pos="594360" algn="dec"/>
                        </a:tabLst>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71127906"/>
                  </a:ext>
                </a:extLst>
              </a:tr>
              <a:tr h="206563">
                <a:tc>
                  <a:txBody>
                    <a:bodyPr/>
                    <a:lstStyle/>
                    <a:p>
                      <a:pPr marL="180340">
                        <a:lnSpc>
                          <a:spcPct val="115000"/>
                        </a:lnSpc>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   Replacement of ……………. (maintain)</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180340" algn="ctr">
                        <a:lnSpc>
                          <a:spcPct val="115000"/>
                        </a:lnSpc>
                        <a:tabLst>
                          <a:tab pos="594360" algn="dec"/>
                        </a:tabLst>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4116690500"/>
                  </a:ext>
                </a:extLst>
              </a:tr>
              <a:tr h="206563">
                <a:tc>
                  <a:txBody>
                    <a:bodyPr/>
                    <a:lstStyle/>
                    <a:p>
                      <a:pPr marL="180340">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Expansion of ……………….. (expand)</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180340" algn="ctr">
                        <a:lnSpc>
                          <a:spcPct val="115000"/>
                        </a:lnSpc>
                        <a:tabLst>
                          <a:tab pos="594360" algn="dec"/>
                        </a:tabLst>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99546076"/>
                  </a:ext>
                </a:extLst>
              </a:tr>
              <a:tr h="206563">
                <a:tc gridSpan="2">
                  <a:txBody>
                    <a:bodyPr/>
                    <a:lstStyle/>
                    <a:p>
                      <a:pPr marL="180340">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Proceeds on the sale of property, plant and equipment</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chemeClr val="bg1"/>
                    </a:solidFill>
                  </a:tcPr>
                </a:tc>
                <a:tc hMerge="1">
                  <a:txBody>
                    <a:bodyPr/>
                    <a:lstStyle/>
                    <a:p>
                      <a:endParaRPr lang="en-ZA"/>
                    </a:p>
                  </a:txBody>
                  <a:tcPr/>
                </a:tc>
                <a:tc>
                  <a:txBody>
                    <a:bodyPr/>
                    <a:lstStyle/>
                    <a:p>
                      <a:pPr marL="180340" algn="ctr">
                        <a:lnSpc>
                          <a:spcPct val="115000"/>
                        </a:lnSpc>
                        <a:tabLst>
                          <a:tab pos="594360" algn="dec"/>
                        </a:tabLst>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366044772"/>
                  </a:ext>
                </a:extLst>
              </a:tr>
              <a:tr h="206563">
                <a:tc>
                  <a:txBody>
                    <a:bodyPr/>
                    <a:lstStyle/>
                    <a:p>
                      <a:pPr marL="180340">
                        <a:lnSpc>
                          <a:spcPct val="115000"/>
                        </a:lnSpc>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Acquisition of investments</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gn="ctr">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180340" algn="ctr">
                        <a:lnSpc>
                          <a:spcPct val="115000"/>
                        </a:lnSpc>
                        <a:tabLst>
                          <a:tab pos="594360" algn="dec"/>
                        </a:tabLst>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3963396445"/>
                  </a:ext>
                </a:extLst>
              </a:tr>
              <a:tr h="96235">
                <a:tc>
                  <a:txBody>
                    <a:bodyPr/>
                    <a:lstStyle/>
                    <a:p>
                      <a:pPr marL="180340">
                        <a:lnSpc>
                          <a:spcPct val="115000"/>
                        </a:lnSpc>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Proceeds on the sale of investments</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gn="ctr">
                        <a:lnSpc>
                          <a:spcPct val="115000"/>
                        </a:lnSpc>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180340" algn="ctr">
                        <a:lnSpc>
                          <a:spcPct val="115000"/>
                        </a:lnSpc>
                        <a:tabLst>
                          <a:tab pos="594360" algn="dec"/>
                        </a:tabLst>
                      </a:pPr>
                      <a:r>
                        <a:rPr lang="en-ZA" sz="1200" u="none" strike="noStrike"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80694474"/>
                  </a:ext>
                </a:extLst>
              </a:tr>
              <a:tr h="0">
                <a:tc>
                  <a:txBody>
                    <a:bodyPr/>
                    <a:lstStyle/>
                    <a:p>
                      <a:pPr marL="180340" marR="0" lvl="0" indent="0" algn="l" defTabSz="914400" rtl="0" eaLnBrk="1" fontAlgn="auto" latinLnBrk="0" hangingPunct="1">
                        <a:lnSpc>
                          <a:spcPct val="115000"/>
                        </a:lnSpc>
                        <a:spcBef>
                          <a:spcPts val="0"/>
                        </a:spcBef>
                        <a:spcAft>
                          <a:spcPts val="0"/>
                        </a:spcAft>
                        <a:buClrTx/>
                        <a:buSzTx/>
                        <a:buFontTx/>
                        <a:buNone/>
                        <a:tabLst/>
                        <a:defRPr/>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Interest received (IFRS 18)</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180340" marR="0" lvl="0" indent="0" algn="l" defTabSz="914400" rtl="0" eaLnBrk="1" fontAlgn="auto" latinLnBrk="0" hangingPunct="1">
                        <a:lnSpc>
                          <a:spcPct val="115000"/>
                        </a:lnSpc>
                        <a:spcBef>
                          <a:spcPts val="0"/>
                        </a:spcBef>
                        <a:spcAft>
                          <a:spcPts val="0"/>
                        </a:spcAft>
                        <a:buClrTx/>
                        <a:buSzTx/>
                        <a:buFontTx/>
                        <a:buNone/>
                        <a:tabLst/>
                        <a:defRPr/>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Dividends received (IFRS 18)</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gn="ctr">
                        <a:lnSpc>
                          <a:spcPct val="115000"/>
                        </a:lnSpc>
                      </a:pP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180340" algn="ctr">
                        <a:lnSpc>
                          <a:spcPct val="115000"/>
                        </a:lnSpc>
                        <a:tabLst>
                          <a:tab pos="594360" algn="dec"/>
                        </a:tabLst>
                      </a:pP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28695102"/>
                  </a:ext>
                </a:extLst>
              </a:tr>
              <a:tr h="98698">
                <a:tc>
                  <a:txBody>
                    <a:bodyPr/>
                    <a:lstStyle/>
                    <a:p>
                      <a:pPr marL="180340">
                        <a:lnSpc>
                          <a:spcPct val="115000"/>
                        </a:lnSpc>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gn="ctr">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a:noFill/>
                    </a:lnR>
                    <a:lnT>
                      <a:noFill/>
                    </a:lnT>
                    <a:lnB>
                      <a:noFill/>
                    </a:lnB>
                    <a:solidFill>
                      <a:schemeClr val="bg1"/>
                    </a:solidFill>
                  </a:tcPr>
                </a:tc>
                <a:tc>
                  <a:txBody>
                    <a:bodyPr/>
                    <a:lstStyle/>
                    <a:p>
                      <a:pPr marL="180340" algn="ctr">
                        <a:lnSpc>
                          <a:spcPct val="115000"/>
                        </a:lnSpc>
                        <a:tabLst>
                          <a:tab pos="594360" algn="dec"/>
                        </a:tabLst>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3533142588"/>
                  </a:ext>
                </a:extLst>
              </a:tr>
              <a:tr h="206563">
                <a:tc>
                  <a:txBody>
                    <a:bodyPr/>
                    <a:lstStyle/>
                    <a:p>
                      <a:pPr marL="180340">
                        <a:lnSpc>
                          <a:spcPct val="115000"/>
                        </a:lnSpc>
                      </a:pPr>
                      <a:r>
                        <a:rPr lang="en-ZA" sz="12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Cash in/(out)flow from financing activities</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gn="ctr">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a:noFill/>
                    </a:lnR>
                    <a:lnT>
                      <a:noFill/>
                    </a:lnT>
                    <a:lnB>
                      <a:noFill/>
                    </a:lnB>
                    <a:solidFill>
                      <a:schemeClr val="bg1"/>
                    </a:solidFill>
                  </a:tcPr>
                </a:tc>
                <a:tc>
                  <a:txBody>
                    <a:bodyPr/>
                    <a:lstStyle/>
                    <a:p>
                      <a:pPr marL="180340" algn="ctr">
                        <a:lnSpc>
                          <a:spcPct val="115000"/>
                        </a:lnSpc>
                        <a:tabLst>
                          <a:tab pos="594360" algn="dec"/>
                        </a:tabLst>
                      </a:pPr>
                      <a:r>
                        <a:rPr lang="en-ZA" sz="12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xxxxx</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586542663"/>
                  </a:ext>
                </a:extLst>
              </a:tr>
              <a:tr h="206563">
                <a:tc>
                  <a:txBody>
                    <a:bodyPr/>
                    <a:lstStyle/>
                    <a:p>
                      <a:pPr marL="180340">
                        <a:lnSpc>
                          <a:spcPct val="115000"/>
                        </a:lnSpc>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Proceeds from the issue of share capital</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gn="ctr">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180340" algn="ctr">
                        <a:lnSpc>
                          <a:spcPct val="115000"/>
                        </a:lnSpc>
                        <a:tabLst>
                          <a:tab pos="594360" algn="dec"/>
                        </a:tabLst>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3936776350"/>
                  </a:ext>
                </a:extLst>
              </a:tr>
              <a:tr h="206563">
                <a:tc>
                  <a:txBody>
                    <a:bodyPr/>
                    <a:lstStyle/>
                    <a:p>
                      <a:pPr marL="180340">
                        <a:lnSpc>
                          <a:spcPct val="115000"/>
                        </a:lnSpc>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Proceeds from the long-term loans incurred</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gn="ctr">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180340" algn="ctr">
                        <a:lnSpc>
                          <a:spcPct val="115000"/>
                        </a:lnSpc>
                        <a:tabLst>
                          <a:tab pos="594360" algn="dec"/>
                        </a:tabLst>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14937575"/>
                  </a:ext>
                </a:extLst>
              </a:tr>
              <a:tr h="206563">
                <a:tc>
                  <a:txBody>
                    <a:bodyPr/>
                    <a:lstStyle/>
                    <a:p>
                      <a:pPr marL="180340">
                        <a:lnSpc>
                          <a:spcPct val="115000"/>
                        </a:lnSpc>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Long-term loans paid back</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gn="ctr">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180340" algn="ctr">
                        <a:lnSpc>
                          <a:spcPct val="115000"/>
                        </a:lnSpc>
                        <a:tabLst>
                          <a:tab pos="594360" algn="dec"/>
                        </a:tabLst>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108063359"/>
                  </a:ext>
                </a:extLst>
              </a:tr>
              <a:tr h="68854">
                <a:tc>
                  <a:txBody>
                    <a:bodyPr/>
                    <a:lstStyle/>
                    <a:p>
                      <a:pPr marL="180340">
                        <a:lnSpc>
                          <a:spcPct val="115000"/>
                        </a:lnSpc>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Redemption of debentures</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gn="ctr">
                        <a:lnSpc>
                          <a:spcPct val="115000"/>
                        </a:lnSpc>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180340" algn="ctr">
                        <a:lnSpc>
                          <a:spcPct val="115000"/>
                        </a:lnSpc>
                        <a:tabLst>
                          <a:tab pos="594360" algn="dec"/>
                        </a:tabLst>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14022857"/>
                  </a:ext>
                </a:extLst>
              </a:tr>
              <a:tr h="123615">
                <a:tc>
                  <a:txBody>
                    <a:bodyPr/>
                    <a:lstStyle/>
                    <a:p>
                      <a:pPr marL="180340">
                        <a:lnSpc>
                          <a:spcPct val="115000"/>
                        </a:lnSpc>
                        <a:tabLst>
                          <a:tab pos="2052320" algn="ctr"/>
                        </a:tabLst>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Interest paid (IFRS 18)	</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nSpc>
                          <a:spcPct val="115000"/>
                        </a:lnSpc>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180340" algn="ctr">
                        <a:lnSpc>
                          <a:spcPct val="115000"/>
                        </a:lnSpc>
                        <a:tabLst>
                          <a:tab pos="594360" algn="dec"/>
                        </a:tabLst>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00373274"/>
                  </a:ext>
                </a:extLst>
              </a:tr>
              <a:tr h="0">
                <a:tc>
                  <a:txBody>
                    <a:bodyPr/>
                    <a:lstStyle/>
                    <a:p>
                      <a:pPr marL="180340">
                        <a:lnSpc>
                          <a:spcPct val="115000"/>
                        </a:lnSpc>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Dividends paid (IFRS 18)</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180340" algn="ctr">
                        <a:lnSpc>
                          <a:spcPct val="115000"/>
                        </a:lnSpc>
                        <a:tabLst>
                          <a:tab pos="594360" algn="dec"/>
                        </a:tabLst>
                      </a:pPr>
                      <a:r>
                        <a:rPr lang="en-ZA"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10631678"/>
                  </a:ext>
                </a:extLst>
              </a:tr>
              <a:tr h="98698">
                <a:tc>
                  <a:txBody>
                    <a:bodyPr/>
                    <a:lstStyle/>
                    <a:p>
                      <a:pPr marL="180340">
                        <a:lnSpc>
                          <a:spcPct val="115000"/>
                        </a:lnSpc>
                      </a:pPr>
                      <a:r>
                        <a:rPr lang="en-ZA" sz="1200" b="1" i="1">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gn="ctr">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a:noFill/>
                    </a:lnR>
                    <a:lnT>
                      <a:noFill/>
                    </a:lnT>
                    <a:lnB>
                      <a:noFill/>
                    </a:lnB>
                    <a:solidFill>
                      <a:schemeClr val="bg1"/>
                    </a:solidFill>
                  </a:tcPr>
                </a:tc>
                <a:tc>
                  <a:txBody>
                    <a:bodyPr/>
                    <a:lstStyle/>
                    <a:p>
                      <a:pPr marL="180340" algn="ctr">
                        <a:lnSpc>
                          <a:spcPct val="115000"/>
                        </a:lnSpc>
                        <a:tabLst>
                          <a:tab pos="594360" algn="dec"/>
                        </a:tabLst>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3054809348"/>
                  </a:ext>
                </a:extLst>
              </a:tr>
              <a:tr h="206563">
                <a:tc>
                  <a:txBody>
                    <a:bodyPr/>
                    <a:lstStyle/>
                    <a:p>
                      <a:pPr marL="180340">
                        <a:lnSpc>
                          <a:spcPct val="115000"/>
                        </a:lnSpc>
                      </a:pPr>
                      <a:r>
                        <a:rPr lang="en-ZA" sz="12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Net increase / (decrease) in cash and cash equivalents</a:t>
                      </a:r>
                      <a:endParaRPr lang="en-ZA"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marL="180340" algn="ctr">
                        <a:lnSpc>
                          <a:spcPct val="115000"/>
                        </a:lnSpc>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a:noFill/>
                    </a:lnR>
                    <a:lnT>
                      <a:noFill/>
                    </a:lnT>
                    <a:lnB>
                      <a:noFill/>
                    </a:lnB>
                    <a:solidFill>
                      <a:schemeClr val="bg1"/>
                    </a:solidFill>
                  </a:tcPr>
                </a:tc>
                <a:tc>
                  <a:txBody>
                    <a:bodyPr/>
                    <a:lstStyle/>
                    <a:p>
                      <a:pPr marL="180340" algn="ctr">
                        <a:lnSpc>
                          <a:spcPct val="115000"/>
                        </a:lnSpc>
                        <a:tabLst>
                          <a:tab pos="594360" algn="dec"/>
                        </a:tabLst>
                      </a:pPr>
                      <a:r>
                        <a:rPr lang="en-ZA" sz="1200">
                          <a:solidFill>
                            <a:srgbClr val="000000"/>
                          </a:solidFill>
                          <a:effectLst/>
                          <a:latin typeface="Arial" panose="020B0604020202020204" pitchFamily="34" charset="0"/>
                          <a:ea typeface="Calibri" panose="020F0502020204030204" pitchFamily="34" charset="0"/>
                          <a:cs typeface="Arial" panose="020B0604020202020204" pitchFamily="34" charset="0"/>
                        </a:rPr>
                        <a:t>xxxxx</a:t>
                      </a:r>
                      <a:endParaRPr lang="en-ZA"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60555243"/>
                  </a:ext>
                </a:extLst>
              </a:tr>
              <a:tr h="206563">
                <a:tc gridSpan="2">
                  <a:txBody>
                    <a:bodyPr/>
                    <a:lstStyle/>
                    <a:p>
                      <a:pPr marL="180340">
                        <a:lnSpc>
                          <a:spcPct val="115000"/>
                        </a:lnSpc>
                      </a:pPr>
                      <a:r>
                        <a:rPr lang="en-ZA" sz="1200" dirty="0">
                          <a:solidFill>
                            <a:srgbClr val="000000"/>
                          </a:solidFill>
                          <a:effectLst/>
                          <a:highlight>
                            <a:srgbClr val="FFFF00"/>
                          </a:highlight>
                          <a:latin typeface="Arial" panose="020B0604020202020204" pitchFamily="34" charset="0"/>
                          <a:ea typeface="Calibri" panose="020F0502020204030204" pitchFamily="34" charset="0"/>
                          <a:cs typeface="Arial" panose="020B0604020202020204" pitchFamily="34" charset="0"/>
                        </a:rPr>
                        <a:t>Cash and cash equivalents at beginning of year</a:t>
                      </a:r>
                      <a:endParaRPr lang="en-ZA" sz="1200" dirty="0">
                        <a:solidFill>
                          <a:srgbClr val="000000"/>
                        </a:solidFill>
                        <a:effectLst/>
                        <a:highlight>
                          <a:srgbClr val="FFFF00"/>
                        </a:highligh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a:noFill/>
                    </a:lnB>
                    <a:solidFill>
                      <a:schemeClr val="bg1"/>
                    </a:solidFill>
                  </a:tcPr>
                </a:tc>
                <a:tc hMerge="1">
                  <a:txBody>
                    <a:bodyPr/>
                    <a:lstStyle/>
                    <a:p>
                      <a:endParaRPr lang="en-ZA"/>
                    </a:p>
                  </a:txBody>
                  <a:tcPr/>
                </a:tc>
                <a:tc>
                  <a:txBody>
                    <a:bodyPr/>
                    <a:lstStyle/>
                    <a:p>
                      <a:pPr marL="180340" algn="ctr">
                        <a:lnSpc>
                          <a:spcPct val="115000"/>
                        </a:lnSpc>
                        <a:tabLst>
                          <a:tab pos="594360" algn="dec"/>
                        </a:tabLst>
                      </a:pPr>
                      <a:r>
                        <a:rPr lang="en-ZA" sz="1200">
                          <a:solidFill>
                            <a:srgbClr val="000000"/>
                          </a:solidFill>
                          <a:effectLst/>
                          <a:highlight>
                            <a:srgbClr val="FFFF00"/>
                          </a:highlight>
                          <a:latin typeface="Arial" panose="020B0604020202020204" pitchFamily="34" charset="0"/>
                          <a:ea typeface="Calibri" panose="020F0502020204030204" pitchFamily="34" charset="0"/>
                          <a:cs typeface="Arial" panose="020B0604020202020204" pitchFamily="34" charset="0"/>
                        </a:rPr>
                        <a:t>xxxxx</a:t>
                      </a:r>
                      <a:endParaRPr lang="en-ZA" sz="1200">
                        <a:solidFill>
                          <a:srgbClr val="000000"/>
                        </a:solidFill>
                        <a:effectLst/>
                        <a:highlight>
                          <a:srgbClr val="FFFF00"/>
                        </a:highligh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514101"/>
                  </a:ext>
                </a:extLst>
              </a:tr>
              <a:tr h="125060">
                <a:tc gridSpan="2">
                  <a:txBody>
                    <a:bodyPr/>
                    <a:lstStyle/>
                    <a:p>
                      <a:pPr marL="180340">
                        <a:lnSpc>
                          <a:spcPct val="115000"/>
                        </a:lnSpc>
                      </a:pPr>
                      <a:r>
                        <a:rPr lang="en-ZA" sz="1200" dirty="0">
                          <a:solidFill>
                            <a:srgbClr val="000000"/>
                          </a:solidFill>
                          <a:effectLst/>
                          <a:highlight>
                            <a:srgbClr val="FFFF00"/>
                          </a:highlight>
                          <a:latin typeface="Arial" panose="020B0604020202020204" pitchFamily="34" charset="0"/>
                          <a:ea typeface="Calibri" panose="020F0502020204030204" pitchFamily="34" charset="0"/>
                          <a:cs typeface="Arial" panose="020B0604020202020204" pitchFamily="34" charset="0"/>
                        </a:rPr>
                        <a:t>Cash and cash equivalents at end of year</a:t>
                      </a:r>
                      <a:endParaRPr lang="en-ZA" sz="1200" dirty="0">
                        <a:solidFill>
                          <a:srgbClr val="000000"/>
                        </a:solidFill>
                        <a:effectLst/>
                        <a:highlight>
                          <a:srgbClr val="FFFF00"/>
                        </a:highligh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ZA"/>
                    </a:p>
                  </a:txBody>
                  <a:tcPr/>
                </a:tc>
                <a:tc>
                  <a:txBody>
                    <a:bodyPr/>
                    <a:lstStyle/>
                    <a:p>
                      <a:pPr marL="180340" algn="ctr">
                        <a:lnSpc>
                          <a:spcPct val="115000"/>
                        </a:lnSpc>
                        <a:tabLst>
                          <a:tab pos="594360" algn="dec"/>
                        </a:tabLst>
                      </a:pPr>
                      <a:r>
                        <a:rPr lang="en-ZA" sz="1200" dirty="0" err="1">
                          <a:solidFill>
                            <a:srgbClr val="000000"/>
                          </a:solidFill>
                          <a:effectLst/>
                          <a:highlight>
                            <a:srgbClr val="FFFF00"/>
                          </a:highlight>
                          <a:latin typeface="Arial" panose="020B0604020202020204" pitchFamily="34" charset="0"/>
                          <a:ea typeface="Calibri" panose="020F0502020204030204" pitchFamily="34" charset="0"/>
                          <a:cs typeface="Arial" panose="020B0604020202020204" pitchFamily="34" charset="0"/>
                        </a:rPr>
                        <a:t>xxxxx</a:t>
                      </a:r>
                      <a:endParaRPr lang="en-ZA" sz="1200" dirty="0">
                        <a:solidFill>
                          <a:srgbClr val="000000"/>
                        </a:solidFill>
                        <a:effectLst/>
                        <a:highlight>
                          <a:srgbClr val="FFFF00"/>
                        </a:highlight>
                        <a:latin typeface="Arial" panose="020B0604020202020204" pitchFamily="34" charset="0"/>
                        <a:ea typeface="Calibri" panose="020F0502020204030204" pitchFamily="34" charset="0"/>
                        <a:cs typeface="Times New Roman" panose="02020603050405020304" pitchFamily="18" charset="0"/>
                      </a:endParaRPr>
                    </a:p>
                  </a:txBody>
                  <a:tcPr marL="19896" marR="19896" marT="0" marB="0">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6845776"/>
                  </a:ext>
                </a:extLst>
              </a:tr>
            </a:tbl>
          </a:graphicData>
        </a:graphic>
      </p:graphicFrame>
      <mc:AlternateContent xmlns:mc="http://schemas.openxmlformats.org/markup-compatibility/2006" xmlns:p14="http://schemas.microsoft.com/office/powerpoint/2010/main">
        <mc:Choice Requires="p14">
          <p:contentPart p14:bwMode="auto" r:id="rId2">
            <p14:nvContentPartPr>
              <p14:cNvPr id="16" name="Ink 15">
                <a:extLst>
                  <a:ext uri="{FF2B5EF4-FFF2-40B4-BE49-F238E27FC236}">
                    <a16:creationId xmlns:a16="http://schemas.microsoft.com/office/drawing/2014/main" id="{E80BCA56-E3B0-AC50-4566-BE5BBCC96E4C}"/>
                  </a:ext>
                </a:extLst>
              </p14:cNvPr>
              <p14:cNvContentPartPr/>
              <p14:nvPr/>
            </p14:nvContentPartPr>
            <p14:xfrm>
              <a:off x="4911916" y="2645659"/>
              <a:ext cx="630360" cy="37440"/>
            </p14:xfrm>
          </p:contentPart>
        </mc:Choice>
        <mc:Fallback xmlns="">
          <p:pic>
            <p:nvPicPr>
              <p:cNvPr id="16" name="Ink 15">
                <a:extLst>
                  <a:ext uri="{FF2B5EF4-FFF2-40B4-BE49-F238E27FC236}">
                    <a16:creationId xmlns:a16="http://schemas.microsoft.com/office/drawing/2014/main" id="{E80BCA56-E3B0-AC50-4566-BE5BBCC96E4C}"/>
                  </a:ext>
                </a:extLst>
              </p:cNvPr>
              <p:cNvPicPr/>
              <p:nvPr/>
            </p:nvPicPr>
            <p:blipFill>
              <a:blip r:embed="rId7"/>
              <a:stretch>
                <a:fillRect/>
              </a:stretch>
            </p:blipFill>
            <p:spPr>
              <a:xfrm>
                <a:off x="4876276" y="2573659"/>
                <a:ext cx="702000" cy="181080"/>
              </a:xfrm>
              <a:prstGeom prst="rect">
                <a:avLst/>
              </a:prstGeom>
            </p:spPr>
          </p:pic>
        </mc:Fallback>
      </mc:AlternateContent>
    </p:spTree>
    <p:extLst>
      <p:ext uri="{BB962C8B-B14F-4D97-AF65-F5344CB8AC3E}">
        <p14:creationId xmlns:p14="http://schemas.microsoft.com/office/powerpoint/2010/main" val="405818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normAutofit/>
          </a:bodyPr>
          <a:lstStyle/>
          <a:p>
            <a:r>
              <a:rPr lang="en-US" dirty="0"/>
              <a:t>IAS 7 Statement of cash flows</a:t>
            </a:r>
            <a:br>
              <a:rPr lang="en-US" dirty="0"/>
            </a:br>
            <a:r>
              <a:rPr lang="en-US" sz="3200" b="1" dirty="0">
                <a:latin typeface="Arial" panose="020B0604020202020204" pitchFamily="34" charset="0"/>
                <a:cs typeface="Arial" panose="020B0604020202020204" pitchFamily="34" charset="0"/>
              </a:rPr>
              <a:t>Cash and cash equivalents (.7 – .9)</a:t>
            </a:r>
            <a:endParaRPr lang="en-GB" dirty="0"/>
          </a:p>
        </p:txBody>
      </p:sp>
      <p:sp>
        <p:nvSpPr>
          <p:cNvPr id="2" name="Oval 1">
            <a:extLst>
              <a:ext uri="{FF2B5EF4-FFF2-40B4-BE49-F238E27FC236}">
                <a16:creationId xmlns:a16="http://schemas.microsoft.com/office/drawing/2014/main" id="{C3563D29-B168-30B3-66A5-493C0965994C}"/>
              </a:ext>
            </a:extLst>
          </p:cNvPr>
          <p:cNvSpPr/>
          <p:nvPr/>
        </p:nvSpPr>
        <p:spPr>
          <a:xfrm>
            <a:off x="10722543" y="6400800"/>
            <a:ext cx="1164657" cy="375385"/>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rPr>
              <a:t>Slide 8</a:t>
            </a:r>
            <a:endParaRPr kumimoji="0" lang="en-ZA"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 name="Rectangle 3">
            <a:extLst>
              <a:ext uri="{FF2B5EF4-FFF2-40B4-BE49-F238E27FC236}">
                <a16:creationId xmlns:a16="http://schemas.microsoft.com/office/drawing/2014/main" id="{74C92B89-6281-43DA-51F3-8EEC23F4811A}"/>
              </a:ext>
            </a:extLst>
          </p:cNvPr>
          <p:cNvSpPr>
            <a:spLocks noGrp="1" noRot="1" noChangeArrowheads="1"/>
          </p:cNvSpPr>
          <p:nvPr>
            <p:ph idx="1"/>
          </p:nvPr>
        </p:nvSpPr>
        <p:spPr>
          <a:xfrm>
            <a:off x="253402" y="1575978"/>
            <a:ext cx="11633798" cy="3960738"/>
          </a:xfrm>
        </p:spPr>
        <p:txBody>
          <a:bodyPr>
            <a:normAutofit/>
          </a:bodyPr>
          <a:lstStyle/>
          <a:p>
            <a:pPr marL="450850" indent="-450850" eaLnBrk="1" hangingPunct="1">
              <a:lnSpc>
                <a:spcPct val="80000"/>
              </a:lnSpc>
              <a:buClr>
                <a:schemeClr val="tx1"/>
              </a:buClr>
              <a:buFont typeface="Arial" charset="0"/>
              <a:buChar char="►"/>
              <a:defRPr/>
            </a:pPr>
            <a:r>
              <a:rPr lang="en-US" sz="2000" dirty="0">
                <a:latin typeface="+mn-lt"/>
                <a:cs typeface="Arial" panose="020B0604020202020204" pitchFamily="34" charset="0"/>
              </a:rPr>
              <a:t>Cash equivalents normally held for short term cash commitments rather than for investment purposes (.7)</a:t>
            </a:r>
          </a:p>
          <a:p>
            <a:pPr marL="450850" indent="-450850" eaLnBrk="1" hangingPunct="1">
              <a:lnSpc>
                <a:spcPct val="80000"/>
              </a:lnSpc>
              <a:buClr>
                <a:schemeClr val="tx1"/>
              </a:buClr>
              <a:buFont typeface="Arial" charset="0"/>
              <a:buChar char="►"/>
              <a:defRPr/>
            </a:pPr>
            <a:endParaRPr lang="en-US" sz="2000" dirty="0">
              <a:latin typeface="+mn-lt"/>
              <a:cs typeface="Arial" panose="020B0604020202020204" pitchFamily="34" charset="0"/>
            </a:endParaRPr>
          </a:p>
          <a:p>
            <a:pPr marL="450850" indent="-450850" eaLnBrk="1" hangingPunct="1">
              <a:lnSpc>
                <a:spcPct val="80000"/>
              </a:lnSpc>
              <a:buClr>
                <a:schemeClr val="tx1"/>
              </a:buClr>
              <a:buFont typeface="Arial" charset="0"/>
              <a:buChar char="►"/>
              <a:defRPr/>
            </a:pPr>
            <a:r>
              <a:rPr lang="en-US" sz="2000" dirty="0">
                <a:latin typeface="+mn-lt"/>
                <a:cs typeface="Arial" panose="020B0604020202020204" pitchFamily="34" charset="0"/>
              </a:rPr>
              <a:t>Bank borrowings are generally considered to be financing activities unless overdraft is repayable on demand (part of cash management; included as component of cash and cash equivalents) (.8)</a:t>
            </a:r>
          </a:p>
          <a:p>
            <a:pPr marL="450850" indent="-450850" eaLnBrk="1" hangingPunct="1">
              <a:lnSpc>
                <a:spcPct val="80000"/>
              </a:lnSpc>
              <a:buClr>
                <a:schemeClr val="tx1"/>
              </a:buClr>
              <a:buFont typeface="Arial" charset="0"/>
              <a:buChar char="►"/>
              <a:defRPr/>
            </a:pPr>
            <a:endParaRPr lang="en-US" sz="2000" dirty="0">
              <a:latin typeface="+mn-lt"/>
              <a:cs typeface="Arial" panose="020B0604020202020204" pitchFamily="34" charset="0"/>
            </a:endParaRPr>
          </a:p>
          <a:p>
            <a:pPr marL="450850" indent="-450850" eaLnBrk="1" hangingPunct="1">
              <a:lnSpc>
                <a:spcPct val="80000"/>
              </a:lnSpc>
              <a:buClr>
                <a:schemeClr val="tx1"/>
              </a:buClr>
              <a:buFont typeface="Arial" charset="0"/>
              <a:buChar char="►"/>
              <a:defRPr/>
            </a:pPr>
            <a:r>
              <a:rPr lang="en-US" sz="2000" dirty="0">
                <a:latin typeface="+mn-lt"/>
                <a:cs typeface="Arial" panose="020B0604020202020204" pitchFamily="34" charset="0"/>
              </a:rPr>
              <a:t>Movements between cash and cash equivalents are excluded from cash flows because these components are part of the cash management of an entity rather than part of its operating, investing and financing activities (.9)</a:t>
            </a:r>
          </a:p>
        </p:txBody>
      </p:sp>
    </p:spTree>
    <p:extLst>
      <p:ext uri="{BB962C8B-B14F-4D97-AF65-F5344CB8AC3E}">
        <p14:creationId xmlns:p14="http://schemas.microsoft.com/office/powerpoint/2010/main" val="1455685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a:xfrm>
            <a:off x="518668" y="294054"/>
            <a:ext cx="9055638" cy="1019176"/>
          </a:xfrm>
        </p:spPr>
        <p:txBody>
          <a:bodyPr>
            <a:normAutofit fontScale="90000"/>
          </a:bodyPr>
          <a:lstStyle/>
          <a:p>
            <a:r>
              <a:rPr lang="en-US" sz="3600" dirty="0"/>
              <a:t>IAS 7 Statement of cash flows</a:t>
            </a:r>
            <a:br>
              <a:rPr lang="en-US" dirty="0"/>
            </a:br>
            <a:r>
              <a:rPr lang="en-US" sz="3100" b="1" dirty="0">
                <a:latin typeface="Arial" panose="020B0604020202020204" pitchFamily="34" charset="0"/>
                <a:cs typeface="Arial" panose="020B0604020202020204" pitchFamily="34" charset="0"/>
              </a:rPr>
              <a:t>Presentation of a statement of cash flows (.10 – .12)</a:t>
            </a:r>
            <a:endParaRPr lang="en-GB" dirty="0"/>
          </a:p>
        </p:txBody>
      </p:sp>
      <p:sp>
        <p:nvSpPr>
          <p:cNvPr id="6" name="Rectangle 3">
            <a:extLst>
              <a:ext uri="{FF2B5EF4-FFF2-40B4-BE49-F238E27FC236}">
                <a16:creationId xmlns:a16="http://schemas.microsoft.com/office/drawing/2014/main" id="{9803C591-3B0C-B094-74BA-DF4E3E7696DD}"/>
              </a:ext>
            </a:extLst>
          </p:cNvPr>
          <p:cNvSpPr txBox="1">
            <a:spLocks noRot="1" noChangeArrowheads="1"/>
          </p:cNvSpPr>
          <p:nvPr/>
        </p:nvSpPr>
        <p:spPr>
          <a:xfrm>
            <a:off x="395536" y="1626375"/>
            <a:ext cx="8769979" cy="3384376"/>
          </a:xfrm>
          <a:prstGeom prst="rect">
            <a:avLst/>
          </a:prstGeom>
        </p:spPr>
        <p:txBody>
          <a:bodyPr vert="horz" lIns="91440" tIns="45720" rIns="91440" bIns="45720" rtlCol="0" anchor="t">
            <a:norm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228600" marR="0" lvl="0" indent="-228600" algn="l" defTabSz="685800" rtl="0" eaLnBrk="1" fontAlgn="auto" latinLnBrk="0" hangingPunct="1">
              <a:lnSpc>
                <a:spcPct val="120000"/>
              </a:lnSpc>
              <a:spcBef>
                <a:spcPts val="1000"/>
              </a:spcBef>
              <a:spcAft>
                <a:spcPts val="0"/>
              </a:spcAft>
              <a:buClr>
                <a:srgbClr val="4D5356"/>
              </a:buClr>
              <a:buSzPct val="100000"/>
              <a:buFont typeface="Arial"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Classified by (.10):</a:t>
            </a:r>
          </a:p>
          <a:p>
            <a:pPr marL="685800" marR="0" lvl="1" indent="-228600" algn="l" defTabSz="685800" rtl="0" eaLnBrk="1" fontAlgn="auto" latinLnBrk="0" hangingPunct="1">
              <a:lnSpc>
                <a:spcPct val="120000"/>
              </a:lnSpc>
              <a:spcBef>
                <a:spcPts val="500"/>
              </a:spcBef>
              <a:spcAft>
                <a:spcPts val="0"/>
              </a:spcAft>
              <a:buClr>
                <a:srgbClr val="4D5356"/>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Operating activities;</a:t>
            </a:r>
          </a:p>
          <a:p>
            <a:pPr marL="685800" marR="0" lvl="1" indent="-228600" algn="l" defTabSz="685800" rtl="0" eaLnBrk="1" fontAlgn="auto" latinLnBrk="0" hangingPunct="1">
              <a:lnSpc>
                <a:spcPct val="120000"/>
              </a:lnSpc>
              <a:spcBef>
                <a:spcPts val="500"/>
              </a:spcBef>
              <a:spcAft>
                <a:spcPts val="0"/>
              </a:spcAft>
              <a:buClr>
                <a:srgbClr val="4D5356"/>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Investing activities;</a:t>
            </a:r>
          </a:p>
          <a:p>
            <a:pPr marL="685800" marR="0" lvl="1" indent="-228600" algn="l" defTabSz="685800" rtl="0" eaLnBrk="1" fontAlgn="auto" latinLnBrk="0" hangingPunct="1">
              <a:lnSpc>
                <a:spcPct val="120000"/>
              </a:lnSpc>
              <a:spcBef>
                <a:spcPts val="500"/>
              </a:spcBef>
              <a:spcAft>
                <a:spcPts val="0"/>
              </a:spcAft>
              <a:buClr>
                <a:srgbClr val="4D5356"/>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Financing activities; and</a:t>
            </a:r>
          </a:p>
          <a:p>
            <a:pPr marL="685800" marR="0" lvl="1" indent="-228600" algn="l" defTabSz="685800" rtl="0" eaLnBrk="1" fontAlgn="auto" latinLnBrk="0" hangingPunct="1">
              <a:lnSpc>
                <a:spcPct val="120000"/>
              </a:lnSpc>
              <a:spcBef>
                <a:spcPts val="500"/>
              </a:spcBef>
              <a:spcAft>
                <a:spcPts val="0"/>
              </a:spcAft>
              <a:buClr>
                <a:srgbClr val="4D5356"/>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Net movement in cash and cash equivalents (total of above)</a:t>
            </a:r>
          </a:p>
          <a:p>
            <a:pPr marL="450850" marR="0" lvl="0" indent="-450850" algn="l" defTabSz="685800" rtl="0" eaLnBrk="1" fontAlgn="auto" latinLnBrk="0" hangingPunct="1">
              <a:lnSpc>
                <a:spcPct val="120000"/>
              </a:lnSpc>
              <a:spcBef>
                <a:spcPts val="1000"/>
              </a:spcBef>
              <a:spcAft>
                <a:spcPts val="0"/>
              </a:spcAft>
              <a:buClr>
                <a:srgbClr val="4D5356"/>
              </a:buClr>
              <a:buSzPct val="100000"/>
              <a:buFont typeface="Arial"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Sometimes a single transaction is more than one type of activity </a:t>
            </a:r>
          </a:p>
          <a:p>
            <a:pPr marL="0" marR="0" lvl="0" indent="0" algn="l" defTabSz="685800" rtl="0" eaLnBrk="1" fontAlgn="auto" latinLnBrk="0" hangingPunct="1">
              <a:lnSpc>
                <a:spcPct val="120000"/>
              </a:lnSpc>
              <a:spcBef>
                <a:spcPts val="1000"/>
              </a:spcBef>
              <a:spcAft>
                <a:spcPts val="0"/>
              </a:spcAft>
              <a:buClr>
                <a:srgbClr val="4D5356"/>
              </a:buClr>
              <a:buSzPct val="100000"/>
              <a:buFont typeface="Arial" panose="020B0604020202020204" pitchFamily="34" charset="0"/>
              <a:buNone/>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	[e.g. repayment of loan = interest (operating) and capital (financing)] (.12)</a:t>
            </a:r>
          </a:p>
        </p:txBody>
      </p:sp>
      <p:sp>
        <p:nvSpPr>
          <p:cNvPr id="14" name="Oval 13">
            <a:extLst>
              <a:ext uri="{FF2B5EF4-FFF2-40B4-BE49-F238E27FC236}">
                <a16:creationId xmlns:a16="http://schemas.microsoft.com/office/drawing/2014/main" id="{739D1BD3-E81B-CC5F-9004-7E473C8B1E5F}"/>
              </a:ext>
            </a:extLst>
          </p:cNvPr>
          <p:cNvSpPr/>
          <p:nvPr/>
        </p:nvSpPr>
        <p:spPr>
          <a:xfrm>
            <a:off x="10722543" y="6400800"/>
            <a:ext cx="1164657" cy="375385"/>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rPr>
              <a:t>Slide 9</a:t>
            </a:r>
            <a:endParaRPr kumimoji="0" lang="en-ZA"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5320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lstStyle/>
          <a:p>
            <a:r>
              <a:rPr lang="en-US" dirty="0"/>
              <a:t>IAS 7 Statement of cash flows</a:t>
            </a:r>
            <a:br>
              <a:rPr lang="en-US" dirty="0"/>
            </a:br>
            <a:r>
              <a:rPr lang="en-US" sz="3200" b="1" dirty="0">
                <a:latin typeface="Arial" panose="020B0604020202020204" pitchFamily="34" charset="0"/>
                <a:cs typeface="Arial" panose="020B0604020202020204" pitchFamily="34" charset="0"/>
              </a:rPr>
              <a:t>Operating activities (.13 – .15)</a:t>
            </a:r>
            <a:endParaRPr lang="en-GB" dirty="0"/>
          </a:p>
        </p:txBody>
      </p:sp>
      <p:sp>
        <p:nvSpPr>
          <p:cNvPr id="2" name="Oval 1">
            <a:extLst>
              <a:ext uri="{FF2B5EF4-FFF2-40B4-BE49-F238E27FC236}">
                <a16:creationId xmlns:a16="http://schemas.microsoft.com/office/drawing/2014/main" id="{93022012-B6C0-1AEB-9903-16701D73A2C7}"/>
              </a:ext>
            </a:extLst>
          </p:cNvPr>
          <p:cNvSpPr/>
          <p:nvPr/>
        </p:nvSpPr>
        <p:spPr>
          <a:xfrm>
            <a:off x="10564009" y="6400800"/>
            <a:ext cx="1323191" cy="375385"/>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rPr>
              <a:t>Slide 10</a:t>
            </a:r>
            <a:endParaRPr kumimoji="0" lang="en-ZA"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4EC867C-17BE-1784-9EC6-BFBE7422DEEE}"/>
              </a:ext>
            </a:extLst>
          </p:cNvPr>
          <p:cNvSpPr txBox="1"/>
          <p:nvPr/>
        </p:nvSpPr>
        <p:spPr>
          <a:xfrm>
            <a:off x="322069" y="1543002"/>
            <a:ext cx="10736793" cy="3535327"/>
          </a:xfrm>
          <a:prstGeom prst="rect">
            <a:avLst/>
          </a:prstGeom>
          <a:noFill/>
        </p:spPr>
        <p:txBody>
          <a:bodyPr wrap="square">
            <a:spAutoFit/>
          </a:bodyPr>
          <a:lstStyle/>
          <a:p>
            <a:pPr marL="450850" marR="0" lvl="0" indent="-450850" algn="l" defTabSz="685800" rtl="0" eaLnBrk="1" fontAlgn="auto" latinLnBrk="0" hangingPunct="1">
              <a:lnSpc>
                <a:spcPct val="120000"/>
              </a:lnSpc>
              <a:spcBef>
                <a:spcPts val="1000"/>
              </a:spcBef>
              <a:spcAft>
                <a:spcPts val="0"/>
              </a:spcAft>
              <a:buClr>
                <a:srgbClr val="4D5356"/>
              </a:buClr>
              <a:buSzPct val="100000"/>
              <a:buFont typeface="Arial"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Indicator of extent to which entity’s operations were successful in generating cash to (.13)</a:t>
            </a:r>
          </a:p>
          <a:p>
            <a:pPr marL="685800" marR="0" lvl="1" indent="-228600" algn="l" defTabSz="685800" rtl="0" eaLnBrk="1" fontAlgn="auto" latinLnBrk="0" hangingPunct="1">
              <a:lnSpc>
                <a:spcPct val="120000"/>
              </a:lnSpc>
              <a:spcBef>
                <a:spcPts val="500"/>
              </a:spcBef>
              <a:spcAft>
                <a:spcPts val="0"/>
              </a:spcAft>
              <a:buClr>
                <a:srgbClr val="4D5356"/>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Repay loans</a:t>
            </a:r>
          </a:p>
          <a:p>
            <a:pPr marL="685800" marR="0" lvl="1" indent="-228600" algn="l" defTabSz="685800" rtl="0" eaLnBrk="1" fontAlgn="auto" latinLnBrk="0" hangingPunct="1">
              <a:lnSpc>
                <a:spcPct val="120000"/>
              </a:lnSpc>
              <a:spcBef>
                <a:spcPts val="500"/>
              </a:spcBef>
              <a:spcAft>
                <a:spcPts val="0"/>
              </a:spcAft>
              <a:buClr>
                <a:srgbClr val="4D5356"/>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Maintain operating capability of entity</a:t>
            </a:r>
          </a:p>
          <a:p>
            <a:pPr marL="685800" marR="0" lvl="1" indent="-228600" algn="l" defTabSz="685800" rtl="0" eaLnBrk="1" fontAlgn="auto" latinLnBrk="0" hangingPunct="1">
              <a:lnSpc>
                <a:spcPct val="120000"/>
              </a:lnSpc>
              <a:spcBef>
                <a:spcPts val="500"/>
              </a:spcBef>
              <a:spcAft>
                <a:spcPts val="0"/>
              </a:spcAft>
              <a:buClr>
                <a:srgbClr val="4D5356"/>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Make new investments without recourse to external sources of financing</a:t>
            </a:r>
          </a:p>
          <a:p>
            <a:pPr marL="685800" marR="0" lvl="1" indent="-228600" algn="l" defTabSz="685800" rtl="0" eaLnBrk="1" fontAlgn="auto" latinLnBrk="0" hangingPunct="1">
              <a:lnSpc>
                <a:spcPct val="120000"/>
              </a:lnSpc>
              <a:spcBef>
                <a:spcPts val="500"/>
              </a:spcBef>
              <a:spcAft>
                <a:spcPts val="0"/>
              </a:spcAft>
              <a:buClr>
                <a:srgbClr val="4D5356"/>
              </a:buClr>
              <a:buSzPct val="100000"/>
              <a:buFont typeface="Arial" panose="020B0604020202020204" pitchFamily="34" charset="0"/>
              <a:buChar char="•"/>
              <a:tabLst/>
              <a:defRPr/>
            </a:pPr>
            <a:r>
              <a:rPr lang="en-US" sz="2000" dirty="0">
                <a:solidFill>
                  <a:srgbClr val="4D5356"/>
                </a:solidFill>
                <a:latin typeface="Calibri" panose="020F0502020204030204"/>
                <a:cs typeface="Arial" panose="020B0604020202020204" pitchFamily="34" charset="0"/>
              </a:rPr>
              <a:t>Dividends and interest </a:t>
            </a:r>
            <a:r>
              <a:rPr lang="en-US" sz="2000" b="1" dirty="0">
                <a:solidFill>
                  <a:srgbClr val="FF0000"/>
                </a:solidFill>
                <a:latin typeface="Calibri" panose="020F0502020204030204"/>
                <a:cs typeface="Arial" panose="020B0604020202020204" pitchFamily="34" charset="0"/>
              </a:rPr>
              <a:t>ONLY</a:t>
            </a:r>
            <a:r>
              <a:rPr lang="en-US" sz="2000" dirty="0">
                <a:solidFill>
                  <a:srgbClr val="4D5356"/>
                </a:solidFill>
                <a:latin typeface="Calibri" panose="020F0502020204030204"/>
                <a:cs typeface="Arial" panose="020B0604020202020204" pitchFamily="34" charset="0"/>
              </a:rPr>
              <a:t> </a:t>
            </a:r>
            <a:r>
              <a:rPr lang="en-US" sz="2000" b="1" dirty="0">
                <a:solidFill>
                  <a:srgbClr val="FF0000"/>
                </a:solidFill>
                <a:latin typeface="Calibri" panose="020F0502020204030204"/>
                <a:cs typeface="Arial" panose="020B0604020202020204" pitchFamily="34" charset="0"/>
              </a:rPr>
              <a:t>IF</a:t>
            </a:r>
            <a:r>
              <a:rPr lang="en-US" sz="2000" dirty="0">
                <a:solidFill>
                  <a:srgbClr val="4D5356"/>
                </a:solidFill>
                <a:latin typeface="Calibri" panose="020F0502020204030204"/>
                <a:cs typeface="Arial" panose="020B0604020202020204" pitchFamily="34" charset="0"/>
              </a:rPr>
              <a:t> your primary business model/ income-producing activity involves collecting dividends and interest (i.e. Banks).</a:t>
            </a:r>
            <a:endParaRPr kumimoji="0" lang="en-US" sz="2000" b="0" i="0" u="none" strike="noStrike" kern="1200" cap="none" spc="0" normalizeH="0" baseline="0" noProof="0" dirty="0">
              <a:ln>
                <a:noFill/>
              </a:ln>
              <a:solidFill>
                <a:srgbClr val="4D5356"/>
              </a:solidFill>
              <a:effectLst/>
              <a:uLnTx/>
              <a:uFillTx/>
              <a:latin typeface="Calibri" panose="020F0502020204030204"/>
              <a:cs typeface="Arial" panose="020B0604020202020204" pitchFamily="34" charset="0"/>
            </a:endParaRPr>
          </a:p>
          <a:p>
            <a:pPr marL="450850" marR="0" lvl="0" indent="-450850" algn="l" defTabSz="685800" rtl="0" eaLnBrk="1" fontAlgn="auto" latinLnBrk="0" hangingPunct="1">
              <a:lnSpc>
                <a:spcPct val="120000"/>
              </a:lnSpc>
              <a:spcBef>
                <a:spcPts val="1000"/>
              </a:spcBef>
              <a:spcAft>
                <a:spcPts val="0"/>
              </a:spcAft>
              <a:buClr>
                <a:srgbClr val="4D5356"/>
              </a:buClr>
              <a:buSzPct val="100000"/>
              <a:buFont typeface="Arial"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Primarily derived from principal revenue-producing activities (.14)</a:t>
            </a:r>
          </a:p>
          <a:p>
            <a:pPr marL="450850" marR="0" lvl="0" indent="-450850" algn="l" defTabSz="685800" rtl="0" eaLnBrk="1" fontAlgn="auto" latinLnBrk="0" hangingPunct="1">
              <a:lnSpc>
                <a:spcPct val="120000"/>
              </a:lnSpc>
              <a:spcBef>
                <a:spcPts val="1000"/>
              </a:spcBef>
              <a:spcAft>
                <a:spcPts val="0"/>
              </a:spcAft>
              <a:buClr>
                <a:srgbClr val="4D5356"/>
              </a:buClr>
              <a:buSzPct val="100000"/>
              <a:buFont typeface="Arial"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What if hold securities and loans for dealing or trading purposes? (.15)</a:t>
            </a:r>
            <a:endParaRPr kumimoji="0" lang="en-ZA" sz="1800" b="0" i="0" u="none" strike="noStrike" kern="1200" cap="none" spc="0" normalizeH="0" baseline="0" noProof="0" dirty="0">
              <a:ln>
                <a:noFill/>
              </a:ln>
              <a:solidFill>
                <a:srgbClr val="4D5356"/>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978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C06CDC2-1A2E-A5DB-BF40-D4ED60D5182C}"/>
              </a:ext>
            </a:extLst>
          </p:cNvPr>
          <p:cNvSpPr/>
          <p:nvPr/>
        </p:nvSpPr>
        <p:spPr>
          <a:xfrm>
            <a:off x="7424032" y="2054257"/>
            <a:ext cx="2846402" cy="1517281"/>
          </a:xfrm>
          <a:prstGeom prst="roundRect">
            <a:avLst/>
          </a:prstGeom>
          <a:solidFill>
            <a:srgbClr val="690069"/>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rPr>
              <a:t>+ certain items in SCI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rPr>
              <a:t>(main business to generate income)</a:t>
            </a:r>
            <a:endParaRPr kumimoji="0" lang="en-ZA"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graphicFrame>
        <p:nvGraphicFramePr>
          <p:cNvPr id="3" name="Table 2">
            <a:extLst>
              <a:ext uri="{FF2B5EF4-FFF2-40B4-BE49-F238E27FC236}">
                <a16:creationId xmlns:a16="http://schemas.microsoft.com/office/drawing/2014/main" id="{8C201E06-6E47-28F9-63F1-F11EB51B9296}"/>
              </a:ext>
            </a:extLst>
          </p:cNvPr>
          <p:cNvGraphicFramePr>
            <a:graphicFrameLocks noGrp="1"/>
          </p:cNvGraphicFramePr>
          <p:nvPr>
            <p:extLst>
              <p:ext uri="{D42A27DB-BD31-4B8C-83A1-F6EECF244321}">
                <p14:modId xmlns:p14="http://schemas.microsoft.com/office/powerpoint/2010/main" val="62230828"/>
              </p:ext>
            </p:extLst>
          </p:nvPr>
        </p:nvGraphicFramePr>
        <p:xfrm>
          <a:off x="214632" y="0"/>
          <a:ext cx="5408578" cy="6793162"/>
        </p:xfrm>
        <a:graphic>
          <a:graphicData uri="http://schemas.openxmlformats.org/drawingml/2006/table">
            <a:tbl>
              <a:tblPr firstRow="1" firstCol="1" bandRow="1"/>
              <a:tblGrid>
                <a:gridCol w="3765868">
                  <a:extLst>
                    <a:ext uri="{9D8B030D-6E8A-4147-A177-3AD203B41FA5}">
                      <a16:colId xmlns:a16="http://schemas.microsoft.com/office/drawing/2014/main" val="1139330800"/>
                    </a:ext>
                  </a:extLst>
                </a:gridCol>
                <a:gridCol w="684408">
                  <a:extLst>
                    <a:ext uri="{9D8B030D-6E8A-4147-A177-3AD203B41FA5}">
                      <a16:colId xmlns:a16="http://schemas.microsoft.com/office/drawing/2014/main" val="2847829414"/>
                    </a:ext>
                  </a:extLst>
                </a:gridCol>
                <a:gridCol w="958302">
                  <a:extLst>
                    <a:ext uri="{9D8B030D-6E8A-4147-A177-3AD203B41FA5}">
                      <a16:colId xmlns:a16="http://schemas.microsoft.com/office/drawing/2014/main" val="934096033"/>
                    </a:ext>
                  </a:extLst>
                </a:gridCol>
              </a:tblGrid>
              <a:tr h="322280">
                <a:tc gridSpan="3">
                  <a:txBody>
                    <a:bodyPr/>
                    <a:lstStyle/>
                    <a:p>
                      <a:r>
                        <a:rPr lang="en-ZA"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Stellenbosch Ltd.</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p>
                      <a:r>
                        <a:rPr lang="en-ZA"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Statement of financial position on 31 December 2022</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solidFill>
                  </a:tcPr>
                </a:tc>
                <a:tc hMerge="1">
                  <a:txBody>
                    <a:bodyPr/>
                    <a:lstStyle/>
                    <a:p>
                      <a:endParaRPr lang="en-ZA"/>
                    </a:p>
                  </a:txBody>
                  <a:tcPr/>
                </a:tc>
                <a:tc hMerge="1">
                  <a:txBody>
                    <a:bodyPr/>
                    <a:lstStyle/>
                    <a:p>
                      <a:endParaRPr lang="en-ZA"/>
                    </a:p>
                  </a:txBody>
                  <a:tcPr/>
                </a:tc>
                <a:extLst>
                  <a:ext uri="{0D108BD9-81ED-4DB2-BD59-A6C34878D82A}">
                    <a16:rowId xmlns:a16="http://schemas.microsoft.com/office/drawing/2014/main" val="621449988"/>
                  </a:ext>
                </a:extLst>
              </a:tr>
              <a:tr h="167854">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ctr"/>
                      <a:r>
                        <a:rPr lang="en-ZA"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2022</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86725734"/>
                  </a:ext>
                </a:extLst>
              </a:tr>
              <a:tr h="159461">
                <a:tc>
                  <a:txBody>
                    <a:bodyPr/>
                    <a:lstStyle/>
                    <a:p>
                      <a:r>
                        <a:rPr lang="en-ZA" sz="12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Assets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Note</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ctr"/>
                      <a:r>
                        <a:rPr lang="en-ZA"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348699351"/>
                  </a:ext>
                </a:extLst>
              </a:tr>
              <a:tr h="159461">
                <a:tc>
                  <a:txBody>
                    <a:bodyPr/>
                    <a:lstStyle/>
                    <a:p>
                      <a:r>
                        <a:rPr lang="en-ZA" sz="12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Non-current assets</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718134120"/>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Property, plant and equipment</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2186903800"/>
                  </a:ext>
                </a:extLst>
              </a:tr>
              <a:tr h="79767">
                <a:tc>
                  <a:txBody>
                    <a:bodyPr/>
                    <a:lstStyle/>
                    <a:p>
                      <a:r>
                        <a:rPr lang="en-ZA" sz="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Intangible assets</a:t>
                      </a:r>
                      <a:endParaRPr lang="en-ZA" sz="8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tx1">
                        <a:lumMod val="20000"/>
                        <a:lumOff val="80000"/>
                      </a:schemeClr>
                    </a:solidFill>
                  </a:tcPr>
                </a:tc>
                <a:tc>
                  <a:txBody>
                    <a:bodyPr/>
                    <a:lstStyle/>
                    <a:p>
                      <a:pPr algn="ctr"/>
                      <a:r>
                        <a:rPr lang="en-ZA" sz="800">
                          <a:solidFill>
                            <a:srgbClr val="000000"/>
                          </a:solidFill>
                          <a:effectLst/>
                          <a:latin typeface="Arial" panose="020B0604020202020204" pitchFamily="34" charset="0"/>
                          <a:ea typeface="Times New Roman" panose="02020603050405020304" pitchFamily="18" charset="0"/>
                          <a:cs typeface="Arial" panose="020B0604020202020204" pitchFamily="34" charset="0"/>
                        </a:rPr>
                        <a:t>3</a:t>
                      </a:r>
                      <a:endParaRPr lang="en-ZA" sz="8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tx1">
                        <a:lumMod val="20000"/>
                        <a:lumOff val="80000"/>
                      </a:schemeClr>
                    </a:solidFill>
                  </a:tcPr>
                </a:tc>
                <a:tc>
                  <a:txBody>
                    <a:bodyPr/>
                    <a:lstStyle/>
                    <a:p>
                      <a:pPr algn="r"/>
                      <a:endParaRPr lang="en-ZA" sz="8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tx1">
                        <a:lumMod val="20000"/>
                        <a:lumOff val="80000"/>
                      </a:schemeClr>
                    </a:solidFill>
                  </a:tcPr>
                </a:tc>
                <a:extLst>
                  <a:ext uri="{0D108BD9-81ED-4DB2-BD59-A6C34878D82A}">
                    <a16:rowId xmlns:a16="http://schemas.microsoft.com/office/drawing/2014/main" val="3124772007"/>
                  </a:ext>
                </a:extLst>
              </a:tr>
              <a:tr h="84306">
                <a:tc>
                  <a:txBody>
                    <a:bodyPr/>
                    <a:lstStyle/>
                    <a:p>
                      <a:r>
                        <a:rPr lang="en-ZA" sz="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Investment property</a:t>
                      </a:r>
                      <a:endParaRPr lang="en-ZA" sz="8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tx1">
                        <a:lumMod val="20000"/>
                        <a:lumOff val="80000"/>
                      </a:schemeClr>
                    </a:solidFill>
                  </a:tcPr>
                </a:tc>
                <a:tc>
                  <a:txBody>
                    <a:bodyPr/>
                    <a:lstStyle/>
                    <a:p>
                      <a:pPr algn="ctr"/>
                      <a:r>
                        <a:rPr lang="en-ZA" sz="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a:t>
                      </a:r>
                      <a:endParaRPr lang="en-ZA" sz="8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tx1">
                        <a:lumMod val="20000"/>
                        <a:lumOff val="80000"/>
                      </a:schemeClr>
                    </a:solidFill>
                  </a:tcPr>
                </a:tc>
                <a:tc>
                  <a:txBody>
                    <a:bodyPr/>
                    <a:lstStyle/>
                    <a:p>
                      <a:pPr algn="r"/>
                      <a:endParaRPr lang="en-ZA" sz="8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tx1">
                        <a:lumMod val="20000"/>
                        <a:lumOff val="80000"/>
                      </a:schemeClr>
                    </a:solidFill>
                  </a:tcPr>
                </a:tc>
                <a:extLst>
                  <a:ext uri="{0D108BD9-81ED-4DB2-BD59-A6C34878D82A}">
                    <a16:rowId xmlns:a16="http://schemas.microsoft.com/office/drawing/2014/main" val="1794926330"/>
                  </a:ext>
                </a:extLst>
              </a:tr>
              <a:tr h="159461">
                <a:tc>
                  <a:txBody>
                    <a:bodyPr/>
                    <a:lstStyle/>
                    <a:p>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Investments in subsidiaries</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5</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695659052"/>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Loan to subsidiary</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6</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864210670"/>
                  </a:ext>
                </a:extLst>
              </a:tr>
              <a:tr h="159461">
                <a:tc>
                  <a:txBody>
                    <a:bodyPr/>
                    <a:lstStyle/>
                    <a:p>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Financial assets at fair value through profit or loss</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7</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280976"/>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474338764"/>
                  </a:ext>
                </a:extLst>
              </a:tr>
              <a:tr h="167854">
                <a:tc>
                  <a:txBody>
                    <a:bodyPr/>
                    <a:lstStyle/>
                    <a:p>
                      <a:r>
                        <a:rPr lang="en-ZA" sz="1200"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Current assets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51958355"/>
                  </a:ext>
                </a:extLst>
              </a:tr>
              <a:tr h="159461">
                <a:tc>
                  <a:txBody>
                    <a:bodyPr/>
                    <a:lstStyle/>
                    <a:p>
                      <a:r>
                        <a:rPr lang="en-ZA" sz="1200" dirty="0">
                          <a:solidFill>
                            <a:srgbClr val="000000"/>
                          </a:solidFill>
                          <a:effectLst/>
                          <a:highlight>
                            <a:srgbClr val="FF00FF"/>
                          </a:highlight>
                          <a:latin typeface="Arial" panose="020B0604020202020204" pitchFamily="34" charset="0"/>
                          <a:ea typeface="Times New Roman" panose="02020603050405020304" pitchFamily="18" charset="0"/>
                          <a:cs typeface="Arial" panose="020B0604020202020204" pitchFamily="34" charset="0"/>
                        </a:rPr>
                        <a:t>Inventories</a:t>
                      </a:r>
                      <a:endParaRPr lang="en-ZA" sz="1200" dirty="0">
                        <a:effectLst/>
                        <a:highlight>
                          <a:srgbClr val="FF00FF"/>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8</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613205055"/>
                  </a:ext>
                </a:extLst>
              </a:tr>
              <a:tr h="159461">
                <a:tc>
                  <a:txBody>
                    <a:bodyPr/>
                    <a:lstStyle/>
                    <a:p>
                      <a:r>
                        <a:rPr lang="en-ZA" sz="1200" dirty="0">
                          <a:solidFill>
                            <a:srgbClr val="000000"/>
                          </a:solidFill>
                          <a:effectLst/>
                          <a:highlight>
                            <a:srgbClr val="FF00FF"/>
                          </a:highlight>
                          <a:latin typeface="Arial" panose="020B0604020202020204" pitchFamily="34" charset="0"/>
                          <a:ea typeface="Times New Roman" panose="02020603050405020304" pitchFamily="18" charset="0"/>
                          <a:cs typeface="Arial" panose="020B0604020202020204" pitchFamily="34" charset="0"/>
                        </a:rPr>
                        <a:t>Trade and other receivables</a:t>
                      </a:r>
                      <a:endParaRPr lang="en-ZA" sz="1200" dirty="0">
                        <a:effectLst/>
                        <a:highlight>
                          <a:srgbClr val="FF00FF"/>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678472430"/>
                  </a:ext>
                </a:extLst>
              </a:tr>
              <a:tr h="159461">
                <a:tc>
                  <a:txBody>
                    <a:bodyPr/>
                    <a:lstStyle/>
                    <a:p>
                      <a:r>
                        <a:rPr lang="en-ZA" sz="1200" dirty="0">
                          <a:solidFill>
                            <a:srgbClr val="000000"/>
                          </a:solidFill>
                          <a:effectLst/>
                          <a:highlight>
                            <a:srgbClr val="FFFF00"/>
                          </a:highlight>
                          <a:latin typeface="Arial" panose="020B0604020202020204" pitchFamily="34" charset="0"/>
                          <a:ea typeface="Times New Roman" panose="02020603050405020304" pitchFamily="18" charset="0"/>
                          <a:cs typeface="Arial" panose="020B0604020202020204" pitchFamily="34" charset="0"/>
                        </a:rPr>
                        <a:t>Cash and cash equivalents</a:t>
                      </a:r>
                      <a:endParaRPr lang="en-ZA" sz="1200" dirty="0">
                        <a:effectLst/>
                        <a:highlight>
                          <a:srgbClr val="FFFF00"/>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823176837"/>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01044578"/>
                  </a:ext>
                </a:extLst>
              </a:tr>
              <a:tr h="184640">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Total assets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67467193"/>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28575" cap="flat" cmpd="dbl"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2926878640"/>
                  </a:ext>
                </a:extLst>
              </a:tr>
              <a:tr h="167854">
                <a:tc>
                  <a:txBody>
                    <a:bodyPr/>
                    <a:lstStyle/>
                    <a:p>
                      <a:r>
                        <a:rPr lang="en-ZA"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Equity and liabilities</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12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4287010623"/>
                  </a:ext>
                </a:extLst>
              </a:tr>
              <a:tr h="159461">
                <a:tc>
                  <a:txBody>
                    <a:bodyPr/>
                    <a:lstStyle/>
                    <a:p>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Share capital</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11</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741262696"/>
                  </a:ext>
                </a:extLst>
              </a:tr>
              <a:tr h="159461">
                <a:tc>
                  <a:txBody>
                    <a:bodyPr/>
                    <a:lstStyle/>
                    <a:p>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Retained earnings</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dirty="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581746211"/>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Other components of equity</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12</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318446564"/>
                  </a:ext>
                </a:extLst>
              </a:tr>
              <a:tr h="44471">
                <a:tc>
                  <a:txBody>
                    <a:bodyPr/>
                    <a:lstStyle/>
                    <a:p>
                      <a:endParaRPr lang="en-ZA" sz="6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6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6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347147095"/>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Total equity</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46655629"/>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718535471"/>
                  </a:ext>
                </a:extLst>
              </a:tr>
              <a:tr h="167854">
                <a:tc>
                  <a:txBody>
                    <a:bodyPr/>
                    <a:lstStyle/>
                    <a:p>
                      <a:r>
                        <a:rPr lang="en-ZA" sz="1200"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Non-current liabilities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66871406"/>
                  </a:ext>
                </a:extLst>
              </a:tr>
              <a:tr h="159461">
                <a:tc>
                  <a:txBody>
                    <a:bodyPr/>
                    <a:lstStyle/>
                    <a:p>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Borrowings</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13</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2968933442"/>
                  </a:ext>
                </a:extLst>
              </a:tr>
              <a:tr h="159461">
                <a:tc>
                  <a:txBody>
                    <a:bodyPr/>
                    <a:lstStyle/>
                    <a:p>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Debentures</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14</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778909472"/>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Provisions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15</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26797918"/>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036952909"/>
                  </a:ext>
                </a:extLst>
              </a:tr>
              <a:tr h="167854">
                <a:tc>
                  <a:txBody>
                    <a:bodyPr/>
                    <a:lstStyle/>
                    <a:p>
                      <a:r>
                        <a:rPr lang="en-ZA" sz="1200"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Current liabilities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10545734"/>
                  </a:ext>
                </a:extLst>
              </a:tr>
              <a:tr h="159461">
                <a:tc>
                  <a:txBody>
                    <a:bodyPr/>
                    <a:lstStyle/>
                    <a:p>
                      <a:r>
                        <a:rPr lang="en-ZA" sz="1200" dirty="0">
                          <a:solidFill>
                            <a:srgbClr val="000000"/>
                          </a:solidFill>
                          <a:effectLst/>
                          <a:highlight>
                            <a:srgbClr val="FF00FF"/>
                          </a:highlight>
                          <a:latin typeface="Arial" panose="020B0604020202020204" pitchFamily="34" charset="0"/>
                          <a:ea typeface="Times New Roman" panose="02020603050405020304" pitchFamily="18" charset="0"/>
                          <a:cs typeface="Arial" panose="020B0604020202020204" pitchFamily="34" charset="0"/>
                        </a:rPr>
                        <a:t>Trade and other payables</a:t>
                      </a:r>
                      <a:endParaRPr lang="en-ZA" sz="1200" dirty="0">
                        <a:effectLst/>
                        <a:highlight>
                          <a:srgbClr val="FF00FF"/>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16</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379800892"/>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Borrowings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13</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98255405"/>
                  </a:ext>
                </a:extLst>
              </a:tr>
              <a:tr h="159461">
                <a:tc>
                  <a:txBody>
                    <a:bodyPr/>
                    <a:lstStyle/>
                    <a:p>
                      <a:r>
                        <a:rPr lang="en-ZA" sz="1200" dirty="0">
                          <a:solidFill>
                            <a:srgbClr val="000000"/>
                          </a:solidFill>
                          <a:effectLst/>
                          <a:highlight>
                            <a:srgbClr val="FF00FF"/>
                          </a:highlight>
                          <a:latin typeface="Arial" panose="020B0604020202020204" pitchFamily="34" charset="0"/>
                          <a:ea typeface="Times New Roman" panose="02020603050405020304" pitchFamily="18" charset="0"/>
                          <a:cs typeface="Arial" panose="020B0604020202020204" pitchFamily="34" charset="0"/>
                        </a:rPr>
                        <a:t>Income tax payable*</a:t>
                      </a:r>
                      <a:endParaRPr lang="en-ZA" sz="1200" dirty="0">
                        <a:effectLst/>
                        <a:highlight>
                          <a:srgbClr val="FF00FF"/>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3648550348"/>
                  </a:ext>
                </a:extLst>
              </a:tr>
              <a:tr h="202520">
                <a:tc>
                  <a:txBody>
                    <a:bodyPr/>
                    <a:lstStyle/>
                    <a:p>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Dividends payable</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63996506"/>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25155218"/>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Total liabilities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94307309"/>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90494631"/>
                  </a:ext>
                </a:extLst>
              </a:tr>
              <a:tr h="167854">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Total equity and liabilities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4282940"/>
                  </a:ext>
                </a:extLst>
              </a:tr>
            </a:tbl>
          </a:graphicData>
        </a:graphic>
      </p:graphicFrame>
      <p:sp>
        <p:nvSpPr>
          <p:cNvPr id="10" name="TextBox 9">
            <a:extLst>
              <a:ext uri="{FF2B5EF4-FFF2-40B4-BE49-F238E27FC236}">
                <a16:creationId xmlns:a16="http://schemas.microsoft.com/office/drawing/2014/main" id="{5438DB4A-5D00-83D7-7F2C-A15134BB02A9}"/>
              </a:ext>
            </a:extLst>
          </p:cNvPr>
          <p:cNvSpPr txBox="1"/>
          <p:nvPr/>
        </p:nvSpPr>
        <p:spPr>
          <a:xfrm>
            <a:off x="5510606" y="64838"/>
            <a:ext cx="6094206"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61223B"/>
                </a:solidFill>
                <a:effectLst/>
                <a:uLnTx/>
                <a:uFillTx/>
                <a:latin typeface="Trebuchet MS" panose="020B0603020202020204" pitchFamily="34" charset="0"/>
                <a:ea typeface="+mn-ea"/>
                <a:cs typeface="Arial" panose="020B0604020202020204" pitchFamily="34" charset="0"/>
              </a:rPr>
              <a:t>Operating activities </a:t>
            </a:r>
            <a:endParaRPr kumimoji="0" lang="en-ZA" sz="1800" b="0" i="0" u="none" strike="noStrike" kern="1200" cap="none" spc="0" normalizeH="0" baseline="0" noProof="0" dirty="0">
              <a:ln>
                <a:noFill/>
              </a:ln>
              <a:solidFill>
                <a:srgbClr val="4D5356"/>
              </a:solidFill>
              <a:effectLst/>
              <a:uLnTx/>
              <a:uFillTx/>
              <a:latin typeface="Trebuchet MS" panose="020B0603020202020204" pitchFamily="34" charset="0"/>
              <a:ea typeface="+mn-ea"/>
              <a:cs typeface="+mn-cs"/>
            </a:endParaRPr>
          </a:p>
        </p:txBody>
      </p:sp>
      <p:sp>
        <p:nvSpPr>
          <p:cNvPr id="4" name="Rectangle: Rounded Corners 3">
            <a:extLst>
              <a:ext uri="{FF2B5EF4-FFF2-40B4-BE49-F238E27FC236}">
                <a16:creationId xmlns:a16="http://schemas.microsoft.com/office/drawing/2014/main" id="{6B6885BF-6E78-51D8-7643-607C72E4EF79}"/>
              </a:ext>
            </a:extLst>
          </p:cNvPr>
          <p:cNvSpPr/>
          <p:nvPr/>
        </p:nvSpPr>
        <p:spPr>
          <a:xfrm>
            <a:off x="7424032" y="3714445"/>
            <a:ext cx="2846402" cy="1517281"/>
          </a:xfrm>
          <a:prstGeom prst="roundRect">
            <a:avLst/>
          </a:prstGeom>
          <a:solidFill>
            <a:srgbClr val="690069"/>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FFFFFF"/>
                </a:solidFill>
                <a:latin typeface="Calibri" panose="020F0502020204030204"/>
                <a:cs typeface="Arial" panose="020B0604020202020204" pitchFamily="34" charset="0"/>
              </a:rPr>
              <a:t>*If a part of the tax can be directly attributed to an asset or a financing activity, then the tax needs to be classified as an investing or financing activity as appropriate</a:t>
            </a:r>
            <a:endParaRPr kumimoji="0" lang="en-ZA" sz="1400" b="0" i="0" u="none" strike="noStrike" kern="1200" cap="none" spc="0" normalizeH="0" baseline="0" noProof="0" dirty="0">
              <a:ln>
                <a:noFill/>
              </a:ln>
              <a:solidFill>
                <a:srgbClr val="FFFFFF"/>
              </a:solidFill>
              <a:effectLst/>
              <a:uLnTx/>
              <a:uFillTx/>
              <a:latin typeface="Calibri" panose="020F0502020204030204"/>
              <a:cs typeface="Arial" panose="020B0604020202020204" pitchFamily="34" charset="0"/>
            </a:endParaRPr>
          </a:p>
        </p:txBody>
      </p:sp>
    </p:spTree>
    <p:extLst>
      <p:ext uri="{BB962C8B-B14F-4D97-AF65-F5344CB8AC3E}">
        <p14:creationId xmlns:p14="http://schemas.microsoft.com/office/powerpoint/2010/main" val="3557855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lstStyle/>
          <a:p>
            <a:r>
              <a:rPr lang="en-US" dirty="0">
                <a:latin typeface="Trebuchet MS" panose="020B0603020202020204" pitchFamily="34" charset="0"/>
              </a:rPr>
              <a:t>IAS 7 Statement of cash flows</a:t>
            </a:r>
            <a:br>
              <a:rPr lang="en-US" dirty="0">
                <a:latin typeface="Trebuchet MS" panose="020B0603020202020204" pitchFamily="34" charset="0"/>
              </a:rPr>
            </a:br>
            <a:r>
              <a:rPr lang="en-US" dirty="0">
                <a:latin typeface="Trebuchet MS" panose="020B0603020202020204" pitchFamily="34" charset="0"/>
                <a:cs typeface="Arial" panose="020B0604020202020204" pitchFamily="34" charset="0"/>
              </a:rPr>
              <a:t>Investing activities (.16)</a:t>
            </a:r>
            <a:endParaRPr lang="en-GB" dirty="0">
              <a:latin typeface="Trebuchet MS" panose="020B0603020202020204" pitchFamily="34" charset="0"/>
            </a:endParaRPr>
          </a:p>
        </p:txBody>
      </p:sp>
      <p:sp>
        <p:nvSpPr>
          <p:cNvPr id="2" name="Oval 1">
            <a:extLst>
              <a:ext uri="{FF2B5EF4-FFF2-40B4-BE49-F238E27FC236}">
                <a16:creationId xmlns:a16="http://schemas.microsoft.com/office/drawing/2014/main" id="{6518634B-DDA3-DE2E-A4F8-DAEB425D676D}"/>
              </a:ext>
            </a:extLst>
          </p:cNvPr>
          <p:cNvSpPr/>
          <p:nvPr/>
        </p:nvSpPr>
        <p:spPr>
          <a:xfrm>
            <a:off x="10499465" y="6400800"/>
            <a:ext cx="1387736" cy="375385"/>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rPr>
              <a:t>Slide 12</a:t>
            </a:r>
            <a:endParaRPr kumimoji="0" lang="en-ZA"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8536B8D2-C72D-C798-D0D4-EEFB705D32DB}"/>
              </a:ext>
            </a:extLst>
          </p:cNvPr>
          <p:cNvSpPr txBox="1"/>
          <p:nvPr/>
        </p:nvSpPr>
        <p:spPr>
          <a:xfrm>
            <a:off x="518668" y="1787930"/>
            <a:ext cx="7810052" cy="2862322"/>
          </a:xfrm>
          <a:prstGeom prst="rect">
            <a:avLst/>
          </a:prstGeom>
          <a:noFill/>
        </p:spPr>
        <p:txBody>
          <a:bodyPr wrap="square">
            <a:spAutoFit/>
          </a:bodyPr>
          <a:lstStyle/>
          <a:p>
            <a:pPr marL="450850" marR="0" lvl="0" indent="-450850" algn="l" defTabSz="914400" rtl="0" eaLnBrk="1" fontAlgn="auto" latinLnBrk="0" hangingPunct="1">
              <a:lnSpc>
                <a:spcPct val="100000"/>
              </a:lnSpc>
              <a:spcBef>
                <a:spcPts val="0"/>
              </a:spcBef>
              <a:spcAft>
                <a:spcPts val="0"/>
              </a:spcAft>
              <a:buClrTx/>
              <a:buSzTx/>
              <a:buFont typeface="Arial"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Indicator of extent to which expenditures have been made for resources intended to generate future income and cash flows.</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Payments to acquire / proceeds from disposal of:</a:t>
            </a:r>
          </a:p>
          <a:p>
            <a:pPr marL="1257300" marR="0" lvl="2" indent="-3429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PPE, intangibles and other long-term assets</a:t>
            </a:r>
          </a:p>
          <a:p>
            <a:pPr marL="1257300" marR="0" lvl="2" indent="-3429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Equity or debt instruments in other entities</a:t>
            </a:r>
          </a:p>
          <a:p>
            <a:pPr marL="1257300" marR="0" lvl="2" indent="-3429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Loans receivable and advances, etc.</a:t>
            </a:r>
          </a:p>
          <a:p>
            <a:pPr marL="1257300" marR="0" lvl="2" indent="-3429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Ignore .16(g) and (h) for FA178</a:t>
            </a:r>
          </a:p>
          <a:p>
            <a:pPr marL="450850" marR="0" lvl="0" indent="-450850" algn="l" defTabSz="914400" rtl="0" eaLnBrk="1" fontAlgn="auto" latinLnBrk="0" hangingPunct="1">
              <a:lnSpc>
                <a:spcPct val="100000"/>
              </a:lnSpc>
              <a:spcBef>
                <a:spcPts val="0"/>
              </a:spcBef>
              <a:spcAft>
                <a:spcPts val="0"/>
              </a:spcAft>
              <a:buClrTx/>
              <a:buSzTx/>
              <a:buFont typeface="Arial"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In other words, only if an ASSET was recognised in SFP</a:t>
            </a:r>
          </a:p>
          <a:p>
            <a:pPr marL="450850" marR="0" lvl="0" indent="-450850" algn="l" defTabSz="914400" rtl="0" eaLnBrk="1" fontAlgn="auto" latinLnBrk="0" hangingPunct="1">
              <a:lnSpc>
                <a:spcPct val="100000"/>
              </a:lnSpc>
              <a:spcBef>
                <a:spcPts val="0"/>
              </a:spcBef>
              <a:spcAft>
                <a:spcPts val="0"/>
              </a:spcAft>
              <a:buClrTx/>
              <a:buSzTx/>
              <a:buFont typeface="Arial" charset="0"/>
              <a:buChar char="►"/>
              <a:tabLst/>
              <a:defRPr/>
            </a:pPr>
            <a:r>
              <a:rPr lang="en-US" sz="2000" dirty="0">
                <a:solidFill>
                  <a:srgbClr val="4D5356"/>
                </a:solidFill>
                <a:latin typeface="Calibri" panose="020F0502020204030204"/>
                <a:cs typeface="Arial" panose="020B0604020202020204" pitchFamily="34" charset="0"/>
              </a:rPr>
              <a:t>Cash receipts of interest and dividends (IFRS 18)</a:t>
            </a:r>
            <a:endParaRPr kumimoji="0" lang="en-US" sz="2000" b="0" i="0" u="none" strike="noStrike" kern="1200" cap="none" spc="0" normalizeH="0" baseline="0" noProof="0" dirty="0">
              <a:ln>
                <a:noFill/>
              </a:ln>
              <a:solidFill>
                <a:srgbClr val="4D5356"/>
              </a:solidFill>
              <a:effectLst/>
              <a:uLnTx/>
              <a:uFillTx/>
              <a:latin typeface="Calibri" panose="020F0502020204030204"/>
              <a:cs typeface="Arial" panose="020B0604020202020204" pitchFamily="34" charset="0"/>
            </a:endParaRPr>
          </a:p>
        </p:txBody>
      </p:sp>
    </p:spTree>
    <p:extLst>
      <p:ext uri="{BB962C8B-B14F-4D97-AF65-F5344CB8AC3E}">
        <p14:creationId xmlns:p14="http://schemas.microsoft.com/office/powerpoint/2010/main" val="1726469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D1DE1-297C-31A0-C867-1A31EF2B70A1}"/>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3AB97C2-9A18-8007-7BC4-A57EAAD02FB7}"/>
              </a:ext>
            </a:extLst>
          </p:cNvPr>
          <p:cNvSpPr/>
          <p:nvPr/>
        </p:nvSpPr>
        <p:spPr>
          <a:xfrm>
            <a:off x="7424032" y="2054257"/>
            <a:ext cx="2846402" cy="1517281"/>
          </a:xfrm>
          <a:prstGeom prst="roundRect">
            <a:avLst/>
          </a:prstGeom>
          <a:solidFill>
            <a:srgbClr val="690069"/>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rPr>
              <a:t>+ certain items in SCI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rPr>
              <a:t>(main business to generate income)</a:t>
            </a:r>
            <a:endParaRPr kumimoji="0" lang="en-ZA"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graphicFrame>
        <p:nvGraphicFramePr>
          <p:cNvPr id="3" name="Table 2">
            <a:extLst>
              <a:ext uri="{FF2B5EF4-FFF2-40B4-BE49-F238E27FC236}">
                <a16:creationId xmlns:a16="http://schemas.microsoft.com/office/drawing/2014/main" id="{C3D68948-B8BA-93AD-997D-437965D10276}"/>
              </a:ext>
            </a:extLst>
          </p:cNvPr>
          <p:cNvGraphicFramePr>
            <a:graphicFrameLocks noGrp="1"/>
          </p:cNvGraphicFramePr>
          <p:nvPr>
            <p:extLst>
              <p:ext uri="{D42A27DB-BD31-4B8C-83A1-F6EECF244321}">
                <p14:modId xmlns:p14="http://schemas.microsoft.com/office/powerpoint/2010/main" val="2467828167"/>
              </p:ext>
            </p:extLst>
          </p:nvPr>
        </p:nvGraphicFramePr>
        <p:xfrm>
          <a:off x="214632" y="0"/>
          <a:ext cx="5408578" cy="6793162"/>
        </p:xfrm>
        <a:graphic>
          <a:graphicData uri="http://schemas.openxmlformats.org/drawingml/2006/table">
            <a:tbl>
              <a:tblPr firstRow="1" firstCol="1" bandRow="1"/>
              <a:tblGrid>
                <a:gridCol w="3765868">
                  <a:extLst>
                    <a:ext uri="{9D8B030D-6E8A-4147-A177-3AD203B41FA5}">
                      <a16:colId xmlns:a16="http://schemas.microsoft.com/office/drawing/2014/main" val="1139330800"/>
                    </a:ext>
                  </a:extLst>
                </a:gridCol>
                <a:gridCol w="684408">
                  <a:extLst>
                    <a:ext uri="{9D8B030D-6E8A-4147-A177-3AD203B41FA5}">
                      <a16:colId xmlns:a16="http://schemas.microsoft.com/office/drawing/2014/main" val="2847829414"/>
                    </a:ext>
                  </a:extLst>
                </a:gridCol>
                <a:gridCol w="958302">
                  <a:extLst>
                    <a:ext uri="{9D8B030D-6E8A-4147-A177-3AD203B41FA5}">
                      <a16:colId xmlns:a16="http://schemas.microsoft.com/office/drawing/2014/main" val="934096033"/>
                    </a:ext>
                  </a:extLst>
                </a:gridCol>
              </a:tblGrid>
              <a:tr h="322280">
                <a:tc gridSpan="3">
                  <a:txBody>
                    <a:bodyPr/>
                    <a:lstStyle/>
                    <a:p>
                      <a:r>
                        <a:rPr lang="en-ZA"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Stellenbosch Ltd.</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p>
                      <a:r>
                        <a:rPr lang="en-ZA"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Statement of financial position on 31 December 2022</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solidFill>
                  </a:tcPr>
                </a:tc>
                <a:tc hMerge="1">
                  <a:txBody>
                    <a:bodyPr/>
                    <a:lstStyle/>
                    <a:p>
                      <a:endParaRPr lang="en-ZA"/>
                    </a:p>
                  </a:txBody>
                  <a:tcPr/>
                </a:tc>
                <a:tc hMerge="1">
                  <a:txBody>
                    <a:bodyPr/>
                    <a:lstStyle/>
                    <a:p>
                      <a:endParaRPr lang="en-ZA"/>
                    </a:p>
                  </a:txBody>
                  <a:tcPr/>
                </a:tc>
                <a:extLst>
                  <a:ext uri="{0D108BD9-81ED-4DB2-BD59-A6C34878D82A}">
                    <a16:rowId xmlns:a16="http://schemas.microsoft.com/office/drawing/2014/main" val="621449988"/>
                  </a:ext>
                </a:extLst>
              </a:tr>
              <a:tr h="167854">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ctr"/>
                      <a:r>
                        <a:rPr lang="en-ZA"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2022</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86725734"/>
                  </a:ext>
                </a:extLst>
              </a:tr>
              <a:tr h="159461">
                <a:tc>
                  <a:txBody>
                    <a:bodyPr/>
                    <a:lstStyle/>
                    <a:p>
                      <a:r>
                        <a:rPr lang="en-ZA" sz="12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Assets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Note</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ctr"/>
                      <a:r>
                        <a:rPr lang="en-ZA"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348699351"/>
                  </a:ext>
                </a:extLst>
              </a:tr>
              <a:tr h="159461">
                <a:tc>
                  <a:txBody>
                    <a:bodyPr/>
                    <a:lstStyle/>
                    <a:p>
                      <a:r>
                        <a:rPr lang="en-ZA" sz="12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Non-current assets</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718134120"/>
                  </a:ext>
                </a:extLst>
              </a:tr>
              <a:tr h="159461">
                <a:tc>
                  <a:txBody>
                    <a:bodyPr/>
                    <a:lstStyle/>
                    <a:p>
                      <a:r>
                        <a:rPr lang="en-ZA" sz="1200" dirty="0">
                          <a:solidFill>
                            <a:srgbClr val="000000"/>
                          </a:solidFill>
                          <a:effectLst/>
                          <a:highlight>
                            <a:srgbClr val="00FF00"/>
                          </a:highlight>
                          <a:latin typeface="Arial" panose="020B0604020202020204" pitchFamily="34" charset="0"/>
                          <a:ea typeface="Times New Roman" panose="02020603050405020304" pitchFamily="18" charset="0"/>
                          <a:cs typeface="Arial" panose="020B0604020202020204" pitchFamily="34" charset="0"/>
                        </a:rPr>
                        <a:t>Property, plant and equipment</a:t>
                      </a:r>
                      <a:endParaRPr lang="en-ZA" sz="1200" dirty="0">
                        <a:effectLst/>
                        <a:highlight>
                          <a:srgbClr val="00FF00"/>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2186903800"/>
                  </a:ext>
                </a:extLst>
              </a:tr>
              <a:tr h="79767">
                <a:tc>
                  <a:txBody>
                    <a:bodyPr/>
                    <a:lstStyle/>
                    <a:p>
                      <a:r>
                        <a:rPr lang="en-ZA" sz="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Intangible assets</a:t>
                      </a:r>
                      <a:endParaRPr lang="en-ZA" sz="8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tx1">
                        <a:lumMod val="20000"/>
                        <a:lumOff val="80000"/>
                      </a:schemeClr>
                    </a:solidFill>
                  </a:tcPr>
                </a:tc>
                <a:tc>
                  <a:txBody>
                    <a:bodyPr/>
                    <a:lstStyle/>
                    <a:p>
                      <a:pPr algn="ctr"/>
                      <a:r>
                        <a:rPr lang="en-ZA" sz="800">
                          <a:solidFill>
                            <a:srgbClr val="000000"/>
                          </a:solidFill>
                          <a:effectLst/>
                          <a:latin typeface="Arial" panose="020B0604020202020204" pitchFamily="34" charset="0"/>
                          <a:ea typeface="Times New Roman" panose="02020603050405020304" pitchFamily="18" charset="0"/>
                          <a:cs typeface="Arial" panose="020B0604020202020204" pitchFamily="34" charset="0"/>
                        </a:rPr>
                        <a:t>3</a:t>
                      </a:r>
                      <a:endParaRPr lang="en-ZA" sz="8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tx1">
                        <a:lumMod val="20000"/>
                        <a:lumOff val="80000"/>
                      </a:schemeClr>
                    </a:solidFill>
                  </a:tcPr>
                </a:tc>
                <a:tc>
                  <a:txBody>
                    <a:bodyPr/>
                    <a:lstStyle/>
                    <a:p>
                      <a:pPr algn="r"/>
                      <a:endParaRPr lang="en-ZA" sz="8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tx1">
                        <a:lumMod val="20000"/>
                        <a:lumOff val="80000"/>
                      </a:schemeClr>
                    </a:solidFill>
                  </a:tcPr>
                </a:tc>
                <a:extLst>
                  <a:ext uri="{0D108BD9-81ED-4DB2-BD59-A6C34878D82A}">
                    <a16:rowId xmlns:a16="http://schemas.microsoft.com/office/drawing/2014/main" val="3124772007"/>
                  </a:ext>
                </a:extLst>
              </a:tr>
              <a:tr h="84306">
                <a:tc>
                  <a:txBody>
                    <a:bodyPr/>
                    <a:lstStyle/>
                    <a:p>
                      <a:r>
                        <a:rPr lang="en-ZA" sz="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Investment property</a:t>
                      </a:r>
                      <a:endParaRPr lang="en-ZA" sz="8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tx1">
                        <a:lumMod val="20000"/>
                        <a:lumOff val="80000"/>
                      </a:schemeClr>
                    </a:solidFill>
                  </a:tcPr>
                </a:tc>
                <a:tc>
                  <a:txBody>
                    <a:bodyPr/>
                    <a:lstStyle/>
                    <a:p>
                      <a:pPr algn="ctr"/>
                      <a:r>
                        <a:rPr lang="en-ZA" sz="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a:t>
                      </a:r>
                      <a:endParaRPr lang="en-ZA" sz="8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tx1">
                        <a:lumMod val="20000"/>
                        <a:lumOff val="80000"/>
                      </a:schemeClr>
                    </a:solidFill>
                  </a:tcPr>
                </a:tc>
                <a:tc>
                  <a:txBody>
                    <a:bodyPr/>
                    <a:lstStyle/>
                    <a:p>
                      <a:pPr algn="r"/>
                      <a:endParaRPr lang="en-ZA" sz="8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tx1">
                        <a:lumMod val="20000"/>
                        <a:lumOff val="80000"/>
                      </a:schemeClr>
                    </a:solidFill>
                  </a:tcPr>
                </a:tc>
                <a:extLst>
                  <a:ext uri="{0D108BD9-81ED-4DB2-BD59-A6C34878D82A}">
                    <a16:rowId xmlns:a16="http://schemas.microsoft.com/office/drawing/2014/main" val="1794926330"/>
                  </a:ext>
                </a:extLst>
              </a:tr>
              <a:tr h="159461">
                <a:tc>
                  <a:txBody>
                    <a:bodyPr/>
                    <a:lstStyle/>
                    <a:p>
                      <a:r>
                        <a:rPr lang="en-ZA" sz="1200" dirty="0">
                          <a:solidFill>
                            <a:srgbClr val="000000"/>
                          </a:solidFill>
                          <a:effectLst/>
                          <a:highlight>
                            <a:srgbClr val="00FF00"/>
                          </a:highlight>
                          <a:latin typeface="Arial" panose="020B0604020202020204" pitchFamily="34" charset="0"/>
                          <a:ea typeface="Times New Roman" panose="02020603050405020304" pitchFamily="18" charset="0"/>
                          <a:cs typeface="Arial" panose="020B0604020202020204" pitchFamily="34" charset="0"/>
                        </a:rPr>
                        <a:t>Investments in subsidiaries</a:t>
                      </a:r>
                      <a:endParaRPr lang="en-ZA" sz="1200" dirty="0">
                        <a:effectLst/>
                        <a:highlight>
                          <a:srgbClr val="00FF00"/>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5</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695659052"/>
                  </a:ext>
                </a:extLst>
              </a:tr>
              <a:tr h="159461">
                <a:tc>
                  <a:txBody>
                    <a:bodyPr/>
                    <a:lstStyle/>
                    <a:p>
                      <a:r>
                        <a:rPr lang="en-ZA" sz="1200" dirty="0">
                          <a:solidFill>
                            <a:srgbClr val="000000"/>
                          </a:solidFill>
                          <a:effectLst/>
                          <a:highlight>
                            <a:srgbClr val="00FF00"/>
                          </a:highlight>
                          <a:latin typeface="Arial" panose="020B0604020202020204" pitchFamily="34" charset="0"/>
                          <a:ea typeface="Times New Roman" panose="02020603050405020304" pitchFamily="18" charset="0"/>
                          <a:cs typeface="Arial" panose="020B0604020202020204" pitchFamily="34" charset="0"/>
                        </a:rPr>
                        <a:t>Loan to subsidiary</a:t>
                      </a:r>
                      <a:endParaRPr lang="en-ZA" sz="1200" dirty="0">
                        <a:effectLst/>
                        <a:highlight>
                          <a:srgbClr val="00FF00"/>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6</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864210670"/>
                  </a:ext>
                </a:extLst>
              </a:tr>
              <a:tr h="159461">
                <a:tc>
                  <a:txBody>
                    <a:bodyPr/>
                    <a:lstStyle/>
                    <a:p>
                      <a:r>
                        <a:rPr lang="en-ZA" sz="1200" dirty="0">
                          <a:solidFill>
                            <a:srgbClr val="000000"/>
                          </a:solidFill>
                          <a:effectLst/>
                          <a:highlight>
                            <a:srgbClr val="00FF00"/>
                          </a:highlight>
                          <a:latin typeface="Arial" panose="020B0604020202020204" pitchFamily="34" charset="0"/>
                          <a:ea typeface="Times New Roman" panose="02020603050405020304" pitchFamily="18" charset="0"/>
                          <a:cs typeface="Arial" panose="020B0604020202020204" pitchFamily="34" charset="0"/>
                        </a:rPr>
                        <a:t>Financial assets at fair value through profit or loss</a:t>
                      </a:r>
                      <a:endParaRPr lang="en-ZA" sz="1200" dirty="0">
                        <a:effectLst/>
                        <a:highlight>
                          <a:srgbClr val="00FF00"/>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7</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280976"/>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474338764"/>
                  </a:ext>
                </a:extLst>
              </a:tr>
              <a:tr h="167854">
                <a:tc>
                  <a:txBody>
                    <a:bodyPr/>
                    <a:lstStyle/>
                    <a:p>
                      <a:r>
                        <a:rPr lang="en-ZA" sz="1200"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Current assets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51958355"/>
                  </a:ext>
                </a:extLst>
              </a:tr>
              <a:tr h="159461">
                <a:tc>
                  <a:txBody>
                    <a:bodyPr/>
                    <a:lstStyle/>
                    <a:p>
                      <a:r>
                        <a:rPr lang="en-ZA" sz="1200" dirty="0">
                          <a:solidFill>
                            <a:srgbClr val="000000"/>
                          </a:solidFill>
                          <a:effectLst/>
                          <a:highlight>
                            <a:srgbClr val="FF00FF"/>
                          </a:highlight>
                          <a:latin typeface="Arial" panose="020B0604020202020204" pitchFamily="34" charset="0"/>
                          <a:ea typeface="Times New Roman" panose="02020603050405020304" pitchFamily="18" charset="0"/>
                          <a:cs typeface="Arial" panose="020B0604020202020204" pitchFamily="34" charset="0"/>
                        </a:rPr>
                        <a:t>Inventories</a:t>
                      </a:r>
                      <a:endParaRPr lang="en-ZA" sz="1200" dirty="0">
                        <a:effectLst/>
                        <a:highlight>
                          <a:srgbClr val="FF00FF"/>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8</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613205055"/>
                  </a:ext>
                </a:extLst>
              </a:tr>
              <a:tr h="159461">
                <a:tc>
                  <a:txBody>
                    <a:bodyPr/>
                    <a:lstStyle/>
                    <a:p>
                      <a:r>
                        <a:rPr lang="en-ZA" sz="1200" dirty="0">
                          <a:solidFill>
                            <a:srgbClr val="000000"/>
                          </a:solidFill>
                          <a:effectLst/>
                          <a:highlight>
                            <a:srgbClr val="FF00FF"/>
                          </a:highlight>
                          <a:latin typeface="Arial" panose="020B0604020202020204" pitchFamily="34" charset="0"/>
                          <a:ea typeface="Times New Roman" panose="02020603050405020304" pitchFamily="18" charset="0"/>
                          <a:cs typeface="Arial" panose="020B0604020202020204" pitchFamily="34" charset="0"/>
                        </a:rPr>
                        <a:t>Trade and other receivables</a:t>
                      </a:r>
                      <a:endParaRPr lang="en-ZA" sz="1200" dirty="0">
                        <a:effectLst/>
                        <a:highlight>
                          <a:srgbClr val="FF00FF"/>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678472430"/>
                  </a:ext>
                </a:extLst>
              </a:tr>
              <a:tr h="159461">
                <a:tc>
                  <a:txBody>
                    <a:bodyPr/>
                    <a:lstStyle/>
                    <a:p>
                      <a:r>
                        <a:rPr lang="en-ZA" sz="1200" dirty="0">
                          <a:solidFill>
                            <a:srgbClr val="000000"/>
                          </a:solidFill>
                          <a:effectLst/>
                          <a:highlight>
                            <a:srgbClr val="FFFF00"/>
                          </a:highlight>
                          <a:latin typeface="Arial" panose="020B0604020202020204" pitchFamily="34" charset="0"/>
                          <a:ea typeface="Times New Roman" panose="02020603050405020304" pitchFamily="18" charset="0"/>
                          <a:cs typeface="Arial" panose="020B0604020202020204" pitchFamily="34" charset="0"/>
                        </a:rPr>
                        <a:t>Cash and cash equivalents</a:t>
                      </a:r>
                      <a:endParaRPr lang="en-ZA" sz="1200" dirty="0">
                        <a:effectLst/>
                        <a:highlight>
                          <a:srgbClr val="FFFF00"/>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823176837"/>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01044578"/>
                  </a:ext>
                </a:extLst>
              </a:tr>
              <a:tr h="184640">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Total assets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67467193"/>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28575" cap="flat" cmpd="dbl"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2926878640"/>
                  </a:ext>
                </a:extLst>
              </a:tr>
              <a:tr h="167854">
                <a:tc>
                  <a:txBody>
                    <a:bodyPr/>
                    <a:lstStyle/>
                    <a:p>
                      <a:r>
                        <a:rPr lang="en-ZA"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Equity and liabilities</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12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4287010623"/>
                  </a:ext>
                </a:extLst>
              </a:tr>
              <a:tr h="159461">
                <a:tc>
                  <a:txBody>
                    <a:bodyPr/>
                    <a:lstStyle/>
                    <a:p>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Share capital</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11</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741262696"/>
                  </a:ext>
                </a:extLst>
              </a:tr>
              <a:tr h="159461">
                <a:tc>
                  <a:txBody>
                    <a:bodyPr/>
                    <a:lstStyle/>
                    <a:p>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Retained earnings</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dirty="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581746211"/>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Other components of equity</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12</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318446564"/>
                  </a:ext>
                </a:extLst>
              </a:tr>
              <a:tr h="44471">
                <a:tc>
                  <a:txBody>
                    <a:bodyPr/>
                    <a:lstStyle/>
                    <a:p>
                      <a:endParaRPr lang="en-ZA" sz="6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6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6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347147095"/>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Total equity</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46655629"/>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718535471"/>
                  </a:ext>
                </a:extLst>
              </a:tr>
              <a:tr h="167854">
                <a:tc>
                  <a:txBody>
                    <a:bodyPr/>
                    <a:lstStyle/>
                    <a:p>
                      <a:r>
                        <a:rPr lang="en-ZA" sz="1200"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Non-current liabilities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66871406"/>
                  </a:ext>
                </a:extLst>
              </a:tr>
              <a:tr h="159461">
                <a:tc>
                  <a:txBody>
                    <a:bodyPr/>
                    <a:lstStyle/>
                    <a:p>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Borrowings</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13</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2968933442"/>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Debentures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14</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778909472"/>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Provisions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15</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26797918"/>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036952909"/>
                  </a:ext>
                </a:extLst>
              </a:tr>
              <a:tr h="167854">
                <a:tc>
                  <a:txBody>
                    <a:bodyPr/>
                    <a:lstStyle/>
                    <a:p>
                      <a:r>
                        <a:rPr lang="en-ZA" sz="1200"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Current liabilities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10545734"/>
                  </a:ext>
                </a:extLst>
              </a:tr>
              <a:tr h="159461">
                <a:tc>
                  <a:txBody>
                    <a:bodyPr/>
                    <a:lstStyle/>
                    <a:p>
                      <a:r>
                        <a:rPr lang="en-ZA" sz="1200" dirty="0">
                          <a:solidFill>
                            <a:srgbClr val="000000"/>
                          </a:solidFill>
                          <a:effectLst/>
                          <a:highlight>
                            <a:srgbClr val="FF00FF"/>
                          </a:highlight>
                          <a:latin typeface="Arial" panose="020B0604020202020204" pitchFamily="34" charset="0"/>
                          <a:ea typeface="Times New Roman" panose="02020603050405020304" pitchFamily="18" charset="0"/>
                          <a:cs typeface="Arial" panose="020B0604020202020204" pitchFamily="34" charset="0"/>
                        </a:rPr>
                        <a:t>Trade and other payables</a:t>
                      </a:r>
                      <a:endParaRPr lang="en-ZA" sz="1200" dirty="0">
                        <a:effectLst/>
                        <a:highlight>
                          <a:srgbClr val="FF00FF"/>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16</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379800892"/>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Borrowings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13</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98255405"/>
                  </a:ext>
                </a:extLst>
              </a:tr>
              <a:tr h="159461">
                <a:tc>
                  <a:txBody>
                    <a:bodyPr/>
                    <a:lstStyle/>
                    <a:p>
                      <a:r>
                        <a:rPr lang="en-ZA" sz="1200" dirty="0">
                          <a:solidFill>
                            <a:srgbClr val="000000"/>
                          </a:solidFill>
                          <a:effectLst/>
                          <a:highlight>
                            <a:srgbClr val="FF00FF"/>
                          </a:highlight>
                          <a:latin typeface="Arial" panose="020B0604020202020204" pitchFamily="34" charset="0"/>
                          <a:ea typeface="Times New Roman" panose="02020603050405020304" pitchFamily="18" charset="0"/>
                          <a:cs typeface="Arial" panose="020B0604020202020204" pitchFamily="34" charset="0"/>
                        </a:rPr>
                        <a:t>Income tax payable*</a:t>
                      </a:r>
                      <a:endParaRPr lang="en-ZA" sz="1200" dirty="0">
                        <a:effectLst/>
                        <a:highlight>
                          <a:srgbClr val="FF00FF"/>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3648550348"/>
                  </a:ext>
                </a:extLst>
              </a:tr>
              <a:tr h="202520">
                <a:tc>
                  <a:txBody>
                    <a:bodyPr/>
                    <a:lstStyle/>
                    <a:p>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Dividends payable</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63996506"/>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25155218"/>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Total liabilities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94307309"/>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90494631"/>
                  </a:ext>
                </a:extLst>
              </a:tr>
              <a:tr h="167854">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Total equity and liabilities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4282940"/>
                  </a:ext>
                </a:extLst>
              </a:tr>
            </a:tbl>
          </a:graphicData>
        </a:graphic>
      </p:graphicFrame>
      <p:sp>
        <p:nvSpPr>
          <p:cNvPr id="10" name="TextBox 9">
            <a:extLst>
              <a:ext uri="{FF2B5EF4-FFF2-40B4-BE49-F238E27FC236}">
                <a16:creationId xmlns:a16="http://schemas.microsoft.com/office/drawing/2014/main" id="{929C7E24-E711-2C75-588C-5B8E618FCCCD}"/>
              </a:ext>
            </a:extLst>
          </p:cNvPr>
          <p:cNvSpPr txBox="1"/>
          <p:nvPr/>
        </p:nvSpPr>
        <p:spPr>
          <a:xfrm>
            <a:off x="5623210" y="64838"/>
            <a:ext cx="6094206"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61223B"/>
                </a:solidFill>
                <a:effectLst/>
                <a:uLnTx/>
                <a:uFillTx/>
                <a:latin typeface="Trebuchet MS" panose="020B0603020202020204" pitchFamily="34" charset="0"/>
                <a:ea typeface="+mn-ea"/>
                <a:cs typeface="Arial" panose="020B0604020202020204" pitchFamily="34" charset="0"/>
              </a:rPr>
              <a:t>Investing activities </a:t>
            </a:r>
            <a:endParaRPr kumimoji="0" lang="en-ZA" sz="1800" b="0" i="0" u="none" strike="noStrike" kern="1200" cap="none" spc="0" normalizeH="0" baseline="0" noProof="0" dirty="0">
              <a:ln>
                <a:noFill/>
              </a:ln>
              <a:solidFill>
                <a:srgbClr val="4D5356"/>
              </a:solidFill>
              <a:effectLst/>
              <a:uLnTx/>
              <a:uFillTx/>
              <a:latin typeface="Trebuchet MS" panose="020B0603020202020204" pitchFamily="34" charset="0"/>
              <a:ea typeface="+mn-ea"/>
              <a:cs typeface="+mn-cs"/>
            </a:endParaRPr>
          </a:p>
        </p:txBody>
      </p:sp>
      <p:sp>
        <p:nvSpPr>
          <p:cNvPr id="5" name="Rectangle: Rounded Corners 4">
            <a:extLst>
              <a:ext uri="{FF2B5EF4-FFF2-40B4-BE49-F238E27FC236}">
                <a16:creationId xmlns:a16="http://schemas.microsoft.com/office/drawing/2014/main" id="{944AADC9-348D-D512-23F5-D09851D71F89}"/>
              </a:ext>
            </a:extLst>
          </p:cNvPr>
          <p:cNvSpPr/>
          <p:nvPr/>
        </p:nvSpPr>
        <p:spPr>
          <a:xfrm>
            <a:off x="7424032" y="3738287"/>
            <a:ext cx="2736304" cy="1517281"/>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rPr>
              <a:t>+ certain items in SCI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rPr>
              <a:t>(ex. Profit / loss with sale of assets)</a:t>
            </a:r>
            <a:endParaRPr kumimoji="0" lang="en-ZA"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343055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lstStyle/>
          <a:p>
            <a:r>
              <a:rPr lang="en-US" dirty="0">
                <a:latin typeface="Trebuchet MS" panose="020B0603020202020204" pitchFamily="34" charset="0"/>
              </a:rPr>
              <a:t>IAS 7 Statement of cash flows</a:t>
            </a:r>
            <a:br>
              <a:rPr lang="en-US" dirty="0">
                <a:latin typeface="Trebuchet MS" panose="020B0603020202020204" pitchFamily="34" charset="0"/>
              </a:rPr>
            </a:br>
            <a:r>
              <a:rPr lang="en-US" sz="3200" b="1" dirty="0">
                <a:latin typeface="Trebuchet MS" panose="020B0603020202020204" pitchFamily="34" charset="0"/>
                <a:cs typeface="Arial" panose="020B0604020202020204" pitchFamily="34" charset="0"/>
              </a:rPr>
              <a:t>Financing activities (.17)</a:t>
            </a:r>
            <a:endParaRPr lang="en-GB" dirty="0">
              <a:latin typeface="Trebuchet MS" panose="020B0603020202020204" pitchFamily="34" charset="0"/>
            </a:endParaRPr>
          </a:p>
        </p:txBody>
      </p:sp>
      <p:sp>
        <p:nvSpPr>
          <p:cNvPr id="2" name="Rectangle 3">
            <a:extLst>
              <a:ext uri="{FF2B5EF4-FFF2-40B4-BE49-F238E27FC236}">
                <a16:creationId xmlns:a16="http://schemas.microsoft.com/office/drawing/2014/main" id="{AB357133-2AC7-E1E3-F5C1-BD3070C5C900}"/>
              </a:ext>
            </a:extLst>
          </p:cNvPr>
          <p:cNvSpPr>
            <a:spLocks noGrp="1" noRot="1" noChangeArrowheads="1"/>
          </p:cNvSpPr>
          <p:nvPr>
            <p:ph idx="1"/>
          </p:nvPr>
        </p:nvSpPr>
        <p:spPr>
          <a:xfrm>
            <a:off x="287524" y="2060848"/>
            <a:ext cx="9887608" cy="2715433"/>
          </a:xfrm>
        </p:spPr>
        <p:txBody>
          <a:bodyPr>
            <a:normAutofit/>
          </a:bodyPr>
          <a:lstStyle/>
          <a:p>
            <a:pPr marL="450850" indent="-450850" eaLnBrk="1" hangingPunct="1">
              <a:lnSpc>
                <a:spcPct val="90000"/>
              </a:lnSpc>
              <a:buClr>
                <a:schemeClr val="tx1"/>
              </a:buClr>
              <a:buFont typeface="Arial" charset="0"/>
              <a:buChar char="►"/>
              <a:defRPr/>
            </a:pPr>
            <a:r>
              <a:rPr lang="en-US" sz="2000" dirty="0">
                <a:latin typeface="+mn-lt"/>
                <a:cs typeface="Arial" panose="020B0604020202020204" pitchFamily="34" charset="0"/>
              </a:rPr>
              <a:t>Useful in predicting claims on future cash flows by providers of capital to the entity</a:t>
            </a:r>
          </a:p>
          <a:p>
            <a:pPr lvl="1" eaLnBrk="1" hangingPunct="1">
              <a:lnSpc>
                <a:spcPct val="90000"/>
              </a:lnSpc>
              <a:buClr>
                <a:schemeClr val="tx1"/>
              </a:buClr>
              <a:defRPr/>
            </a:pPr>
            <a:r>
              <a:rPr lang="en-US" sz="2000" dirty="0">
                <a:latin typeface="+mn-lt"/>
                <a:cs typeface="Arial" panose="020B0604020202020204" pitchFamily="34" charset="0"/>
              </a:rPr>
              <a:t>Proceeds from issuing shares, debentures etc.</a:t>
            </a:r>
          </a:p>
          <a:p>
            <a:pPr lvl="1" eaLnBrk="1" hangingPunct="1">
              <a:lnSpc>
                <a:spcPct val="90000"/>
              </a:lnSpc>
              <a:buClr>
                <a:schemeClr val="tx1"/>
              </a:buClr>
              <a:defRPr/>
            </a:pPr>
            <a:r>
              <a:rPr lang="en-US" sz="2000" dirty="0">
                <a:latin typeface="+mn-lt"/>
                <a:cs typeface="Arial" panose="020B0604020202020204" pitchFamily="34" charset="0"/>
              </a:rPr>
              <a:t>Payments to acquire or redeem own shares</a:t>
            </a:r>
          </a:p>
          <a:p>
            <a:pPr lvl="1" eaLnBrk="1" hangingPunct="1">
              <a:lnSpc>
                <a:spcPct val="90000"/>
              </a:lnSpc>
              <a:buClr>
                <a:schemeClr val="tx1"/>
              </a:buClr>
              <a:defRPr/>
            </a:pPr>
            <a:r>
              <a:rPr lang="en-US" sz="2000" dirty="0">
                <a:latin typeface="+mn-lt"/>
                <a:cs typeface="Arial" panose="020B0604020202020204" pitchFamily="34" charset="0"/>
              </a:rPr>
              <a:t>Repayments of amounts borrowed, etc.</a:t>
            </a:r>
          </a:p>
          <a:p>
            <a:pPr lvl="1" eaLnBrk="1" hangingPunct="1">
              <a:lnSpc>
                <a:spcPct val="90000"/>
              </a:lnSpc>
              <a:buClr>
                <a:schemeClr val="tx1"/>
              </a:buClr>
              <a:defRPr/>
            </a:pPr>
            <a:r>
              <a:rPr lang="en-US" sz="2000" dirty="0">
                <a:latin typeface="+mn-lt"/>
                <a:cs typeface="Arial" panose="020B0604020202020204" pitchFamily="34" charset="0"/>
              </a:rPr>
              <a:t>Cash payments of dividends (IFRS 18)</a:t>
            </a:r>
          </a:p>
          <a:p>
            <a:pPr lvl="1">
              <a:lnSpc>
                <a:spcPct val="90000"/>
              </a:lnSpc>
              <a:buClr>
                <a:schemeClr val="tx1"/>
              </a:buClr>
              <a:defRPr/>
            </a:pPr>
            <a:r>
              <a:rPr lang="en-US" sz="2000" dirty="0">
                <a:latin typeface="+mn-lt"/>
                <a:cs typeface="Arial" panose="020B0604020202020204" pitchFamily="34" charset="0"/>
              </a:rPr>
              <a:t>Cash payments of interest </a:t>
            </a:r>
            <a:r>
              <a:rPr lang="en-US" sz="2100" dirty="0">
                <a:latin typeface="+mn-lt"/>
                <a:cs typeface="Arial" panose="020B0604020202020204" pitchFamily="34" charset="0"/>
              </a:rPr>
              <a:t>(IFRS 18)</a:t>
            </a:r>
          </a:p>
          <a:p>
            <a:pPr lvl="1" eaLnBrk="1" hangingPunct="1">
              <a:lnSpc>
                <a:spcPct val="90000"/>
              </a:lnSpc>
              <a:buClr>
                <a:schemeClr val="tx1"/>
              </a:buClr>
              <a:defRPr/>
            </a:pPr>
            <a:r>
              <a:rPr lang="en-US" sz="2000" dirty="0">
                <a:latin typeface="+mn-lt"/>
                <a:cs typeface="Arial" panose="020B0604020202020204" pitchFamily="34" charset="0"/>
              </a:rPr>
              <a:t>Ignore .17(e) for FA178</a:t>
            </a:r>
          </a:p>
        </p:txBody>
      </p:sp>
      <p:sp>
        <p:nvSpPr>
          <p:cNvPr id="3" name="Oval 2">
            <a:extLst>
              <a:ext uri="{FF2B5EF4-FFF2-40B4-BE49-F238E27FC236}">
                <a16:creationId xmlns:a16="http://schemas.microsoft.com/office/drawing/2014/main" id="{39B43A9E-4CDE-9AA6-B9BF-097679A154BE}"/>
              </a:ext>
            </a:extLst>
          </p:cNvPr>
          <p:cNvSpPr/>
          <p:nvPr/>
        </p:nvSpPr>
        <p:spPr>
          <a:xfrm>
            <a:off x="10499465" y="6400800"/>
            <a:ext cx="1387736" cy="375385"/>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rPr>
              <a:t>Slide 14</a:t>
            </a:r>
            <a:endParaRPr kumimoji="0" lang="en-ZA"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3841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32BAD-6C04-88B9-EF2F-72C53EB9B065}"/>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B2667F3-147B-526C-8640-7864E82A1C50}"/>
              </a:ext>
            </a:extLst>
          </p:cNvPr>
          <p:cNvSpPr/>
          <p:nvPr/>
        </p:nvSpPr>
        <p:spPr>
          <a:xfrm>
            <a:off x="7424032" y="1446757"/>
            <a:ext cx="2736304" cy="1517281"/>
          </a:xfrm>
          <a:prstGeom prst="roundRect">
            <a:avLst/>
          </a:prstGeom>
          <a:solidFill>
            <a:srgbClr val="690069"/>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rPr>
              <a:t>+ certain items in SCI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rPr>
              <a:t>(main business to generate income)</a:t>
            </a:r>
            <a:endParaRPr kumimoji="0" lang="en-ZA"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graphicFrame>
        <p:nvGraphicFramePr>
          <p:cNvPr id="3" name="Table 2">
            <a:extLst>
              <a:ext uri="{FF2B5EF4-FFF2-40B4-BE49-F238E27FC236}">
                <a16:creationId xmlns:a16="http://schemas.microsoft.com/office/drawing/2014/main" id="{36D61EAA-28E6-C6C4-74A7-BDD8C064B27F}"/>
              </a:ext>
            </a:extLst>
          </p:cNvPr>
          <p:cNvGraphicFramePr>
            <a:graphicFrameLocks noGrp="1"/>
          </p:cNvGraphicFramePr>
          <p:nvPr>
            <p:extLst>
              <p:ext uri="{D42A27DB-BD31-4B8C-83A1-F6EECF244321}">
                <p14:modId xmlns:p14="http://schemas.microsoft.com/office/powerpoint/2010/main" val="1914588388"/>
              </p:ext>
            </p:extLst>
          </p:nvPr>
        </p:nvGraphicFramePr>
        <p:xfrm>
          <a:off x="214632" y="0"/>
          <a:ext cx="5408578" cy="6793162"/>
        </p:xfrm>
        <a:graphic>
          <a:graphicData uri="http://schemas.openxmlformats.org/drawingml/2006/table">
            <a:tbl>
              <a:tblPr firstRow="1" firstCol="1" bandRow="1"/>
              <a:tblGrid>
                <a:gridCol w="3765868">
                  <a:extLst>
                    <a:ext uri="{9D8B030D-6E8A-4147-A177-3AD203B41FA5}">
                      <a16:colId xmlns:a16="http://schemas.microsoft.com/office/drawing/2014/main" val="1139330800"/>
                    </a:ext>
                  </a:extLst>
                </a:gridCol>
                <a:gridCol w="684408">
                  <a:extLst>
                    <a:ext uri="{9D8B030D-6E8A-4147-A177-3AD203B41FA5}">
                      <a16:colId xmlns:a16="http://schemas.microsoft.com/office/drawing/2014/main" val="2847829414"/>
                    </a:ext>
                  </a:extLst>
                </a:gridCol>
                <a:gridCol w="958302">
                  <a:extLst>
                    <a:ext uri="{9D8B030D-6E8A-4147-A177-3AD203B41FA5}">
                      <a16:colId xmlns:a16="http://schemas.microsoft.com/office/drawing/2014/main" val="934096033"/>
                    </a:ext>
                  </a:extLst>
                </a:gridCol>
              </a:tblGrid>
              <a:tr h="322280">
                <a:tc gridSpan="3">
                  <a:txBody>
                    <a:bodyPr/>
                    <a:lstStyle/>
                    <a:p>
                      <a:r>
                        <a:rPr lang="en-ZA"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Stellenbosch Ltd.</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p>
                      <a:r>
                        <a:rPr lang="en-ZA"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Statement of financial position on 31 December 2022</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solidFill>
                  </a:tcPr>
                </a:tc>
                <a:tc hMerge="1">
                  <a:txBody>
                    <a:bodyPr/>
                    <a:lstStyle/>
                    <a:p>
                      <a:endParaRPr lang="en-ZA"/>
                    </a:p>
                  </a:txBody>
                  <a:tcPr/>
                </a:tc>
                <a:tc hMerge="1">
                  <a:txBody>
                    <a:bodyPr/>
                    <a:lstStyle/>
                    <a:p>
                      <a:endParaRPr lang="en-ZA"/>
                    </a:p>
                  </a:txBody>
                  <a:tcPr/>
                </a:tc>
                <a:extLst>
                  <a:ext uri="{0D108BD9-81ED-4DB2-BD59-A6C34878D82A}">
                    <a16:rowId xmlns:a16="http://schemas.microsoft.com/office/drawing/2014/main" val="621449988"/>
                  </a:ext>
                </a:extLst>
              </a:tr>
              <a:tr h="167854">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ctr"/>
                      <a:r>
                        <a:rPr lang="en-ZA"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2022</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86725734"/>
                  </a:ext>
                </a:extLst>
              </a:tr>
              <a:tr h="159461">
                <a:tc>
                  <a:txBody>
                    <a:bodyPr/>
                    <a:lstStyle/>
                    <a:p>
                      <a:r>
                        <a:rPr lang="en-ZA" sz="12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Assets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Note</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ctr"/>
                      <a:r>
                        <a:rPr lang="en-ZA"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348699351"/>
                  </a:ext>
                </a:extLst>
              </a:tr>
              <a:tr h="159461">
                <a:tc>
                  <a:txBody>
                    <a:bodyPr/>
                    <a:lstStyle/>
                    <a:p>
                      <a:r>
                        <a:rPr lang="en-ZA" sz="12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Non-current assets</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718134120"/>
                  </a:ext>
                </a:extLst>
              </a:tr>
              <a:tr h="159461">
                <a:tc>
                  <a:txBody>
                    <a:bodyPr/>
                    <a:lstStyle/>
                    <a:p>
                      <a:r>
                        <a:rPr lang="en-ZA" sz="1200" dirty="0">
                          <a:solidFill>
                            <a:srgbClr val="000000"/>
                          </a:solidFill>
                          <a:effectLst/>
                          <a:highlight>
                            <a:srgbClr val="00FF00"/>
                          </a:highlight>
                          <a:latin typeface="Arial" panose="020B0604020202020204" pitchFamily="34" charset="0"/>
                          <a:ea typeface="Times New Roman" panose="02020603050405020304" pitchFamily="18" charset="0"/>
                          <a:cs typeface="Arial" panose="020B0604020202020204" pitchFamily="34" charset="0"/>
                        </a:rPr>
                        <a:t>Property, plant and equipment</a:t>
                      </a:r>
                      <a:endParaRPr lang="en-ZA" sz="1200" dirty="0">
                        <a:effectLst/>
                        <a:highlight>
                          <a:srgbClr val="00FF00"/>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2186903800"/>
                  </a:ext>
                </a:extLst>
              </a:tr>
              <a:tr h="79767">
                <a:tc>
                  <a:txBody>
                    <a:bodyPr/>
                    <a:lstStyle/>
                    <a:p>
                      <a:r>
                        <a:rPr lang="en-ZA" sz="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Intangible assets</a:t>
                      </a:r>
                      <a:endParaRPr lang="en-ZA" sz="8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tx1">
                        <a:lumMod val="20000"/>
                        <a:lumOff val="80000"/>
                      </a:schemeClr>
                    </a:solidFill>
                  </a:tcPr>
                </a:tc>
                <a:tc>
                  <a:txBody>
                    <a:bodyPr/>
                    <a:lstStyle/>
                    <a:p>
                      <a:pPr algn="ctr"/>
                      <a:r>
                        <a:rPr lang="en-ZA" sz="800">
                          <a:solidFill>
                            <a:srgbClr val="000000"/>
                          </a:solidFill>
                          <a:effectLst/>
                          <a:latin typeface="Arial" panose="020B0604020202020204" pitchFamily="34" charset="0"/>
                          <a:ea typeface="Times New Roman" panose="02020603050405020304" pitchFamily="18" charset="0"/>
                          <a:cs typeface="Arial" panose="020B0604020202020204" pitchFamily="34" charset="0"/>
                        </a:rPr>
                        <a:t>3</a:t>
                      </a:r>
                      <a:endParaRPr lang="en-ZA" sz="8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tx1">
                        <a:lumMod val="20000"/>
                        <a:lumOff val="80000"/>
                      </a:schemeClr>
                    </a:solidFill>
                  </a:tcPr>
                </a:tc>
                <a:tc>
                  <a:txBody>
                    <a:bodyPr/>
                    <a:lstStyle/>
                    <a:p>
                      <a:pPr algn="r"/>
                      <a:endParaRPr lang="en-ZA" sz="8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tx1">
                        <a:lumMod val="20000"/>
                        <a:lumOff val="80000"/>
                      </a:schemeClr>
                    </a:solidFill>
                  </a:tcPr>
                </a:tc>
                <a:extLst>
                  <a:ext uri="{0D108BD9-81ED-4DB2-BD59-A6C34878D82A}">
                    <a16:rowId xmlns:a16="http://schemas.microsoft.com/office/drawing/2014/main" val="3124772007"/>
                  </a:ext>
                </a:extLst>
              </a:tr>
              <a:tr h="84306">
                <a:tc>
                  <a:txBody>
                    <a:bodyPr/>
                    <a:lstStyle/>
                    <a:p>
                      <a:r>
                        <a:rPr lang="en-ZA" sz="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Investment property</a:t>
                      </a:r>
                      <a:endParaRPr lang="en-ZA" sz="8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tx1">
                        <a:lumMod val="20000"/>
                        <a:lumOff val="80000"/>
                      </a:schemeClr>
                    </a:solidFill>
                  </a:tcPr>
                </a:tc>
                <a:tc>
                  <a:txBody>
                    <a:bodyPr/>
                    <a:lstStyle/>
                    <a:p>
                      <a:pPr algn="ctr"/>
                      <a:r>
                        <a:rPr lang="en-ZA" sz="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a:t>
                      </a:r>
                      <a:endParaRPr lang="en-ZA" sz="8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tx1">
                        <a:lumMod val="20000"/>
                        <a:lumOff val="80000"/>
                      </a:schemeClr>
                    </a:solidFill>
                  </a:tcPr>
                </a:tc>
                <a:tc>
                  <a:txBody>
                    <a:bodyPr/>
                    <a:lstStyle/>
                    <a:p>
                      <a:pPr algn="r"/>
                      <a:endParaRPr lang="en-ZA" sz="8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tx1">
                        <a:lumMod val="20000"/>
                        <a:lumOff val="80000"/>
                      </a:schemeClr>
                    </a:solidFill>
                  </a:tcPr>
                </a:tc>
                <a:extLst>
                  <a:ext uri="{0D108BD9-81ED-4DB2-BD59-A6C34878D82A}">
                    <a16:rowId xmlns:a16="http://schemas.microsoft.com/office/drawing/2014/main" val="1794926330"/>
                  </a:ext>
                </a:extLst>
              </a:tr>
              <a:tr h="159461">
                <a:tc>
                  <a:txBody>
                    <a:bodyPr/>
                    <a:lstStyle/>
                    <a:p>
                      <a:r>
                        <a:rPr lang="en-ZA" sz="1200" dirty="0">
                          <a:solidFill>
                            <a:srgbClr val="000000"/>
                          </a:solidFill>
                          <a:effectLst/>
                          <a:highlight>
                            <a:srgbClr val="00FF00"/>
                          </a:highlight>
                          <a:latin typeface="Arial" panose="020B0604020202020204" pitchFamily="34" charset="0"/>
                          <a:ea typeface="Times New Roman" panose="02020603050405020304" pitchFamily="18" charset="0"/>
                          <a:cs typeface="Arial" panose="020B0604020202020204" pitchFamily="34" charset="0"/>
                        </a:rPr>
                        <a:t>Investments in subsidiaries</a:t>
                      </a:r>
                      <a:endParaRPr lang="en-ZA" sz="1200" dirty="0">
                        <a:effectLst/>
                        <a:highlight>
                          <a:srgbClr val="00FF00"/>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5</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695659052"/>
                  </a:ext>
                </a:extLst>
              </a:tr>
              <a:tr h="159461">
                <a:tc>
                  <a:txBody>
                    <a:bodyPr/>
                    <a:lstStyle/>
                    <a:p>
                      <a:r>
                        <a:rPr lang="en-ZA" sz="1200" dirty="0">
                          <a:solidFill>
                            <a:srgbClr val="000000"/>
                          </a:solidFill>
                          <a:effectLst/>
                          <a:highlight>
                            <a:srgbClr val="00FF00"/>
                          </a:highlight>
                          <a:latin typeface="Arial" panose="020B0604020202020204" pitchFamily="34" charset="0"/>
                          <a:ea typeface="Times New Roman" panose="02020603050405020304" pitchFamily="18" charset="0"/>
                          <a:cs typeface="Arial" panose="020B0604020202020204" pitchFamily="34" charset="0"/>
                        </a:rPr>
                        <a:t>Loan to subsidiary</a:t>
                      </a:r>
                      <a:endParaRPr lang="en-ZA" sz="1200" dirty="0">
                        <a:effectLst/>
                        <a:highlight>
                          <a:srgbClr val="00FF00"/>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6</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864210670"/>
                  </a:ext>
                </a:extLst>
              </a:tr>
              <a:tr h="159461">
                <a:tc>
                  <a:txBody>
                    <a:bodyPr/>
                    <a:lstStyle/>
                    <a:p>
                      <a:r>
                        <a:rPr lang="en-ZA" sz="1200" dirty="0">
                          <a:solidFill>
                            <a:srgbClr val="000000"/>
                          </a:solidFill>
                          <a:effectLst/>
                          <a:highlight>
                            <a:srgbClr val="00FF00"/>
                          </a:highlight>
                          <a:latin typeface="Arial" panose="020B0604020202020204" pitchFamily="34" charset="0"/>
                          <a:ea typeface="Times New Roman" panose="02020603050405020304" pitchFamily="18" charset="0"/>
                          <a:cs typeface="Arial" panose="020B0604020202020204" pitchFamily="34" charset="0"/>
                        </a:rPr>
                        <a:t>Financial assets at fair value through profit or loss</a:t>
                      </a:r>
                      <a:endParaRPr lang="en-ZA" sz="1200" dirty="0">
                        <a:effectLst/>
                        <a:highlight>
                          <a:srgbClr val="00FF00"/>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7</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280976"/>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474338764"/>
                  </a:ext>
                </a:extLst>
              </a:tr>
              <a:tr h="167854">
                <a:tc>
                  <a:txBody>
                    <a:bodyPr/>
                    <a:lstStyle/>
                    <a:p>
                      <a:r>
                        <a:rPr lang="en-ZA" sz="1200"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Current assets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51958355"/>
                  </a:ext>
                </a:extLst>
              </a:tr>
              <a:tr h="159461">
                <a:tc>
                  <a:txBody>
                    <a:bodyPr/>
                    <a:lstStyle/>
                    <a:p>
                      <a:r>
                        <a:rPr lang="en-ZA" sz="1200" dirty="0">
                          <a:solidFill>
                            <a:srgbClr val="000000"/>
                          </a:solidFill>
                          <a:effectLst/>
                          <a:highlight>
                            <a:srgbClr val="FF00FF"/>
                          </a:highlight>
                          <a:latin typeface="Arial" panose="020B0604020202020204" pitchFamily="34" charset="0"/>
                          <a:ea typeface="Times New Roman" panose="02020603050405020304" pitchFamily="18" charset="0"/>
                          <a:cs typeface="Arial" panose="020B0604020202020204" pitchFamily="34" charset="0"/>
                        </a:rPr>
                        <a:t>Inventories</a:t>
                      </a:r>
                      <a:endParaRPr lang="en-ZA" sz="1200" dirty="0">
                        <a:effectLst/>
                        <a:highlight>
                          <a:srgbClr val="FF00FF"/>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8</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613205055"/>
                  </a:ext>
                </a:extLst>
              </a:tr>
              <a:tr h="159461">
                <a:tc>
                  <a:txBody>
                    <a:bodyPr/>
                    <a:lstStyle/>
                    <a:p>
                      <a:r>
                        <a:rPr lang="en-ZA" sz="1200" dirty="0">
                          <a:solidFill>
                            <a:srgbClr val="000000"/>
                          </a:solidFill>
                          <a:effectLst/>
                          <a:highlight>
                            <a:srgbClr val="FF00FF"/>
                          </a:highlight>
                          <a:latin typeface="Arial" panose="020B0604020202020204" pitchFamily="34" charset="0"/>
                          <a:ea typeface="Times New Roman" panose="02020603050405020304" pitchFamily="18" charset="0"/>
                          <a:cs typeface="Arial" panose="020B0604020202020204" pitchFamily="34" charset="0"/>
                        </a:rPr>
                        <a:t>Trade and other receivables</a:t>
                      </a:r>
                      <a:endParaRPr lang="en-ZA" sz="1200" dirty="0">
                        <a:effectLst/>
                        <a:highlight>
                          <a:srgbClr val="FF00FF"/>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678472430"/>
                  </a:ext>
                </a:extLst>
              </a:tr>
              <a:tr h="159461">
                <a:tc>
                  <a:txBody>
                    <a:bodyPr/>
                    <a:lstStyle/>
                    <a:p>
                      <a:r>
                        <a:rPr lang="en-ZA" sz="1200" dirty="0">
                          <a:solidFill>
                            <a:srgbClr val="000000"/>
                          </a:solidFill>
                          <a:effectLst/>
                          <a:highlight>
                            <a:srgbClr val="FFFF00"/>
                          </a:highlight>
                          <a:latin typeface="Arial" panose="020B0604020202020204" pitchFamily="34" charset="0"/>
                          <a:ea typeface="Times New Roman" panose="02020603050405020304" pitchFamily="18" charset="0"/>
                          <a:cs typeface="Arial" panose="020B0604020202020204" pitchFamily="34" charset="0"/>
                        </a:rPr>
                        <a:t>Cash and cash equivalents</a:t>
                      </a:r>
                      <a:endParaRPr lang="en-ZA" sz="1200" dirty="0">
                        <a:effectLst/>
                        <a:highlight>
                          <a:srgbClr val="FFFF00"/>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823176837"/>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01044578"/>
                  </a:ext>
                </a:extLst>
              </a:tr>
              <a:tr h="184640">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Total assets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67467193"/>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28575" cap="flat" cmpd="dbl"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2926878640"/>
                  </a:ext>
                </a:extLst>
              </a:tr>
              <a:tr h="167854">
                <a:tc>
                  <a:txBody>
                    <a:bodyPr/>
                    <a:lstStyle/>
                    <a:p>
                      <a:r>
                        <a:rPr lang="en-ZA"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Equity and liabilities</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12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4287010623"/>
                  </a:ext>
                </a:extLst>
              </a:tr>
              <a:tr h="159461">
                <a:tc>
                  <a:txBody>
                    <a:bodyPr/>
                    <a:lstStyle/>
                    <a:p>
                      <a:r>
                        <a:rPr lang="en-ZA" sz="1200" dirty="0">
                          <a:solidFill>
                            <a:srgbClr val="000000"/>
                          </a:solidFill>
                          <a:effectLst/>
                          <a:highlight>
                            <a:srgbClr val="00FFFF"/>
                          </a:highlight>
                          <a:latin typeface="Arial" panose="020B0604020202020204" pitchFamily="34" charset="0"/>
                          <a:ea typeface="Times New Roman" panose="02020603050405020304" pitchFamily="18" charset="0"/>
                          <a:cs typeface="Arial" panose="020B0604020202020204" pitchFamily="34" charset="0"/>
                        </a:rPr>
                        <a:t>Share capital</a:t>
                      </a:r>
                      <a:endParaRPr lang="en-ZA" sz="1200" dirty="0">
                        <a:effectLst/>
                        <a:highlight>
                          <a:srgbClr val="00FFFF"/>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11</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741262696"/>
                  </a:ext>
                </a:extLst>
              </a:tr>
              <a:tr h="159461">
                <a:tc>
                  <a:txBody>
                    <a:bodyPr/>
                    <a:lstStyle/>
                    <a:p>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Retained earnings</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dirty="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581746211"/>
                  </a:ext>
                </a:extLst>
              </a:tr>
              <a:tr h="159461">
                <a:tc>
                  <a:txBody>
                    <a:bodyPr/>
                    <a:lstStyle/>
                    <a:p>
                      <a:r>
                        <a:rPr lang="en-ZA" sz="1200" dirty="0">
                          <a:solidFill>
                            <a:srgbClr val="000000"/>
                          </a:solidFill>
                          <a:effectLst/>
                          <a:highlight>
                            <a:srgbClr val="00FF00"/>
                          </a:highlight>
                          <a:latin typeface="Arial" panose="020B0604020202020204" pitchFamily="34" charset="0"/>
                          <a:ea typeface="Times New Roman" panose="02020603050405020304" pitchFamily="18" charset="0"/>
                          <a:cs typeface="Arial" panose="020B0604020202020204" pitchFamily="34" charset="0"/>
                        </a:rPr>
                        <a:t>Other components of equity</a:t>
                      </a:r>
                      <a:endParaRPr lang="en-ZA" sz="1200" dirty="0">
                        <a:effectLst/>
                        <a:highlight>
                          <a:srgbClr val="00FF00"/>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12</a:t>
                      </a: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318446564"/>
                  </a:ext>
                </a:extLst>
              </a:tr>
              <a:tr h="44471">
                <a:tc>
                  <a:txBody>
                    <a:bodyPr/>
                    <a:lstStyle/>
                    <a:p>
                      <a:endParaRPr lang="en-ZA" sz="6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6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6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347147095"/>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Total equity</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46655629"/>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718535471"/>
                  </a:ext>
                </a:extLst>
              </a:tr>
              <a:tr h="167854">
                <a:tc>
                  <a:txBody>
                    <a:bodyPr/>
                    <a:lstStyle/>
                    <a:p>
                      <a:r>
                        <a:rPr lang="en-ZA" sz="1200"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Non-current liabilities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66871406"/>
                  </a:ext>
                </a:extLst>
              </a:tr>
              <a:tr h="159461">
                <a:tc>
                  <a:txBody>
                    <a:bodyPr/>
                    <a:lstStyle/>
                    <a:p>
                      <a:r>
                        <a:rPr lang="en-ZA" sz="1200" dirty="0">
                          <a:solidFill>
                            <a:srgbClr val="000000"/>
                          </a:solidFill>
                          <a:effectLst/>
                          <a:highlight>
                            <a:srgbClr val="00FFFF"/>
                          </a:highlight>
                          <a:latin typeface="Arial" panose="020B0604020202020204" pitchFamily="34" charset="0"/>
                          <a:ea typeface="Times New Roman" panose="02020603050405020304" pitchFamily="18" charset="0"/>
                          <a:cs typeface="Arial" panose="020B0604020202020204" pitchFamily="34" charset="0"/>
                        </a:rPr>
                        <a:t>Borrowings</a:t>
                      </a:r>
                      <a:endParaRPr lang="en-ZA" sz="1200" dirty="0">
                        <a:effectLst/>
                        <a:highlight>
                          <a:srgbClr val="00FFFF"/>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13</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2968933442"/>
                  </a:ext>
                </a:extLst>
              </a:tr>
              <a:tr h="159461">
                <a:tc>
                  <a:txBody>
                    <a:bodyPr/>
                    <a:lstStyle/>
                    <a:p>
                      <a:r>
                        <a:rPr lang="en-ZA" sz="1200" dirty="0">
                          <a:solidFill>
                            <a:srgbClr val="000000"/>
                          </a:solidFill>
                          <a:effectLst/>
                          <a:highlight>
                            <a:srgbClr val="00FFFF"/>
                          </a:highlight>
                          <a:latin typeface="Arial" panose="020B0604020202020204" pitchFamily="34" charset="0"/>
                          <a:ea typeface="Times New Roman" panose="02020603050405020304" pitchFamily="18" charset="0"/>
                          <a:cs typeface="Arial" panose="020B0604020202020204" pitchFamily="34" charset="0"/>
                        </a:rPr>
                        <a:t>Debentures</a:t>
                      </a:r>
                      <a:endParaRPr lang="en-ZA" sz="1200" dirty="0">
                        <a:effectLst/>
                        <a:highlight>
                          <a:srgbClr val="00FFFF"/>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14</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778909472"/>
                  </a:ext>
                </a:extLst>
              </a:tr>
              <a:tr h="159461">
                <a:tc>
                  <a:txBody>
                    <a:bodyPr/>
                    <a:lstStyle/>
                    <a:p>
                      <a:r>
                        <a:rPr lang="en-ZA" sz="1200" dirty="0">
                          <a:solidFill>
                            <a:srgbClr val="000000"/>
                          </a:solidFill>
                          <a:effectLst/>
                          <a:highlight>
                            <a:srgbClr val="00FFFF"/>
                          </a:highlight>
                          <a:latin typeface="Arial" panose="020B0604020202020204" pitchFamily="34" charset="0"/>
                          <a:ea typeface="Times New Roman" panose="02020603050405020304" pitchFamily="18" charset="0"/>
                          <a:cs typeface="Arial" panose="020B0604020202020204" pitchFamily="34" charset="0"/>
                        </a:rPr>
                        <a:t>Provisions </a:t>
                      </a:r>
                      <a:endParaRPr lang="en-ZA" sz="1200" dirty="0">
                        <a:effectLst/>
                        <a:highlight>
                          <a:srgbClr val="00FFFF"/>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15</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26797918"/>
                  </a:ext>
                </a:extLst>
              </a:tr>
              <a:tr h="135726">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036952909"/>
                  </a:ext>
                </a:extLst>
              </a:tr>
              <a:tr h="167854">
                <a:tc>
                  <a:txBody>
                    <a:bodyPr/>
                    <a:lstStyle/>
                    <a:p>
                      <a:r>
                        <a:rPr lang="en-ZA" sz="1200"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Current liabilities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10545734"/>
                  </a:ext>
                </a:extLst>
              </a:tr>
              <a:tr h="159461">
                <a:tc>
                  <a:txBody>
                    <a:bodyPr/>
                    <a:lstStyle/>
                    <a:p>
                      <a:r>
                        <a:rPr lang="en-ZA" sz="1200" dirty="0">
                          <a:solidFill>
                            <a:srgbClr val="000000"/>
                          </a:solidFill>
                          <a:effectLst/>
                          <a:highlight>
                            <a:srgbClr val="FF00FF"/>
                          </a:highlight>
                          <a:latin typeface="Arial" panose="020B0604020202020204" pitchFamily="34" charset="0"/>
                          <a:ea typeface="Times New Roman" panose="02020603050405020304" pitchFamily="18" charset="0"/>
                          <a:cs typeface="Arial" panose="020B0604020202020204" pitchFamily="34" charset="0"/>
                        </a:rPr>
                        <a:t>Trade and other payables</a:t>
                      </a:r>
                      <a:endParaRPr lang="en-ZA" sz="1200" dirty="0">
                        <a:effectLst/>
                        <a:highlight>
                          <a:srgbClr val="FF00FF"/>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16</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379800892"/>
                  </a:ext>
                </a:extLst>
              </a:tr>
              <a:tr h="159461">
                <a:tc>
                  <a:txBody>
                    <a:bodyPr/>
                    <a:lstStyle/>
                    <a:p>
                      <a:r>
                        <a:rPr lang="en-ZA" sz="1200" dirty="0">
                          <a:solidFill>
                            <a:srgbClr val="000000"/>
                          </a:solidFill>
                          <a:effectLst/>
                          <a:highlight>
                            <a:srgbClr val="00FFFF"/>
                          </a:highlight>
                          <a:latin typeface="Arial" panose="020B0604020202020204" pitchFamily="34" charset="0"/>
                          <a:ea typeface="Times New Roman" panose="02020603050405020304" pitchFamily="18" charset="0"/>
                          <a:cs typeface="Arial" panose="020B0604020202020204" pitchFamily="34" charset="0"/>
                        </a:rPr>
                        <a:t>Borrowings</a:t>
                      </a:r>
                      <a:endParaRPr lang="en-ZA" sz="1200" dirty="0">
                        <a:effectLst/>
                        <a:highlight>
                          <a:srgbClr val="00FFFF"/>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pPr algn="ctr"/>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13</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98255405"/>
                  </a:ext>
                </a:extLst>
              </a:tr>
              <a:tr h="159461">
                <a:tc>
                  <a:txBody>
                    <a:bodyPr/>
                    <a:lstStyle/>
                    <a:p>
                      <a:r>
                        <a:rPr lang="en-ZA" sz="1200" dirty="0">
                          <a:solidFill>
                            <a:srgbClr val="000000"/>
                          </a:solidFill>
                          <a:effectLst/>
                          <a:highlight>
                            <a:srgbClr val="FF00FF"/>
                          </a:highlight>
                          <a:latin typeface="Arial" panose="020B0604020202020204" pitchFamily="34" charset="0"/>
                          <a:ea typeface="Times New Roman" panose="02020603050405020304" pitchFamily="18" charset="0"/>
                          <a:cs typeface="Arial" panose="020B0604020202020204" pitchFamily="34" charset="0"/>
                        </a:rPr>
                        <a:t>Income tax payable*</a:t>
                      </a:r>
                      <a:endParaRPr lang="en-ZA" sz="1200" dirty="0">
                        <a:effectLst/>
                        <a:highlight>
                          <a:srgbClr val="FF00FF"/>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3648550348"/>
                  </a:ext>
                </a:extLst>
              </a:tr>
              <a:tr h="202520">
                <a:tc>
                  <a:txBody>
                    <a:bodyPr/>
                    <a:lstStyle/>
                    <a:p>
                      <a:r>
                        <a:rPr lang="en-ZA" sz="1200" dirty="0">
                          <a:solidFill>
                            <a:srgbClr val="000000"/>
                          </a:solidFill>
                          <a:effectLst/>
                          <a:highlight>
                            <a:srgbClr val="00FFFF"/>
                          </a:highlight>
                          <a:latin typeface="Arial" panose="020B0604020202020204" pitchFamily="34" charset="0"/>
                          <a:ea typeface="Times New Roman" panose="02020603050405020304" pitchFamily="18" charset="0"/>
                          <a:cs typeface="Arial" panose="020B0604020202020204" pitchFamily="34" charset="0"/>
                        </a:rPr>
                        <a:t>Dividends payable</a:t>
                      </a:r>
                      <a:endParaRPr lang="en-ZA" sz="1200" dirty="0">
                        <a:effectLst/>
                        <a:highlight>
                          <a:srgbClr val="00FFFF"/>
                        </a:highligh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63996506"/>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25155218"/>
                  </a:ext>
                </a:extLst>
              </a:tr>
              <a:tr h="159461">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Total liabilities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94307309"/>
                  </a:ext>
                </a:extLst>
              </a:tr>
              <a:tr h="135726">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a:noFill/>
                    </a:lnB>
                    <a:solidFill>
                      <a:schemeClr val="bg1"/>
                    </a:solidFill>
                  </a:tcPr>
                </a:tc>
                <a:tc>
                  <a:txBody>
                    <a:bodyPr/>
                    <a:lstStyle/>
                    <a:p>
                      <a:endParaRPr lang="en-ZA" sz="8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a:noFill/>
                    </a:lnB>
                    <a:solidFill>
                      <a:schemeClr val="bg1"/>
                    </a:solidFill>
                  </a:tcPr>
                </a:tc>
                <a:tc>
                  <a:txBody>
                    <a:bodyPr/>
                    <a:lstStyle/>
                    <a:p>
                      <a:endParaRPr lang="en-ZA" sz="800" dirty="0">
                        <a:effectLst/>
                        <a:latin typeface="Arial" panose="020B0604020202020204" pitchFamily="34"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90494631"/>
                  </a:ext>
                </a:extLst>
              </a:tr>
              <a:tr h="167854">
                <a:tc>
                  <a:txBody>
                    <a:bodyPr/>
                    <a:lstStyle/>
                    <a:p>
                      <a:r>
                        <a:rPr lang="en-ZA" sz="12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Total equity and liabilities</a:t>
                      </a:r>
                      <a:endParaRPr lang="en-ZA" sz="120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endParaRPr lang="en-ZA" sz="1200">
                        <a:effectLst/>
                        <a:latin typeface="Arial" panose="020B0604020202020204" pitchFamily="34" charset="0"/>
                        <a:cs typeface="Arial" panose="020B0604020202020204" pitchFamily="34" charset="0"/>
                      </a:endParaRPr>
                    </a:p>
                  </a:txBody>
                  <a:tcPr marL="47496" marR="47496" marT="0" marB="0" anchor="b">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r"/>
                      <a:endParaRPr lang="en-ZA" sz="1200" dirty="0">
                        <a:effectLst/>
                        <a:latin typeface="Arial" panose="020B0604020202020204" pitchFamily="34" charset="0"/>
                        <a:ea typeface="Times New Roman" panose="02020603050405020304" pitchFamily="18" charset="0"/>
                        <a:cs typeface="Arial" panose="020B0604020202020204" pitchFamily="34" charset="0"/>
                      </a:endParaRPr>
                    </a:p>
                  </a:txBody>
                  <a:tcPr marL="47496" marR="47496" marT="0" marB="0" anchor="b">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4282940"/>
                  </a:ext>
                </a:extLst>
              </a:tr>
            </a:tbl>
          </a:graphicData>
        </a:graphic>
      </p:graphicFrame>
      <p:sp>
        <p:nvSpPr>
          <p:cNvPr id="10" name="TextBox 9">
            <a:extLst>
              <a:ext uri="{FF2B5EF4-FFF2-40B4-BE49-F238E27FC236}">
                <a16:creationId xmlns:a16="http://schemas.microsoft.com/office/drawing/2014/main" id="{18D65ACD-FF6E-D720-E4CC-D2E910F62C65}"/>
              </a:ext>
            </a:extLst>
          </p:cNvPr>
          <p:cNvSpPr txBox="1"/>
          <p:nvPr/>
        </p:nvSpPr>
        <p:spPr>
          <a:xfrm>
            <a:off x="5510606" y="64838"/>
            <a:ext cx="6094206"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61223B"/>
                </a:solidFill>
                <a:effectLst/>
                <a:uLnTx/>
                <a:uFillTx/>
                <a:latin typeface="Trebuchet MS" panose="020B0603020202020204" pitchFamily="34" charset="0"/>
                <a:ea typeface="+mn-ea"/>
                <a:cs typeface="Arial" panose="020B0604020202020204" pitchFamily="34" charset="0"/>
              </a:rPr>
              <a:t>Financing activities </a:t>
            </a:r>
            <a:endParaRPr kumimoji="0" lang="en-ZA" sz="1800" b="0" i="0" u="none" strike="noStrike" kern="1200" cap="none" spc="0" normalizeH="0" baseline="0" noProof="0" dirty="0">
              <a:ln>
                <a:noFill/>
              </a:ln>
              <a:solidFill>
                <a:srgbClr val="4D5356"/>
              </a:solidFill>
              <a:effectLst/>
              <a:uLnTx/>
              <a:uFillTx/>
              <a:latin typeface="Trebuchet MS" panose="020B0603020202020204" pitchFamily="34" charset="0"/>
              <a:ea typeface="+mn-ea"/>
              <a:cs typeface="+mn-cs"/>
            </a:endParaRPr>
          </a:p>
        </p:txBody>
      </p:sp>
      <p:sp>
        <p:nvSpPr>
          <p:cNvPr id="5" name="Rectangle: Rounded Corners 4">
            <a:extLst>
              <a:ext uri="{FF2B5EF4-FFF2-40B4-BE49-F238E27FC236}">
                <a16:creationId xmlns:a16="http://schemas.microsoft.com/office/drawing/2014/main" id="{84910007-3A05-2607-6C69-10CA75DD52F1}"/>
              </a:ext>
            </a:extLst>
          </p:cNvPr>
          <p:cNvSpPr/>
          <p:nvPr/>
        </p:nvSpPr>
        <p:spPr>
          <a:xfrm>
            <a:off x="7424032" y="3093543"/>
            <a:ext cx="2736304" cy="1517281"/>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rPr>
              <a:t>+ certain items in SCI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rPr>
              <a:t>(e.g. Profit / loss with sale of assets)</a:t>
            </a:r>
            <a:endParaRPr kumimoji="0" lang="en-ZA"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sp>
        <p:nvSpPr>
          <p:cNvPr id="4" name="Rectangle: Rounded Corners 3">
            <a:extLst>
              <a:ext uri="{FF2B5EF4-FFF2-40B4-BE49-F238E27FC236}">
                <a16:creationId xmlns:a16="http://schemas.microsoft.com/office/drawing/2014/main" id="{533D4D41-564B-E63C-3FCB-4A86B03C8A97}"/>
              </a:ext>
            </a:extLst>
          </p:cNvPr>
          <p:cNvSpPr/>
          <p:nvPr/>
        </p:nvSpPr>
        <p:spPr>
          <a:xfrm>
            <a:off x="7424032" y="4740329"/>
            <a:ext cx="2736304" cy="1517281"/>
          </a:xfrm>
          <a:prstGeom prst="roundRect">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Arial" panose="020B0604020202020204" pitchFamily="34" charset="0"/>
              </a:rPr>
              <a:t>+ certain items in SCI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Arial" panose="020B0604020202020204" pitchFamily="34" charset="0"/>
              </a:rPr>
              <a:t>(</a:t>
            </a:r>
            <a:r>
              <a:rPr kumimoji="0" lang="en-US" sz="2000" b="0" i="0" u="none" strike="noStrike" kern="1200" cap="none" spc="0" normalizeH="0" baseline="0" noProof="0" dirty="0" err="1">
                <a:ln>
                  <a:noFill/>
                </a:ln>
                <a:solidFill>
                  <a:srgbClr val="000000"/>
                </a:solidFill>
                <a:effectLst/>
                <a:uLnTx/>
                <a:uFillTx/>
                <a:latin typeface="Calibri" panose="020F0502020204030204"/>
                <a:ea typeface="+mn-ea"/>
                <a:cs typeface="Arial" panose="020B0604020202020204" pitchFamily="34" charset="0"/>
              </a:rPr>
              <a:t>e.g</a:t>
            </a: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Arial" panose="020B0604020202020204" pitchFamily="34" charset="0"/>
              </a:rPr>
              <a:t> interest)</a:t>
            </a:r>
            <a:endParaRPr kumimoji="0" lang="en-ZA" sz="2000" b="0" i="0" u="none" strike="noStrike" kern="1200" cap="none" spc="0" normalizeH="0" baseline="0" noProof="0" dirty="0">
              <a:ln>
                <a:noFill/>
              </a:ln>
              <a:solidFill>
                <a:srgbClr val="000000"/>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332796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AAA1F79C-2E1E-68AC-F0EB-C3C01F45CA51}"/>
              </a:ext>
            </a:extLst>
          </p:cNvPr>
          <p:cNvSpPr/>
          <p:nvPr/>
        </p:nvSpPr>
        <p:spPr>
          <a:xfrm>
            <a:off x="10564239" y="6400800"/>
            <a:ext cx="1322962" cy="375385"/>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rPr>
              <a:t>Slide 16</a:t>
            </a:r>
            <a:endParaRPr kumimoji="0" lang="en-ZA"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8309971C-6487-FA8F-29B0-444EBC8BA670}"/>
              </a:ext>
            </a:extLst>
          </p:cNvPr>
          <p:cNvPicPr>
            <a:picLocks noChangeAspect="1"/>
          </p:cNvPicPr>
          <p:nvPr/>
        </p:nvPicPr>
        <p:blipFill>
          <a:blip r:embed="rId2"/>
          <a:stretch>
            <a:fillRect/>
          </a:stretch>
        </p:blipFill>
        <p:spPr>
          <a:xfrm>
            <a:off x="5656152" y="4402499"/>
            <a:ext cx="3957018" cy="2185993"/>
          </a:xfrm>
          <a:prstGeom prst="rect">
            <a:avLst/>
          </a:prstGeom>
        </p:spPr>
      </p:pic>
      <p:pic>
        <p:nvPicPr>
          <p:cNvPr id="8" name="Picture 7">
            <a:extLst>
              <a:ext uri="{FF2B5EF4-FFF2-40B4-BE49-F238E27FC236}">
                <a16:creationId xmlns:a16="http://schemas.microsoft.com/office/drawing/2014/main" id="{9BF13783-ECDA-1670-A4B5-6B7851311CCF}"/>
              </a:ext>
            </a:extLst>
          </p:cNvPr>
          <p:cNvPicPr>
            <a:picLocks noChangeAspect="1"/>
          </p:cNvPicPr>
          <p:nvPr/>
        </p:nvPicPr>
        <p:blipFill>
          <a:blip r:embed="rId3"/>
          <a:stretch>
            <a:fillRect/>
          </a:stretch>
        </p:blipFill>
        <p:spPr>
          <a:xfrm>
            <a:off x="7083577" y="112351"/>
            <a:ext cx="5108423" cy="4702839"/>
          </a:xfrm>
          <a:prstGeom prst="rect">
            <a:avLst/>
          </a:prstGeom>
        </p:spPr>
      </p:pic>
      <p:pic>
        <p:nvPicPr>
          <p:cNvPr id="12" name="Picture 11">
            <a:extLst>
              <a:ext uri="{FF2B5EF4-FFF2-40B4-BE49-F238E27FC236}">
                <a16:creationId xmlns:a16="http://schemas.microsoft.com/office/drawing/2014/main" id="{CFADEC17-4124-EF80-8EEA-F110E2325A25}"/>
              </a:ext>
            </a:extLst>
          </p:cNvPr>
          <p:cNvPicPr>
            <a:picLocks noChangeAspect="1"/>
          </p:cNvPicPr>
          <p:nvPr/>
        </p:nvPicPr>
        <p:blipFill>
          <a:blip r:embed="rId4"/>
          <a:stretch>
            <a:fillRect/>
          </a:stretch>
        </p:blipFill>
        <p:spPr>
          <a:xfrm>
            <a:off x="-1" y="-1"/>
            <a:ext cx="4939487" cy="6554499"/>
          </a:xfrm>
          <a:prstGeom prst="rect">
            <a:avLst/>
          </a:prstGeom>
        </p:spPr>
      </p:pic>
      <p:sp>
        <p:nvSpPr>
          <p:cNvPr id="7" name="Title 1">
            <a:extLst>
              <a:ext uri="{FF2B5EF4-FFF2-40B4-BE49-F238E27FC236}">
                <a16:creationId xmlns:a16="http://schemas.microsoft.com/office/drawing/2014/main" id="{98DFB49A-D666-5BEB-C46C-3A0367D68A2D}"/>
              </a:ext>
            </a:extLst>
          </p:cNvPr>
          <p:cNvSpPr txBox="1">
            <a:spLocks/>
          </p:cNvSpPr>
          <p:nvPr/>
        </p:nvSpPr>
        <p:spPr>
          <a:xfrm>
            <a:off x="4508608" y="0"/>
            <a:ext cx="3005847" cy="42983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vert="horz" lIns="91440" tIns="45720" rIns="91440" bIns="45720" rtlCol="0" anchor="t">
            <a:normAutofit fontScale="90000" lnSpcReduction="10000"/>
          </a:bodyPr>
          <a:lstStyle>
            <a:lvl1pPr algn="l" defTabSz="914400" rtl="0" eaLnBrk="1" latinLnBrk="0" hangingPunct="1">
              <a:lnSpc>
                <a:spcPct val="90000"/>
              </a:lnSpc>
              <a:spcBef>
                <a:spcPct val="0"/>
              </a:spcBef>
              <a:buNone/>
              <a:defRPr sz="3200" b="1" i="0" kern="1200">
                <a:solidFill>
                  <a:schemeClr val="accent1"/>
                </a:solidFill>
                <a:latin typeface="Trebuchet MS" panose="020B0703020202090204" pitchFamily="34"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Calibri" panose="020F0502020204030204"/>
                <a:ea typeface="+mj-ea"/>
                <a:cs typeface="Arial" panose="020B0604020202020204" pitchFamily="34" charset="0"/>
              </a:rPr>
              <a:t>Spot the difference</a:t>
            </a:r>
            <a:endParaRPr kumimoji="0" lang="en-ZA" sz="2800" b="1" i="0" u="none" strike="noStrike" kern="1200" cap="none" spc="0" normalizeH="0" baseline="0" noProof="0" dirty="0">
              <a:ln>
                <a:noFill/>
              </a:ln>
              <a:solidFill>
                <a:srgbClr val="FFFFFF"/>
              </a:solidFill>
              <a:effectLst/>
              <a:uLnTx/>
              <a:uFillTx/>
              <a:latin typeface="Calibri" panose="020F0502020204030204"/>
              <a:ea typeface="+mj-ea"/>
              <a:cs typeface="Arial" panose="020B0604020202020204" pitchFamily="34" charset="0"/>
            </a:endParaRPr>
          </a:p>
        </p:txBody>
      </p:sp>
    </p:spTree>
    <p:extLst>
      <p:ext uri="{BB962C8B-B14F-4D97-AF65-F5344CB8AC3E}">
        <p14:creationId xmlns:p14="http://schemas.microsoft.com/office/powerpoint/2010/main" val="1300213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a:xfrm>
            <a:off x="518668" y="294054"/>
            <a:ext cx="8840485" cy="1019176"/>
          </a:xfrm>
        </p:spPr>
        <p:txBody>
          <a:bodyPr>
            <a:normAutofit fontScale="90000"/>
          </a:bodyPr>
          <a:lstStyle/>
          <a:p>
            <a:r>
              <a:rPr lang="en-US" sz="3600" dirty="0">
                <a:latin typeface="Trebuchet MS" panose="020B0603020202020204" pitchFamily="34" charset="0"/>
              </a:rPr>
              <a:t>IAS 7 Statement of cash flows</a:t>
            </a:r>
            <a:br>
              <a:rPr lang="en-US" sz="3600" dirty="0">
                <a:latin typeface="Trebuchet MS" panose="020B0603020202020204" pitchFamily="34" charset="0"/>
              </a:rPr>
            </a:br>
            <a:r>
              <a:rPr lang="en-US" sz="2700" b="1" dirty="0">
                <a:latin typeface="Trebuchet MS" panose="020B0603020202020204" pitchFamily="34" charset="0"/>
                <a:cs typeface="Arial" panose="020B0604020202020204" pitchFamily="34" charset="0"/>
              </a:rPr>
              <a:t>Reporting cash flows from operating activities (.18 – .20)</a:t>
            </a:r>
            <a:endParaRPr lang="en-GB" dirty="0">
              <a:latin typeface="Trebuchet MS" panose="020B0603020202020204" pitchFamily="34" charset="0"/>
            </a:endParaRPr>
          </a:p>
        </p:txBody>
      </p:sp>
      <p:sp>
        <p:nvSpPr>
          <p:cNvPr id="3" name="Rectangle 3">
            <a:extLst>
              <a:ext uri="{FF2B5EF4-FFF2-40B4-BE49-F238E27FC236}">
                <a16:creationId xmlns:a16="http://schemas.microsoft.com/office/drawing/2014/main" id="{CEA924D1-878C-B4D8-2C30-21272B925E26}"/>
              </a:ext>
            </a:extLst>
          </p:cNvPr>
          <p:cNvSpPr txBox="1">
            <a:spLocks noRot="1" noChangeArrowheads="1"/>
          </p:cNvSpPr>
          <p:nvPr/>
        </p:nvSpPr>
        <p:spPr>
          <a:xfrm>
            <a:off x="129449" y="1628800"/>
            <a:ext cx="9068339" cy="4925007"/>
          </a:xfrm>
          <a:prstGeom prst="rect">
            <a:avLst/>
          </a:prstGeom>
          <a:noFill/>
        </p:spPr>
        <p:txBody>
          <a:bodyPr vert="horz" lIns="91440" tIns="45720" rIns="91440" bIns="45720" rtlCol="0" anchor="t">
            <a:no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228600" marR="0" lvl="0" indent="-228600" algn="l" defTabSz="685800" rtl="0" eaLnBrk="1" fontAlgn="auto" latinLnBrk="0" hangingPunct="1">
              <a:lnSpc>
                <a:spcPct val="120000"/>
              </a:lnSpc>
              <a:spcBef>
                <a:spcPts val="1000"/>
              </a:spcBef>
              <a:spcAft>
                <a:spcPts val="0"/>
              </a:spcAft>
              <a:buClr>
                <a:srgbClr val="4D5356"/>
              </a:buClr>
              <a:buSzPct val="100000"/>
              <a:buFont typeface="Arial"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Direct method (recommended) (.18(a))</a:t>
            </a:r>
          </a:p>
          <a:p>
            <a:pPr marL="685800" marR="0" lvl="1" indent="-228600" algn="l" defTabSz="685800" rtl="0" eaLnBrk="1" fontAlgn="auto" latinLnBrk="0" hangingPunct="1">
              <a:lnSpc>
                <a:spcPct val="120000"/>
              </a:lnSpc>
              <a:spcBef>
                <a:spcPts val="500"/>
              </a:spcBef>
              <a:spcAft>
                <a:spcPts val="0"/>
              </a:spcAft>
              <a:buClr>
                <a:srgbClr val="4D5356"/>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Disclose major classes of gross cash receipts and </a:t>
            </a:r>
          </a:p>
          <a:p>
            <a:pPr marL="457200" marR="0" lvl="1" indent="0" algn="l" defTabSz="685800" rtl="0" eaLnBrk="1" fontAlgn="auto" latinLnBrk="0" hangingPunct="1">
              <a:lnSpc>
                <a:spcPct val="120000"/>
              </a:lnSpc>
              <a:spcBef>
                <a:spcPts val="500"/>
              </a:spcBef>
              <a:spcAft>
                <a:spcPts val="0"/>
              </a:spcAft>
              <a:buClr>
                <a:srgbClr val="4D5356"/>
              </a:buClr>
              <a:buSzPct val="100000"/>
              <a:buFont typeface="Arial" panose="020B0604020202020204" pitchFamily="34" charset="0"/>
              <a:buNone/>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	gross cash payments</a:t>
            </a:r>
          </a:p>
          <a:p>
            <a:pPr marL="228600" marR="0" lvl="0" indent="-228600" algn="l" defTabSz="685800" rtl="0" eaLnBrk="1" fontAlgn="auto" latinLnBrk="0" hangingPunct="1">
              <a:lnSpc>
                <a:spcPct val="120000"/>
              </a:lnSpc>
              <a:spcBef>
                <a:spcPts val="1000"/>
              </a:spcBef>
              <a:spcAft>
                <a:spcPts val="0"/>
              </a:spcAft>
              <a:buClr>
                <a:srgbClr val="4D5356"/>
              </a:buClr>
              <a:buSzPct val="100000"/>
              <a:buFont typeface="Arial"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Obtain info (.19):</a:t>
            </a:r>
          </a:p>
          <a:p>
            <a:pPr marL="685800" marR="0" lvl="1" indent="-228600" algn="l" defTabSz="685800" rtl="0" eaLnBrk="1" fontAlgn="auto" latinLnBrk="0" hangingPunct="1">
              <a:lnSpc>
                <a:spcPct val="120000"/>
              </a:lnSpc>
              <a:spcBef>
                <a:spcPts val="500"/>
              </a:spcBef>
              <a:spcAft>
                <a:spcPts val="0"/>
              </a:spcAft>
              <a:buClr>
                <a:srgbClr val="4D5356"/>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From accounting records or</a:t>
            </a:r>
          </a:p>
          <a:p>
            <a:pPr marL="685800" marR="0" lvl="1" indent="-228600" algn="l" defTabSz="685800" rtl="0" eaLnBrk="1" fontAlgn="auto" latinLnBrk="0" hangingPunct="1">
              <a:lnSpc>
                <a:spcPct val="120000"/>
              </a:lnSpc>
              <a:spcBef>
                <a:spcPts val="500"/>
              </a:spcBef>
              <a:spcAft>
                <a:spcPts val="0"/>
              </a:spcAft>
              <a:buClr>
                <a:srgbClr val="4D5356"/>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 by adjusting sales, cost of sales and other SCI </a:t>
            </a:r>
            <a:b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b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 items for:</a:t>
            </a:r>
          </a:p>
          <a:p>
            <a:pPr marL="1143000" marR="0" lvl="2" indent="-228600" algn="l" defTabSz="685800" rtl="0" eaLnBrk="1" fontAlgn="auto" latinLnBrk="0" hangingPunct="1">
              <a:lnSpc>
                <a:spcPct val="120000"/>
              </a:lnSpc>
              <a:spcBef>
                <a:spcPts val="500"/>
              </a:spcBef>
              <a:spcAft>
                <a:spcPts val="0"/>
              </a:spcAft>
              <a:buClr>
                <a:srgbClr val="4D5356"/>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Changes during the period in inventories, operating receivables and payables</a:t>
            </a:r>
          </a:p>
          <a:p>
            <a:pPr marL="1143000" marR="0" lvl="2" indent="-228600" algn="l" defTabSz="685800" rtl="0" eaLnBrk="1" fontAlgn="auto" latinLnBrk="0" hangingPunct="1">
              <a:lnSpc>
                <a:spcPct val="120000"/>
              </a:lnSpc>
              <a:spcBef>
                <a:spcPts val="500"/>
              </a:spcBef>
              <a:spcAft>
                <a:spcPts val="0"/>
              </a:spcAft>
              <a:buClr>
                <a:srgbClr val="4D5356"/>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Other non-cash items</a:t>
            </a:r>
          </a:p>
          <a:p>
            <a:pPr marL="1143000" marR="0" lvl="2" indent="-228600" algn="l" defTabSz="685800" rtl="0" eaLnBrk="1" fontAlgn="auto" latinLnBrk="0" hangingPunct="1">
              <a:lnSpc>
                <a:spcPct val="120000"/>
              </a:lnSpc>
              <a:spcBef>
                <a:spcPts val="500"/>
              </a:spcBef>
              <a:spcAft>
                <a:spcPts val="0"/>
              </a:spcAft>
              <a:buClr>
                <a:srgbClr val="4D5356"/>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Other items for which the cash effects are investing or financing cash flows</a:t>
            </a:r>
          </a:p>
        </p:txBody>
      </p:sp>
      <p:sp>
        <p:nvSpPr>
          <p:cNvPr id="4" name="Oval 3">
            <a:extLst>
              <a:ext uri="{FF2B5EF4-FFF2-40B4-BE49-F238E27FC236}">
                <a16:creationId xmlns:a16="http://schemas.microsoft.com/office/drawing/2014/main" id="{3AF4E2E5-9E0A-7435-9336-B1284A992DBD}"/>
              </a:ext>
            </a:extLst>
          </p:cNvPr>
          <p:cNvSpPr/>
          <p:nvPr/>
        </p:nvSpPr>
        <p:spPr>
          <a:xfrm>
            <a:off x="10499465" y="6400800"/>
            <a:ext cx="1387736" cy="375385"/>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rPr>
              <a:t>Slide 17</a:t>
            </a:r>
            <a:endParaRPr kumimoji="0" lang="en-ZA"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5" name="Rectangle: Rounded Corners 4">
            <a:extLst>
              <a:ext uri="{FF2B5EF4-FFF2-40B4-BE49-F238E27FC236}">
                <a16:creationId xmlns:a16="http://schemas.microsoft.com/office/drawing/2014/main" id="{C5F38E74-4286-1576-4428-29B0A111E90F}"/>
              </a:ext>
            </a:extLst>
          </p:cNvPr>
          <p:cNvSpPr/>
          <p:nvPr/>
        </p:nvSpPr>
        <p:spPr>
          <a:xfrm>
            <a:off x="2106351" y="1295712"/>
            <a:ext cx="2700169" cy="350607"/>
          </a:xfrm>
          <a:custGeom>
            <a:avLst/>
            <a:gdLst>
              <a:gd name="csX0" fmla="*/ 0 w 2700169"/>
              <a:gd name="csY0" fmla="*/ 58436 h 350607"/>
              <a:gd name="csX1" fmla="*/ 58436 w 2700169"/>
              <a:gd name="csY1" fmla="*/ 0 h 350607"/>
              <a:gd name="csX2" fmla="*/ 600928 w 2700169"/>
              <a:gd name="csY2" fmla="*/ 0 h 350607"/>
              <a:gd name="csX3" fmla="*/ 1117588 w 2700169"/>
              <a:gd name="csY3" fmla="*/ 0 h 350607"/>
              <a:gd name="csX4" fmla="*/ 1556748 w 2700169"/>
              <a:gd name="csY4" fmla="*/ 0 h 350607"/>
              <a:gd name="csX5" fmla="*/ 2073408 w 2700169"/>
              <a:gd name="csY5" fmla="*/ 0 h 350607"/>
              <a:gd name="csX6" fmla="*/ 2641733 w 2700169"/>
              <a:gd name="csY6" fmla="*/ 0 h 350607"/>
              <a:gd name="csX7" fmla="*/ 2700169 w 2700169"/>
              <a:gd name="csY7" fmla="*/ 58436 h 350607"/>
              <a:gd name="csX8" fmla="*/ 2700169 w 2700169"/>
              <a:gd name="csY8" fmla="*/ 292171 h 350607"/>
              <a:gd name="csX9" fmla="*/ 2641733 w 2700169"/>
              <a:gd name="csY9" fmla="*/ 350607 h 350607"/>
              <a:gd name="csX10" fmla="*/ 2125074 w 2700169"/>
              <a:gd name="csY10" fmla="*/ 350607 h 350607"/>
              <a:gd name="csX11" fmla="*/ 1582581 w 2700169"/>
              <a:gd name="csY11" fmla="*/ 350607 h 350607"/>
              <a:gd name="csX12" fmla="*/ 1065922 w 2700169"/>
              <a:gd name="csY12" fmla="*/ 350607 h 350607"/>
              <a:gd name="csX13" fmla="*/ 58436 w 2700169"/>
              <a:gd name="csY13" fmla="*/ 350607 h 350607"/>
              <a:gd name="csX14" fmla="*/ 0 w 2700169"/>
              <a:gd name="csY14" fmla="*/ 292171 h 350607"/>
              <a:gd name="csX15" fmla="*/ 0 w 2700169"/>
              <a:gd name="csY15" fmla="*/ 58436 h 3506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700169" h="350607" fill="none" extrusionOk="0">
                <a:moveTo>
                  <a:pt x="0" y="58436"/>
                </a:moveTo>
                <a:cubicBezTo>
                  <a:pt x="8006" y="30497"/>
                  <a:pt x="21623" y="1825"/>
                  <a:pt x="58436" y="0"/>
                </a:cubicBezTo>
                <a:cubicBezTo>
                  <a:pt x="234701" y="-39391"/>
                  <a:pt x="475893" y="52918"/>
                  <a:pt x="600928" y="0"/>
                </a:cubicBezTo>
                <a:cubicBezTo>
                  <a:pt x="725963" y="-52918"/>
                  <a:pt x="923594" y="20136"/>
                  <a:pt x="1117588" y="0"/>
                </a:cubicBezTo>
                <a:cubicBezTo>
                  <a:pt x="1311582" y="-20136"/>
                  <a:pt x="1397179" y="37615"/>
                  <a:pt x="1556748" y="0"/>
                </a:cubicBezTo>
                <a:cubicBezTo>
                  <a:pt x="1716317" y="-37615"/>
                  <a:pt x="1829104" y="24587"/>
                  <a:pt x="2073408" y="0"/>
                </a:cubicBezTo>
                <a:cubicBezTo>
                  <a:pt x="2317712" y="-24587"/>
                  <a:pt x="2389620" y="16738"/>
                  <a:pt x="2641733" y="0"/>
                </a:cubicBezTo>
                <a:cubicBezTo>
                  <a:pt x="2677950" y="5118"/>
                  <a:pt x="2706462" y="24833"/>
                  <a:pt x="2700169" y="58436"/>
                </a:cubicBezTo>
                <a:cubicBezTo>
                  <a:pt x="2716465" y="119845"/>
                  <a:pt x="2698634" y="210269"/>
                  <a:pt x="2700169" y="292171"/>
                </a:cubicBezTo>
                <a:cubicBezTo>
                  <a:pt x="2697532" y="333032"/>
                  <a:pt x="2672432" y="357706"/>
                  <a:pt x="2641733" y="350607"/>
                </a:cubicBezTo>
                <a:cubicBezTo>
                  <a:pt x="2522732" y="396149"/>
                  <a:pt x="2244503" y="317017"/>
                  <a:pt x="2125074" y="350607"/>
                </a:cubicBezTo>
                <a:cubicBezTo>
                  <a:pt x="2005645" y="384197"/>
                  <a:pt x="1762822" y="313460"/>
                  <a:pt x="1582581" y="350607"/>
                </a:cubicBezTo>
                <a:cubicBezTo>
                  <a:pt x="1402340" y="387754"/>
                  <a:pt x="1286676" y="339546"/>
                  <a:pt x="1065922" y="350607"/>
                </a:cubicBezTo>
                <a:cubicBezTo>
                  <a:pt x="845168" y="361668"/>
                  <a:pt x="356216" y="289839"/>
                  <a:pt x="58436" y="350607"/>
                </a:cubicBezTo>
                <a:cubicBezTo>
                  <a:pt x="25861" y="354845"/>
                  <a:pt x="-5482" y="330344"/>
                  <a:pt x="0" y="292171"/>
                </a:cubicBezTo>
                <a:cubicBezTo>
                  <a:pt x="-12520" y="217883"/>
                  <a:pt x="24992" y="171032"/>
                  <a:pt x="0" y="58436"/>
                </a:cubicBezTo>
                <a:close/>
              </a:path>
              <a:path w="2700169" h="350607" stroke="0" extrusionOk="0">
                <a:moveTo>
                  <a:pt x="0" y="58436"/>
                </a:moveTo>
                <a:cubicBezTo>
                  <a:pt x="-1813" y="29263"/>
                  <a:pt x="31393" y="-3537"/>
                  <a:pt x="58436" y="0"/>
                </a:cubicBezTo>
                <a:cubicBezTo>
                  <a:pt x="170400" y="-34722"/>
                  <a:pt x="406190" y="23197"/>
                  <a:pt x="600928" y="0"/>
                </a:cubicBezTo>
                <a:cubicBezTo>
                  <a:pt x="795666" y="-23197"/>
                  <a:pt x="872954" y="17552"/>
                  <a:pt x="1117588" y="0"/>
                </a:cubicBezTo>
                <a:cubicBezTo>
                  <a:pt x="1362222" y="-17552"/>
                  <a:pt x="1462330" y="227"/>
                  <a:pt x="1634247" y="0"/>
                </a:cubicBezTo>
                <a:cubicBezTo>
                  <a:pt x="1806164" y="-227"/>
                  <a:pt x="2036614" y="30405"/>
                  <a:pt x="2150907" y="0"/>
                </a:cubicBezTo>
                <a:cubicBezTo>
                  <a:pt x="2265200" y="-30405"/>
                  <a:pt x="2479181" y="25167"/>
                  <a:pt x="2641733" y="0"/>
                </a:cubicBezTo>
                <a:cubicBezTo>
                  <a:pt x="2675153" y="-261"/>
                  <a:pt x="2697092" y="19613"/>
                  <a:pt x="2700169" y="58436"/>
                </a:cubicBezTo>
                <a:cubicBezTo>
                  <a:pt x="2726043" y="131340"/>
                  <a:pt x="2694356" y="201051"/>
                  <a:pt x="2700169" y="292171"/>
                </a:cubicBezTo>
                <a:cubicBezTo>
                  <a:pt x="2693229" y="326455"/>
                  <a:pt x="2674859" y="343571"/>
                  <a:pt x="2641733" y="350607"/>
                </a:cubicBezTo>
                <a:cubicBezTo>
                  <a:pt x="2424800" y="388665"/>
                  <a:pt x="2276859" y="313073"/>
                  <a:pt x="2150907" y="350607"/>
                </a:cubicBezTo>
                <a:cubicBezTo>
                  <a:pt x="2024955" y="388141"/>
                  <a:pt x="1722830" y="299351"/>
                  <a:pt x="1608414" y="350607"/>
                </a:cubicBezTo>
                <a:cubicBezTo>
                  <a:pt x="1493998" y="401863"/>
                  <a:pt x="1296289" y="301497"/>
                  <a:pt x="1040089" y="350607"/>
                </a:cubicBezTo>
                <a:cubicBezTo>
                  <a:pt x="783890" y="399717"/>
                  <a:pt x="746730" y="336874"/>
                  <a:pt x="575095" y="350607"/>
                </a:cubicBezTo>
                <a:cubicBezTo>
                  <a:pt x="403460" y="364340"/>
                  <a:pt x="176494" y="338162"/>
                  <a:pt x="58436" y="350607"/>
                </a:cubicBezTo>
                <a:cubicBezTo>
                  <a:pt x="32249" y="348061"/>
                  <a:pt x="-2218" y="324017"/>
                  <a:pt x="0" y="292171"/>
                </a:cubicBezTo>
                <a:cubicBezTo>
                  <a:pt x="-23954" y="234204"/>
                  <a:pt x="18613" y="143322"/>
                  <a:pt x="0" y="58436"/>
                </a:cubicBezTo>
                <a:close/>
              </a:path>
            </a:pathLst>
          </a:custGeom>
          <a:ln>
            <a:extLst>
              <a:ext uri="{C807C97D-BFC1-408E-A445-0C87EB9F89A2}">
                <ask:lineSketchStyleProps xmlns:ask="http://schemas.microsoft.com/office/drawing/2018/sketchyshapes" sd="2842418190">
                  <a:prstGeom prst="roundRect">
                    <a:avLst/>
                  </a:prstGeom>
                  <ask:type>
                    <ask:lineSketchScribble/>
                  </ask:type>
                </ask:lineSketchStyleProps>
              </a:ext>
            </a:extLst>
          </a:ln>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mn-cs"/>
              </a:rPr>
              <a:t>School: indirect method</a:t>
            </a:r>
            <a:endPar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A1D3EE53-00DD-55FE-4834-5129F5F3C281}"/>
              </a:ext>
            </a:extLst>
          </p:cNvPr>
          <p:cNvPicPr>
            <a:picLocks noChangeAspect="1"/>
          </p:cNvPicPr>
          <p:nvPr/>
        </p:nvPicPr>
        <p:blipFill>
          <a:blip r:embed="rId2"/>
          <a:stretch>
            <a:fillRect/>
          </a:stretch>
        </p:blipFill>
        <p:spPr>
          <a:xfrm>
            <a:off x="5953857" y="2465958"/>
            <a:ext cx="6238143" cy="1512655"/>
          </a:xfrm>
          <a:prstGeom prst="rect">
            <a:avLst/>
          </a:prstGeom>
        </p:spPr>
      </p:pic>
    </p:spTree>
    <p:extLst>
      <p:ext uri="{BB962C8B-B14F-4D97-AF65-F5344CB8AC3E}">
        <p14:creationId xmlns:p14="http://schemas.microsoft.com/office/powerpoint/2010/main" val="1413749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7">
            <a:extLst>
              <a:ext uri="{FF2B5EF4-FFF2-40B4-BE49-F238E27FC236}">
                <a16:creationId xmlns:a16="http://schemas.microsoft.com/office/drawing/2014/main" id="{0EE71D1A-E186-AA0D-5545-E9EA6D3DF905}"/>
              </a:ext>
            </a:extLst>
          </p:cNvPr>
          <p:cNvSpPr>
            <a:spLocks noGrp="1"/>
          </p:cNvSpPr>
          <p:nvPr>
            <p:ph type="title"/>
          </p:nvPr>
        </p:nvSpPr>
        <p:spPr>
          <a:xfrm>
            <a:off x="518668" y="294054"/>
            <a:ext cx="8840485" cy="1019176"/>
          </a:xfrm>
        </p:spPr>
        <p:txBody>
          <a:bodyPr>
            <a:normAutofit fontScale="90000"/>
          </a:bodyPr>
          <a:lstStyle/>
          <a:p>
            <a:r>
              <a:rPr lang="en-US" sz="3600" dirty="0">
                <a:latin typeface="Trebuchet MS" panose="020B0603020202020204" pitchFamily="34" charset="0"/>
              </a:rPr>
              <a:t>IAS 7 Statement of cash flows</a:t>
            </a:r>
            <a:br>
              <a:rPr lang="en-US" sz="3600" dirty="0">
                <a:latin typeface="Trebuchet MS" panose="020B0603020202020204" pitchFamily="34" charset="0"/>
              </a:rPr>
            </a:br>
            <a:r>
              <a:rPr lang="en-US" sz="2700" b="1" dirty="0">
                <a:latin typeface="Trebuchet MS" panose="020B0603020202020204" pitchFamily="34" charset="0"/>
                <a:cs typeface="Arial" panose="020B0604020202020204" pitchFamily="34" charset="0"/>
              </a:rPr>
              <a:t>Reporting cash flows from operating activities (.18 – .20)</a:t>
            </a:r>
            <a:endParaRPr lang="en-GB" dirty="0">
              <a:latin typeface="Trebuchet MS" panose="020B0603020202020204" pitchFamily="34" charset="0"/>
            </a:endParaRPr>
          </a:p>
        </p:txBody>
      </p:sp>
      <p:sp>
        <p:nvSpPr>
          <p:cNvPr id="6" name="TextBox 5">
            <a:extLst>
              <a:ext uri="{FF2B5EF4-FFF2-40B4-BE49-F238E27FC236}">
                <a16:creationId xmlns:a16="http://schemas.microsoft.com/office/drawing/2014/main" id="{6259B2AA-F577-32D7-4FBA-EC02B9F925DC}"/>
              </a:ext>
            </a:extLst>
          </p:cNvPr>
          <p:cNvSpPr txBox="1"/>
          <p:nvPr/>
        </p:nvSpPr>
        <p:spPr>
          <a:xfrm>
            <a:off x="300824" y="1713519"/>
            <a:ext cx="11091523" cy="193899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Indirect method (.18(b)) (only take note of existence)</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Determine net cash flow from operating activities by adjusting profit/loss for the effects of (.20):</a:t>
            </a:r>
          </a:p>
          <a:p>
            <a:pPr marL="12573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Changes during the period in inventories, operating receivables and payables</a:t>
            </a:r>
          </a:p>
          <a:p>
            <a:pPr marL="12573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Non-cash items</a:t>
            </a:r>
          </a:p>
          <a:p>
            <a:pPr marL="12573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Any deferrals or accruals of past or future operating cash receipts or payments</a:t>
            </a:r>
          </a:p>
          <a:p>
            <a:pPr marL="12573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Other items for which the cash effects are investing or financing cash flows</a:t>
            </a:r>
          </a:p>
        </p:txBody>
      </p:sp>
      <p:sp>
        <p:nvSpPr>
          <p:cNvPr id="7" name="Rectangle: Rounded Corners 6">
            <a:extLst>
              <a:ext uri="{FF2B5EF4-FFF2-40B4-BE49-F238E27FC236}">
                <a16:creationId xmlns:a16="http://schemas.microsoft.com/office/drawing/2014/main" id="{BCBB0975-9A4B-3EBB-2CFE-0826C11E54C1}"/>
              </a:ext>
            </a:extLst>
          </p:cNvPr>
          <p:cNvSpPr/>
          <p:nvPr/>
        </p:nvSpPr>
        <p:spPr>
          <a:xfrm>
            <a:off x="3588825" y="4275181"/>
            <a:ext cx="3511222" cy="350607"/>
          </a:xfrm>
          <a:custGeom>
            <a:avLst/>
            <a:gdLst>
              <a:gd name="csX0" fmla="*/ 0 w 3511222"/>
              <a:gd name="csY0" fmla="*/ 58436 h 350607"/>
              <a:gd name="csX1" fmla="*/ 58436 w 3511222"/>
              <a:gd name="csY1" fmla="*/ 0 h 350607"/>
              <a:gd name="csX2" fmla="*/ 658105 w 3511222"/>
              <a:gd name="csY2" fmla="*/ 0 h 350607"/>
              <a:gd name="csX3" fmla="*/ 1223830 w 3511222"/>
              <a:gd name="csY3" fmla="*/ 0 h 350607"/>
              <a:gd name="csX4" fmla="*/ 1755611 w 3511222"/>
              <a:gd name="csY4" fmla="*/ 0 h 350607"/>
              <a:gd name="csX5" fmla="*/ 2321336 w 3511222"/>
              <a:gd name="csY5" fmla="*/ 0 h 350607"/>
              <a:gd name="csX6" fmla="*/ 2954948 w 3511222"/>
              <a:gd name="csY6" fmla="*/ 0 h 350607"/>
              <a:gd name="csX7" fmla="*/ 3452786 w 3511222"/>
              <a:gd name="csY7" fmla="*/ 0 h 350607"/>
              <a:gd name="csX8" fmla="*/ 3511222 w 3511222"/>
              <a:gd name="csY8" fmla="*/ 58436 h 350607"/>
              <a:gd name="csX9" fmla="*/ 3511222 w 3511222"/>
              <a:gd name="csY9" fmla="*/ 292171 h 350607"/>
              <a:gd name="csX10" fmla="*/ 3452786 w 3511222"/>
              <a:gd name="csY10" fmla="*/ 350607 h 350607"/>
              <a:gd name="csX11" fmla="*/ 2819174 w 3511222"/>
              <a:gd name="csY11" fmla="*/ 350607 h 350607"/>
              <a:gd name="csX12" fmla="*/ 2287393 w 3511222"/>
              <a:gd name="csY12" fmla="*/ 350607 h 350607"/>
              <a:gd name="csX13" fmla="*/ 1755611 w 3511222"/>
              <a:gd name="csY13" fmla="*/ 350607 h 350607"/>
              <a:gd name="csX14" fmla="*/ 1257773 w 3511222"/>
              <a:gd name="csY14" fmla="*/ 350607 h 350607"/>
              <a:gd name="csX15" fmla="*/ 658105 w 3511222"/>
              <a:gd name="csY15" fmla="*/ 350607 h 350607"/>
              <a:gd name="csX16" fmla="*/ 58436 w 3511222"/>
              <a:gd name="csY16" fmla="*/ 350607 h 350607"/>
              <a:gd name="csX17" fmla="*/ 0 w 3511222"/>
              <a:gd name="csY17" fmla="*/ 292171 h 350607"/>
              <a:gd name="csX18" fmla="*/ 0 w 3511222"/>
              <a:gd name="csY18" fmla="*/ 58436 h 3506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11222" h="350607" fill="none" extrusionOk="0">
                <a:moveTo>
                  <a:pt x="0" y="58436"/>
                </a:moveTo>
                <a:cubicBezTo>
                  <a:pt x="3424" y="22958"/>
                  <a:pt x="21189" y="-3036"/>
                  <a:pt x="58436" y="0"/>
                </a:cubicBezTo>
                <a:cubicBezTo>
                  <a:pt x="291777" y="-60862"/>
                  <a:pt x="431159" y="49500"/>
                  <a:pt x="658105" y="0"/>
                </a:cubicBezTo>
                <a:cubicBezTo>
                  <a:pt x="885051" y="-49500"/>
                  <a:pt x="1100899" y="64174"/>
                  <a:pt x="1223830" y="0"/>
                </a:cubicBezTo>
                <a:cubicBezTo>
                  <a:pt x="1346761" y="-64174"/>
                  <a:pt x="1551798" y="20037"/>
                  <a:pt x="1755611" y="0"/>
                </a:cubicBezTo>
                <a:cubicBezTo>
                  <a:pt x="1959424" y="-20037"/>
                  <a:pt x="2195917" y="55014"/>
                  <a:pt x="2321336" y="0"/>
                </a:cubicBezTo>
                <a:cubicBezTo>
                  <a:pt x="2446755" y="-55014"/>
                  <a:pt x="2709701" y="67611"/>
                  <a:pt x="2954948" y="0"/>
                </a:cubicBezTo>
                <a:cubicBezTo>
                  <a:pt x="3200195" y="-67611"/>
                  <a:pt x="3263631" y="262"/>
                  <a:pt x="3452786" y="0"/>
                </a:cubicBezTo>
                <a:cubicBezTo>
                  <a:pt x="3482422" y="8588"/>
                  <a:pt x="3509648" y="33262"/>
                  <a:pt x="3511222" y="58436"/>
                </a:cubicBezTo>
                <a:cubicBezTo>
                  <a:pt x="3521017" y="150609"/>
                  <a:pt x="3503066" y="195917"/>
                  <a:pt x="3511222" y="292171"/>
                </a:cubicBezTo>
                <a:cubicBezTo>
                  <a:pt x="3503112" y="323662"/>
                  <a:pt x="3486960" y="346225"/>
                  <a:pt x="3452786" y="350607"/>
                </a:cubicBezTo>
                <a:cubicBezTo>
                  <a:pt x="3153235" y="359468"/>
                  <a:pt x="2981649" y="294922"/>
                  <a:pt x="2819174" y="350607"/>
                </a:cubicBezTo>
                <a:cubicBezTo>
                  <a:pt x="2656699" y="406292"/>
                  <a:pt x="2442048" y="335419"/>
                  <a:pt x="2287393" y="350607"/>
                </a:cubicBezTo>
                <a:cubicBezTo>
                  <a:pt x="2132738" y="365795"/>
                  <a:pt x="1866944" y="300025"/>
                  <a:pt x="1755611" y="350607"/>
                </a:cubicBezTo>
                <a:cubicBezTo>
                  <a:pt x="1644278" y="401189"/>
                  <a:pt x="1471395" y="326404"/>
                  <a:pt x="1257773" y="350607"/>
                </a:cubicBezTo>
                <a:cubicBezTo>
                  <a:pt x="1044151" y="374810"/>
                  <a:pt x="882816" y="292630"/>
                  <a:pt x="658105" y="350607"/>
                </a:cubicBezTo>
                <a:cubicBezTo>
                  <a:pt x="433394" y="408584"/>
                  <a:pt x="325125" y="307686"/>
                  <a:pt x="58436" y="350607"/>
                </a:cubicBezTo>
                <a:cubicBezTo>
                  <a:pt x="31808" y="344659"/>
                  <a:pt x="855" y="320777"/>
                  <a:pt x="0" y="292171"/>
                </a:cubicBezTo>
                <a:cubicBezTo>
                  <a:pt x="-9166" y="195490"/>
                  <a:pt x="15226" y="127257"/>
                  <a:pt x="0" y="58436"/>
                </a:cubicBezTo>
                <a:close/>
              </a:path>
              <a:path w="3511222" h="350607" stroke="0" extrusionOk="0">
                <a:moveTo>
                  <a:pt x="0" y="58436"/>
                </a:moveTo>
                <a:cubicBezTo>
                  <a:pt x="-1813" y="29263"/>
                  <a:pt x="31393" y="-3537"/>
                  <a:pt x="58436" y="0"/>
                </a:cubicBezTo>
                <a:cubicBezTo>
                  <a:pt x="333595" y="-63743"/>
                  <a:pt x="465502" y="30033"/>
                  <a:pt x="658105" y="0"/>
                </a:cubicBezTo>
                <a:cubicBezTo>
                  <a:pt x="850708" y="-30033"/>
                  <a:pt x="1096927" y="31707"/>
                  <a:pt x="1223830" y="0"/>
                </a:cubicBezTo>
                <a:cubicBezTo>
                  <a:pt x="1350734" y="-31707"/>
                  <a:pt x="1571103" y="62596"/>
                  <a:pt x="1789555" y="0"/>
                </a:cubicBezTo>
                <a:cubicBezTo>
                  <a:pt x="2008008" y="-62596"/>
                  <a:pt x="2108116" y="62726"/>
                  <a:pt x="2355280" y="0"/>
                </a:cubicBezTo>
                <a:cubicBezTo>
                  <a:pt x="2602445" y="-62726"/>
                  <a:pt x="2748400" y="29152"/>
                  <a:pt x="2921004" y="0"/>
                </a:cubicBezTo>
                <a:cubicBezTo>
                  <a:pt x="3093608" y="-29152"/>
                  <a:pt x="3220769" y="14339"/>
                  <a:pt x="3452786" y="0"/>
                </a:cubicBezTo>
                <a:cubicBezTo>
                  <a:pt x="3488616" y="-2503"/>
                  <a:pt x="3512139" y="33013"/>
                  <a:pt x="3511222" y="58436"/>
                </a:cubicBezTo>
                <a:cubicBezTo>
                  <a:pt x="3538311" y="142870"/>
                  <a:pt x="3484714" y="179949"/>
                  <a:pt x="3511222" y="292171"/>
                </a:cubicBezTo>
                <a:cubicBezTo>
                  <a:pt x="3509444" y="319008"/>
                  <a:pt x="3476069" y="349569"/>
                  <a:pt x="3452786" y="350607"/>
                </a:cubicBezTo>
                <a:cubicBezTo>
                  <a:pt x="3190177" y="380072"/>
                  <a:pt x="3015069" y="286605"/>
                  <a:pt x="2887061" y="350607"/>
                </a:cubicBezTo>
                <a:cubicBezTo>
                  <a:pt x="2759054" y="414609"/>
                  <a:pt x="2554634" y="288784"/>
                  <a:pt x="2253449" y="350607"/>
                </a:cubicBezTo>
                <a:cubicBezTo>
                  <a:pt x="1952264" y="412430"/>
                  <a:pt x="1986787" y="307266"/>
                  <a:pt x="1755611" y="350607"/>
                </a:cubicBezTo>
                <a:cubicBezTo>
                  <a:pt x="1524435" y="393948"/>
                  <a:pt x="1430332" y="323670"/>
                  <a:pt x="1257773" y="350607"/>
                </a:cubicBezTo>
                <a:cubicBezTo>
                  <a:pt x="1085214" y="377544"/>
                  <a:pt x="799889" y="312311"/>
                  <a:pt x="658105" y="350607"/>
                </a:cubicBezTo>
                <a:cubicBezTo>
                  <a:pt x="516321" y="388903"/>
                  <a:pt x="188889" y="333248"/>
                  <a:pt x="58436" y="350607"/>
                </a:cubicBezTo>
                <a:cubicBezTo>
                  <a:pt x="26223" y="352952"/>
                  <a:pt x="8355" y="325808"/>
                  <a:pt x="0" y="292171"/>
                </a:cubicBezTo>
                <a:cubicBezTo>
                  <a:pt x="-7824" y="193200"/>
                  <a:pt x="20054" y="151517"/>
                  <a:pt x="0" y="58436"/>
                </a:cubicBezTo>
                <a:close/>
              </a:path>
            </a:pathLst>
          </a:custGeom>
          <a:ln>
            <a:extLst>
              <a:ext uri="{C807C97D-BFC1-408E-A445-0C87EB9F89A2}">
                <ask:lineSketchStyleProps xmlns:ask="http://schemas.microsoft.com/office/drawing/2018/sketchyshapes" sd="2842418190">
                  <a:prstGeom prst="roundRect">
                    <a:avLst/>
                  </a:prstGeom>
                  <ask:type>
                    <ask:lineSketchScribble/>
                  </ask:type>
                </ask:lineSketchStyleProps>
              </a:ext>
            </a:extLst>
          </a:ln>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4D5356"/>
                </a:solidFill>
                <a:effectLst/>
                <a:uLnTx/>
                <a:uFillTx/>
                <a:latin typeface="Calibri" panose="020F0502020204030204"/>
                <a:ea typeface="+mn-ea"/>
                <a:cs typeface="+mn-cs"/>
              </a:rPr>
              <a:t>See question 2</a:t>
            </a:r>
            <a:endPar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D4E901B6-0BEC-79FD-7787-6D9960BC054B}"/>
              </a:ext>
            </a:extLst>
          </p:cNvPr>
          <p:cNvSpPr/>
          <p:nvPr/>
        </p:nvSpPr>
        <p:spPr>
          <a:xfrm>
            <a:off x="10499465" y="6400800"/>
            <a:ext cx="1387736" cy="375385"/>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rPr>
              <a:t>Slide 18</a:t>
            </a:r>
            <a:endParaRPr kumimoji="0" lang="en-ZA"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9287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a:xfrm>
            <a:off x="518668" y="294054"/>
            <a:ext cx="8840485" cy="1019176"/>
          </a:xfrm>
        </p:spPr>
        <p:txBody>
          <a:bodyPr>
            <a:normAutofit/>
          </a:bodyPr>
          <a:lstStyle/>
          <a:p>
            <a:r>
              <a:rPr lang="en-US" sz="3600" dirty="0">
                <a:latin typeface="Trebuchet MS" panose="020B0603020202020204" pitchFamily="34" charset="0"/>
              </a:rPr>
              <a:t>IAS 7 Statement of cash flows</a:t>
            </a:r>
            <a:br>
              <a:rPr lang="en-US" dirty="0">
                <a:latin typeface="Trebuchet MS" panose="020B0603020202020204" pitchFamily="34" charset="0"/>
              </a:rPr>
            </a:br>
            <a:r>
              <a:rPr lang="en-US" sz="2200" b="1" dirty="0">
                <a:latin typeface="Trebuchet MS" panose="020B0603020202020204" pitchFamily="34" charset="0"/>
                <a:cs typeface="Arial" panose="020B0604020202020204" pitchFamily="34" charset="0"/>
              </a:rPr>
              <a:t>Reporting cash flows from investing and financing activities (.21)</a:t>
            </a:r>
            <a:endParaRPr lang="en-GB" dirty="0">
              <a:latin typeface="Trebuchet MS" panose="020B0603020202020204" pitchFamily="34" charset="0"/>
            </a:endParaRPr>
          </a:p>
        </p:txBody>
      </p:sp>
      <p:sp>
        <p:nvSpPr>
          <p:cNvPr id="2" name="Rectangle 3">
            <a:extLst>
              <a:ext uri="{FF2B5EF4-FFF2-40B4-BE49-F238E27FC236}">
                <a16:creationId xmlns:a16="http://schemas.microsoft.com/office/drawing/2014/main" id="{F2DFF9F5-C436-718B-D064-29AB2D7D4D05}"/>
              </a:ext>
            </a:extLst>
          </p:cNvPr>
          <p:cNvSpPr>
            <a:spLocks noGrp="1" noRot="1" noChangeArrowheads="1"/>
          </p:cNvSpPr>
          <p:nvPr>
            <p:ph idx="1"/>
          </p:nvPr>
        </p:nvSpPr>
        <p:spPr>
          <a:xfrm>
            <a:off x="457201" y="1644595"/>
            <a:ext cx="10537114" cy="1163151"/>
          </a:xfrm>
        </p:spPr>
        <p:txBody>
          <a:bodyPr>
            <a:normAutofit/>
          </a:bodyPr>
          <a:lstStyle/>
          <a:p>
            <a:pPr eaLnBrk="1" hangingPunct="1">
              <a:buClr>
                <a:schemeClr val="tx1"/>
              </a:buClr>
              <a:buFont typeface="Arial" charset="0"/>
              <a:buChar char="►"/>
              <a:defRPr/>
            </a:pPr>
            <a:r>
              <a:rPr lang="en-US" sz="2000" dirty="0">
                <a:latin typeface="+mn-lt"/>
                <a:cs typeface="Arial" panose="020B0604020202020204" pitchFamily="34" charset="0"/>
              </a:rPr>
              <a:t>Disclose major categories of gross cash receipts and payments arising from investing and financing activities separately (except to the extent that cash flows described in par.22 – .24 are allowed to be reported on a net basis)</a:t>
            </a:r>
          </a:p>
        </p:txBody>
      </p:sp>
      <p:sp>
        <p:nvSpPr>
          <p:cNvPr id="3" name="Oval 2">
            <a:extLst>
              <a:ext uri="{FF2B5EF4-FFF2-40B4-BE49-F238E27FC236}">
                <a16:creationId xmlns:a16="http://schemas.microsoft.com/office/drawing/2014/main" id="{372A2A23-14C3-FA8A-EF12-7ABD3B39C5E4}"/>
              </a:ext>
            </a:extLst>
          </p:cNvPr>
          <p:cNvSpPr/>
          <p:nvPr/>
        </p:nvSpPr>
        <p:spPr>
          <a:xfrm>
            <a:off x="10499465" y="6400800"/>
            <a:ext cx="1387736" cy="375385"/>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rPr>
              <a:t>Slide </a:t>
            </a:r>
            <a:r>
              <a:rPr lang="en-US" dirty="0">
                <a:solidFill>
                  <a:srgbClr val="FFFFFF"/>
                </a:solidFill>
                <a:latin typeface="Calibri" panose="020F0502020204030204"/>
              </a:rPr>
              <a:t>19</a:t>
            </a:r>
            <a:endParaRPr kumimoji="0" lang="en-ZA"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65A8BBDA-13B1-A8A2-2E0D-C8240A81CE25}"/>
              </a:ext>
            </a:extLst>
          </p:cNvPr>
          <p:cNvPicPr>
            <a:picLocks noChangeAspect="1"/>
          </p:cNvPicPr>
          <p:nvPr/>
        </p:nvPicPr>
        <p:blipFill>
          <a:blip r:embed="rId2"/>
          <a:stretch>
            <a:fillRect/>
          </a:stretch>
        </p:blipFill>
        <p:spPr>
          <a:xfrm>
            <a:off x="2385018" y="2807746"/>
            <a:ext cx="6865478" cy="3466594"/>
          </a:xfrm>
          <a:prstGeom prst="rect">
            <a:avLst/>
          </a:prstGeom>
        </p:spPr>
      </p:pic>
    </p:spTree>
    <p:extLst>
      <p:ext uri="{BB962C8B-B14F-4D97-AF65-F5344CB8AC3E}">
        <p14:creationId xmlns:p14="http://schemas.microsoft.com/office/powerpoint/2010/main" val="4151732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normAutofit fontScale="90000"/>
          </a:bodyPr>
          <a:lstStyle/>
          <a:p>
            <a:r>
              <a:rPr lang="en-US" sz="3600" dirty="0">
                <a:latin typeface="Trebuchet MS" panose="020B0603020202020204" pitchFamily="34" charset="0"/>
              </a:rPr>
              <a:t>IAS 7 Statement of cash flows</a:t>
            </a:r>
            <a:br>
              <a:rPr lang="en-US" dirty="0">
                <a:latin typeface="Trebuchet MS" panose="020B0603020202020204" pitchFamily="34" charset="0"/>
              </a:rPr>
            </a:br>
            <a:r>
              <a:rPr lang="en-US" sz="3200" b="1" dirty="0">
                <a:latin typeface="Trebuchet MS" panose="020B0603020202020204" pitchFamily="34" charset="0"/>
                <a:cs typeface="Arial" panose="020B0604020202020204" pitchFamily="34" charset="0"/>
              </a:rPr>
              <a:t>Reporting cash flows on a net basis (.22 – .24)</a:t>
            </a:r>
            <a:endParaRPr lang="en-GB" dirty="0">
              <a:latin typeface="Trebuchet MS" panose="020B0603020202020204" pitchFamily="34" charset="0"/>
            </a:endParaRPr>
          </a:p>
        </p:txBody>
      </p:sp>
      <p:sp>
        <p:nvSpPr>
          <p:cNvPr id="2" name="Rectangle 3">
            <a:extLst>
              <a:ext uri="{FF2B5EF4-FFF2-40B4-BE49-F238E27FC236}">
                <a16:creationId xmlns:a16="http://schemas.microsoft.com/office/drawing/2014/main" id="{38EEBF6F-DE0D-88CA-BD8F-BE782B568FDB}"/>
              </a:ext>
            </a:extLst>
          </p:cNvPr>
          <p:cNvSpPr>
            <a:spLocks noGrp="1" noRot="1" noChangeArrowheads="1"/>
          </p:cNvSpPr>
          <p:nvPr>
            <p:ph idx="1"/>
          </p:nvPr>
        </p:nvSpPr>
        <p:spPr>
          <a:xfrm>
            <a:off x="433113" y="1651463"/>
            <a:ext cx="10776355" cy="2629917"/>
          </a:xfrm>
        </p:spPr>
        <p:txBody>
          <a:bodyPr>
            <a:normAutofit/>
          </a:bodyPr>
          <a:lstStyle/>
          <a:p>
            <a:pPr eaLnBrk="1" hangingPunct="1">
              <a:buClr>
                <a:schemeClr val="tx1"/>
              </a:buClr>
              <a:buFont typeface="Arial" charset="0"/>
              <a:buChar char="►"/>
              <a:defRPr/>
            </a:pPr>
            <a:r>
              <a:rPr lang="en-US" sz="2000" dirty="0">
                <a:latin typeface="+mn-lt"/>
                <a:cs typeface="Arial" panose="020B0604020202020204" pitchFamily="34" charset="0"/>
              </a:rPr>
              <a:t>Payments and receipts on behalf of customers (.22(a))</a:t>
            </a:r>
          </a:p>
          <a:p>
            <a:pPr eaLnBrk="1" hangingPunct="1">
              <a:buClr>
                <a:schemeClr val="tx1"/>
              </a:buClr>
              <a:buFont typeface="Arial" charset="0"/>
              <a:buChar char="►"/>
              <a:defRPr/>
            </a:pPr>
            <a:r>
              <a:rPr lang="en-US" sz="2000" dirty="0">
                <a:latin typeface="+mn-lt"/>
                <a:cs typeface="Arial" panose="020B0604020202020204" pitchFamily="34" charset="0"/>
              </a:rPr>
              <a:t>Receipts and payments for items in which the turnover is quick, amounts are large and maturities are short (.22(b))</a:t>
            </a:r>
          </a:p>
          <a:p>
            <a:pPr eaLnBrk="1" hangingPunct="1">
              <a:buClr>
                <a:schemeClr val="tx1"/>
              </a:buClr>
              <a:buFont typeface="Arial" charset="0"/>
              <a:buChar char="►"/>
              <a:defRPr/>
            </a:pPr>
            <a:r>
              <a:rPr lang="en-US" sz="2000" dirty="0">
                <a:latin typeface="+mn-lt"/>
                <a:cs typeface="Arial" panose="020B0604020202020204" pitchFamily="34" charset="0"/>
              </a:rPr>
              <a:t>Financial institutions (.24)</a:t>
            </a:r>
          </a:p>
        </p:txBody>
      </p:sp>
      <p:sp>
        <p:nvSpPr>
          <p:cNvPr id="3" name="Oval 2">
            <a:extLst>
              <a:ext uri="{FF2B5EF4-FFF2-40B4-BE49-F238E27FC236}">
                <a16:creationId xmlns:a16="http://schemas.microsoft.com/office/drawing/2014/main" id="{D8A46BBD-1CCF-338A-3FBB-8C16AED51321}"/>
              </a:ext>
            </a:extLst>
          </p:cNvPr>
          <p:cNvSpPr/>
          <p:nvPr/>
        </p:nvSpPr>
        <p:spPr>
          <a:xfrm>
            <a:off x="10499465" y="6400800"/>
            <a:ext cx="1387736" cy="375385"/>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rPr>
              <a:t>Slide 20</a:t>
            </a:r>
            <a:endParaRPr kumimoji="0" lang="en-ZA"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6942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lstStyle/>
          <a:p>
            <a:r>
              <a:rPr lang="en-US" dirty="0">
                <a:latin typeface="Trebuchet MS" panose="020B0603020202020204" pitchFamily="34" charset="0"/>
              </a:rPr>
              <a:t>IAS 7 Statement of cash flows</a:t>
            </a:r>
            <a:br>
              <a:rPr lang="en-US" dirty="0">
                <a:latin typeface="Trebuchet MS" panose="020B0603020202020204" pitchFamily="34" charset="0"/>
              </a:rPr>
            </a:br>
            <a:r>
              <a:rPr lang="en-US" sz="3200" b="1" dirty="0">
                <a:latin typeface="Trebuchet MS" panose="020B0603020202020204" pitchFamily="34" charset="0"/>
                <a:cs typeface="Arial" panose="020B0604020202020204" pitchFamily="34" charset="0"/>
              </a:rPr>
              <a:t>Interest and dividends (.31 – .34)</a:t>
            </a:r>
            <a:endParaRPr lang="en-GB" dirty="0">
              <a:latin typeface="Trebuchet MS" panose="020B0603020202020204" pitchFamily="34" charset="0"/>
            </a:endParaRPr>
          </a:p>
        </p:txBody>
      </p:sp>
      <p:sp>
        <p:nvSpPr>
          <p:cNvPr id="2" name="Oval 1">
            <a:extLst>
              <a:ext uri="{FF2B5EF4-FFF2-40B4-BE49-F238E27FC236}">
                <a16:creationId xmlns:a16="http://schemas.microsoft.com/office/drawing/2014/main" id="{338CCD16-92A9-C412-9E0B-A506D5ADC981}"/>
              </a:ext>
            </a:extLst>
          </p:cNvPr>
          <p:cNvSpPr/>
          <p:nvPr/>
        </p:nvSpPr>
        <p:spPr>
          <a:xfrm>
            <a:off x="10499465" y="6400800"/>
            <a:ext cx="1387736" cy="375385"/>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rPr>
              <a:t>Slide 21</a:t>
            </a:r>
            <a:endParaRPr kumimoji="0" lang="en-ZA"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2858328F-72CA-0369-F389-DA9F487AED64}"/>
              </a:ext>
            </a:extLst>
          </p:cNvPr>
          <p:cNvSpPr txBox="1"/>
          <p:nvPr/>
        </p:nvSpPr>
        <p:spPr>
          <a:xfrm>
            <a:off x="137665" y="1409674"/>
            <a:ext cx="11916670" cy="2246769"/>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 typeface="Arial"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Disclose amounts received and paid separately (.31)</a:t>
            </a:r>
          </a:p>
          <a:p>
            <a:pPr marL="0" marR="0" lvl="0" indent="0" algn="l" defTabSz="914400" rtl="0" eaLnBrk="1" fontAlgn="auto" latinLnBrk="0" hangingPunct="1">
              <a:lnSpc>
                <a:spcPct val="100000"/>
              </a:lnSpc>
              <a:spcBef>
                <a:spcPts val="600"/>
              </a:spcBef>
              <a:spcAft>
                <a:spcPts val="0"/>
              </a:spcAft>
              <a:buClrTx/>
              <a:buSzTx/>
              <a:buFont typeface="Arial"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Consistent from period to period (.31)</a:t>
            </a:r>
          </a:p>
          <a:p>
            <a:pPr marL="0" marR="0" lvl="0" indent="0" algn="l" defTabSz="914400" rtl="0" eaLnBrk="1" fontAlgn="auto" latinLnBrk="0" hangingPunct="1">
              <a:lnSpc>
                <a:spcPct val="100000"/>
              </a:lnSpc>
              <a:spcBef>
                <a:spcPts val="600"/>
              </a:spcBef>
              <a:spcAft>
                <a:spcPts val="0"/>
              </a:spcAft>
              <a:buClrTx/>
              <a:buSzTx/>
              <a:buFont typeface="Arial"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Classify dividends and interest</a:t>
            </a:r>
            <a:r>
              <a:rPr kumimoji="0" lang="en-US" sz="2000" b="0" i="0" u="none" strike="noStrike" kern="1200" cap="none" spc="0" normalizeH="0" noProof="0" dirty="0">
                <a:ln>
                  <a:noFill/>
                </a:ln>
                <a:solidFill>
                  <a:srgbClr val="4D5356"/>
                </a:solidFill>
                <a:effectLst/>
                <a:uLnTx/>
                <a:uFillTx/>
                <a:latin typeface="Calibri" panose="020F0502020204030204"/>
                <a:ea typeface="+mn-ea"/>
                <a:cs typeface="Arial" panose="020B0604020202020204" pitchFamily="34" charset="0"/>
              </a:rPr>
              <a:t> paid as a financing activity (33A – 34D)</a:t>
            </a:r>
          </a:p>
          <a:p>
            <a:pPr>
              <a:spcBef>
                <a:spcPts val="600"/>
              </a:spcBef>
              <a:buFont typeface="Arial" charset="0"/>
              <a:buChar char="►"/>
              <a:defRPr/>
            </a:pPr>
            <a:r>
              <a:rPr lang="en-US" sz="2000" baseline="0" dirty="0">
                <a:solidFill>
                  <a:srgbClr val="4D5356"/>
                </a:solidFill>
                <a:latin typeface="Calibri" panose="020F0502020204030204"/>
                <a:cs typeface="Arial" panose="020B0604020202020204" pitchFamily="34" charset="0"/>
              </a:rPr>
              <a:t>Classify dividends</a:t>
            </a:r>
            <a:r>
              <a:rPr lang="en-US" sz="2000" dirty="0">
                <a:solidFill>
                  <a:srgbClr val="4D5356"/>
                </a:solidFill>
                <a:latin typeface="Calibri" panose="020F0502020204030204"/>
                <a:cs typeface="Arial" panose="020B0604020202020204" pitchFamily="34" charset="0"/>
              </a:rPr>
              <a:t> and interest received as investing activities, except for financial institutions </a:t>
            </a:r>
            <a:r>
              <a:rPr lang="en-US" sz="2000" dirty="0">
                <a:solidFill>
                  <a:srgbClr val="4D5356"/>
                </a:solidFill>
                <a:cs typeface="Arial" panose="020B0604020202020204" pitchFamily="34" charset="0"/>
              </a:rPr>
              <a:t>(33A – 34D)</a:t>
            </a:r>
            <a:endPar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endParaRPr>
          </a:p>
          <a:p>
            <a:pPr marL="0" marR="0" lvl="0" indent="0" algn="l" defTabSz="914400" rtl="0" eaLnBrk="1" fontAlgn="auto" latinLnBrk="0" hangingPunct="1">
              <a:lnSpc>
                <a:spcPct val="100000"/>
              </a:lnSpc>
              <a:spcBef>
                <a:spcPts val="600"/>
              </a:spcBef>
              <a:spcAft>
                <a:spcPts val="0"/>
              </a:spcAft>
              <a:buClrTx/>
              <a:buSzTx/>
              <a:buFont typeface="Arial" charset="0"/>
              <a:buChar char="►"/>
              <a:tabLst/>
              <a:defRPr/>
            </a:pP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Total amount of interest paid should be included in SCF whether it has been recognised as an expense in P/L or </a:t>
            </a:r>
            <a:r>
              <a:rPr kumimoji="0" lang="en-US" sz="2000" b="0" i="0" u="none" strike="noStrike" kern="1200" cap="none" spc="0" normalizeH="0" baseline="0" noProof="0" dirty="0" err="1">
                <a:ln>
                  <a:noFill/>
                </a:ln>
                <a:solidFill>
                  <a:srgbClr val="4D5356"/>
                </a:solidFill>
                <a:effectLst/>
                <a:uLnTx/>
                <a:uFillTx/>
                <a:latin typeface="Calibri" panose="020F0502020204030204"/>
                <a:ea typeface="+mn-ea"/>
                <a:cs typeface="Arial" panose="020B0604020202020204" pitchFamily="34" charset="0"/>
              </a:rPr>
              <a:t>capitalised</a:t>
            </a:r>
            <a:r>
              <a:rPr kumimoji="0" lang="en-US"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 in accordance with IAS 23 (.32)</a:t>
            </a:r>
          </a:p>
        </p:txBody>
      </p:sp>
      <p:pic>
        <p:nvPicPr>
          <p:cNvPr id="5" name="Picture 4">
            <a:extLst>
              <a:ext uri="{FF2B5EF4-FFF2-40B4-BE49-F238E27FC236}">
                <a16:creationId xmlns:a16="http://schemas.microsoft.com/office/drawing/2014/main" id="{F89C6CA4-D0EF-4B9F-11D6-A5A08A719135}"/>
              </a:ext>
            </a:extLst>
          </p:cNvPr>
          <p:cNvPicPr>
            <a:picLocks noChangeAspect="1"/>
          </p:cNvPicPr>
          <p:nvPr/>
        </p:nvPicPr>
        <p:blipFill>
          <a:blip r:embed="rId2"/>
          <a:stretch>
            <a:fillRect/>
          </a:stretch>
        </p:blipFill>
        <p:spPr>
          <a:xfrm>
            <a:off x="173080" y="3656443"/>
            <a:ext cx="5922920" cy="2990667"/>
          </a:xfrm>
          <a:prstGeom prst="rect">
            <a:avLst/>
          </a:prstGeom>
        </p:spPr>
      </p:pic>
    </p:spTree>
    <p:extLst>
      <p:ext uri="{BB962C8B-B14F-4D97-AF65-F5344CB8AC3E}">
        <p14:creationId xmlns:p14="http://schemas.microsoft.com/office/powerpoint/2010/main" val="4074288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lstStyle/>
          <a:p>
            <a:r>
              <a:rPr lang="en-US" dirty="0">
                <a:latin typeface="Trebuchet MS" panose="020B0603020202020204" pitchFamily="34" charset="0"/>
              </a:rPr>
              <a:t>IAS 7 Statement of cash flows</a:t>
            </a:r>
            <a:br>
              <a:rPr lang="en-US" dirty="0">
                <a:latin typeface="Trebuchet MS" panose="020B0603020202020204" pitchFamily="34" charset="0"/>
              </a:rPr>
            </a:br>
            <a:r>
              <a:rPr lang="en-US" sz="3200" b="1" dirty="0">
                <a:latin typeface="Trebuchet MS" panose="020B0603020202020204" pitchFamily="34" charset="0"/>
                <a:cs typeface="Arial" panose="020B0604020202020204" pitchFamily="34" charset="0"/>
              </a:rPr>
              <a:t>Taxes on income (.35 – .36)</a:t>
            </a:r>
            <a:endParaRPr lang="en-GB" dirty="0">
              <a:latin typeface="Trebuchet MS" panose="020B0603020202020204" pitchFamily="34" charset="0"/>
            </a:endParaRPr>
          </a:p>
        </p:txBody>
      </p:sp>
      <p:sp>
        <p:nvSpPr>
          <p:cNvPr id="2" name="Rectangle 3">
            <a:extLst>
              <a:ext uri="{FF2B5EF4-FFF2-40B4-BE49-F238E27FC236}">
                <a16:creationId xmlns:a16="http://schemas.microsoft.com/office/drawing/2014/main" id="{B41E78C5-32DE-DCCA-FF43-F9B049D4C1EA}"/>
              </a:ext>
            </a:extLst>
          </p:cNvPr>
          <p:cNvSpPr>
            <a:spLocks noGrp="1" noRot="1" noChangeArrowheads="1"/>
          </p:cNvSpPr>
          <p:nvPr>
            <p:ph idx="1"/>
          </p:nvPr>
        </p:nvSpPr>
        <p:spPr>
          <a:xfrm>
            <a:off x="539552" y="1988840"/>
            <a:ext cx="9884608" cy="3332816"/>
          </a:xfrm>
        </p:spPr>
        <p:txBody>
          <a:bodyPr>
            <a:normAutofit/>
          </a:bodyPr>
          <a:lstStyle/>
          <a:p>
            <a:pPr eaLnBrk="1" hangingPunct="1">
              <a:buClr>
                <a:schemeClr val="tx1"/>
              </a:buClr>
              <a:buFont typeface="Arial" charset="0"/>
              <a:buChar char="►"/>
              <a:defRPr/>
            </a:pPr>
            <a:r>
              <a:rPr lang="en-US" sz="2000" dirty="0">
                <a:latin typeface="+mn-lt"/>
                <a:cs typeface="Arial" panose="020B0604020202020204" pitchFamily="34" charset="0"/>
              </a:rPr>
              <a:t>Classified as operating activities unless can be specifically identified with financing and investing activities (and practicable) (.35)</a:t>
            </a:r>
          </a:p>
          <a:p>
            <a:pPr eaLnBrk="1" hangingPunct="1">
              <a:buClr>
                <a:schemeClr val="tx1"/>
              </a:buClr>
              <a:buFont typeface="Arial" charset="0"/>
              <a:buChar char="►"/>
              <a:defRPr/>
            </a:pPr>
            <a:r>
              <a:rPr lang="en-US" sz="2000" dirty="0">
                <a:latin typeface="+mn-lt"/>
                <a:cs typeface="Arial" panose="020B0604020202020204" pitchFamily="34" charset="0"/>
              </a:rPr>
              <a:t>If tax cash flows are allocated to more than one class of activity, disclose total tax paid [per class, in that class] (.36)</a:t>
            </a:r>
          </a:p>
        </p:txBody>
      </p:sp>
      <p:sp>
        <p:nvSpPr>
          <p:cNvPr id="5" name="Oval 4">
            <a:extLst>
              <a:ext uri="{FF2B5EF4-FFF2-40B4-BE49-F238E27FC236}">
                <a16:creationId xmlns:a16="http://schemas.microsoft.com/office/drawing/2014/main" id="{D84BA3B3-86E1-8BCE-42D7-AB50EAFD64AC}"/>
              </a:ext>
            </a:extLst>
          </p:cNvPr>
          <p:cNvSpPr/>
          <p:nvPr/>
        </p:nvSpPr>
        <p:spPr>
          <a:xfrm>
            <a:off x="10499465" y="6400800"/>
            <a:ext cx="1387736" cy="375385"/>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rPr>
              <a:t>Slide 22</a:t>
            </a:r>
            <a:endParaRPr kumimoji="0" lang="en-ZA"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2BD67D00-D46F-CE82-0B77-49CFCE96DB2A}"/>
              </a:ext>
            </a:extLst>
          </p:cNvPr>
          <p:cNvPicPr>
            <a:picLocks noChangeAspect="1"/>
          </p:cNvPicPr>
          <p:nvPr/>
        </p:nvPicPr>
        <p:blipFill>
          <a:blip r:embed="rId2"/>
          <a:stretch>
            <a:fillRect/>
          </a:stretch>
        </p:blipFill>
        <p:spPr>
          <a:xfrm>
            <a:off x="806912" y="3655248"/>
            <a:ext cx="5934355" cy="1690164"/>
          </a:xfrm>
          <a:prstGeom prst="rect">
            <a:avLst/>
          </a:prstGeom>
        </p:spPr>
      </p:pic>
    </p:spTree>
    <p:extLst>
      <p:ext uri="{BB962C8B-B14F-4D97-AF65-F5344CB8AC3E}">
        <p14:creationId xmlns:p14="http://schemas.microsoft.com/office/powerpoint/2010/main" val="5929522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normAutofit fontScale="90000"/>
          </a:bodyPr>
          <a:lstStyle/>
          <a:p>
            <a:r>
              <a:rPr lang="en-US" dirty="0">
                <a:latin typeface="Trebuchet MS" panose="020B0603020202020204" pitchFamily="34" charset="0"/>
              </a:rPr>
              <a:t>IAS 7 Statement of cash flows</a:t>
            </a:r>
            <a:br>
              <a:rPr lang="en-US" dirty="0">
                <a:latin typeface="Trebuchet MS" panose="020B0603020202020204" pitchFamily="34" charset="0"/>
              </a:rPr>
            </a:br>
            <a:r>
              <a:rPr lang="en-US" sz="3200" b="1" dirty="0">
                <a:latin typeface="Trebuchet MS" panose="020B0603020202020204" pitchFamily="34" charset="0"/>
                <a:cs typeface="Arial" panose="020B0604020202020204" pitchFamily="34" charset="0"/>
              </a:rPr>
              <a:t>Leave out for FA178</a:t>
            </a:r>
            <a:br>
              <a:rPr lang="en-US" dirty="0">
                <a:latin typeface="Trebuchet MS" panose="020B0603020202020204" pitchFamily="34" charset="0"/>
              </a:rPr>
            </a:br>
            <a:endParaRPr lang="en-GB" dirty="0">
              <a:latin typeface="Trebuchet MS" panose="020B0603020202020204" pitchFamily="34" charset="0"/>
            </a:endParaRPr>
          </a:p>
        </p:txBody>
      </p:sp>
      <p:sp>
        <p:nvSpPr>
          <p:cNvPr id="7" name="TextBox 6">
            <a:extLst>
              <a:ext uri="{FF2B5EF4-FFF2-40B4-BE49-F238E27FC236}">
                <a16:creationId xmlns:a16="http://schemas.microsoft.com/office/drawing/2014/main" id="{C05F2FE5-C9CE-BE09-AAB5-D7191A7B8AE9}"/>
              </a:ext>
            </a:extLst>
          </p:cNvPr>
          <p:cNvSpPr txBox="1"/>
          <p:nvPr/>
        </p:nvSpPr>
        <p:spPr>
          <a:xfrm>
            <a:off x="720762" y="1658839"/>
            <a:ext cx="8420548" cy="3354765"/>
          </a:xfrm>
          <a:prstGeom prst="rect">
            <a:avLst/>
          </a:prstGeom>
          <a:noFill/>
        </p:spPr>
        <p:txBody>
          <a:bodyPr wrap="square">
            <a:spAutoFit/>
          </a:bodyPr>
          <a:lstStyle/>
          <a:p>
            <a:pPr marL="228600" marR="0" lvl="0" indent="-228600" algn="l" defTabSz="685800" rtl="0" eaLnBrk="1" fontAlgn="auto" latinLnBrk="0" hangingPunct="1">
              <a:lnSpc>
                <a:spcPct val="90000"/>
              </a:lnSpc>
              <a:spcBef>
                <a:spcPts val="1000"/>
              </a:spcBef>
              <a:spcAft>
                <a:spcPts val="0"/>
              </a:spcAft>
              <a:buClr>
                <a:schemeClr val="tx1"/>
              </a:buClr>
              <a:buSzPct val="100000"/>
              <a:buFont typeface="Arial" charset="0"/>
              <a:buChar char="►"/>
              <a:tabLst/>
              <a:defRPr/>
            </a:pPr>
            <a:r>
              <a:rPr kumimoji="0" lang="en-ZA" sz="2000" b="0" i="0" u="none" strike="noStrike" kern="1200" cap="none" spc="0" normalizeH="0" baseline="0" noProof="0" dirty="0">
                <a:ln>
                  <a:noFill/>
                </a:ln>
                <a:effectLst/>
                <a:uLnTx/>
                <a:uFillTx/>
                <a:ea typeface="+mn-ea"/>
                <a:cs typeface="Arial" panose="020B0604020202020204" pitchFamily="34" charset="0"/>
              </a:rPr>
              <a:t>    Par.25 – .30 Foreign currency cash flows [Hons.]</a:t>
            </a:r>
          </a:p>
          <a:p>
            <a:pPr marL="450850" marR="0" lvl="0" indent="-450850" algn="l" defTabSz="685800" rtl="0" eaLnBrk="1" fontAlgn="auto" latinLnBrk="0" hangingPunct="1">
              <a:lnSpc>
                <a:spcPct val="90000"/>
              </a:lnSpc>
              <a:spcBef>
                <a:spcPts val="1000"/>
              </a:spcBef>
              <a:spcAft>
                <a:spcPts val="0"/>
              </a:spcAft>
              <a:buClr>
                <a:schemeClr val="tx1"/>
              </a:buClr>
              <a:buSzPct val="100000"/>
              <a:buFont typeface="Arial" charset="0"/>
              <a:buChar char="►"/>
              <a:tabLst/>
              <a:defRPr/>
            </a:pPr>
            <a:r>
              <a:rPr kumimoji="0" lang="en-ZA" sz="2000" b="0" i="0" u="none" strike="noStrike" kern="1200" cap="none" spc="0" normalizeH="0" baseline="0" noProof="0" dirty="0">
                <a:ln>
                  <a:noFill/>
                </a:ln>
                <a:effectLst/>
                <a:uLnTx/>
                <a:uFillTx/>
                <a:ea typeface="+mn-ea"/>
                <a:cs typeface="Arial" panose="020B0604020202020204" pitchFamily="34" charset="0"/>
              </a:rPr>
              <a:t>Par.37 - .38 Investments in subsidiaries, associates and joint ventures [FA379 and Hons.]</a:t>
            </a:r>
          </a:p>
          <a:p>
            <a:pPr marL="450850" marR="0" lvl="0" indent="-450850" algn="l" defTabSz="685800" rtl="0" eaLnBrk="1" fontAlgn="auto" latinLnBrk="0" hangingPunct="1">
              <a:lnSpc>
                <a:spcPct val="90000"/>
              </a:lnSpc>
              <a:spcBef>
                <a:spcPts val="1000"/>
              </a:spcBef>
              <a:spcAft>
                <a:spcPts val="0"/>
              </a:spcAft>
              <a:buClr>
                <a:schemeClr val="tx1"/>
              </a:buClr>
              <a:buSzPct val="100000"/>
              <a:buFont typeface="Arial" charset="0"/>
              <a:buChar char="►"/>
              <a:tabLst/>
              <a:defRPr/>
            </a:pPr>
            <a:r>
              <a:rPr kumimoji="0" lang="en-ZA" sz="2000" b="0" i="0" u="none" strike="noStrike" kern="1200" cap="none" spc="0" normalizeH="0" baseline="0" noProof="0" dirty="0">
                <a:ln>
                  <a:noFill/>
                </a:ln>
                <a:effectLst/>
                <a:uLnTx/>
                <a:uFillTx/>
                <a:ea typeface="+mn-ea"/>
                <a:cs typeface="Arial" panose="020B0604020202020204" pitchFamily="34" charset="0"/>
              </a:rPr>
              <a:t>Par.39 - .42B Changes in ownership interests in subsidiaries and other businesses [FA379]</a:t>
            </a:r>
          </a:p>
          <a:p>
            <a:pPr marL="450850" marR="0" lvl="0" indent="-450850" algn="l" defTabSz="685800" rtl="0" eaLnBrk="1" fontAlgn="auto" latinLnBrk="0" hangingPunct="1">
              <a:lnSpc>
                <a:spcPct val="90000"/>
              </a:lnSpc>
              <a:spcBef>
                <a:spcPts val="1000"/>
              </a:spcBef>
              <a:spcAft>
                <a:spcPts val="0"/>
              </a:spcAft>
              <a:buClr>
                <a:schemeClr val="tx1"/>
              </a:buClr>
              <a:buSzPct val="100000"/>
              <a:buFont typeface="Arial" charset="0"/>
              <a:buChar char="►"/>
              <a:tabLst/>
              <a:defRPr/>
            </a:pPr>
            <a:r>
              <a:rPr kumimoji="0" lang="en-ZA" sz="2000" b="0" i="0" u="none" strike="noStrike" kern="1200" cap="none" spc="0" normalizeH="0" baseline="0" noProof="0" dirty="0">
                <a:ln>
                  <a:noFill/>
                </a:ln>
                <a:effectLst/>
                <a:uLnTx/>
                <a:uFillTx/>
                <a:ea typeface="+mn-ea"/>
                <a:cs typeface="Arial" panose="020B0604020202020204" pitchFamily="34" charset="0"/>
              </a:rPr>
              <a:t>Par.44A - .44E Changes in liabilities arising from financing activities [FA379]</a:t>
            </a:r>
          </a:p>
          <a:p>
            <a:pPr marL="228600" marR="0" lvl="0" indent="-228600" algn="l" defTabSz="685800" rtl="0" eaLnBrk="1" fontAlgn="auto" latinLnBrk="0" hangingPunct="1">
              <a:lnSpc>
                <a:spcPct val="90000"/>
              </a:lnSpc>
              <a:spcBef>
                <a:spcPts val="1000"/>
              </a:spcBef>
              <a:spcAft>
                <a:spcPts val="0"/>
              </a:spcAft>
              <a:buClr>
                <a:schemeClr val="tx1"/>
              </a:buClr>
              <a:buSzPct val="100000"/>
              <a:buFont typeface="Arial" charset="0"/>
              <a:buChar char="►"/>
              <a:tabLst/>
              <a:defRPr/>
            </a:pPr>
            <a:r>
              <a:rPr kumimoji="0" lang="en-ZA" sz="2000" b="0" i="0" u="none" strike="noStrike" kern="1200" cap="none" spc="0" normalizeH="0" baseline="0" noProof="0" dirty="0">
                <a:ln>
                  <a:noFill/>
                </a:ln>
                <a:effectLst/>
                <a:uLnTx/>
                <a:uFillTx/>
                <a:ea typeface="+mn-ea"/>
                <a:cs typeface="Arial" panose="020B0604020202020204" pitchFamily="34" charset="0"/>
              </a:rPr>
              <a:t>   Par.48 - .49 Other disclosure [FA379]</a:t>
            </a:r>
          </a:p>
          <a:p>
            <a:pPr marL="228600" marR="0" lvl="0" indent="-228600" algn="l" defTabSz="685800" rtl="0" eaLnBrk="1" fontAlgn="auto" latinLnBrk="0" hangingPunct="1">
              <a:lnSpc>
                <a:spcPct val="90000"/>
              </a:lnSpc>
              <a:spcBef>
                <a:spcPts val="1000"/>
              </a:spcBef>
              <a:spcAft>
                <a:spcPts val="0"/>
              </a:spcAft>
              <a:buClr>
                <a:schemeClr val="tx1"/>
              </a:buClr>
              <a:buSzPct val="100000"/>
              <a:buFont typeface="Arial" charset="0"/>
              <a:buChar char="►"/>
              <a:tabLst/>
              <a:defRPr/>
            </a:pPr>
            <a:r>
              <a:rPr kumimoji="0" lang="en-ZA" sz="2000" b="0" i="0" u="none" strike="noStrike" kern="1200" cap="none" spc="0" normalizeH="0" baseline="0" noProof="0" dirty="0">
                <a:ln>
                  <a:noFill/>
                </a:ln>
                <a:effectLst/>
                <a:uLnTx/>
                <a:uFillTx/>
                <a:ea typeface="+mn-ea"/>
                <a:cs typeface="Arial" panose="020B0604020202020204" pitchFamily="34" charset="0"/>
              </a:rPr>
              <a:t>   Par.50 – .52  Additional useful disclosure [Hons.]</a:t>
            </a:r>
          </a:p>
          <a:p>
            <a:pPr marL="228600" marR="0" lvl="0" indent="-228600" algn="l" defTabSz="685800" rtl="0" eaLnBrk="1" fontAlgn="auto" latinLnBrk="0" hangingPunct="1">
              <a:lnSpc>
                <a:spcPct val="90000"/>
              </a:lnSpc>
              <a:spcBef>
                <a:spcPts val="1000"/>
              </a:spcBef>
              <a:spcAft>
                <a:spcPts val="0"/>
              </a:spcAft>
              <a:buClr>
                <a:schemeClr val="tx1"/>
              </a:buClr>
              <a:buSzPct val="100000"/>
              <a:buFont typeface="Arial" charset="0"/>
              <a:buChar char="►"/>
              <a:tabLst/>
              <a:defRPr/>
            </a:pPr>
            <a:r>
              <a:rPr kumimoji="0" lang="en-ZA" sz="2000" b="0" i="0" u="none" strike="noStrike" kern="1200" cap="none" spc="0" normalizeH="0" baseline="0" noProof="0" dirty="0">
                <a:ln>
                  <a:noFill/>
                </a:ln>
                <a:effectLst/>
                <a:uLnTx/>
                <a:uFillTx/>
                <a:ea typeface="+mn-ea"/>
                <a:cs typeface="Arial" panose="020B0604020202020204" pitchFamily="34" charset="0"/>
              </a:rPr>
              <a:t>   Par.53 - .61</a:t>
            </a:r>
            <a:endParaRPr lang="en-ZA" dirty="0"/>
          </a:p>
        </p:txBody>
      </p:sp>
    </p:spTree>
    <p:extLst>
      <p:ext uri="{BB962C8B-B14F-4D97-AF65-F5344CB8AC3E}">
        <p14:creationId xmlns:p14="http://schemas.microsoft.com/office/powerpoint/2010/main" val="921722508"/>
      </p:ext>
    </p:extLst>
  </p:cSld>
  <p:clrMapOvr>
    <a:masterClrMapping/>
  </p:clrMapOvr>
</p:sld>
</file>

<file path=ppt/theme/theme1.xml><?xml version="1.0" encoding="utf-8"?>
<a:theme xmlns:a="http://schemas.openxmlformats.org/drawingml/2006/main" name="Office Theme">
  <a:themeElements>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08C6D65BAC40A45BAB92F14DB5F4FAF" ma:contentTypeVersion="13" ma:contentTypeDescription="Create a new document." ma:contentTypeScope="" ma:versionID="4bebfb9a38d2a52932940e3bd172a61b">
  <xsd:schema xmlns:xsd="http://www.w3.org/2001/XMLSchema" xmlns:xs="http://www.w3.org/2001/XMLSchema" xmlns:p="http://schemas.microsoft.com/office/2006/metadata/properties" xmlns:ns2="88a3d677-9216-46c3-8201-ee58da5def3b" xmlns:ns3="dffefaba-9bcc-430d-9abe-09565c10f6ee" targetNamespace="http://schemas.microsoft.com/office/2006/metadata/properties" ma:root="true" ma:fieldsID="c2094452f851fe343f0223b9fe04b330" ns2:_="" ns3:_="">
    <xsd:import namespace="88a3d677-9216-46c3-8201-ee58da5def3b"/>
    <xsd:import namespace="dffefaba-9bcc-430d-9abe-09565c10f6e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3d677-9216-46c3-8201-ee58da5def3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ffefaba-9bcc-430d-9abe-09565c10f6ee"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A6BAB9D-4EE9-4033-AB72-A72D6D5ED5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8a3d677-9216-46c3-8201-ee58da5def3b"/>
    <ds:schemaRef ds:uri="dffefaba-9bcc-430d-9abe-09565c10f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9B9220D-8720-49D8-96AD-9ED891556F72}">
  <ds:schemaRefs>
    <ds:schemaRef ds:uri="http://schemas.microsoft.com/sharepoint/v3/contenttype/forms"/>
  </ds:schemaRefs>
</ds:datastoreItem>
</file>

<file path=customXml/itemProps3.xml><?xml version="1.0" encoding="utf-8"?>
<ds:datastoreItem xmlns:ds="http://schemas.openxmlformats.org/officeDocument/2006/customXml" ds:itemID="{5A6082A2-059F-450D-9B82-4DCBDAC1F6A2}">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40654</TotalTime>
  <Words>2191</Words>
  <Application>Microsoft Office PowerPoint</Application>
  <PresentationFormat>Widescreen</PresentationFormat>
  <Paragraphs>443</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Courier New</vt:lpstr>
      <vt:lpstr>Trebuchet MS</vt:lpstr>
      <vt:lpstr>Office Theme</vt:lpstr>
      <vt:lpstr>IAS 7 Statement of cash flows (Part I)</vt:lpstr>
      <vt:lpstr>IAS 7 Statement of cash flows</vt:lpstr>
      <vt:lpstr>IAS 7 Statement of cash flows</vt:lpstr>
      <vt:lpstr>IAS 7 Statement of cash flows Objective</vt:lpstr>
      <vt:lpstr>IAS 7 Statement of cash flows Scope (.1 - .3)</vt:lpstr>
      <vt:lpstr>IAS 7 Statement of cash flows Definitions (.6)</vt:lpstr>
      <vt:lpstr>PowerPoint Presentation</vt:lpstr>
      <vt:lpstr>IAS 7 Statement of cash flows Cash and cash equivalents (.7 – .9)</vt:lpstr>
      <vt:lpstr>IAS 7 Statement of cash flows Presentation of a statement of cash flows (.10 – .12)</vt:lpstr>
      <vt:lpstr>IAS 7 Statement of cash flows Operating activities (.13 – .15)</vt:lpstr>
      <vt:lpstr>PowerPoint Presentation</vt:lpstr>
      <vt:lpstr>IAS 7 Statement of cash flows Investing activities (.16)</vt:lpstr>
      <vt:lpstr>PowerPoint Presentation</vt:lpstr>
      <vt:lpstr>IAS 7 Statement of cash flows Financing activities (.17)</vt:lpstr>
      <vt:lpstr>PowerPoint Presentation</vt:lpstr>
      <vt:lpstr>PowerPoint Presentation</vt:lpstr>
      <vt:lpstr>IAS 7 Statement of cash flows Reporting cash flows from operating activities (.18 – .20)</vt:lpstr>
      <vt:lpstr>IAS 7 Statement of cash flows Reporting cash flows from operating activities (.18 – .20)</vt:lpstr>
      <vt:lpstr>IAS 7 Statement of cash flows Reporting cash flows from investing and financing activities (.21)</vt:lpstr>
      <vt:lpstr>IAS 7 Statement of cash flows Reporting cash flows on a net basis (.22 – .24)</vt:lpstr>
      <vt:lpstr>IAS 7 Statement of cash flows Interest and dividends (.31 – .34)</vt:lpstr>
      <vt:lpstr>IAS 7 Statement of cash flows Taxes on income (.35 – .36)</vt:lpstr>
      <vt:lpstr>IAS 7 Statement of cash flows Leave out for FA178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Muller, L, Mev [lm2@sun.ac.za]</dc:creator>
  <cp:lastModifiedBy>Ngobese, LM, Mr [lmngobese@sun.ac.za]</cp:lastModifiedBy>
  <cp:revision>826</cp:revision>
  <dcterms:created xsi:type="dcterms:W3CDTF">2021-09-15T08:20:16Z</dcterms:created>
  <dcterms:modified xsi:type="dcterms:W3CDTF">2026-04-09T10:47:23Z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0x010100008C6D65BAC40A45BAB92F14DB5F4FAF</vt:lpwstr>
  </property>
</Properties>
</file>